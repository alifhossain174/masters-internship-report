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262" autoAdjust="0"/>
  </p:normalViewPr>
  <p:slideViewPr>
    <p:cSldViewPr snapToGrid="0">
      <p:cViewPr varScale="1">
        <p:scale>
          <a:sx n="93" d="100"/>
          <a:sy n="93" d="100"/>
        </p:scale>
        <p:origin x="1236" y="84"/>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a:t>
            </a:r>
          </a:p>
          <a:p>
            <a:r>
              <a:rPr lang="en-US" dirty="0"/>
              <a:t>My name is Md Fahim Hossain, and today I will present the verification and validation activities carried out for the AI-powered enterprise document retrieval system developed during my internship at Siemens Energy.</a:t>
            </a:r>
          </a:p>
          <a:p>
            <a:r>
              <a:rPr lang="en-US" dirty="0"/>
              <a:t>While the first presentation focused on specification and design, this presentation focuses on how the implemented system was checked against its requirements and validated through realistic user workflows.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begin with the company and internship context, followed by the project epic.</a:t>
            </a:r>
          </a:p>
          <a:p>
            <a:r>
              <a:rPr lang="en-US" dirty="0"/>
              <a:t>Then I will present the functional and non-functional requirements that formed the basis for testing.</a:t>
            </a:r>
          </a:p>
          <a:p>
            <a:r>
              <a:rPr lang="en-US" dirty="0"/>
              <a:t>After that, I will show how the test cases were linked to those requirements.</a:t>
            </a:r>
          </a:p>
          <a:p>
            <a:r>
              <a:rPr lang="en-US" dirty="0"/>
              <a:t>The validation section covers the complete user journey and the conditions used to decide when a feature was considered complete.</a:t>
            </a:r>
          </a:p>
          <a:p>
            <a:r>
              <a:rPr lang="en-US" dirty="0"/>
              <a:t>Finally, I will present the measured results, explain the role of manual testing, and summarize the overall outcome.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was completed at Siemens Energy within the SE GT DG OE department.</a:t>
            </a:r>
          </a:p>
          <a:p>
            <a:r>
              <a:rPr lang="en-US" dirty="0"/>
              <a:t>The department supports digitalization initiatives and develops solutions that improve information access, process efficiency, and internal software workflows.</a:t>
            </a:r>
          </a:p>
          <a:p>
            <a:r>
              <a:rPr lang="en-US" dirty="0"/>
              <a:t>During my internship, I worked in a software engineering and digitalization role.</a:t>
            </a:r>
          </a:p>
          <a:p>
            <a:r>
              <a:rPr lang="en-US" dirty="0"/>
              <a:t>My responsibilities included requirement analysis, backend and interface development, document-processing workflows, testing, code review, and technical documentation.</a:t>
            </a:r>
          </a:p>
          <a:p>
            <a:r>
              <a:rPr lang="en-US" dirty="0"/>
              <a:t>The project itself focused on enterprise documents, secure knowledge access, and conversational retrieval.</a:t>
            </a:r>
          </a:p>
          <a:p>
            <a:r>
              <a:rPr lang="en-US" dirty="0"/>
              <a:t>Because the system handles user-owned documents and generated conversations, verification had to cover not only functionality, but also security, reliability, performance, and correct </a:t>
            </a:r>
            <a:r>
              <a:rPr lang="en-US" dirty="0" err="1"/>
              <a:t>behaviour</a:t>
            </a:r>
            <a:r>
              <a:rPr lang="en-US" dirty="0"/>
              <a:t> under realistic conditions.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epic describes the main problem the system was designed to solve.</a:t>
            </a:r>
          </a:p>
          <a:p>
            <a:r>
              <a:rPr lang="en-US" dirty="0"/>
              <a:t>Enterprise knowledge was distributed across a growing number of reports, manuals, and technical documents.</a:t>
            </a:r>
          </a:p>
          <a:p>
            <a:r>
              <a:rPr lang="en-US" dirty="0"/>
              <a:t>As the document collection increased, locating specific information became more difficult and time-consuming.</a:t>
            </a:r>
          </a:p>
          <a:p>
            <a:r>
              <a:rPr lang="en-US" dirty="0"/>
              <a:t>The system addressed this by allowing users to ask questions in natural language.</a:t>
            </a:r>
          </a:p>
          <a:p>
            <a:r>
              <a:rPr lang="en-US" dirty="0"/>
              <a:t>Relevant document sections were retrieved and used to generate grounded responses.</a:t>
            </a:r>
          </a:p>
          <a:p>
            <a:r>
              <a:rPr lang="en-US" dirty="0"/>
              <a:t>The responses also included source references so that users could check the origin of the information.</a:t>
            </a:r>
          </a:p>
          <a:p>
            <a:r>
              <a:rPr lang="en-US" dirty="0"/>
              <a:t>From a verification and validation perspective, the important question was not only whether the system could generate an answer.</a:t>
            </a:r>
          </a:p>
          <a:p>
            <a:r>
              <a:rPr lang="en-US" dirty="0"/>
              <a:t>It also had to be verified that the correct documents were used, that unavailable documents were excluded, that references were shown, and that the workflow remained reliable from upload to conversation history.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00" dirty="0"/>
              <a:t>The verification process was based on a defined set of functional and non-functional requirements.</a:t>
            </a:r>
          </a:p>
          <a:p>
            <a:r>
              <a:rPr lang="en-US" sz="800" dirty="0"/>
              <a:t>The functional requirements covered five main areas.</a:t>
            </a:r>
          </a:p>
          <a:p>
            <a:r>
              <a:rPr lang="en-US" sz="800" dirty="0"/>
              <a:t>First, users should be able to upload, view, and delete their documents.</a:t>
            </a:r>
          </a:p>
          <a:p>
            <a:r>
              <a:rPr lang="en-US" sz="800" dirty="0"/>
              <a:t>Second, the uploaded content should be processed automatically, and the user should be able to monitor when a document becomes ready.</a:t>
            </a:r>
          </a:p>
          <a:p>
            <a:r>
              <a:rPr lang="en-US" sz="800" dirty="0"/>
              <a:t>Third, the system should answer questions using only the selected documents.</a:t>
            </a:r>
          </a:p>
          <a:p>
            <a:r>
              <a:rPr lang="en-US" sz="800" dirty="0"/>
              <a:t>Fourth, generated responses should include source references.</a:t>
            </a:r>
          </a:p>
          <a:p>
            <a:r>
              <a:rPr lang="en-US" sz="800" dirty="0"/>
              <a:t>Finally, conversation history should be preserved and available for later continuation.</a:t>
            </a:r>
          </a:p>
          <a:p>
            <a:r>
              <a:rPr lang="en-US" sz="800" dirty="0"/>
              <a:t>The non-functional requirements introduced measurable quality targets.</a:t>
            </a:r>
          </a:p>
          <a:p>
            <a:r>
              <a:rPr lang="en-US" sz="800" dirty="0"/>
              <a:t>A successful upload should be acknowledged within three seconds.</a:t>
            </a:r>
          </a:p>
          <a:p>
            <a:r>
              <a:rPr lang="en-US" sz="800" dirty="0"/>
              <a:t>At least ninety percent of questions should receive a response within twenty seconds under normal conditions.</a:t>
            </a:r>
          </a:p>
          <a:p>
            <a:r>
              <a:rPr lang="en-US" sz="800" dirty="0"/>
              <a:t>The application should support at least ten concurrent authenticated users without failure or inconsistent data.</a:t>
            </a:r>
          </a:p>
          <a:p>
            <a:r>
              <a:rPr lang="en-US" sz="800" dirty="0"/>
              <a:t>The security requirement also stated that user data must remain isolated and administrative functions must be protected through role-based access control.</a:t>
            </a:r>
          </a:p>
          <a:p>
            <a:r>
              <a:rPr lang="en-US" sz="800" dirty="0"/>
              <a:t>These requirements provided the basis for the verification evidence shown on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connection between the requirements and the verification activities.</a:t>
            </a:r>
          </a:p>
          <a:p>
            <a:r>
              <a:rPr lang="en-US" dirty="0"/>
              <a:t>On the left, the functional requirements are linked to specific test cases.</a:t>
            </a:r>
          </a:p>
          <a:p>
            <a:r>
              <a:rPr lang="en-US" dirty="0"/>
              <a:t>FR1, which covers document management, was verified through the upload and deletion test cases.</a:t>
            </a:r>
          </a:p>
          <a:p>
            <a:r>
              <a:rPr lang="en-US" dirty="0"/>
              <a:t>FR2, which covers document processing and readiness, was checked at several levels. Unit tests verified individual processing services, integration tests checked communication between components, and functional testing verified the complete processing workflow.</a:t>
            </a:r>
          </a:p>
          <a:p>
            <a:r>
              <a:rPr lang="en-US" dirty="0"/>
              <a:t>FR3 and FR4 were tested through question answering and multi-document retrieval. These tests checked whether the correct document content was retrieved and whether references were displayed with the response.</a:t>
            </a:r>
          </a:p>
          <a:p>
            <a:r>
              <a:rPr lang="en-US" dirty="0"/>
              <a:t>FR5 was verified by reopening previous conversations and confirming that the message history remained available.</a:t>
            </a:r>
          </a:p>
          <a:p>
            <a:r>
              <a:rPr lang="en-US" dirty="0"/>
              <a:t>On the right, the non-functional requirements are linked to measurable evidence.</a:t>
            </a:r>
          </a:p>
          <a:p>
            <a:r>
              <a:rPr lang="en-US" dirty="0"/>
              <a:t>Upload performance was tested using ten uploads.</a:t>
            </a:r>
          </a:p>
          <a:p>
            <a:r>
              <a:rPr lang="en-US" dirty="0"/>
              <a:t>Question performance was evaluated using twenty requests.</a:t>
            </a:r>
          </a:p>
          <a:p>
            <a:r>
              <a:rPr lang="en-US" dirty="0"/>
              <a:t>Concurrent stability was checked with ten users.</a:t>
            </a:r>
          </a:p>
          <a:p>
            <a:r>
              <a:rPr lang="en-US" dirty="0"/>
              <a:t>Access control was verified through functional and acceptance testing.</a:t>
            </a:r>
          </a:p>
          <a:p>
            <a:r>
              <a:rPr lang="en-US" dirty="0"/>
              <a:t>The main purpose of this traceability was to ensure that no requirement remained without corresponding verification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end-to-end tests validated the complete workflow from the user’s perspective.</a:t>
            </a:r>
          </a:p>
          <a:p>
            <a:r>
              <a:rPr lang="en-US" dirty="0"/>
              <a:t>The first step was document upload.</a:t>
            </a:r>
          </a:p>
          <a:p>
            <a:r>
              <a:rPr lang="en-US" dirty="0"/>
              <a:t>The system had to accept a supported file, confirm the upload, start background processing, and display the current status.</a:t>
            </a:r>
          </a:p>
          <a:p>
            <a:r>
              <a:rPr lang="en-US" dirty="0"/>
              <a:t>The document then had to reach the Ready state before becoming available for retrieval.</a:t>
            </a:r>
          </a:p>
          <a:p>
            <a:r>
              <a:rPr lang="en-US" dirty="0"/>
              <a:t>Failed or incomplete documents were expected to remain excluded.</a:t>
            </a:r>
          </a:p>
          <a:p>
            <a:r>
              <a:rPr lang="en-US" dirty="0"/>
              <a:t>The second step was document selection and question submission.</a:t>
            </a:r>
          </a:p>
          <a:p>
            <a:r>
              <a:rPr lang="en-US" dirty="0"/>
              <a:t>Only processed documents belonging to the authenticated user should be selectable.</a:t>
            </a:r>
          </a:p>
          <a:p>
            <a:r>
              <a:rPr lang="en-US" dirty="0"/>
              <a:t>The user then submitted a natural-language question through the conversation interface.</a:t>
            </a:r>
          </a:p>
          <a:p>
            <a:r>
              <a:rPr lang="en-US" dirty="0"/>
              <a:t>In the third step, the system retrieved relevant chunks, generated a grounded answer, and displayed the related source references.</a:t>
            </a:r>
          </a:p>
          <a:p>
            <a:r>
              <a:rPr lang="en-US" dirty="0"/>
              <a:t>The final step was conversation continuity.</a:t>
            </a:r>
          </a:p>
          <a:p>
            <a:r>
              <a:rPr lang="en-US" dirty="0"/>
              <a:t>The user reopened an earlier conversation, reviewed the previous messages, and submitted a follow-up question while preserving the existing context.</a:t>
            </a:r>
          </a:p>
          <a:p>
            <a:r>
              <a:rPr lang="en-US" dirty="0"/>
              <a:t>This end-to-end path validated the system as one connected workflow rather than as a collection of isolated functions.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Definition of Done was used to decide when a feature could be considered complete.</a:t>
            </a:r>
          </a:p>
          <a:p>
            <a:r>
              <a:rPr lang="en-US" dirty="0"/>
              <a:t>It was divided into an engineering gate and an acceptance gate.</a:t>
            </a:r>
          </a:p>
          <a:p>
            <a:r>
              <a:rPr lang="en-US" dirty="0"/>
              <a:t>The engineering gate focused on internal software quality.</a:t>
            </a:r>
          </a:p>
          <a:p>
            <a:r>
              <a:rPr lang="en-US" dirty="0"/>
              <a:t>A feature first had to be implemented according to the defined requirement.</a:t>
            </a:r>
          </a:p>
          <a:p>
            <a:r>
              <a:rPr lang="en-US" dirty="0"/>
              <a:t>The code then had to be reviewed for correctness, readability, separation of responsibilities, error handling, and compatibility with the existing application.</a:t>
            </a:r>
          </a:p>
          <a:p>
            <a:r>
              <a:rPr lang="en-US" dirty="0"/>
              <a:t>Relevant automated and functional tests also had to pass.</a:t>
            </a:r>
          </a:p>
          <a:p>
            <a:r>
              <a:rPr lang="en-US" dirty="0"/>
              <a:t>The acceptance gate focused on user-facing completion.</a:t>
            </a:r>
          </a:p>
          <a:p>
            <a:r>
              <a:rPr lang="en-US" dirty="0"/>
              <a:t>The interface </a:t>
            </a:r>
            <a:r>
              <a:rPr lang="en-US" dirty="0" err="1"/>
              <a:t>behaviour</a:t>
            </a:r>
            <a:r>
              <a:rPr lang="en-US" dirty="0"/>
              <a:t> and feedback messages had to be checked.</a:t>
            </a:r>
          </a:p>
          <a:p>
            <a:r>
              <a:rPr lang="en-US" dirty="0"/>
              <a:t>The acceptance criteria defined in the corresponding user story had to be satisfied.</a:t>
            </a:r>
          </a:p>
          <a:p>
            <a:r>
              <a:rPr lang="en-US" dirty="0"/>
              <a:t>Finally, no critical issue could remain open.</a:t>
            </a:r>
          </a:p>
          <a:p>
            <a:r>
              <a:rPr lang="en-US" dirty="0"/>
              <a:t>A feature was therefore not considered complete simply because the code had been written.</a:t>
            </a:r>
          </a:p>
          <a:p>
            <a:r>
              <a:rPr lang="en-US" dirty="0"/>
              <a:t>It had to pass both the engineering and acceptance gates.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the main measured results.</a:t>
            </a:r>
          </a:p>
          <a:p>
            <a:r>
              <a:rPr lang="en-US" dirty="0"/>
              <a:t>For upload acknowledgement, ten uploads were tested while background processing was active.</a:t>
            </a:r>
          </a:p>
          <a:p>
            <a:r>
              <a:rPr lang="en-US" dirty="0"/>
              <a:t>The acknowledgement times ranged from 0.8 to 2.4 seconds, which remained below the target of three seconds.</a:t>
            </a:r>
          </a:p>
          <a:p>
            <a:r>
              <a:rPr lang="en-US" dirty="0"/>
              <a:t>For question answering, twenty queries were measured.</a:t>
            </a:r>
          </a:p>
          <a:p>
            <a:r>
              <a:rPr lang="en-US" dirty="0"/>
              <a:t>Ninety-five percent returned within twenty seconds, exceeding the required target of ninety percent.</a:t>
            </a:r>
          </a:p>
          <a:p>
            <a:r>
              <a:rPr lang="en-US" dirty="0"/>
              <a:t>The vector-search stage had an average retrieval time of 0.18 seconds.</a:t>
            </a:r>
          </a:p>
          <a:p>
            <a:r>
              <a:rPr lang="en-US" dirty="0"/>
              <a:t>Although no separate numerical target was defined for this stage, the result showed that semantic retrieval remained responsive.</a:t>
            </a:r>
          </a:p>
          <a:p>
            <a:r>
              <a:rPr lang="en-US" dirty="0"/>
              <a:t>The concurrent-user test was performed with ten authenticated users.</a:t>
            </a:r>
          </a:p>
          <a:p>
            <a:r>
              <a:rPr lang="en-US" dirty="0"/>
              <a:t>The system remained stable, and no inconsistent document or conversation states were observed.</a:t>
            </a:r>
          </a:p>
          <a:p>
            <a:r>
              <a:rPr lang="en-US" dirty="0"/>
              <a:t>Manual validation was also necessary because some aspects could not be assessed meaningfully through automated checks alone.</a:t>
            </a:r>
          </a:p>
          <a:p>
            <a:r>
              <a:rPr lang="en-US" dirty="0"/>
              <a:t>The references were reviewed to confirm that they matched the generated answers.</a:t>
            </a:r>
          </a:p>
          <a:p>
            <a:r>
              <a:rPr lang="en-US" dirty="0"/>
              <a:t>The interface </a:t>
            </a:r>
            <a:r>
              <a:rPr lang="en-US" dirty="0" err="1"/>
              <a:t>behaviour</a:t>
            </a:r>
            <a:r>
              <a:rPr lang="en-US" dirty="0"/>
              <a:t>, confirmation messages, error feedback, and status updates were checked manually.</a:t>
            </a:r>
          </a:p>
          <a:p>
            <a:r>
              <a:rPr lang="en-US" dirty="0"/>
              <a:t>The complete end-to-end workflows were also validated under realistic usage conditions.</a:t>
            </a:r>
          </a:p>
          <a:p>
            <a:r>
              <a:rPr lang="en-US" dirty="0"/>
              <a:t>Overall, all defined performance targets passed, and no critical issue remained open.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verification and validation activities provided evidence that the system met its main requirements.</a:t>
            </a:r>
          </a:p>
          <a:p>
            <a:r>
              <a:rPr lang="en-US" dirty="0"/>
              <a:t>The functional workflows were verified through unit, integration, load, functional, and acceptance testing.</a:t>
            </a:r>
          </a:p>
          <a:p>
            <a:r>
              <a:rPr lang="en-US" dirty="0"/>
              <a:t>The complete user journey was validated from document upload to grounded question answering and conversation continuation.</a:t>
            </a:r>
          </a:p>
          <a:p>
            <a:r>
              <a:rPr lang="en-US" dirty="0"/>
              <a:t>The measurable targets for upload acknowledgement, question response time, and concurrent-user stability were achieved.</a:t>
            </a:r>
          </a:p>
          <a:p>
            <a:r>
              <a:rPr lang="en-US" dirty="0"/>
              <a:t>Source references supported the manual checking of generated responses, while access-control testing confirmed that user data remained isolated.</a:t>
            </a:r>
          </a:p>
          <a:p>
            <a:r>
              <a:rPr lang="en-US" dirty="0"/>
              <a:t>The combination of automated tests, measured performance results, and manual validation increased confidence that the system behaves correctly under the intended operating conditions.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concludes my presentation on the software verification and validation of the AI-powered enterprise document retrieval system.</a:t>
            </a:r>
          </a:p>
          <a:p>
            <a:r>
              <a:rPr lang="en-US" dirty="0"/>
              <a:t>Thank you very much for your attention.</a:t>
            </a:r>
          </a:p>
          <a:p>
            <a:r>
              <a:rPr lang="en-US" dirty="0"/>
              <a:t>I am happy to answer any questions regarding requirement traceability, the test design, the measured results, the end-to-end workflows, or the Definition of Done.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svg"/></Relationships>
</file>

<file path=ppt/slides/_rels/slide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4.svg"/><Relationship Id="rId7" Type="http://schemas.openxmlformats.org/officeDocument/2006/relationships/image" Target="../media/image17.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6.svg"/><Relationship Id="rId10" Type="http://schemas.openxmlformats.org/officeDocument/2006/relationships/image" Target="../media/image19.svg"/><Relationship Id="rId4" Type="http://schemas.openxmlformats.org/officeDocument/2006/relationships/image" Target="../media/image15.svg"/><Relationship Id="rId9" Type="http://schemas.openxmlformats.org/officeDocument/2006/relationships/image" Target="../media/image10.sv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1.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0.svg"/><Relationship Id="rId5" Type="http://schemas.openxmlformats.org/officeDocument/2006/relationships/image" Target="../media/image18.svg"/><Relationship Id="rId4" Type="http://schemas.openxmlformats.org/officeDocument/2006/relationships/image" Target="../media/image17.svg"/></Relationships>
</file>

<file path=ppt/slides/_rels/slide5.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2.svg"/><Relationship Id="rId7" Type="http://schemas.openxmlformats.org/officeDocument/2006/relationships/image" Target="../media/image7.png"/><Relationship Id="rId12" Type="http://schemas.openxmlformats.org/officeDocument/2006/relationships/image" Target="../media/image27.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4.svg"/><Relationship Id="rId11" Type="http://schemas.openxmlformats.org/officeDocument/2006/relationships/image" Target="../media/image2.svg"/><Relationship Id="rId5" Type="http://schemas.openxmlformats.org/officeDocument/2006/relationships/image" Target="../media/image23.svg"/><Relationship Id="rId10" Type="http://schemas.openxmlformats.org/officeDocument/2006/relationships/image" Target="../media/image26.svg"/><Relationship Id="rId4" Type="http://schemas.openxmlformats.org/officeDocument/2006/relationships/image" Target="../media/image1.svg"/><Relationship Id="rId9" Type="http://schemas.openxmlformats.org/officeDocument/2006/relationships/image" Target="../media/image13.svg"/></Relationships>
</file>

<file path=ppt/slides/_rels/slide6.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7.png"/><Relationship Id="rId7" Type="http://schemas.openxmlformats.org/officeDocument/2006/relationships/image" Target="../media/image30.sv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0.svg"/><Relationship Id="rId5" Type="http://schemas.openxmlformats.org/officeDocument/2006/relationships/image" Target="../media/image29.svg"/><Relationship Id="rId4" Type="http://schemas.openxmlformats.org/officeDocument/2006/relationships/image" Target="../media/image28.sv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1.sv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0.svg"/><Relationship Id="rId5" Type="http://schemas.openxmlformats.org/officeDocument/2006/relationships/image" Target="../media/image18.svg"/><Relationship Id="rId4" Type="http://schemas.openxmlformats.org/officeDocument/2006/relationships/image" Target="../media/image17.sv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2.svg"/><Relationship Id="rId7" Type="http://schemas.openxmlformats.org/officeDocument/2006/relationships/image" Target="../media/image35.sv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1.svg"/><Relationship Id="rId5" Type="http://schemas.openxmlformats.org/officeDocument/2006/relationships/image" Target="../media/image34.svg"/><Relationship Id="rId4" Type="http://schemas.openxmlformats.org/officeDocument/2006/relationships/image" Target="../media/image33.svg"/></Relationships>
</file>

<file path=ppt/slides/_rels/slide11.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FB89F18-6475-489F-BA00-07CC8B6CFF3D}"/>
              </a:ext>
            </a:extLst>
          </p:cNvPr>
          <p:cNvSpPr>
            <a:spLocks noGrp="1"/>
          </p:cNvSpPr>
          <p:nvPr/>
        </p:nvSpPr>
        <p:spPr>
          <a:xfrm>
            <a:off x="0" y="0"/>
            <a:ext cx="12192000" cy="6858000"/>
          </a:xfrm>
          <a:prstGeom prst="rect">
            <a:avLst/>
          </a:prstGeom>
          <a:solidFill>
            <a:srgbClr val="FFFFFF"/>
          </a:solidFill>
          <a:ln w="0">
            <a:solidFill>
              <a:srgbClr val="FFFFFF"/>
            </a:solidFill>
            <a:prstDash val="solid"/>
          </a:ln>
        </p:spPr>
        <p:txBody>
          <a:bodyPr/>
          <a:lstStyle/>
          <a:p>
            <a:endParaRPr/>
          </a:p>
        </p:txBody>
      </p:sp>
      <p:sp>
        <p:nvSpPr>
          <p:cNvPr id="2" name="Rectangle 1">
            <a:extLst>
              <a:ext uri="{FF2B5EF4-FFF2-40B4-BE49-F238E27FC236}">
                <a16:creationId xmlns:a16="http://schemas.microsoft.com/office/drawing/2014/main" id="{D811ECE6-F12B-4325-8635-25C1473A2F06}"/>
              </a:ext>
            </a:extLst>
          </p:cNvPr>
          <p:cNvSpPr>
            <a:spLocks noGrp="1"/>
          </p:cNvSpPr>
          <p:nvPr/>
        </p:nvSpPr>
        <p:spPr>
          <a:xfrm>
            <a:off x="0" y="0"/>
            <a:ext cx="266700" cy="6858000"/>
          </a:xfrm>
          <a:prstGeom prst="rect">
            <a:avLst/>
          </a:prstGeom>
          <a:solidFill>
            <a:srgbClr val="00A3AD"/>
          </a:solidFill>
          <a:ln w="0">
            <a:solidFill>
              <a:srgbClr val="00A3AD"/>
            </a:solidFill>
            <a:prstDash val="solid"/>
          </a:ln>
        </p:spPr>
        <p:txBody>
          <a:bodyPr/>
          <a:lstStyle/>
          <a:p>
            <a:endParaRPr/>
          </a:p>
        </p:txBody>
      </p:sp>
      <p:sp>
        <p:nvSpPr>
          <p:cNvPr id="3" name="Rectangle 2">
            <a:extLst>
              <a:ext uri="{FF2B5EF4-FFF2-40B4-BE49-F238E27FC236}">
                <a16:creationId xmlns:a16="http://schemas.microsoft.com/office/drawing/2014/main" id="{79930A18-717A-447B-A71B-F210FEB1290E}"/>
              </a:ext>
            </a:extLst>
          </p:cNvPr>
          <p:cNvSpPr>
            <a:spLocks noGrp="1"/>
          </p:cNvSpPr>
          <p:nvPr/>
        </p:nvSpPr>
        <p:spPr>
          <a:xfrm>
            <a:off x="266700" y="0"/>
            <a:ext cx="114300" cy="6858000"/>
          </a:xfrm>
          <a:prstGeom prst="rect">
            <a:avLst/>
          </a:prstGeom>
          <a:solidFill>
            <a:srgbClr val="0077B6"/>
          </a:solidFill>
          <a:ln w="0">
            <a:solidFill>
              <a:srgbClr val="0077B6"/>
            </a:solidFill>
            <a:prstDash val="solid"/>
          </a:ln>
        </p:spPr>
        <p:txBody>
          <a:bodyPr/>
          <a:lstStyle/>
          <a:p>
            <a:endParaRPr/>
          </a:p>
        </p:txBody>
      </p:sp>
      <p:pic>
        <p:nvPicPr>
          <p:cNvPr id="29" name="Graphic 16"/>
          <p:cNvPicPr>
            <a:picLocks noChangeAspect="1"/>
          </p:cNvPicPr>
          <p:nvPr/>
        </p:nvPicPr>
        <p:blipFill>
          <a:blip>
            <a:extLst>
              <a:ext uri="{96DAC541-7B7A-43D3-8B79-37D633B846F1}">
                <asvg:svgBlip xmlns:asvg="http://schemas.microsoft.com/office/drawing/2016/SVG/main" r:embed="rId3"/>
              </a:ext>
            </a:extLst>
          </a:blip>
          <a:stretch/>
        </p:blipFill>
        <p:spPr>
          <a:xfrm>
            <a:off x="9906000" y="838200"/>
            <a:ext cx="685800" cy="685800"/>
          </a:xfrm>
          <a:prstGeom prst="rect">
            <a:avLst/>
          </a:prstGeom>
        </p:spPr>
      </p:pic>
      <p:pic>
        <p:nvPicPr>
          <p:cNvPr id="30" name="Graphic 17"/>
          <p:cNvPicPr>
            <a:picLocks noChangeAspect="1"/>
          </p:cNvPicPr>
          <p:nvPr/>
        </p:nvPicPr>
        <p:blipFill>
          <a:blip>
            <a:extLst>
              <a:ext uri="{96DAC541-7B7A-43D3-8B79-37D633B846F1}">
                <asvg:svgBlip xmlns:asvg="http://schemas.microsoft.com/office/drawing/2016/SVG/main" r:embed="rId4"/>
              </a:ext>
            </a:extLst>
          </a:blip>
          <a:stretch/>
        </p:blipFill>
        <p:spPr>
          <a:xfrm>
            <a:off x="10668000" y="1695450"/>
            <a:ext cx="685800" cy="685800"/>
          </a:xfrm>
          <a:prstGeom prst="rect">
            <a:avLst/>
          </a:prstGeom>
        </p:spPr>
      </p:pic>
      <p:pic>
        <p:nvPicPr>
          <p:cNvPr id="31" name="Graphic 18"/>
          <p:cNvPicPr>
            <a:picLocks noChangeAspect="1"/>
          </p:cNvPicPr>
          <p:nvPr/>
        </p:nvPicPr>
        <p:blipFill>
          <a:blip>
            <a:extLst>
              <a:ext uri="{96DAC541-7B7A-43D3-8B79-37D633B846F1}">
                <asvg:svgBlip xmlns:asvg="http://schemas.microsoft.com/office/drawing/2016/SVG/main" r:embed="rId5"/>
              </a:ext>
            </a:extLst>
          </a:blip>
          <a:stretch/>
        </p:blipFill>
        <p:spPr>
          <a:xfrm>
            <a:off x="9791700" y="2590800"/>
            <a:ext cx="685800" cy="685800"/>
          </a:xfrm>
          <a:prstGeom prst="rect">
            <a:avLst/>
          </a:prstGeom>
        </p:spPr>
      </p:pic>
      <p:sp>
        <p:nvSpPr>
          <p:cNvPr id="7" name="Rectangle 6">
            <a:extLst>
              <a:ext uri="{FF2B5EF4-FFF2-40B4-BE49-F238E27FC236}">
                <a16:creationId xmlns:a16="http://schemas.microsoft.com/office/drawing/2014/main" id="{2B0F581E-6997-4907-9F30-7653AE4AF570}"/>
              </a:ext>
            </a:extLst>
          </p:cNvPr>
          <p:cNvSpPr>
            <a:spLocks noGrp="1"/>
          </p:cNvSpPr>
          <p:nvPr/>
        </p:nvSpPr>
        <p:spPr>
          <a:xfrm>
            <a:off x="876300" y="876300"/>
            <a:ext cx="4953000" cy="285750"/>
          </a:xfrm>
          <a:prstGeom prst="rect">
            <a:avLst/>
          </a:prstGeom>
          <a:noFill/>
          <a:ln w="0">
            <a:noFill/>
            <a:prstDash val="solid"/>
          </a:ln>
        </p:spPr>
        <p:txBody>
          <a:bodyPr/>
          <a:lstStyle/>
          <a:p>
            <a:pPr algn="l">
              <a:buNone/>
              <a:defRPr sz="1350" b="1">
                <a:solidFill>
                  <a:srgbClr val="009999"/>
                </a:solidFill>
              </a:defRPr>
            </a:pPr>
            <a:r>
              <a:rPr sz="1350" b="1">
                <a:solidFill>
                  <a:srgbClr val="009999"/>
                </a:solidFill>
              </a:rPr>
              <a:t>Software Verification and Validation Presentation</a:t>
            </a:r>
          </a:p>
        </p:txBody>
      </p:sp>
      <p:sp>
        <p:nvSpPr>
          <p:cNvPr id="8" name="Rectangle 7">
            <a:extLst>
              <a:ext uri="{FF2B5EF4-FFF2-40B4-BE49-F238E27FC236}">
                <a16:creationId xmlns:a16="http://schemas.microsoft.com/office/drawing/2014/main" id="{74574BF4-C352-46AF-986C-F7827C44E3CD}"/>
              </a:ext>
            </a:extLst>
          </p:cNvPr>
          <p:cNvSpPr>
            <a:spLocks noGrp="1"/>
          </p:cNvSpPr>
          <p:nvPr/>
        </p:nvSpPr>
        <p:spPr>
          <a:xfrm>
            <a:off x="876300" y="1485900"/>
            <a:ext cx="7239000" cy="1428750"/>
          </a:xfrm>
          <a:prstGeom prst="rect">
            <a:avLst/>
          </a:prstGeom>
          <a:noFill/>
          <a:ln w="0">
            <a:noFill/>
            <a:prstDash val="solid"/>
          </a:ln>
        </p:spPr>
        <p:txBody>
          <a:bodyPr/>
          <a:lstStyle/>
          <a:p>
            <a:pPr algn="l">
              <a:buNone/>
              <a:defRPr sz="4050" b="1">
                <a:solidFill>
                  <a:srgbClr val="083344"/>
                </a:solidFill>
              </a:defRPr>
            </a:pPr>
            <a:r>
              <a:rPr sz="4050" b="1">
                <a:solidFill>
                  <a:srgbClr val="083344"/>
                </a:solidFill>
              </a:rPr>
              <a:t>AI-Powered Document</a:t>
            </a:r>
          </a:p>
          <a:p>
            <a:pPr algn="l">
              <a:buNone/>
              <a:defRPr sz="4050" b="1">
                <a:solidFill>
                  <a:srgbClr val="083344"/>
                </a:solidFill>
              </a:defRPr>
            </a:pPr>
            <a:r>
              <a:rPr sz="4050" b="1">
                <a:solidFill>
                  <a:srgbClr val="083344"/>
                </a:solidFill>
              </a:rPr>
              <a:t>Retrieval System</a:t>
            </a:r>
          </a:p>
        </p:txBody>
      </p:sp>
      <p:sp>
        <p:nvSpPr>
          <p:cNvPr id="9" name="Rectangle 8">
            <a:extLst>
              <a:ext uri="{FF2B5EF4-FFF2-40B4-BE49-F238E27FC236}">
                <a16:creationId xmlns:a16="http://schemas.microsoft.com/office/drawing/2014/main" id="{5049B815-38BA-40BF-8318-899AC1499561}"/>
              </a:ext>
            </a:extLst>
          </p:cNvPr>
          <p:cNvSpPr>
            <a:spLocks noGrp="1"/>
          </p:cNvSpPr>
          <p:nvPr/>
        </p:nvSpPr>
        <p:spPr>
          <a:xfrm>
            <a:off x="914400" y="3076575"/>
            <a:ext cx="6858000" cy="323850"/>
          </a:xfrm>
          <a:prstGeom prst="rect">
            <a:avLst/>
          </a:prstGeom>
          <a:noFill/>
          <a:ln w="0">
            <a:noFill/>
            <a:prstDash val="solid"/>
          </a:ln>
        </p:spPr>
        <p:txBody>
          <a:bodyPr/>
          <a:lstStyle/>
          <a:p>
            <a:pPr algn="l">
              <a:buNone/>
              <a:defRPr sz="1800" b="0">
                <a:solidFill>
                  <a:srgbClr val="5B6B78"/>
                </a:solidFill>
              </a:defRPr>
            </a:pPr>
            <a:r>
              <a:rPr sz="1800" b="0">
                <a:solidFill>
                  <a:srgbClr val="5B6B78"/>
                </a:solidFill>
              </a:rPr>
              <a:t>Enterprise RAG system verification and validation</a:t>
            </a:r>
          </a:p>
        </p:txBody>
      </p:sp>
      <p:sp>
        <p:nvSpPr>
          <p:cNvPr id="10" name="Rectangle 9">
            <a:extLst>
              <a:ext uri="{FF2B5EF4-FFF2-40B4-BE49-F238E27FC236}">
                <a16:creationId xmlns:a16="http://schemas.microsoft.com/office/drawing/2014/main" id="{CC2C1759-94F0-4F97-9723-AF739D814D74}"/>
              </a:ext>
            </a:extLst>
          </p:cNvPr>
          <p:cNvSpPr>
            <a:spLocks noGrp="1"/>
          </p:cNvSpPr>
          <p:nvPr/>
        </p:nvSpPr>
        <p:spPr>
          <a:xfrm>
            <a:off x="914400" y="4114800"/>
            <a:ext cx="4762500" cy="304800"/>
          </a:xfrm>
          <a:prstGeom prst="rect">
            <a:avLst/>
          </a:prstGeom>
          <a:noFill/>
          <a:ln w="0">
            <a:noFill/>
            <a:prstDash val="solid"/>
          </a:ln>
        </p:spPr>
        <p:txBody>
          <a:bodyPr/>
          <a:lstStyle/>
          <a:p>
            <a:pPr algn="l">
              <a:buNone/>
              <a:defRPr sz="1650" b="1">
                <a:solidFill>
                  <a:srgbClr val="102A3A"/>
                </a:solidFill>
              </a:defRPr>
            </a:pPr>
            <a:r>
              <a:rPr sz="1650" b="1">
                <a:solidFill>
                  <a:srgbClr val="102A3A"/>
                </a:solidFill>
              </a:rPr>
              <a:t>Hof University of Applied Sciences</a:t>
            </a:r>
          </a:p>
        </p:txBody>
      </p:sp>
      <p:sp>
        <p:nvSpPr>
          <p:cNvPr id="11" name="Rectangle 10">
            <a:extLst>
              <a:ext uri="{FF2B5EF4-FFF2-40B4-BE49-F238E27FC236}">
                <a16:creationId xmlns:a16="http://schemas.microsoft.com/office/drawing/2014/main" id="{8D4442D9-FE67-4C16-851B-766827362503}"/>
              </a:ext>
            </a:extLst>
          </p:cNvPr>
          <p:cNvSpPr>
            <a:spLocks noGrp="1"/>
          </p:cNvSpPr>
          <p:nvPr/>
        </p:nvSpPr>
        <p:spPr>
          <a:xfrm>
            <a:off x="914400" y="4391025"/>
            <a:ext cx="5334000" cy="266700"/>
          </a:xfrm>
          <a:prstGeom prst="rect">
            <a:avLst/>
          </a:prstGeom>
          <a:noFill/>
          <a:ln w="0">
            <a:noFill/>
            <a:prstDash val="solid"/>
          </a:ln>
        </p:spPr>
        <p:txBody>
          <a:bodyPr/>
          <a:lstStyle/>
          <a:p>
            <a:pPr algn="l">
              <a:buNone/>
              <a:defRPr sz="1350" b="0">
                <a:solidFill>
                  <a:srgbClr val="5B6B78"/>
                </a:solidFill>
              </a:defRPr>
            </a:pPr>
            <a:r>
              <a:rPr sz="1350" b="0">
                <a:solidFill>
                  <a:srgbClr val="5B6B78"/>
                </a:solidFill>
              </a:rPr>
              <a:t>Software Engineering for Industrial Applications</a:t>
            </a:r>
          </a:p>
        </p:txBody>
      </p:sp>
      <p:sp>
        <p:nvSpPr>
          <p:cNvPr id="12" name="Rectangle 11">
            <a:extLst>
              <a:ext uri="{FF2B5EF4-FFF2-40B4-BE49-F238E27FC236}">
                <a16:creationId xmlns:a16="http://schemas.microsoft.com/office/drawing/2014/main" id="{3CE696EF-8D7D-4BD9-8555-D6CF74FBAECB}"/>
              </a:ext>
            </a:extLst>
          </p:cNvPr>
          <p:cNvSpPr>
            <a:spLocks noGrp="1"/>
          </p:cNvSpPr>
          <p:nvPr/>
        </p:nvSpPr>
        <p:spPr>
          <a:xfrm>
            <a:off x="914400" y="6430274"/>
            <a:ext cx="5905500" cy="228600"/>
          </a:xfrm>
          <a:prstGeom prst="rect">
            <a:avLst/>
          </a:prstGeom>
          <a:noFill/>
          <a:ln w="0">
            <a:noFill/>
            <a:prstDash val="solid"/>
          </a:ln>
        </p:spPr>
        <p:txBody>
          <a:bodyPr/>
          <a:lstStyle/>
          <a:p>
            <a:pPr>
              <a:buNone/>
              <a:defRPr sz="900" b="0">
                <a:solidFill>
                  <a:srgbClr val="5B6B78"/>
                </a:solidFill>
              </a:defRPr>
            </a:pPr>
            <a:r>
              <a:rPr lang="en-US" sz="900" dirty="0">
                <a:solidFill>
                  <a:srgbClr val="5B6B78"/>
                </a:solidFill>
              </a:rPr>
              <a:t>AI-powered enterprise document retrieval system </a:t>
            </a:r>
            <a:r>
              <a:rPr sz="900" b="0" dirty="0">
                <a:solidFill>
                  <a:srgbClr val="5B6B78"/>
                </a:solidFill>
              </a:rPr>
              <a:t>|</a:t>
            </a:r>
            <a:r>
              <a:rPr lang="de-DE" sz="900" b="0" dirty="0">
                <a:solidFill>
                  <a:srgbClr val="5B6B78"/>
                </a:solidFill>
              </a:rPr>
              <a:t> Md Fahim Hossain</a:t>
            </a:r>
            <a:r>
              <a:rPr lang="en-US" sz="900" dirty="0">
                <a:solidFill>
                  <a:srgbClr val="5B6B78"/>
                </a:solidFill>
              </a:rPr>
              <a:t> |</a:t>
            </a:r>
            <a:r>
              <a:rPr sz="900" b="0" dirty="0">
                <a:solidFill>
                  <a:srgbClr val="5B6B78"/>
                </a:solidFill>
              </a:rPr>
              <a:t> July 2026</a:t>
            </a:r>
          </a:p>
        </p:txBody>
      </p:sp>
      <p:sp>
        <p:nvSpPr>
          <p:cNvPr id="13" name="Rectangle 12">
            <a:extLst>
              <a:ext uri="{FF2B5EF4-FFF2-40B4-BE49-F238E27FC236}">
                <a16:creationId xmlns:a16="http://schemas.microsoft.com/office/drawing/2014/main" id="{3CCAFDFA-93A3-472D-B406-A60EE64338EA}"/>
              </a:ext>
            </a:extLst>
          </p:cNvPr>
          <p:cNvSpPr>
            <a:spLocks noGrp="1"/>
          </p:cNvSpPr>
          <p:nvPr/>
        </p:nvSpPr>
        <p:spPr>
          <a:xfrm>
            <a:off x="10820400" y="6419850"/>
            <a:ext cx="685800" cy="228600"/>
          </a:xfrm>
          <a:prstGeom prst="rect">
            <a:avLst/>
          </a:prstGeom>
          <a:noFill/>
          <a:ln w="0">
            <a:noFill/>
            <a:prstDash val="solid"/>
          </a:ln>
        </p:spPr>
        <p:txBody>
          <a:bodyPr/>
          <a:lstStyle/>
          <a:p>
            <a:pPr algn="r">
              <a:buNone/>
              <a:defRPr sz="900" b="1">
                <a:solidFill>
                  <a:srgbClr val="0077B6"/>
                </a:solidFill>
              </a:defRPr>
            </a:pPr>
            <a:r>
              <a:rPr sz="900" b="1">
                <a:solidFill>
                  <a:srgbClr val="0077B6"/>
                </a:solidFill>
              </a:rPr>
              <a:t>01 / 11</a:t>
            </a:r>
          </a:p>
        </p:txBody>
      </p:sp>
      <p:sp>
        <p:nvSpPr>
          <p:cNvPr id="21" name="Rectangle 20">
            <a:extLst>
              <a:ext uri="{FF2B5EF4-FFF2-40B4-BE49-F238E27FC236}">
                <a16:creationId xmlns:a16="http://schemas.microsoft.com/office/drawing/2014/main" id="{4EEE4452-BA94-A2A2-62C6-94C2827BB41E}"/>
              </a:ext>
            </a:extLst>
          </p:cNvPr>
          <p:cNvSpPr>
            <a:spLocks noGrp="1"/>
          </p:cNvSpPr>
          <p:nvPr/>
        </p:nvSpPr>
        <p:spPr>
          <a:xfrm>
            <a:off x="914400" y="4991100"/>
            <a:ext cx="3830320" cy="1162050"/>
          </a:xfrm>
          <a:prstGeom prst="rect">
            <a:avLst/>
          </a:prstGeom>
          <a:noFill/>
          <a:ln w="0">
            <a:noFill/>
            <a:prstDash val="solid"/>
          </a:ln>
        </p:spPr>
        <p:txBody>
          <a:bodyPr/>
          <a:lstStyle/>
          <a:p>
            <a:pPr algn="l">
              <a:buNone/>
              <a:defRPr sz="1650" b="1">
                <a:solidFill>
                  <a:srgbClr val="102A3A"/>
                </a:solidFill>
              </a:defRPr>
            </a:pPr>
            <a:r>
              <a:rPr sz="1650" b="1">
                <a:solidFill>
                  <a:srgbClr val="102A3A"/>
                </a:solidFill>
              </a:rPr>
              <a:t>Prepared By</a:t>
            </a:r>
          </a:p>
          <a:p>
            <a:pPr>
              <a:buNone/>
              <a:defRPr sz="1650" b="1">
                <a:solidFill>
                  <a:srgbClr val="102A3A"/>
                </a:solidFill>
              </a:defRPr>
            </a:pPr>
            <a:r>
              <a:rPr sz="1400">
                <a:solidFill>
                  <a:schemeClr val="tx1">
                    <a:lumMod val="65000"/>
                    <a:lumOff val="35000"/>
                  </a:schemeClr>
                </a:solidFill>
              </a:rPr>
              <a:t>Md Fahim Hossain</a:t>
            </a:r>
            <a:br/>
            <a:r>
              <a:rPr sz="1400">
                <a:solidFill>
                  <a:schemeClr val="tx1">
                    <a:lumMod val="65000"/>
                    <a:lumOff val="35000"/>
                  </a:schemeClr>
                </a:solidFill>
              </a:rPr>
              <a:t>Email: md.hossain.4@hof-university.de</a:t>
            </a:r>
          </a:p>
        </p:txBody>
      </p:sp>
      <p:pic>
        <p:nvPicPr>
          <p:cNvPr id="40" name="Image 3"/>
          <p:cNvPicPr>
            <a:picLocks noChangeAspect="1"/>
          </p:cNvPicPr>
          <p:nvPr/>
        </p:nvPicPr>
        <p:blipFill>
          <a:blip r:embed="rId6"/>
          <a:stretch>
            <a:fillRect/>
          </a:stretch>
        </p:blipFill>
        <p:spPr>
          <a:xfrm>
            <a:off x="8426450" y="4000817"/>
            <a:ext cx="3644900" cy="2132965"/>
          </a:xfrm>
          <a:prstGeom prst="rect">
            <a:avLst/>
          </a:prstGeom>
        </p:spPr>
      </p:pic>
    </p:spTree>
    <p:extLst>
      <p:ext uri="{BB962C8B-B14F-4D97-AF65-F5344CB8AC3E}">
        <p14:creationId xmlns:p14="http://schemas.microsoft.com/office/powerpoint/2010/main" val="877049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BFD"/>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EAF30A-99FC-468E-A782-4EBC624EA044}"/>
              </a:ext>
            </a:extLst>
          </p:cNvPr>
          <p:cNvSpPr>
            <a:spLocks noGrp="1"/>
          </p:cNvSpPr>
          <p:nvPr/>
        </p:nvSpPr>
        <p:spPr>
          <a:xfrm>
            <a:off x="0" y="0"/>
            <a:ext cx="12192000" cy="114300"/>
          </a:xfrm>
          <a:prstGeom prst="rect">
            <a:avLst/>
          </a:prstGeom>
          <a:solidFill>
            <a:srgbClr val="00A3AD"/>
          </a:solidFill>
          <a:ln w="0">
            <a:solidFill>
              <a:srgbClr val="00A3AD"/>
            </a:solidFill>
            <a:prstDash val="solid"/>
          </a:ln>
        </p:spPr>
        <p:txBody>
          <a:bodyPr/>
          <a:lstStyle/>
          <a:p>
            <a:endParaRPr/>
          </a:p>
        </p:txBody>
      </p:sp>
      <p:sp>
        <p:nvSpPr>
          <p:cNvPr id="2" name="Rectangle 1">
            <a:extLst>
              <a:ext uri="{FF2B5EF4-FFF2-40B4-BE49-F238E27FC236}">
                <a16:creationId xmlns:a16="http://schemas.microsoft.com/office/drawing/2014/main" id="{73E6B712-C6EA-4F9E-93CD-FFCC8C678B1D}"/>
              </a:ext>
            </a:extLst>
          </p:cNvPr>
          <p:cNvSpPr>
            <a:spLocks noGrp="1"/>
          </p:cNvSpPr>
          <p:nvPr/>
        </p:nvSpPr>
        <p:spPr>
          <a:xfrm>
            <a:off x="685800" y="342900"/>
            <a:ext cx="4000500" cy="209550"/>
          </a:xfrm>
          <a:prstGeom prst="rect">
            <a:avLst/>
          </a:prstGeom>
          <a:noFill/>
          <a:ln w="0">
            <a:noFill/>
            <a:prstDash val="solid"/>
          </a:ln>
        </p:spPr>
        <p:txBody>
          <a:bodyPr/>
          <a:lstStyle/>
          <a:p>
            <a:pPr algn="l">
              <a:buNone/>
              <a:defRPr sz="900" b="1">
                <a:solidFill>
                  <a:srgbClr val="009999"/>
                </a:solidFill>
              </a:defRPr>
            </a:pPr>
            <a:r>
              <a:rPr sz="900" b="1">
                <a:solidFill>
                  <a:srgbClr val="009999"/>
                </a:solidFill>
              </a:rPr>
              <a:t>PRESENTATION OVERVIEW</a:t>
            </a:r>
          </a:p>
        </p:txBody>
      </p:sp>
      <p:sp>
        <p:nvSpPr>
          <p:cNvPr id="3" name="Rectangle 2">
            <a:extLst>
              <a:ext uri="{FF2B5EF4-FFF2-40B4-BE49-F238E27FC236}">
                <a16:creationId xmlns:a16="http://schemas.microsoft.com/office/drawing/2014/main" id="{656C1282-BA18-4C1F-94EA-67A30A41321C}"/>
              </a:ext>
            </a:extLst>
          </p:cNvPr>
          <p:cNvSpPr>
            <a:spLocks noGrp="1"/>
          </p:cNvSpPr>
          <p:nvPr/>
        </p:nvSpPr>
        <p:spPr>
          <a:xfrm>
            <a:off x="685800" y="609600"/>
            <a:ext cx="7810500" cy="495300"/>
          </a:xfrm>
          <a:prstGeom prst="rect">
            <a:avLst/>
          </a:prstGeom>
          <a:noFill/>
          <a:ln w="0">
            <a:noFill/>
            <a:prstDash val="solid"/>
          </a:ln>
        </p:spPr>
        <p:txBody>
          <a:bodyPr/>
          <a:lstStyle/>
          <a:p>
            <a:pPr algn="l">
              <a:buNone/>
              <a:defRPr sz="2850" b="1">
                <a:solidFill>
                  <a:srgbClr val="083344"/>
                </a:solidFill>
              </a:defRPr>
            </a:pPr>
            <a:r>
              <a:rPr sz="2850" b="1">
                <a:solidFill>
                  <a:srgbClr val="083344"/>
                </a:solidFill>
              </a:rPr>
              <a:t>Agenda</a:t>
            </a:r>
          </a:p>
        </p:txBody>
      </p:sp>
      <p:sp>
        <p:nvSpPr>
          <p:cNvPr id="4" name="Rectangle: Rounded Corners 3">
            <a:extLst>
              <a:ext uri="{FF2B5EF4-FFF2-40B4-BE49-F238E27FC236}">
                <a16:creationId xmlns:a16="http://schemas.microsoft.com/office/drawing/2014/main" id="{08780189-FB8B-4EA9-B625-C373640D06AA}"/>
              </a:ext>
            </a:extLst>
          </p:cNvPr>
          <p:cNvSpPr>
            <a:spLocks noGrp="1"/>
          </p:cNvSpPr>
          <p:nvPr/>
        </p:nvSpPr>
        <p:spPr>
          <a:xfrm>
            <a:off x="780330" y="1364861"/>
            <a:ext cx="4286969" cy="530970"/>
          </a:xfrm>
          <a:prstGeom prst="roundRect">
            <a:avLst>
              <a:gd name="adj" fmla="val 15789"/>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a:p>
        </p:txBody>
      </p:sp>
      <p:pic>
        <p:nvPicPr>
          <p:cNvPr id="45" name="Graphic 30"/>
          <p:cNvPicPr>
            <a:picLocks noChangeAspect="1"/>
          </p:cNvPicPr>
          <p:nvPr/>
        </p:nvPicPr>
        <p:blipFill>
          <a:blip>
            <a:extLst>
              <a:ext uri="{96DAC541-7B7A-43D3-8B79-37D633B846F1}">
                <asvg:svgBlip xmlns:asvg="http://schemas.microsoft.com/office/drawing/2016/SVG/main" r:embed="rId3"/>
              </a:ext>
            </a:extLst>
          </a:blip>
          <a:stretch/>
        </p:blipFill>
        <p:spPr>
          <a:xfrm>
            <a:off x="989881" y="1505401"/>
            <a:ext cx="304800" cy="304800"/>
          </a:xfrm>
          <a:prstGeom prst="rect">
            <a:avLst/>
          </a:prstGeom>
        </p:spPr>
      </p:pic>
      <p:sp>
        <p:nvSpPr>
          <p:cNvPr id="6" name="Rectangle 5">
            <a:extLst>
              <a:ext uri="{FF2B5EF4-FFF2-40B4-BE49-F238E27FC236}">
                <a16:creationId xmlns:a16="http://schemas.microsoft.com/office/drawing/2014/main" id="{42BAC1B1-99ED-492A-B403-D835DDEFBC63}"/>
              </a:ext>
            </a:extLst>
          </p:cNvPr>
          <p:cNvSpPr>
            <a:spLocks noGrp="1"/>
          </p:cNvSpPr>
          <p:nvPr/>
        </p:nvSpPr>
        <p:spPr>
          <a:xfrm>
            <a:off x="1447080" y="1468199"/>
            <a:ext cx="2640287" cy="285750"/>
          </a:xfrm>
          <a:prstGeom prst="rect">
            <a:avLst/>
          </a:prstGeom>
          <a:noFill/>
          <a:ln w="0">
            <a:noFill/>
            <a:prstDash val="solid"/>
          </a:ln>
        </p:spPr>
        <p:txBody>
          <a:bodyPr/>
          <a:lstStyle/>
          <a:p>
            <a:pPr algn="l">
              <a:buNone/>
              <a:defRPr sz="1650" b="1">
                <a:solidFill>
                  <a:srgbClr val="083344"/>
                </a:solidFill>
              </a:defRPr>
            </a:pPr>
            <a:r>
              <a:rPr sz="1650" b="1" dirty="0">
                <a:solidFill>
                  <a:srgbClr val="083344"/>
                </a:solidFill>
              </a:rPr>
              <a:t>1. Company and </a:t>
            </a:r>
            <a:r>
              <a:rPr lang="de-DE" sz="1650" b="1" dirty="0">
                <a:solidFill>
                  <a:srgbClr val="083344"/>
                </a:solidFill>
              </a:rPr>
              <a:t>Internship</a:t>
            </a:r>
            <a:endParaRPr sz="1650" b="1" dirty="0">
              <a:solidFill>
                <a:srgbClr val="083344"/>
              </a:solidFill>
            </a:endParaRPr>
          </a:p>
        </p:txBody>
      </p:sp>
      <p:sp>
        <p:nvSpPr>
          <p:cNvPr id="7" name="Rectangle: Rounded Corners 6">
            <a:extLst>
              <a:ext uri="{FF2B5EF4-FFF2-40B4-BE49-F238E27FC236}">
                <a16:creationId xmlns:a16="http://schemas.microsoft.com/office/drawing/2014/main" id="{7781295E-8899-44CD-9E7C-33A54B252008}"/>
              </a:ext>
            </a:extLst>
          </p:cNvPr>
          <p:cNvSpPr>
            <a:spLocks noGrp="1"/>
          </p:cNvSpPr>
          <p:nvPr/>
        </p:nvSpPr>
        <p:spPr>
          <a:xfrm>
            <a:off x="775338" y="2696818"/>
            <a:ext cx="4286969" cy="530970"/>
          </a:xfrm>
          <a:prstGeom prst="roundRect">
            <a:avLst>
              <a:gd name="adj" fmla="val 15789"/>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a:p>
        </p:txBody>
      </p:sp>
      <p:sp>
        <p:nvSpPr>
          <p:cNvPr id="9" name="Rectangle 8">
            <a:extLst>
              <a:ext uri="{FF2B5EF4-FFF2-40B4-BE49-F238E27FC236}">
                <a16:creationId xmlns:a16="http://schemas.microsoft.com/office/drawing/2014/main" id="{9194A74B-0B93-420B-A90D-F08480166747}"/>
              </a:ext>
            </a:extLst>
          </p:cNvPr>
          <p:cNvSpPr>
            <a:spLocks noGrp="1"/>
          </p:cNvSpPr>
          <p:nvPr/>
        </p:nvSpPr>
        <p:spPr>
          <a:xfrm>
            <a:off x="1442089" y="2791530"/>
            <a:ext cx="2000250" cy="285750"/>
          </a:xfrm>
          <a:prstGeom prst="rect">
            <a:avLst/>
          </a:prstGeom>
          <a:noFill/>
          <a:ln w="0">
            <a:noFill/>
            <a:prstDash val="solid"/>
          </a:ln>
        </p:spPr>
        <p:txBody>
          <a:bodyPr/>
          <a:lstStyle/>
          <a:p>
            <a:pPr algn="l">
              <a:buNone/>
              <a:defRPr sz="1650" b="1">
                <a:solidFill>
                  <a:srgbClr val="083344"/>
                </a:solidFill>
              </a:defRPr>
            </a:pPr>
            <a:r>
              <a:rPr lang="de-DE" sz="1650" b="1" dirty="0">
                <a:solidFill>
                  <a:srgbClr val="083344"/>
                </a:solidFill>
              </a:rPr>
              <a:t>3</a:t>
            </a:r>
            <a:r>
              <a:rPr sz="1650" b="1" dirty="0">
                <a:solidFill>
                  <a:srgbClr val="083344"/>
                </a:solidFill>
              </a:rPr>
              <a:t>. Requirements</a:t>
            </a:r>
          </a:p>
        </p:txBody>
      </p:sp>
      <p:sp>
        <p:nvSpPr>
          <p:cNvPr id="10" name="Rectangle: Rounded Corners 9">
            <a:extLst>
              <a:ext uri="{FF2B5EF4-FFF2-40B4-BE49-F238E27FC236}">
                <a16:creationId xmlns:a16="http://schemas.microsoft.com/office/drawing/2014/main" id="{F88B885C-64E0-4AF8-B709-02339E7F04C4}"/>
              </a:ext>
            </a:extLst>
          </p:cNvPr>
          <p:cNvSpPr>
            <a:spLocks noGrp="1"/>
          </p:cNvSpPr>
          <p:nvPr/>
        </p:nvSpPr>
        <p:spPr>
          <a:xfrm>
            <a:off x="775339" y="3359702"/>
            <a:ext cx="4286968" cy="530608"/>
          </a:xfrm>
          <a:prstGeom prst="roundRect">
            <a:avLst>
              <a:gd name="adj" fmla="val 15789"/>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Rectangle 11">
            <a:extLst>
              <a:ext uri="{FF2B5EF4-FFF2-40B4-BE49-F238E27FC236}">
                <a16:creationId xmlns:a16="http://schemas.microsoft.com/office/drawing/2014/main" id="{F2B389BE-168A-4404-B410-242BECE39D5B}"/>
              </a:ext>
            </a:extLst>
          </p:cNvPr>
          <p:cNvSpPr>
            <a:spLocks noGrp="1"/>
          </p:cNvSpPr>
          <p:nvPr/>
        </p:nvSpPr>
        <p:spPr>
          <a:xfrm>
            <a:off x="1442089" y="3463042"/>
            <a:ext cx="2000250" cy="285750"/>
          </a:xfrm>
          <a:prstGeom prst="rect">
            <a:avLst/>
          </a:prstGeom>
          <a:noFill/>
          <a:ln w="0">
            <a:noFill/>
            <a:prstDash val="solid"/>
          </a:ln>
        </p:spPr>
        <p:txBody>
          <a:bodyPr/>
          <a:lstStyle/>
          <a:p>
            <a:pPr algn="l">
              <a:buNone/>
              <a:defRPr sz="1650" b="1">
                <a:solidFill>
                  <a:srgbClr val="083344"/>
                </a:solidFill>
              </a:defRPr>
            </a:pPr>
            <a:r>
              <a:rPr lang="de-DE" sz="1650" b="1" dirty="0">
                <a:solidFill>
                  <a:srgbClr val="083344"/>
                </a:solidFill>
              </a:rPr>
              <a:t>4</a:t>
            </a:r>
            <a:r>
              <a:rPr sz="1650" b="1" dirty="0">
                <a:solidFill>
                  <a:srgbClr val="083344"/>
                </a:solidFill>
              </a:rPr>
              <a:t>. </a:t>
            </a:r>
            <a:r>
              <a:rPr lang="de-DE" sz="1650" b="1" dirty="0">
                <a:solidFill>
                  <a:srgbClr val="083344"/>
                </a:solidFill>
              </a:rPr>
              <a:t>Test Cases</a:t>
            </a:r>
            <a:endParaRPr sz="1650" b="1" dirty="0">
              <a:solidFill>
                <a:srgbClr val="083344"/>
              </a:solidFill>
            </a:endParaRPr>
          </a:p>
        </p:txBody>
      </p:sp>
      <p:sp>
        <p:nvSpPr>
          <p:cNvPr id="13" name="Rectangle: Rounded Corners 12">
            <a:extLst>
              <a:ext uri="{FF2B5EF4-FFF2-40B4-BE49-F238E27FC236}">
                <a16:creationId xmlns:a16="http://schemas.microsoft.com/office/drawing/2014/main" id="{6C108288-01B3-4969-A709-EBE5A1FF958E}"/>
              </a:ext>
            </a:extLst>
          </p:cNvPr>
          <p:cNvSpPr>
            <a:spLocks noGrp="1"/>
          </p:cNvSpPr>
          <p:nvPr/>
        </p:nvSpPr>
        <p:spPr>
          <a:xfrm>
            <a:off x="785002" y="4013599"/>
            <a:ext cx="4277305" cy="536009"/>
          </a:xfrm>
          <a:prstGeom prst="roundRect">
            <a:avLst>
              <a:gd name="adj" fmla="val 15789"/>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a:p>
        </p:txBody>
      </p:sp>
      <p:pic>
        <p:nvPicPr>
          <p:cNvPr id="52" name="Graphic 39"/>
          <p:cNvPicPr>
            <a:picLocks noChangeAspect="1"/>
          </p:cNvPicPr>
          <p:nvPr/>
        </p:nvPicPr>
        <p:blipFill>
          <a:blip>
            <a:extLst>
              <a:ext uri="{96DAC541-7B7A-43D3-8B79-37D633B846F1}">
                <asvg:svgBlip xmlns:asvg="http://schemas.microsoft.com/office/drawing/2016/SVG/main" r:embed="rId4"/>
              </a:ext>
            </a:extLst>
          </a:blip>
          <a:stretch/>
        </p:blipFill>
        <p:spPr>
          <a:xfrm>
            <a:off x="994553" y="4145513"/>
            <a:ext cx="304800" cy="304800"/>
          </a:xfrm>
          <a:prstGeom prst="rect">
            <a:avLst/>
          </a:prstGeom>
        </p:spPr>
      </p:pic>
      <p:sp>
        <p:nvSpPr>
          <p:cNvPr id="15" name="Rectangle 14">
            <a:extLst>
              <a:ext uri="{FF2B5EF4-FFF2-40B4-BE49-F238E27FC236}">
                <a16:creationId xmlns:a16="http://schemas.microsoft.com/office/drawing/2014/main" id="{DF49BEB0-7F1A-40BF-A824-554444699A84}"/>
              </a:ext>
            </a:extLst>
          </p:cNvPr>
          <p:cNvSpPr>
            <a:spLocks noGrp="1"/>
          </p:cNvSpPr>
          <p:nvPr/>
        </p:nvSpPr>
        <p:spPr>
          <a:xfrm>
            <a:off x="1451753" y="4116940"/>
            <a:ext cx="2000250" cy="285750"/>
          </a:xfrm>
          <a:prstGeom prst="rect">
            <a:avLst/>
          </a:prstGeom>
          <a:noFill/>
          <a:ln w="0">
            <a:noFill/>
            <a:prstDash val="solid"/>
          </a:ln>
        </p:spPr>
        <p:txBody>
          <a:bodyPr/>
          <a:lstStyle/>
          <a:p>
            <a:pPr algn="l">
              <a:buNone/>
              <a:defRPr sz="1650" b="1">
                <a:solidFill>
                  <a:srgbClr val="083344"/>
                </a:solidFill>
              </a:defRPr>
            </a:pPr>
            <a:r>
              <a:rPr lang="de-DE" sz="1650" b="1" dirty="0">
                <a:solidFill>
                  <a:srgbClr val="083344"/>
                </a:solidFill>
              </a:rPr>
              <a:t>5</a:t>
            </a:r>
            <a:r>
              <a:rPr sz="1650" b="1" dirty="0">
                <a:solidFill>
                  <a:srgbClr val="083344"/>
                </a:solidFill>
              </a:rPr>
              <a:t>. Validation</a:t>
            </a:r>
          </a:p>
        </p:txBody>
      </p:sp>
      <p:sp>
        <p:nvSpPr>
          <p:cNvPr id="16" name="Rectangle: Rounded Corners 15">
            <a:extLst>
              <a:ext uri="{FF2B5EF4-FFF2-40B4-BE49-F238E27FC236}">
                <a16:creationId xmlns:a16="http://schemas.microsoft.com/office/drawing/2014/main" id="{36ED8C6C-77F8-4348-8959-EF5A74280C20}"/>
              </a:ext>
            </a:extLst>
          </p:cNvPr>
          <p:cNvSpPr>
            <a:spLocks noGrp="1"/>
          </p:cNvSpPr>
          <p:nvPr/>
        </p:nvSpPr>
        <p:spPr>
          <a:xfrm>
            <a:off x="785001" y="4690597"/>
            <a:ext cx="4277303" cy="526199"/>
          </a:xfrm>
          <a:prstGeom prst="roundRect">
            <a:avLst>
              <a:gd name="adj" fmla="val 15789"/>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a:p>
        </p:txBody>
      </p:sp>
      <p:sp>
        <p:nvSpPr>
          <p:cNvPr id="18" name="Rectangle 17">
            <a:extLst>
              <a:ext uri="{FF2B5EF4-FFF2-40B4-BE49-F238E27FC236}">
                <a16:creationId xmlns:a16="http://schemas.microsoft.com/office/drawing/2014/main" id="{81C94F09-942E-46D6-A924-222FBC494924}"/>
              </a:ext>
            </a:extLst>
          </p:cNvPr>
          <p:cNvSpPr>
            <a:spLocks noGrp="1"/>
          </p:cNvSpPr>
          <p:nvPr/>
        </p:nvSpPr>
        <p:spPr>
          <a:xfrm>
            <a:off x="1451754" y="4799055"/>
            <a:ext cx="2000250" cy="285750"/>
          </a:xfrm>
          <a:prstGeom prst="rect">
            <a:avLst/>
          </a:prstGeom>
          <a:noFill/>
          <a:ln w="0">
            <a:noFill/>
            <a:prstDash val="solid"/>
          </a:ln>
        </p:spPr>
        <p:txBody>
          <a:bodyPr/>
          <a:lstStyle/>
          <a:p>
            <a:pPr algn="l">
              <a:buNone/>
              <a:defRPr sz="1650" b="1">
                <a:solidFill>
                  <a:srgbClr val="083344"/>
                </a:solidFill>
              </a:defRPr>
            </a:pPr>
            <a:r>
              <a:rPr lang="de-DE" sz="1650" b="1" dirty="0">
                <a:solidFill>
                  <a:srgbClr val="083344"/>
                </a:solidFill>
              </a:rPr>
              <a:t>6</a:t>
            </a:r>
            <a:r>
              <a:rPr sz="1650" b="1" dirty="0">
                <a:solidFill>
                  <a:srgbClr val="083344"/>
                </a:solidFill>
              </a:rPr>
              <a:t>. Results</a:t>
            </a:r>
          </a:p>
        </p:txBody>
      </p:sp>
      <p:sp>
        <p:nvSpPr>
          <p:cNvPr id="19" name="Rectangle: Rounded Corners 18">
            <a:extLst>
              <a:ext uri="{FF2B5EF4-FFF2-40B4-BE49-F238E27FC236}">
                <a16:creationId xmlns:a16="http://schemas.microsoft.com/office/drawing/2014/main" id="{AC6FDBF2-BA93-4535-ADF0-DC8CAE191BE0}"/>
              </a:ext>
            </a:extLst>
          </p:cNvPr>
          <p:cNvSpPr>
            <a:spLocks noGrp="1"/>
          </p:cNvSpPr>
          <p:nvPr/>
        </p:nvSpPr>
        <p:spPr>
          <a:xfrm>
            <a:off x="780013" y="5345203"/>
            <a:ext cx="4277302" cy="524863"/>
          </a:xfrm>
          <a:prstGeom prst="roundRect">
            <a:avLst>
              <a:gd name="adj" fmla="val 15789"/>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a:p>
        </p:txBody>
      </p:sp>
      <p:sp>
        <p:nvSpPr>
          <p:cNvPr id="21" name="Rectangle 20">
            <a:extLst>
              <a:ext uri="{FF2B5EF4-FFF2-40B4-BE49-F238E27FC236}">
                <a16:creationId xmlns:a16="http://schemas.microsoft.com/office/drawing/2014/main" id="{C8885E05-177C-4E7C-8BD6-12312FBE9DAB}"/>
              </a:ext>
            </a:extLst>
          </p:cNvPr>
          <p:cNvSpPr>
            <a:spLocks noGrp="1"/>
          </p:cNvSpPr>
          <p:nvPr/>
        </p:nvSpPr>
        <p:spPr>
          <a:xfrm>
            <a:off x="1451752" y="5436243"/>
            <a:ext cx="2343150" cy="285750"/>
          </a:xfrm>
          <a:prstGeom prst="rect">
            <a:avLst/>
          </a:prstGeom>
          <a:noFill/>
          <a:ln w="0">
            <a:noFill/>
            <a:prstDash val="solid"/>
          </a:ln>
        </p:spPr>
        <p:txBody>
          <a:bodyPr/>
          <a:lstStyle/>
          <a:p>
            <a:pPr algn="l">
              <a:buNone/>
              <a:defRPr sz="1650" b="1">
                <a:solidFill>
                  <a:srgbClr val="083344"/>
                </a:solidFill>
              </a:defRPr>
            </a:pPr>
            <a:r>
              <a:rPr lang="de-DE" sz="1650" b="1" dirty="0">
                <a:solidFill>
                  <a:srgbClr val="083344"/>
                </a:solidFill>
              </a:rPr>
              <a:t>7</a:t>
            </a:r>
            <a:r>
              <a:rPr sz="1650" b="1" dirty="0">
                <a:solidFill>
                  <a:srgbClr val="083344"/>
                </a:solidFill>
              </a:rPr>
              <a:t>. Conclusion</a:t>
            </a:r>
          </a:p>
        </p:txBody>
      </p:sp>
      <p:sp>
        <p:nvSpPr>
          <p:cNvPr id="25" name="Rectangle 24">
            <a:extLst>
              <a:ext uri="{FF2B5EF4-FFF2-40B4-BE49-F238E27FC236}">
                <a16:creationId xmlns:a16="http://schemas.microsoft.com/office/drawing/2014/main" id="{7ADCB45B-6512-4756-B4E6-65FED3FE4F55}"/>
              </a:ext>
            </a:extLst>
          </p:cNvPr>
          <p:cNvSpPr>
            <a:spLocks noGrp="1"/>
          </p:cNvSpPr>
          <p:nvPr/>
        </p:nvSpPr>
        <p:spPr>
          <a:xfrm>
            <a:off x="685800" y="6419850"/>
            <a:ext cx="5905500" cy="228600"/>
          </a:xfrm>
          <a:prstGeom prst="rect">
            <a:avLst/>
          </a:prstGeom>
          <a:noFill/>
          <a:ln w="0">
            <a:noFill/>
            <a:prstDash val="solid"/>
          </a:ln>
        </p:spPr>
        <p:txBody>
          <a:bodyPr/>
          <a:lstStyle/>
          <a:p>
            <a:pPr>
              <a:buNone/>
              <a:defRPr sz="900" b="0">
                <a:solidFill>
                  <a:srgbClr val="5B6B78"/>
                </a:solidFill>
              </a:defRPr>
            </a:pPr>
            <a:r>
              <a:rPr lang="en-US" sz="900" dirty="0">
                <a:solidFill>
                  <a:srgbClr val="5B6B78"/>
                </a:solidFill>
              </a:rPr>
              <a:t>AI-powered enterprise document retrieval system | Md Fahim Hossain | July 2026</a:t>
            </a:r>
          </a:p>
        </p:txBody>
      </p:sp>
      <p:sp>
        <p:nvSpPr>
          <p:cNvPr id="26" name="Rectangle 25">
            <a:extLst>
              <a:ext uri="{FF2B5EF4-FFF2-40B4-BE49-F238E27FC236}">
                <a16:creationId xmlns:a16="http://schemas.microsoft.com/office/drawing/2014/main" id="{2EAC977B-F0D6-4ECE-B141-EE9005A4C878}"/>
              </a:ext>
            </a:extLst>
          </p:cNvPr>
          <p:cNvSpPr>
            <a:spLocks noGrp="1"/>
          </p:cNvSpPr>
          <p:nvPr/>
        </p:nvSpPr>
        <p:spPr>
          <a:xfrm>
            <a:off x="10820400" y="6419850"/>
            <a:ext cx="685800" cy="228600"/>
          </a:xfrm>
          <a:prstGeom prst="rect">
            <a:avLst/>
          </a:prstGeom>
          <a:noFill/>
          <a:ln w="0">
            <a:noFill/>
            <a:prstDash val="solid"/>
          </a:ln>
        </p:spPr>
        <p:txBody>
          <a:bodyPr/>
          <a:lstStyle/>
          <a:p>
            <a:pPr algn="r">
              <a:buNone/>
              <a:defRPr sz="900" b="1">
                <a:solidFill>
                  <a:srgbClr val="0077B6"/>
                </a:solidFill>
              </a:defRPr>
            </a:pPr>
            <a:r>
              <a:rPr sz="900" b="1">
                <a:solidFill>
                  <a:srgbClr val="0077B6"/>
                </a:solidFill>
              </a:rPr>
              <a:t>02 / 11</a:t>
            </a:r>
          </a:p>
        </p:txBody>
      </p:sp>
      <p:pic>
        <p:nvPicPr>
          <p:cNvPr id="62" name="Picture 10"/>
          <p:cNvPicPr>
            <a:picLocks noChangeAspect="1"/>
          </p:cNvPicPr>
          <p:nvPr/>
        </p:nvPicPr>
        <p:blipFill>
          <a:blip r:embed="rId5"/>
          <a:stretch>
            <a:fillRect/>
          </a:stretch>
        </p:blipFill>
        <p:spPr>
          <a:xfrm>
            <a:off x="10820400" y="326316"/>
            <a:ext cx="1156607" cy="397584"/>
          </a:xfrm>
          <a:prstGeom prst="rect">
            <a:avLst/>
          </a:prstGeom>
        </p:spPr>
      </p:pic>
      <p:pic>
        <p:nvPicPr>
          <p:cNvPr id="63" name="Picture 26"/>
          <p:cNvPicPr>
            <a:picLocks noChangeAspect="1"/>
          </p:cNvPicPr>
          <p:nvPr/>
        </p:nvPicPr>
        <p:blipFill>
          <a:blip r:embed="rId6"/>
          <a:stretch>
            <a:fillRect/>
          </a:stretch>
        </p:blipFill>
        <p:spPr>
          <a:xfrm>
            <a:off x="5987831" y="1650483"/>
            <a:ext cx="5016937" cy="3889125"/>
          </a:xfrm>
          <a:prstGeom prst="rect">
            <a:avLst/>
          </a:prstGeom>
        </p:spPr>
      </p:pic>
      <p:pic>
        <p:nvPicPr>
          <p:cNvPr id="64" name="Graphic 63"/>
          <p:cNvPicPr>
            <a:picLocks noChangeAspect="1"/>
          </p:cNvPicPr>
          <p:nvPr/>
        </p:nvPicPr>
        <p:blipFill>
          <a:blip>
            <a:extLst>
              <a:ext uri="{96DAC541-7B7A-43D3-8B79-37D633B846F1}">
                <asvg:svgBlip xmlns:asvg="http://schemas.microsoft.com/office/drawing/2016/SVG/main" r:embed="rId7"/>
              </a:ext>
            </a:extLst>
          </a:blip>
          <a:stretch/>
        </p:blipFill>
        <p:spPr>
          <a:xfrm>
            <a:off x="984889" y="2828732"/>
            <a:ext cx="304800" cy="304800"/>
          </a:xfrm>
          <a:prstGeom prst="rect">
            <a:avLst/>
          </a:prstGeom>
        </p:spPr>
      </p:pic>
      <p:pic>
        <p:nvPicPr>
          <p:cNvPr id="65" name="Graphic 64"/>
          <p:cNvPicPr>
            <a:picLocks noChangeAspect="1"/>
          </p:cNvPicPr>
          <p:nvPr/>
        </p:nvPicPr>
        <p:blipFill>
          <a:blip>
            <a:extLst>
              <a:ext uri="{96DAC541-7B7A-43D3-8B79-37D633B846F1}">
                <asvg:svgBlip xmlns:asvg="http://schemas.microsoft.com/office/drawing/2016/SVG/main" r:embed="rId8"/>
              </a:ext>
            </a:extLst>
          </a:blip>
          <a:stretch/>
        </p:blipFill>
        <p:spPr>
          <a:xfrm>
            <a:off x="984889" y="3482991"/>
            <a:ext cx="304800" cy="304800"/>
          </a:xfrm>
          <a:prstGeom prst="rect">
            <a:avLst/>
          </a:prstGeom>
        </p:spPr>
      </p:pic>
      <p:pic>
        <p:nvPicPr>
          <p:cNvPr id="66" name="Graphic 65"/>
          <p:cNvPicPr>
            <a:picLocks noChangeAspect="1"/>
          </p:cNvPicPr>
          <p:nvPr/>
        </p:nvPicPr>
        <p:blipFill>
          <a:blip>
            <a:extLst>
              <a:ext uri="{96DAC541-7B7A-43D3-8B79-37D633B846F1}">
                <asvg:svgBlip xmlns:asvg="http://schemas.microsoft.com/office/drawing/2016/SVG/main" r:embed="rId9"/>
              </a:ext>
            </a:extLst>
          </a:blip>
          <a:stretch/>
        </p:blipFill>
        <p:spPr>
          <a:xfrm>
            <a:off x="994554" y="4819004"/>
            <a:ext cx="304800" cy="304800"/>
          </a:xfrm>
          <a:prstGeom prst="rect">
            <a:avLst/>
          </a:prstGeom>
        </p:spPr>
      </p:pic>
      <p:pic>
        <p:nvPicPr>
          <p:cNvPr id="67" name="Graphic 66"/>
          <p:cNvPicPr>
            <a:picLocks noChangeAspect="1"/>
          </p:cNvPicPr>
          <p:nvPr/>
        </p:nvPicPr>
        <p:blipFill>
          <a:blip>
            <a:extLst>
              <a:ext uri="{96DAC541-7B7A-43D3-8B79-37D633B846F1}">
                <asvg:svgBlip xmlns:asvg="http://schemas.microsoft.com/office/drawing/2016/SVG/main" r:embed="rId10"/>
              </a:ext>
            </a:extLst>
          </a:blip>
          <a:stretch/>
        </p:blipFill>
        <p:spPr>
          <a:xfrm>
            <a:off x="994552" y="5475242"/>
            <a:ext cx="304800" cy="304800"/>
          </a:xfrm>
          <a:prstGeom prst="rect">
            <a:avLst/>
          </a:prstGeom>
        </p:spPr>
      </p:pic>
      <p:sp>
        <p:nvSpPr>
          <p:cNvPr id="11" name="Rectangle: Rounded Corners 10">
            <a:extLst>
              <a:ext uri="{FF2B5EF4-FFF2-40B4-BE49-F238E27FC236}">
                <a16:creationId xmlns:a16="http://schemas.microsoft.com/office/drawing/2014/main" id="{3693F1BB-3E13-C211-1464-AEC1F45DA972}"/>
              </a:ext>
            </a:extLst>
          </p:cNvPr>
          <p:cNvSpPr>
            <a:spLocks noGrp="1"/>
          </p:cNvSpPr>
          <p:nvPr/>
        </p:nvSpPr>
        <p:spPr>
          <a:xfrm>
            <a:off x="775338" y="2033934"/>
            <a:ext cx="4286969" cy="530970"/>
          </a:xfrm>
          <a:prstGeom prst="roundRect">
            <a:avLst>
              <a:gd name="adj" fmla="val 15789"/>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pic>
        <p:nvPicPr>
          <p:cNvPr id="17" name="Graphic 16">
            <a:extLst>
              <a:ext uri="{FF2B5EF4-FFF2-40B4-BE49-F238E27FC236}">
                <a16:creationId xmlns:a16="http://schemas.microsoft.com/office/drawing/2014/main" id="{00E41CEC-80C0-3D04-94B5-624EC1608723}"/>
              </a:ext>
            </a:extLst>
          </p:cNvPr>
          <p:cNvPicPr>
            <a:picLocks noChangeAspect="1"/>
          </p:cNvPicPr>
          <p:nvPr/>
        </p:nvPicPr>
        <p:blipFill>
          <a:blip>
            <a:extLst>
              <a:ext uri="{96DAC541-7B7A-43D3-8B79-37D633B846F1}">
                <asvg:svgBlip xmlns:asvg="http://schemas.microsoft.com/office/drawing/2016/SVG/main" r:embed="rId11"/>
              </a:ext>
            </a:extLst>
          </a:blip>
          <a:stretch/>
        </p:blipFill>
        <p:spPr>
          <a:xfrm>
            <a:off x="984889" y="2165848"/>
            <a:ext cx="304800" cy="304800"/>
          </a:xfrm>
          <a:prstGeom prst="rect">
            <a:avLst/>
          </a:prstGeom>
        </p:spPr>
      </p:pic>
      <p:sp>
        <p:nvSpPr>
          <p:cNvPr id="23" name="Rectangle 22">
            <a:extLst>
              <a:ext uri="{FF2B5EF4-FFF2-40B4-BE49-F238E27FC236}">
                <a16:creationId xmlns:a16="http://schemas.microsoft.com/office/drawing/2014/main" id="{2987593A-CECF-4F84-9CFB-F05E744D4209}"/>
              </a:ext>
            </a:extLst>
          </p:cNvPr>
          <p:cNvSpPr>
            <a:spLocks noGrp="1"/>
          </p:cNvSpPr>
          <p:nvPr/>
        </p:nvSpPr>
        <p:spPr>
          <a:xfrm>
            <a:off x="1442089" y="2128646"/>
            <a:ext cx="2000250" cy="285750"/>
          </a:xfrm>
          <a:prstGeom prst="rect">
            <a:avLst/>
          </a:prstGeom>
          <a:noFill/>
          <a:ln w="0">
            <a:noFill/>
            <a:prstDash val="solid"/>
          </a:ln>
        </p:spPr>
        <p:txBody>
          <a:bodyPr/>
          <a:lstStyle/>
          <a:p>
            <a:pPr algn="l">
              <a:defRPr sz="1650" b="1">
                <a:solidFill>
                  <a:srgbClr val="083344"/>
                </a:solidFill>
              </a:defRPr>
            </a:pPr>
            <a:r>
              <a:rPr lang="de-DE" sz="1650" b="1" dirty="0">
                <a:solidFill>
                  <a:srgbClr val="083344"/>
                </a:solidFill>
              </a:rPr>
              <a:t>2. </a:t>
            </a:r>
            <a:r>
              <a:rPr sz="1650" b="1" dirty="0">
                <a:solidFill>
                  <a:srgbClr val="083344"/>
                </a:solidFill>
              </a:rPr>
              <a:t>Project </a:t>
            </a:r>
            <a:r>
              <a:rPr lang="de-DE" sz="1650" b="1" dirty="0">
                <a:solidFill>
                  <a:srgbClr val="083344"/>
                </a:solidFill>
              </a:rPr>
              <a:t>Epic</a:t>
            </a:r>
            <a:endParaRPr sz="1650" b="1" dirty="0">
              <a:solidFill>
                <a:srgbClr val="083344"/>
              </a:solidFill>
            </a:endParaRPr>
          </a:p>
        </p:txBody>
      </p:sp>
    </p:spTree>
    <p:extLst>
      <p:ext uri="{BB962C8B-B14F-4D97-AF65-F5344CB8AC3E}">
        <p14:creationId xmlns:p14="http://schemas.microsoft.com/office/powerpoint/2010/main" val="1761032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BFD"/>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7F3B846-E6B0-4320-A1CA-D5267E2EF278}"/>
              </a:ext>
            </a:extLst>
          </p:cNvPr>
          <p:cNvSpPr>
            <a:spLocks noGrp="1"/>
          </p:cNvSpPr>
          <p:nvPr/>
        </p:nvSpPr>
        <p:spPr>
          <a:xfrm>
            <a:off x="0" y="0"/>
            <a:ext cx="12192000" cy="114300"/>
          </a:xfrm>
          <a:prstGeom prst="rect">
            <a:avLst/>
          </a:prstGeom>
          <a:solidFill>
            <a:srgbClr val="00A3AD"/>
          </a:solidFill>
          <a:ln w="0">
            <a:solidFill>
              <a:srgbClr val="00A3AD"/>
            </a:solidFill>
            <a:prstDash val="solid"/>
          </a:ln>
        </p:spPr>
        <p:txBody>
          <a:bodyPr/>
          <a:lstStyle/>
          <a:p>
            <a:endParaRPr/>
          </a:p>
        </p:txBody>
      </p:sp>
      <p:sp>
        <p:nvSpPr>
          <p:cNvPr id="2" name="Rectangle 1">
            <a:extLst>
              <a:ext uri="{FF2B5EF4-FFF2-40B4-BE49-F238E27FC236}">
                <a16:creationId xmlns:a16="http://schemas.microsoft.com/office/drawing/2014/main" id="{42C5CF62-AE2C-41C7-B0C2-6624F38D3B60}"/>
              </a:ext>
            </a:extLst>
          </p:cNvPr>
          <p:cNvSpPr>
            <a:spLocks noGrp="1"/>
          </p:cNvSpPr>
          <p:nvPr/>
        </p:nvSpPr>
        <p:spPr>
          <a:xfrm>
            <a:off x="685800" y="342900"/>
            <a:ext cx="4000500" cy="209550"/>
          </a:xfrm>
          <a:prstGeom prst="rect">
            <a:avLst/>
          </a:prstGeom>
          <a:noFill/>
          <a:ln w="0">
            <a:noFill/>
            <a:prstDash val="solid"/>
          </a:ln>
        </p:spPr>
        <p:txBody>
          <a:bodyPr/>
          <a:lstStyle/>
          <a:p>
            <a:pPr algn="l">
              <a:buNone/>
              <a:defRPr sz="900" b="1">
                <a:solidFill>
                  <a:srgbClr val="009999"/>
                </a:solidFill>
              </a:defRPr>
            </a:pPr>
            <a:r>
              <a:rPr sz="900" b="1">
                <a:solidFill>
                  <a:srgbClr val="009999"/>
                </a:solidFill>
              </a:rPr>
              <a:t>INTRODUCTION</a:t>
            </a:r>
          </a:p>
        </p:txBody>
      </p:sp>
      <p:sp>
        <p:nvSpPr>
          <p:cNvPr id="3" name="Rectangle 2">
            <a:extLst>
              <a:ext uri="{FF2B5EF4-FFF2-40B4-BE49-F238E27FC236}">
                <a16:creationId xmlns:a16="http://schemas.microsoft.com/office/drawing/2014/main" id="{54CD0994-AAC3-4AEF-B815-30845958A97A}"/>
              </a:ext>
            </a:extLst>
          </p:cNvPr>
          <p:cNvSpPr>
            <a:spLocks noGrp="1"/>
          </p:cNvSpPr>
          <p:nvPr/>
        </p:nvSpPr>
        <p:spPr>
          <a:xfrm>
            <a:off x="685800" y="609600"/>
            <a:ext cx="7810500" cy="495300"/>
          </a:xfrm>
          <a:prstGeom prst="rect">
            <a:avLst/>
          </a:prstGeom>
          <a:noFill/>
          <a:ln w="0">
            <a:noFill/>
            <a:prstDash val="solid"/>
          </a:ln>
        </p:spPr>
        <p:txBody>
          <a:bodyPr/>
          <a:lstStyle/>
          <a:p>
            <a:pPr algn="l">
              <a:buNone/>
              <a:defRPr sz="2850" b="1">
                <a:solidFill>
                  <a:srgbClr val="083344"/>
                </a:solidFill>
              </a:defRPr>
            </a:pPr>
            <a:r>
              <a:rPr sz="2850" b="1">
                <a:solidFill>
                  <a:srgbClr val="083344"/>
                </a:solidFill>
              </a:rPr>
              <a:t>Company and Internship</a:t>
            </a:r>
          </a:p>
        </p:txBody>
      </p:sp>
      <p:sp>
        <p:nvSpPr>
          <p:cNvPr id="4" name="Rectangle: Rounded Corners 3">
            <a:extLst>
              <a:ext uri="{FF2B5EF4-FFF2-40B4-BE49-F238E27FC236}">
                <a16:creationId xmlns:a16="http://schemas.microsoft.com/office/drawing/2014/main" id="{B56FC5E5-6BB4-485A-B7BC-EFBC720EF4C7}"/>
              </a:ext>
            </a:extLst>
          </p:cNvPr>
          <p:cNvSpPr>
            <a:spLocks noGrp="1"/>
          </p:cNvSpPr>
          <p:nvPr/>
        </p:nvSpPr>
        <p:spPr>
          <a:xfrm>
            <a:off x="781050" y="1504950"/>
            <a:ext cx="4762500" cy="1162050"/>
          </a:xfrm>
          <a:prstGeom prst="roundRect">
            <a:avLst>
              <a:gd name="adj" fmla="val 9836"/>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Oval 4">
            <a:extLst>
              <a:ext uri="{FF2B5EF4-FFF2-40B4-BE49-F238E27FC236}">
                <a16:creationId xmlns:a16="http://schemas.microsoft.com/office/drawing/2014/main" id="{FBBD302E-5607-402C-ABA0-412EC6CAC0BB}"/>
              </a:ext>
            </a:extLst>
          </p:cNvPr>
          <p:cNvSpPr>
            <a:spLocks noGrp="1"/>
          </p:cNvSpPr>
          <p:nvPr/>
        </p:nvSpPr>
        <p:spPr>
          <a:xfrm>
            <a:off x="990600" y="1771650"/>
            <a:ext cx="495300" cy="495300"/>
          </a:xfrm>
          <a:prstGeom prst="ellipse">
            <a:avLst/>
          </a:prstGeom>
          <a:solidFill>
            <a:srgbClr val="EAF7FB"/>
          </a:solidFill>
          <a:ln w="0">
            <a:solidFill>
              <a:srgbClr val="EAF7FB"/>
            </a:solidFill>
            <a:prstDash val="solid"/>
          </a:ln>
        </p:spPr>
        <p:txBody>
          <a:bodyPr/>
          <a:lstStyle/>
          <a:p>
            <a:endParaRPr/>
          </a:p>
        </p:txBody>
      </p:sp>
      <p:pic>
        <p:nvPicPr>
          <p:cNvPr id="47" name="Graphic 39"/>
          <p:cNvPicPr>
            <a:picLocks noChangeAspect="1"/>
          </p:cNvPicPr>
          <p:nvPr/>
        </p:nvPicPr>
        <p:blipFill>
          <a:blip>
            <a:extLst>
              <a:ext uri="{96DAC541-7B7A-43D3-8B79-37D633B846F1}">
                <asvg:svgBlip xmlns:asvg="http://schemas.microsoft.com/office/drawing/2016/SVG/main" r:embed="rId3"/>
              </a:ext>
            </a:extLst>
          </a:blip>
          <a:stretch/>
        </p:blipFill>
        <p:spPr>
          <a:xfrm>
            <a:off x="1114425" y="1895475"/>
            <a:ext cx="247650" cy="247650"/>
          </a:xfrm>
          <a:prstGeom prst="rect">
            <a:avLst/>
          </a:prstGeom>
        </p:spPr>
      </p:pic>
      <p:sp>
        <p:nvSpPr>
          <p:cNvPr id="7" name="Rectangle 6">
            <a:extLst>
              <a:ext uri="{FF2B5EF4-FFF2-40B4-BE49-F238E27FC236}">
                <a16:creationId xmlns:a16="http://schemas.microsoft.com/office/drawing/2014/main" id="{50DE9D14-3B19-4063-98E1-7717EE799FC2}"/>
              </a:ext>
            </a:extLst>
          </p:cNvPr>
          <p:cNvSpPr>
            <a:spLocks noGrp="1"/>
          </p:cNvSpPr>
          <p:nvPr/>
        </p:nvSpPr>
        <p:spPr>
          <a:xfrm>
            <a:off x="1676400" y="1733550"/>
            <a:ext cx="3657600" cy="285750"/>
          </a:xfrm>
          <a:prstGeom prst="rect">
            <a:avLst/>
          </a:prstGeom>
          <a:noFill/>
          <a:ln w="0">
            <a:noFill/>
            <a:prstDash val="solid"/>
          </a:ln>
        </p:spPr>
        <p:txBody>
          <a:bodyPr/>
          <a:lstStyle/>
          <a:p>
            <a:pPr algn="l">
              <a:buNone/>
              <a:defRPr sz="1575" b="1">
                <a:solidFill>
                  <a:srgbClr val="083344"/>
                </a:solidFill>
              </a:defRPr>
            </a:pPr>
            <a:r>
              <a:rPr sz="1575" b="1" dirty="0">
                <a:solidFill>
                  <a:srgbClr val="083344"/>
                </a:solidFill>
              </a:rPr>
              <a:t>Siemens Energy</a:t>
            </a:r>
          </a:p>
        </p:txBody>
      </p:sp>
      <p:sp>
        <p:nvSpPr>
          <p:cNvPr id="9" name="Rectangle: Rounded Corners 8">
            <a:extLst>
              <a:ext uri="{FF2B5EF4-FFF2-40B4-BE49-F238E27FC236}">
                <a16:creationId xmlns:a16="http://schemas.microsoft.com/office/drawing/2014/main" id="{EC8C1010-94A6-41EC-8335-A2EDFA45BC41}"/>
              </a:ext>
            </a:extLst>
          </p:cNvPr>
          <p:cNvSpPr>
            <a:spLocks noGrp="1"/>
          </p:cNvSpPr>
          <p:nvPr/>
        </p:nvSpPr>
        <p:spPr>
          <a:xfrm>
            <a:off x="781050" y="2914650"/>
            <a:ext cx="4762500" cy="1162050"/>
          </a:xfrm>
          <a:prstGeom prst="roundRect">
            <a:avLst>
              <a:gd name="adj" fmla="val 9836"/>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Oval 9">
            <a:extLst>
              <a:ext uri="{FF2B5EF4-FFF2-40B4-BE49-F238E27FC236}">
                <a16:creationId xmlns:a16="http://schemas.microsoft.com/office/drawing/2014/main" id="{71EB08F1-97E1-4DAE-99B0-F1E4FA5D90A6}"/>
              </a:ext>
            </a:extLst>
          </p:cNvPr>
          <p:cNvSpPr>
            <a:spLocks noGrp="1"/>
          </p:cNvSpPr>
          <p:nvPr/>
        </p:nvSpPr>
        <p:spPr>
          <a:xfrm>
            <a:off x="990600" y="3181350"/>
            <a:ext cx="495300" cy="495300"/>
          </a:xfrm>
          <a:prstGeom prst="ellipse">
            <a:avLst/>
          </a:prstGeom>
          <a:solidFill>
            <a:srgbClr val="EAF7FB"/>
          </a:solidFill>
          <a:ln w="0">
            <a:solidFill>
              <a:srgbClr val="EAF7FB"/>
            </a:solidFill>
            <a:prstDash val="solid"/>
          </a:ln>
        </p:spPr>
        <p:txBody>
          <a:bodyPr/>
          <a:lstStyle/>
          <a:p>
            <a:endParaRPr/>
          </a:p>
        </p:txBody>
      </p:sp>
      <p:pic>
        <p:nvPicPr>
          <p:cNvPr id="51" name="Graphic 44"/>
          <p:cNvPicPr>
            <a:picLocks noChangeAspect="1"/>
          </p:cNvPicPr>
          <p:nvPr/>
        </p:nvPicPr>
        <p:blipFill>
          <a:blip>
            <a:extLst>
              <a:ext uri="{96DAC541-7B7A-43D3-8B79-37D633B846F1}">
                <asvg:svgBlip xmlns:asvg="http://schemas.microsoft.com/office/drawing/2016/SVG/main" r:embed="rId4"/>
              </a:ext>
            </a:extLst>
          </a:blip>
          <a:stretch/>
        </p:blipFill>
        <p:spPr>
          <a:xfrm>
            <a:off x="1114425" y="3305175"/>
            <a:ext cx="247650" cy="247650"/>
          </a:xfrm>
          <a:prstGeom prst="rect">
            <a:avLst/>
          </a:prstGeom>
        </p:spPr>
      </p:pic>
      <p:sp>
        <p:nvSpPr>
          <p:cNvPr id="12" name="Rectangle 11">
            <a:extLst>
              <a:ext uri="{FF2B5EF4-FFF2-40B4-BE49-F238E27FC236}">
                <a16:creationId xmlns:a16="http://schemas.microsoft.com/office/drawing/2014/main" id="{C6A9A74A-F6A9-4FA7-A503-056C9E59A05E}"/>
              </a:ext>
            </a:extLst>
          </p:cNvPr>
          <p:cNvSpPr>
            <a:spLocks noGrp="1"/>
          </p:cNvSpPr>
          <p:nvPr/>
        </p:nvSpPr>
        <p:spPr>
          <a:xfrm>
            <a:off x="1676400" y="3143250"/>
            <a:ext cx="3657600" cy="285750"/>
          </a:xfrm>
          <a:prstGeom prst="rect">
            <a:avLst/>
          </a:prstGeom>
          <a:noFill/>
          <a:ln w="0">
            <a:noFill/>
            <a:prstDash val="solid"/>
          </a:ln>
        </p:spPr>
        <p:txBody>
          <a:bodyPr/>
          <a:lstStyle/>
          <a:p>
            <a:pPr algn="l">
              <a:buNone/>
              <a:defRPr sz="1575" b="1">
                <a:solidFill>
                  <a:srgbClr val="083344"/>
                </a:solidFill>
              </a:defRPr>
            </a:pPr>
            <a:r>
              <a:rPr sz="1575" b="1">
                <a:solidFill>
                  <a:srgbClr val="083344"/>
                </a:solidFill>
              </a:rPr>
              <a:t>SE GT DG OE</a:t>
            </a:r>
          </a:p>
        </p:txBody>
      </p:sp>
      <p:sp>
        <p:nvSpPr>
          <p:cNvPr id="14" name="Rectangle: Rounded Corners 13">
            <a:extLst>
              <a:ext uri="{FF2B5EF4-FFF2-40B4-BE49-F238E27FC236}">
                <a16:creationId xmlns:a16="http://schemas.microsoft.com/office/drawing/2014/main" id="{CF4BAB79-314E-437E-B013-DBE3E5DA5324}"/>
              </a:ext>
            </a:extLst>
          </p:cNvPr>
          <p:cNvSpPr>
            <a:spLocks noGrp="1"/>
          </p:cNvSpPr>
          <p:nvPr/>
        </p:nvSpPr>
        <p:spPr>
          <a:xfrm>
            <a:off x="781050" y="4324350"/>
            <a:ext cx="4762500" cy="1162050"/>
          </a:xfrm>
          <a:prstGeom prst="roundRect">
            <a:avLst>
              <a:gd name="adj" fmla="val 9836"/>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Oval 14">
            <a:extLst>
              <a:ext uri="{FF2B5EF4-FFF2-40B4-BE49-F238E27FC236}">
                <a16:creationId xmlns:a16="http://schemas.microsoft.com/office/drawing/2014/main" id="{172625BF-C263-4522-9038-4CCDA5D94F24}"/>
              </a:ext>
            </a:extLst>
          </p:cNvPr>
          <p:cNvSpPr>
            <a:spLocks noGrp="1"/>
          </p:cNvSpPr>
          <p:nvPr/>
        </p:nvSpPr>
        <p:spPr>
          <a:xfrm>
            <a:off x="990600" y="4591050"/>
            <a:ext cx="495300" cy="495300"/>
          </a:xfrm>
          <a:prstGeom prst="ellipse">
            <a:avLst/>
          </a:prstGeom>
          <a:solidFill>
            <a:srgbClr val="EAF7FB"/>
          </a:solidFill>
          <a:ln w="0">
            <a:solidFill>
              <a:srgbClr val="EAF7FB"/>
            </a:solidFill>
            <a:prstDash val="solid"/>
          </a:ln>
        </p:spPr>
        <p:txBody>
          <a:bodyPr/>
          <a:lstStyle/>
          <a:p>
            <a:endParaRPr/>
          </a:p>
        </p:txBody>
      </p:sp>
      <p:pic>
        <p:nvPicPr>
          <p:cNvPr id="55" name="Graphic 49"/>
          <p:cNvPicPr>
            <a:picLocks noChangeAspect="1"/>
          </p:cNvPicPr>
          <p:nvPr/>
        </p:nvPicPr>
        <p:blipFill>
          <a:blip>
            <a:extLst>
              <a:ext uri="{96DAC541-7B7A-43D3-8B79-37D633B846F1}">
                <asvg:svgBlip xmlns:asvg="http://schemas.microsoft.com/office/drawing/2016/SVG/main" r:embed="rId5"/>
              </a:ext>
            </a:extLst>
          </a:blip>
          <a:stretch/>
        </p:blipFill>
        <p:spPr>
          <a:xfrm>
            <a:off x="1114425" y="4714875"/>
            <a:ext cx="247650" cy="247650"/>
          </a:xfrm>
          <a:prstGeom prst="rect">
            <a:avLst/>
          </a:prstGeom>
        </p:spPr>
      </p:pic>
      <p:sp>
        <p:nvSpPr>
          <p:cNvPr id="17" name="Rectangle 16">
            <a:extLst>
              <a:ext uri="{FF2B5EF4-FFF2-40B4-BE49-F238E27FC236}">
                <a16:creationId xmlns:a16="http://schemas.microsoft.com/office/drawing/2014/main" id="{1D8E1757-8661-4244-9E4F-965CECB551E0}"/>
              </a:ext>
            </a:extLst>
          </p:cNvPr>
          <p:cNvSpPr>
            <a:spLocks noGrp="1"/>
          </p:cNvSpPr>
          <p:nvPr/>
        </p:nvSpPr>
        <p:spPr>
          <a:xfrm>
            <a:off x="1676400" y="4552950"/>
            <a:ext cx="3657600" cy="285750"/>
          </a:xfrm>
          <a:prstGeom prst="rect">
            <a:avLst/>
          </a:prstGeom>
          <a:noFill/>
          <a:ln w="0">
            <a:noFill/>
            <a:prstDash val="solid"/>
          </a:ln>
        </p:spPr>
        <p:txBody>
          <a:bodyPr/>
          <a:lstStyle/>
          <a:p>
            <a:pPr>
              <a:defRPr sz="1575" b="1">
                <a:solidFill>
                  <a:srgbClr val="083344"/>
                </a:solidFill>
              </a:defRPr>
            </a:pPr>
            <a:r>
              <a:rPr lang="en-US" sz="1575" b="1" dirty="0">
                <a:solidFill>
                  <a:srgbClr val="083344"/>
                </a:solidFill>
              </a:rPr>
              <a:t>Internship</a:t>
            </a:r>
            <a:r>
              <a:rPr lang="de-DE" sz="1575" b="1" dirty="0">
                <a:solidFill>
                  <a:srgbClr val="083344"/>
                </a:solidFill>
              </a:rPr>
              <a:t> Role</a:t>
            </a:r>
            <a:endParaRPr sz="1575" b="1" dirty="0">
              <a:solidFill>
                <a:srgbClr val="083344"/>
              </a:solidFill>
            </a:endParaRPr>
          </a:p>
        </p:txBody>
      </p:sp>
      <p:sp>
        <p:nvSpPr>
          <p:cNvPr id="19" name="Rectangle: Rounded Corners 18">
            <a:extLst>
              <a:ext uri="{FF2B5EF4-FFF2-40B4-BE49-F238E27FC236}">
                <a16:creationId xmlns:a16="http://schemas.microsoft.com/office/drawing/2014/main" id="{CE940C52-4AE6-45E5-8267-AC3AC3FCC3E1}"/>
              </a:ext>
            </a:extLst>
          </p:cNvPr>
          <p:cNvSpPr>
            <a:spLocks noGrp="1"/>
          </p:cNvSpPr>
          <p:nvPr/>
        </p:nvSpPr>
        <p:spPr>
          <a:xfrm>
            <a:off x="6191250" y="1619250"/>
            <a:ext cx="4762500" cy="3581400"/>
          </a:xfrm>
          <a:prstGeom prst="roundRect">
            <a:avLst>
              <a:gd name="adj" fmla="val 3191"/>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a:p>
        </p:txBody>
      </p:sp>
      <p:sp>
        <p:nvSpPr>
          <p:cNvPr id="33" name="Rectangle 32">
            <a:extLst>
              <a:ext uri="{FF2B5EF4-FFF2-40B4-BE49-F238E27FC236}">
                <a16:creationId xmlns:a16="http://schemas.microsoft.com/office/drawing/2014/main" id="{C04724A3-59DB-4210-B555-20670FA0CD68}"/>
              </a:ext>
            </a:extLst>
          </p:cNvPr>
          <p:cNvSpPr>
            <a:spLocks noGrp="1"/>
          </p:cNvSpPr>
          <p:nvPr/>
        </p:nvSpPr>
        <p:spPr>
          <a:xfrm>
            <a:off x="685800" y="6419850"/>
            <a:ext cx="5905500" cy="228600"/>
          </a:xfrm>
          <a:prstGeom prst="rect">
            <a:avLst/>
          </a:prstGeom>
          <a:noFill/>
          <a:ln w="0">
            <a:noFill/>
            <a:prstDash val="solid"/>
          </a:ln>
        </p:spPr>
        <p:txBody>
          <a:bodyPr/>
          <a:lstStyle/>
          <a:p>
            <a:pPr>
              <a:buNone/>
              <a:defRPr sz="900" b="0">
                <a:solidFill>
                  <a:srgbClr val="5B6B78"/>
                </a:solidFill>
              </a:defRPr>
            </a:pPr>
            <a:r>
              <a:rPr lang="en-US" sz="900" dirty="0">
                <a:solidFill>
                  <a:srgbClr val="5B6B78"/>
                </a:solidFill>
              </a:rPr>
              <a:t>AI-powered enterprise document retrieval system | Md Fahim Hossain | July 2026</a:t>
            </a:r>
          </a:p>
        </p:txBody>
      </p:sp>
      <p:sp>
        <p:nvSpPr>
          <p:cNvPr id="34" name="Rectangle 33">
            <a:extLst>
              <a:ext uri="{FF2B5EF4-FFF2-40B4-BE49-F238E27FC236}">
                <a16:creationId xmlns:a16="http://schemas.microsoft.com/office/drawing/2014/main" id="{AEB14128-2A21-4A0D-8AFC-AAE7BFF36615}"/>
              </a:ext>
            </a:extLst>
          </p:cNvPr>
          <p:cNvSpPr>
            <a:spLocks noGrp="1"/>
          </p:cNvSpPr>
          <p:nvPr/>
        </p:nvSpPr>
        <p:spPr>
          <a:xfrm>
            <a:off x="10820400" y="6419850"/>
            <a:ext cx="685800" cy="228600"/>
          </a:xfrm>
          <a:prstGeom prst="rect">
            <a:avLst/>
          </a:prstGeom>
          <a:noFill/>
          <a:ln w="0">
            <a:noFill/>
            <a:prstDash val="solid"/>
          </a:ln>
        </p:spPr>
        <p:txBody>
          <a:bodyPr/>
          <a:lstStyle/>
          <a:p>
            <a:pPr algn="r">
              <a:buNone/>
              <a:defRPr sz="900" b="1">
                <a:solidFill>
                  <a:srgbClr val="0077B6"/>
                </a:solidFill>
              </a:defRPr>
            </a:pPr>
            <a:r>
              <a:rPr sz="900" b="1">
                <a:solidFill>
                  <a:srgbClr val="0077B6"/>
                </a:solidFill>
              </a:rPr>
              <a:t>03 / 11</a:t>
            </a:r>
          </a:p>
        </p:txBody>
      </p:sp>
      <p:pic>
        <p:nvPicPr>
          <p:cNvPr id="70" name="Picture 15"/>
          <p:cNvPicPr>
            <a:picLocks noChangeAspect="1"/>
          </p:cNvPicPr>
          <p:nvPr/>
        </p:nvPicPr>
        <p:blipFill>
          <a:blip r:embed="rId6"/>
          <a:stretch>
            <a:fillRect/>
          </a:stretch>
        </p:blipFill>
        <p:spPr>
          <a:xfrm>
            <a:off x="10820400" y="326316"/>
            <a:ext cx="1156607" cy="397584"/>
          </a:xfrm>
          <a:prstGeom prst="rect">
            <a:avLst/>
          </a:prstGeom>
        </p:spPr>
      </p:pic>
      <p:sp>
        <p:nvSpPr>
          <p:cNvPr id="11" name="Rectangle 10">
            <a:extLst>
              <a:ext uri="{FF2B5EF4-FFF2-40B4-BE49-F238E27FC236}">
                <a16:creationId xmlns:a16="http://schemas.microsoft.com/office/drawing/2014/main" id="{1F3485B2-220C-4037-4CCB-EA4100ADD9CC}"/>
              </a:ext>
            </a:extLst>
          </p:cNvPr>
          <p:cNvSpPr>
            <a:spLocks noGrp="1"/>
          </p:cNvSpPr>
          <p:nvPr/>
        </p:nvSpPr>
        <p:spPr>
          <a:xfrm>
            <a:off x="1676400" y="2066925"/>
            <a:ext cx="3657600" cy="514350"/>
          </a:xfrm>
          <a:prstGeom prst="rect">
            <a:avLst/>
          </a:prstGeom>
          <a:noFill/>
          <a:ln w="0">
            <a:noFill/>
            <a:prstDash val="solid"/>
          </a:ln>
        </p:spPr>
        <p:txBody>
          <a:bodyPr/>
          <a:lstStyle/>
          <a:p>
            <a:pPr algn="l">
              <a:defRPr sz="1275" b="0">
                <a:solidFill>
                  <a:srgbClr val="5B6B78"/>
                </a:solidFill>
              </a:defRPr>
            </a:pPr>
            <a:r>
              <a:rPr sz="1400" b="0" dirty="0">
                <a:solidFill>
                  <a:srgbClr val="5B6B78"/>
                </a:solidFill>
              </a:rPr>
              <a:t>Industrial digitalization environment</a:t>
            </a:r>
          </a:p>
        </p:txBody>
      </p:sp>
      <p:sp>
        <p:nvSpPr>
          <p:cNvPr id="16" name="Rectangle 15">
            <a:extLst>
              <a:ext uri="{FF2B5EF4-FFF2-40B4-BE49-F238E27FC236}">
                <a16:creationId xmlns:a16="http://schemas.microsoft.com/office/drawing/2014/main" id="{3AF20212-F515-3303-2C85-3B0B2EC898CB}"/>
              </a:ext>
            </a:extLst>
          </p:cNvPr>
          <p:cNvSpPr>
            <a:spLocks noGrp="1"/>
          </p:cNvSpPr>
          <p:nvPr/>
        </p:nvSpPr>
        <p:spPr>
          <a:xfrm>
            <a:off x="1676400" y="3448050"/>
            <a:ext cx="3657600" cy="390525"/>
          </a:xfrm>
          <a:prstGeom prst="rect">
            <a:avLst/>
          </a:prstGeom>
          <a:noFill/>
          <a:ln w="0">
            <a:noFill/>
            <a:prstDash val="solid"/>
          </a:ln>
        </p:spPr>
        <p:txBody>
          <a:bodyPr/>
          <a:lstStyle/>
          <a:p>
            <a:pPr algn="l">
              <a:defRPr sz="1275" b="0">
                <a:solidFill>
                  <a:srgbClr val="5B6B78"/>
                </a:solidFill>
              </a:defRPr>
            </a:pPr>
            <a:r>
              <a:rPr sz="1400" b="0" dirty="0">
                <a:solidFill>
                  <a:srgbClr val="5B6B78"/>
                </a:solidFill>
              </a:rPr>
              <a:t>Department supporting digital solutions</a:t>
            </a:r>
          </a:p>
        </p:txBody>
      </p:sp>
      <p:sp>
        <p:nvSpPr>
          <p:cNvPr id="22" name="Rectangle 21">
            <a:extLst>
              <a:ext uri="{FF2B5EF4-FFF2-40B4-BE49-F238E27FC236}">
                <a16:creationId xmlns:a16="http://schemas.microsoft.com/office/drawing/2014/main" id="{5A1B26C4-DB85-D6C1-9973-7FDAE9619BCC}"/>
              </a:ext>
            </a:extLst>
          </p:cNvPr>
          <p:cNvSpPr>
            <a:spLocks noGrp="1"/>
          </p:cNvSpPr>
          <p:nvPr/>
        </p:nvSpPr>
        <p:spPr>
          <a:xfrm>
            <a:off x="1676400" y="4886325"/>
            <a:ext cx="3657600" cy="514350"/>
          </a:xfrm>
          <a:prstGeom prst="rect">
            <a:avLst/>
          </a:prstGeom>
          <a:noFill/>
          <a:ln w="0">
            <a:noFill/>
            <a:prstDash val="solid"/>
          </a:ln>
        </p:spPr>
        <p:txBody>
          <a:bodyPr/>
          <a:lstStyle/>
          <a:p>
            <a:pPr algn="l">
              <a:defRPr sz="1275" b="0">
                <a:solidFill>
                  <a:srgbClr val="5B6B78"/>
                </a:solidFill>
              </a:defRPr>
            </a:pPr>
            <a:r>
              <a:rPr sz="1400" b="0" dirty="0">
                <a:solidFill>
                  <a:srgbClr val="5B6B78"/>
                </a:solidFill>
              </a:rPr>
              <a:t>Software engineering and</a:t>
            </a:r>
            <a:r>
              <a:rPr lang="de-DE" sz="1400" b="0" dirty="0">
                <a:solidFill>
                  <a:srgbClr val="5B6B78"/>
                </a:solidFill>
              </a:rPr>
              <a:t> digitalization</a:t>
            </a:r>
            <a:endParaRPr sz="1400" b="0" dirty="0">
              <a:solidFill>
                <a:srgbClr val="5B6B78"/>
              </a:solidFill>
            </a:endParaRPr>
          </a:p>
        </p:txBody>
      </p:sp>
      <p:sp>
        <p:nvSpPr>
          <p:cNvPr id="28" name="Rectangle 27">
            <a:extLst>
              <a:ext uri="{FF2B5EF4-FFF2-40B4-BE49-F238E27FC236}">
                <a16:creationId xmlns:a16="http://schemas.microsoft.com/office/drawing/2014/main" id="{67AAF41F-04CD-E7FD-12D8-D0B538ECBADD}"/>
              </a:ext>
            </a:extLst>
          </p:cNvPr>
          <p:cNvSpPr>
            <a:spLocks noGrp="1"/>
          </p:cNvSpPr>
          <p:nvPr/>
        </p:nvSpPr>
        <p:spPr>
          <a:xfrm>
            <a:off x="6629400" y="2019300"/>
            <a:ext cx="3429000" cy="304800"/>
          </a:xfrm>
          <a:prstGeom prst="rect">
            <a:avLst/>
          </a:prstGeom>
          <a:noFill/>
          <a:ln w="0">
            <a:noFill/>
            <a:prstDash val="solid"/>
          </a:ln>
        </p:spPr>
        <p:txBody>
          <a:bodyPr/>
          <a:lstStyle/>
          <a:p>
            <a:pPr algn="l">
              <a:defRPr sz="2100" b="1">
                <a:solidFill>
                  <a:srgbClr val="083344"/>
                </a:solidFill>
              </a:defRPr>
            </a:pPr>
            <a:r>
              <a:rPr sz="2100" b="1" dirty="0">
                <a:solidFill>
                  <a:srgbClr val="083344"/>
                </a:solidFill>
              </a:rPr>
              <a:t>Project </a:t>
            </a:r>
            <a:r>
              <a:rPr lang="de-DE" sz="2100" b="1" dirty="0">
                <a:solidFill>
                  <a:srgbClr val="083344"/>
                </a:solidFill>
              </a:rPr>
              <a:t>Scope</a:t>
            </a:r>
            <a:endParaRPr sz="2100" b="1" dirty="0">
              <a:solidFill>
                <a:srgbClr val="083344"/>
              </a:solidFill>
            </a:endParaRPr>
          </a:p>
        </p:txBody>
      </p:sp>
      <p:sp>
        <p:nvSpPr>
          <p:cNvPr id="31" name="Rectangle: Rounded Corners 30">
            <a:extLst>
              <a:ext uri="{FF2B5EF4-FFF2-40B4-BE49-F238E27FC236}">
                <a16:creationId xmlns:a16="http://schemas.microsoft.com/office/drawing/2014/main" id="{9CE9A57C-D1AA-80EF-4B0F-6E10583B543B}"/>
              </a:ext>
            </a:extLst>
          </p:cNvPr>
          <p:cNvSpPr>
            <a:spLocks noGrp="1"/>
          </p:cNvSpPr>
          <p:nvPr/>
        </p:nvSpPr>
        <p:spPr>
          <a:xfrm>
            <a:off x="6667500" y="2609850"/>
            <a:ext cx="3524250" cy="45720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35" name="Graphic 34">
            <a:extLst>
              <a:ext uri="{FF2B5EF4-FFF2-40B4-BE49-F238E27FC236}">
                <a16:creationId xmlns:a16="http://schemas.microsoft.com/office/drawing/2014/main" id="{094BCC26-40D5-55D0-E235-143BCD70738C}"/>
              </a:ext>
            </a:extLst>
          </p:cNvPr>
          <p:cNvPicPr>
            <a:picLocks noChangeAspect="1"/>
          </p:cNvPicPr>
          <p:nvPr/>
        </p:nvPicPr>
        <p:blipFill>
          <a:blip>
            <a:extLst>
              <a:ext uri="{96DAC541-7B7A-43D3-8B79-37D633B846F1}">
                <asvg:svgBlip xmlns:asvg="http://schemas.microsoft.com/office/drawing/2016/SVG/main" r:embed="rId7"/>
              </a:ext>
            </a:extLst>
          </a:blip>
          <a:stretch/>
        </p:blipFill>
        <p:spPr>
          <a:xfrm>
            <a:off x="6819900" y="2724150"/>
            <a:ext cx="228600" cy="228600"/>
          </a:xfrm>
          <a:prstGeom prst="rect">
            <a:avLst/>
          </a:prstGeom>
        </p:spPr>
      </p:pic>
      <p:sp>
        <p:nvSpPr>
          <p:cNvPr id="37" name="Rectangle 36">
            <a:extLst>
              <a:ext uri="{FF2B5EF4-FFF2-40B4-BE49-F238E27FC236}">
                <a16:creationId xmlns:a16="http://schemas.microsoft.com/office/drawing/2014/main" id="{A3C23124-D86F-4D28-6A86-82527E88F08D}"/>
              </a:ext>
            </a:extLst>
          </p:cNvPr>
          <p:cNvSpPr>
            <a:spLocks noGrp="1"/>
          </p:cNvSpPr>
          <p:nvPr/>
        </p:nvSpPr>
        <p:spPr>
          <a:xfrm>
            <a:off x="7143750" y="2695575"/>
            <a:ext cx="2933700" cy="247650"/>
          </a:xfrm>
          <a:prstGeom prst="rect">
            <a:avLst/>
          </a:prstGeom>
          <a:noFill/>
          <a:ln w="0">
            <a:noFill/>
            <a:prstDash val="solid"/>
          </a:ln>
        </p:spPr>
        <p:txBody>
          <a:bodyPr/>
          <a:lstStyle/>
          <a:p>
            <a:pPr algn="l">
              <a:defRPr sz="1275" b="1">
                <a:solidFill>
                  <a:srgbClr val="083344"/>
                </a:solidFill>
              </a:defRPr>
            </a:pPr>
            <a:r>
              <a:rPr sz="1275" b="1" dirty="0">
                <a:solidFill>
                  <a:srgbClr val="083344"/>
                </a:solidFill>
              </a:rPr>
              <a:t>Enterprise documents</a:t>
            </a:r>
          </a:p>
        </p:txBody>
      </p:sp>
      <p:sp>
        <p:nvSpPr>
          <p:cNvPr id="39" name="Rectangle: Rounded Corners 38">
            <a:extLst>
              <a:ext uri="{FF2B5EF4-FFF2-40B4-BE49-F238E27FC236}">
                <a16:creationId xmlns:a16="http://schemas.microsoft.com/office/drawing/2014/main" id="{1CA578BD-8CA2-F7C1-40F5-4AA25905AF58}"/>
              </a:ext>
            </a:extLst>
          </p:cNvPr>
          <p:cNvSpPr>
            <a:spLocks noGrp="1"/>
          </p:cNvSpPr>
          <p:nvPr/>
        </p:nvSpPr>
        <p:spPr>
          <a:xfrm>
            <a:off x="6667500" y="3162300"/>
            <a:ext cx="3524250" cy="45720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41" name="Graphic 40">
            <a:extLst>
              <a:ext uri="{FF2B5EF4-FFF2-40B4-BE49-F238E27FC236}">
                <a16:creationId xmlns:a16="http://schemas.microsoft.com/office/drawing/2014/main" id="{19EC4584-4C7C-1F55-3500-C241430C8AC6}"/>
              </a:ext>
            </a:extLst>
          </p:cNvPr>
          <p:cNvPicPr>
            <a:picLocks noChangeAspect="1"/>
          </p:cNvPicPr>
          <p:nvPr/>
        </p:nvPicPr>
        <p:blipFill>
          <a:blip>
            <a:extLst>
              <a:ext uri="{96DAC541-7B7A-43D3-8B79-37D633B846F1}">
                <asvg:svgBlip xmlns:asvg="http://schemas.microsoft.com/office/drawing/2016/SVG/main" r:embed="rId8"/>
              </a:ext>
            </a:extLst>
          </a:blip>
          <a:stretch/>
        </p:blipFill>
        <p:spPr>
          <a:xfrm>
            <a:off x="6819900" y="3276600"/>
            <a:ext cx="228600" cy="228600"/>
          </a:xfrm>
          <a:prstGeom prst="rect">
            <a:avLst/>
          </a:prstGeom>
        </p:spPr>
      </p:pic>
      <p:sp>
        <p:nvSpPr>
          <p:cNvPr id="43" name="Rectangle 42">
            <a:extLst>
              <a:ext uri="{FF2B5EF4-FFF2-40B4-BE49-F238E27FC236}">
                <a16:creationId xmlns:a16="http://schemas.microsoft.com/office/drawing/2014/main" id="{31EA44F6-6838-7CD3-B8E5-1EA67FAB309E}"/>
              </a:ext>
            </a:extLst>
          </p:cNvPr>
          <p:cNvSpPr>
            <a:spLocks noGrp="1"/>
          </p:cNvSpPr>
          <p:nvPr/>
        </p:nvSpPr>
        <p:spPr>
          <a:xfrm>
            <a:off x="7143750" y="3248025"/>
            <a:ext cx="2933700" cy="247650"/>
          </a:xfrm>
          <a:prstGeom prst="rect">
            <a:avLst/>
          </a:prstGeom>
          <a:noFill/>
          <a:ln w="0">
            <a:noFill/>
            <a:prstDash val="solid"/>
          </a:ln>
        </p:spPr>
        <p:txBody>
          <a:bodyPr/>
          <a:lstStyle/>
          <a:p>
            <a:pPr algn="l">
              <a:defRPr sz="1275" b="1">
                <a:solidFill>
                  <a:srgbClr val="083344"/>
                </a:solidFill>
              </a:defRPr>
            </a:pPr>
            <a:r>
              <a:rPr sz="1275" b="1" dirty="0">
                <a:solidFill>
                  <a:srgbClr val="083344"/>
                </a:solidFill>
              </a:rPr>
              <a:t>Knowledge retrieval</a:t>
            </a:r>
          </a:p>
        </p:txBody>
      </p:sp>
      <p:sp>
        <p:nvSpPr>
          <p:cNvPr id="45" name="Rectangle: Rounded Corners 44">
            <a:extLst>
              <a:ext uri="{FF2B5EF4-FFF2-40B4-BE49-F238E27FC236}">
                <a16:creationId xmlns:a16="http://schemas.microsoft.com/office/drawing/2014/main" id="{9EC7F673-12B8-C993-5534-A617CAA2FBB0}"/>
              </a:ext>
            </a:extLst>
          </p:cNvPr>
          <p:cNvSpPr>
            <a:spLocks noGrp="1"/>
          </p:cNvSpPr>
          <p:nvPr/>
        </p:nvSpPr>
        <p:spPr>
          <a:xfrm>
            <a:off x="6667500" y="3714750"/>
            <a:ext cx="3524250" cy="45720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48" name="Graphic 47">
            <a:extLst>
              <a:ext uri="{FF2B5EF4-FFF2-40B4-BE49-F238E27FC236}">
                <a16:creationId xmlns:a16="http://schemas.microsoft.com/office/drawing/2014/main" id="{C4989D02-1BCF-951F-0C4B-A86AF2A28EE0}"/>
              </a:ext>
            </a:extLst>
          </p:cNvPr>
          <p:cNvPicPr>
            <a:picLocks noChangeAspect="1"/>
          </p:cNvPicPr>
          <p:nvPr/>
        </p:nvPicPr>
        <p:blipFill>
          <a:blip>
            <a:extLst>
              <a:ext uri="{96DAC541-7B7A-43D3-8B79-37D633B846F1}">
                <asvg:svgBlip xmlns:asvg="http://schemas.microsoft.com/office/drawing/2016/SVG/main" r:embed="rId9"/>
              </a:ext>
            </a:extLst>
          </a:blip>
          <a:stretch/>
        </p:blipFill>
        <p:spPr>
          <a:xfrm>
            <a:off x="6819900" y="3829050"/>
            <a:ext cx="228600" cy="228600"/>
          </a:xfrm>
          <a:prstGeom prst="rect">
            <a:avLst/>
          </a:prstGeom>
        </p:spPr>
      </p:pic>
      <p:sp>
        <p:nvSpPr>
          <p:cNvPr id="50" name="Rectangle 49">
            <a:extLst>
              <a:ext uri="{FF2B5EF4-FFF2-40B4-BE49-F238E27FC236}">
                <a16:creationId xmlns:a16="http://schemas.microsoft.com/office/drawing/2014/main" id="{063DB8A3-B2B9-E482-FB1F-D7930399DA0D}"/>
              </a:ext>
            </a:extLst>
          </p:cNvPr>
          <p:cNvSpPr>
            <a:spLocks noGrp="1"/>
          </p:cNvSpPr>
          <p:nvPr/>
        </p:nvSpPr>
        <p:spPr>
          <a:xfrm>
            <a:off x="7143750" y="3800475"/>
            <a:ext cx="2933700" cy="247650"/>
          </a:xfrm>
          <a:prstGeom prst="rect">
            <a:avLst/>
          </a:prstGeom>
          <a:noFill/>
          <a:ln w="0">
            <a:noFill/>
            <a:prstDash val="solid"/>
          </a:ln>
        </p:spPr>
        <p:txBody>
          <a:bodyPr/>
          <a:lstStyle/>
          <a:p>
            <a:pPr algn="l">
              <a:defRPr sz="1275" b="1">
                <a:solidFill>
                  <a:srgbClr val="083344"/>
                </a:solidFill>
              </a:defRPr>
            </a:pPr>
            <a:r>
              <a:rPr sz="1275" b="1" dirty="0">
                <a:solidFill>
                  <a:srgbClr val="083344"/>
                </a:solidFill>
              </a:rPr>
              <a:t>Secure access</a:t>
            </a:r>
          </a:p>
        </p:txBody>
      </p:sp>
      <p:sp>
        <p:nvSpPr>
          <p:cNvPr id="53" name="Rectangle: Rounded Corners 52">
            <a:extLst>
              <a:ext uri="{FF2B5EF4-FFF2-40B4-BE49-F238E27FC236}">
                <a16:creationId xmlns:a16="http://schemas.microsoft.com/office/drawing/2014/main" id="{A7BFA1C5-D4CB-A403-7C7A-E03C967D12B4}"/>
              </a:ext>
            </a:extLst>
          </p:cNvPr>
          <p:cNvSpPr>
            <a:spLocks noGrp="1"/>
          </p:cNvSpPr>
          <p:nvPr/>
        </p:nvSpPr>
        <p:spPr>
          <a:xfrm>
            <a:off x="6667500" y="4267200"/>
            <a:ext cx="3524250" cy="457200"/>
          </a:xfrm>
          <a:prstGeom prst="roundRect">
            <a:avLst>
              <a:gd name="adj" fmla="val 50000"/>
            </a:avLst>
          </a:prstGeom>
          <a:solidFill>
            <a:srgbClr val="FFFFFF"/>
          </a:solidFill>
          <a:ln w="9525">
            <a:solidFill>
              <a:srgbClr val="CBE4EC"/>
            </a:solidFill>
            <a:prstDash val="solid"/>
          </a:ln>
        </p:spPr>
        <p:txBody>
          <a:bodyPr/>
          <a:lstStyle/>
          <a:p>
            <a:endParaRPr lang="en-US"/>
          </a:p>
        </p:txBody>
      </p:sp>
      <p:pic>
        <p:nvPicPr>
          <p:cNvPr id="56" name="Graphic 55">
            <a:extLst>
              <a:ext uri="{FF2B5EF4-FFF2-40B4-BE49-F238E27FC236}">
                <a16:creationId xmlns:a16="http://schemas.microsoft.com/office/drawing/2014/main" id="{325CAF26-2563-18D7-19E3-EDF90FFC9418}"/>
              </a:ext>
            </a:extLst>
          </p:cNvPr>
          <p:cNvPicPr>
            <a:picLocks noChangeAspect="1"/>
          </p:cNvPicPr>
          <p:nvPr/>
        </p:nvPicPr>
        <p:blipFill>
          <a:blip>
            <a:extLst>
              <a:ext uri="{96DAC541-7B7A-43D3-8B79-37D633B846F1}">
                <asvg:svgBlip xmlns:asvg="http://schemas.microsoft.com/office/drawing/2016/SVG/main" r:embed="rId10"/>
              </a:ext>
            </a:extLst>
          </a:blip>
          <a:stretch/>
        </p:blipFill>
        <p:spPr>
          <a:xfrm>
            <a:off x="6819900" y="4381500"/>
            <a:ext cx="228600" cy="228600"/>
          </a:xfrm>
          <a:prstGeom prst="rect">
            <a:avLst/>
          </a:prstGeom>
        </p:spPr>
      </p:pic>
      <p:sp>
        <p:nvSpPr>
          <p:cNvPr id="58" name="Rectangle 57">
            <a:extLst>
              <a:ext uri="{FF2B5EF4-FFF2-40B4-BE49-F238E27FC236}">
                <a16:creationId xmlns:a16="http://schemas.microsoft.com/office/drawing/2014/main" id="{ADACFB3D-D10E-02C1-BE30-A3806585F284}"/>
              </a:ext>
            </a:extLst>
          </p:cNvPr>
          <p:cNvSpPr>
            <a:spLocks noGrp="1"/>
          </p:cNvSpPr>
          <p:nvPr/>
        </p:nvSpPr>
        <p:spPr>
          <a:xfrm>
            <a:off x="7143750" y="4352925"/>
            <a:ext cx="2933700" cy="247650"/>
          </a:xfrm>
          <a:prstGeom prst="rect">
            <a:avLst/>
          </a:prstGeom>
          <a:noFill/>
          <a:ln w="0">
            <a:noFill/>
            <a:prstDash val="solid"/>
          </a:ln>
        </p:spPr>
        <p:txBody>
          <a:bodyPr/>
          <a:lstStyle/>
          <a:p>
            <a:pPr algn="l">
              <a:defRPr sz="1275" b="1">
                <a:solidFill>
                  <a:srgbClr val="083344"/>
                </a:solidFill>
              </a:defRPr>
            </a:pPr>
            <a:r>
              <a:rPr sz="1275" b="1" dirty="0">
                <a:solidFill>
                  <a:srgbClr val="083344"/>
                </a:solidFill>
              </a:rPr>
              <a:t>Academic reporting</a:t>
            </a:r>
          </a:p>
        </p:txBody>
      </p:sp>
    </p:spTree>
    <p:extLst>
      <p:ext uri="{BB962C8B-B14F-4D97-AF65-F5344CB8AC3E}">
        <p14:creationId xmlns:p14="http://schemas.microsoft.com/office/powerpoint/2010/main" val="1792105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BFD"/>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F38CCF-2C6B-4E40-A2EA-CF31480B7D94}"/>
              </a:ext>
            </a:extLst>
          </p:cNvPr>
          <p:cNvSpPr>
            <a:spLocks noGrp="1"/>
          </p:cNvSpPr>
          <p:nvPr/>
        </p:nvSpPr>
        <p:spPr>
          <a:xfrm>
            <a:off x="0" y="0"/>
            <a:ext cx="12192000" cy="114300"/>
          </a:xfrm>
          <a:prstGeom prst="rect">
            <a:avLst/>
          </a:prstGeom>
          <a:solidFill>
            <a:srgbClr val="00A3AD"/>
          </a:solidFill>
          <a:ln w="0">
            <a:solidFill>
              <a:srgbClr val="00A3AD"/>
            </a:solidFill>
            <a:prstDash val="solid"/>
          </a:ln>
        </p:spPr>
        <p:txBody>
          <a:bodyPr/>
          <a:lstStyle/>
          <a:p>
            <a:endParaRPr/>
          </a:p>
        </p:txBody>
      </p:sp>
      <p:sp>
        <p:nvSpPr>
          <p:cNvPr id="2" name="Rectangle 1">
            <a:extLst>
              <a:ext uri="{FF2B5EF4-FFF2-40B4-BE49-F238E27FC236}">
                <a16:creationId xmlns:a16="http://schemas.microsoft.com/office/drawing/2014/main" id="{365ACFD4-2D90-40D4-85EB-D2CFB8D9797F}"/>
              </a:ext>
            </a:extLst>
          </p:cNvPr>
          <p:cNvSpPr>
            <a:spLocks noGrp="1"/>
          </p:cNvSpPr>
          <p:nvPr/>
        </p:nvSpPr>
        <p:spPr>
          <a:xfrm>
            <a:off x="685800" y="342900"/>
            <a:ext cx="4000500" cy="209550"/>
          </a:xfrm>
          <a:prstGeom prst="rect">
            <a:avLst/>
          </a:prstGeom>
          <a:noFill/>
          <a:ln w="0">
            <a:noFill/>
            <a:prstDash val="solid"/>
          </a:ln>
        </p:spPr>
        <p:txBody>
          <a:bodyPr/>
          <a:lstStyle/>
          <a:p>
            <a:pPr>
              <a:buNone/>
              <a:defRPr sz="900" b="1">
                <a:solidFill>
                  <a:srgbClr val="009999"/>
                </a:solidFill>
              </a:defRPr>
            </a:pPr>
            <a:r>
              <a:rPr sz="900" b="1">
                <a:solidFill>
                  <a:srgbClr val="009999"/>
                </a:solidFill>
              </a:rPr>
              <a:t>INTRODUCTION</a:t>
            </a:r>
          </a:p>
        </p:txBody>
      </p:sp>
      <p:sp>
        <p:nvSpPr>
          <p:cNvPr id="3" name="Rectangle 2">
            <a:extLst>
              <a:ext uri="{FF2B5EF4-FFF2-40B4-BE49-F238E27FC236}">
                <a16:creationId xmlns:a16="http://schemas.microsoft.com/office/drawing/2014/main" id="{0B172EA8-1486-40F7-A286-F3E3DF992B3B}"/>
              </a:ext>
            </a:extLst>
          </p:cNvPr>
          <p:cNvSpPr>
            <a:spLocks noGrp="1"/>
          </p:cNvSpPr>
          <p:nvPr/>
        </p:nvSpPr>
        <p:spPr>
          <a:xfrm>
            <a:off x="685800" y="609600"/>
            <a:ext cx="7810500" cy="495300"/>
          </a:xfrm>
          <a:prstGeom prst="rect">
            <a:avLst/>
          </a:prstGeom>
          <a:noFill/>
          <a:ln w="0">
            <a:noFill/>
            <a:prstDash val="solid"/>
          </a:ln>
        </p:spPr>
        <p:txBody>
          <a:bodyPr/>
          <a:lstStyle/>
          <a:p>
            <a:pPr algn="l">
              <a:buNone/>
              <a:defRPr sz="2850" b="1">
                <a:solidFill>
                  <a:srgbClr val="083344"/>
                </a:solidFill>
              </a:defRPr>
            </a:pPr>
            <a:r>
              <a:rPr sz="2850" b="1">
                <a:solidFill>
                  <a:srgbClr val="083344"/>
                </a:solidFill>
              </a:rPr>
              <a:t>Project Epic</a:t>
            </a:r>
          </a:p>
        </p:txBody>
      </p:sp>
      <p:sp>
        <p:nvSpPr>
          <p:cNvPr id="33" name="Rectangle 32">
            <a:extLst>
              <a:ext uri="{FF2B5EF4-FFF2-40B4-BE49-F238E27FC236}">
                <a16:creationId xmlns:a16="http://schemas.microsoft.com/office/drawing/2014/main" id="{AA175B47-92A8-411A-BC39-8148DF52B3BD}"/>
              </a:ext>
            </a:extLst>
          </p:cNvPr>
          <p:cNvSpPr>
            <a:spLocks noGrp="1"/>
          </p:cNvSpPr>
          <p:nvPr/>
        </p:nvSpPr>
        <p:spPr>
          <a:xfrm>
            <a:off x="685800" y="6419850"/>
            <a:ext cx="5905500" cy="228600"/>
          </a:xfrm>
          <a:prstGeom prst="rect">
            <a:avLst/>
          </a:prstGeom>
          <a:noFill/>
          <a:ln w="0">
            <a:noFill/>
            <a:prstDash val="solid"/>
          </a:ln>
        </p:spPr>
        <p:txBody>
          <a:bodyPr/>
          <a:lstStyle/>
          <a:p>
            <a:pPr>
              <a:buNone/>
              <a:defRPr sz="900" b="0">
                <a:solidFill>
                  <a:srgbClr val="5B6B78"/>
                </a:solidFill>
              </a:defRPr>
            </a:pPr>
            <a:r>
              <a:rPr lang="en-US" sz="900" dirty="0">
                <a:solidFill>
                  <a:srgbClr val="5B6B78"/>
                </a:solidFill>
              </a:rPr>
              <a:t>AI-powered enterprise document retrieval system | Md Fahim Hossain | July 2026</a:t>
            </a:r>
          </a:p>
        </p:txBody>
      </p:sp>
      <p:sp>
        <p:nvSpPr>
          <p:cNvPr id="34" name="Rectangle 33">
            <a:extLst>
              <a:ext uri="{FF2B5EF4-FFF2-40B4-BE49-F238E27FC236}">
                <a16:creationId xmlns:a16="http://schemas.microsoft.com/office/drawing/2014/main" id="{1A2E2571-65AA-44C8-AEF7-DB7C4B02B5BB}"/>
              </a:ext>
            </a:extLst>
          </p:cNvPr>
          <p:cNvSpPr>
            <a:spLocks noGrp="1"/>
          </p:cNvSpPr>
          <p:nvPr/>
        </p:nvSpPr>
        <p:spPr>
          <a:xfrm>
            <a:off x="10820400" y="6419850"/>
            <a:ext cx="685800" cy="228600"/>
          </a:xfrm>
          <a:prstGeom prst="rect">
            <a:avLst/>
          </a:prstGeom>
          <a:noFill/>
          <a:ln w="0">
            <a:noFill/>
            <a:prstDash val="solid"/>
          </a:ln>
        </p:spPr>
        <p:txBody>
          <a:bodyPr/>
          <a:lstStyle/>
          <a:p>
            <a:pPr algn="r">
              <a:buNone/>
              <a:defRPr sz="900" b="1">
                <a:solidFill>
                  <a:srgbClr val="0077B6"/>
                </a:solidFill>
              </a:defRPr>
            </a:pPr>
            <a:r>
              <a:rPr sz="900" b="1">
                <a:solidFill>
                  <a:srgbClr val="0077B6"/>
                </a:solidFill>
              </a:rPr>
              <a:t>04 / 11</a:t>
            </a:r>
          </a:p>
        </p:txBody>
      </p:sp>
      <p:pic>
        <p:nvPicPr>
          <p:cNvPr id="70" name="Picture 20"/>
          <p:cNvPicPr>
            <a:picLocks noChangeAspect="1"/>
          </p:cNvPicPr>
          <p:nvPr/>
        </p:nvPicPr>
        <p:blipFill>
          <a:blip r:embed="rId3"/>
          <a:stretch>
            <a:fillRect/>
          </a:stretch>
        </p:blipFill>
        <p:spPr>
          <a:xfrm>
            <a:off x="10820400" y="326316"/>
            <a:ext cx="1156607" cy="397584"/>
          </a:xfrm>
          <a:prstGeom prst="rect">
            <a:avLst/>
          </a:prstGeom>
        </p:spPr>
      </p:pic>
      <p:sp>
        <p:nvSpPr>
          <p:cNvPr id="14" name="Rectangle: Rounded Corners 13">
            <a:extLst>
              <a:ext uri="{FF2B5EF4-FFF2-40B4-BE49-F238E27FC236}">
                <a16:creationId xmlns:a16="http://schemas.microsoft.com/office/drawing/2014/main" id="{ED71B8E9-A6CB-0AFD-6DE5-992FDD073529}"/>
              </a:ext>
            </a:extLst>
          </p:cNvPr>
          <p:cNvSpPr>
            <a:spLocks noGrp="1"/>
          </p:cNvSpPr>
          <p:nvPr/>
        </p:nvSpPr>
        <p:spPr>
          <a:xfrm>
            <a:off x="685800" y="1924050"/>
            <a:ext cx="2381250" cy="2000250"/>
          </a:xfrm>
          <a:prstGeom prst="roundRect">
            <a:avLst>
              <a:gd name="adj" fmla="val 5714"/>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1" name="Oval 20">
            <a:extLst>
              <a:ext uri="{FF2B5EF4-FFF2-40B4-BE49-F238E27FC236}">
                <a16:creationId xmlns:a16="http://schemas.microsoft.com/office/drawing/2014/main" id="{9C383837-7333-9BF7-8B0E-75D416190ABD}"/>
              </a:ext>
            </a:extLst>
          </p:cNvPr>
          <p:cNvSpPr>
            <a:spLocks noGrp="1"/>
          </p:cNvSpPr>
          <p:nvPr/>
        </p:nvSpPr>
        <p:spPr>
          <a:xfrm>
            <a:off x="857250" y="2095500"/>
            <a:ext cx="400050" cy="400050"/>
          </a:xfrm>
          <a:prstGeom prst="ellipse">
            <a:avLst/>
          </a:prstGeom>
          <a:solidFill>
            <a:srgbClr val="0077B6"/>
          </a:solidFill>
          <a:ln w="0">
            <a:solidFill>
              <a:srgbClr val="0077B6"/>
            </a:solidFill>
            <a:prstDash val="solid"/>
          </a:ln>
        </p:spPr>
        <p:txBody>
          <a:bodyPr/>
          <a:lstStyle/>
          <a:p>
            <a:endParaRPr lang="en-US"/>
          </a:p>
        </p:txBody>
      </p:sp>
      <p:sp>
        <p:nvSpPr>
          <p:cNvPr id="28" name="Rectangle 27">
            <a:extLst>
              <a:ext uri="{FF2B5EF4-FFF2-40B4-BE49-F238E27FC236}">
                <a16:creationId xmlns:a16="http://schemas.microsoft.com/office/drawing/2014/main" id="{6DF75C85-63DB-6301-DE98-B7FC3D6DBA78}"/>
              </a:ext>
            </a:extLst>
          </p:cNvPr>
          <p:cNvSpPr>
            <a:spLocks noGrp="1"/>
          </p:cNvSpPr>
          <p:nvPr/>
        </p:nvSpPr>
        <p:spPr>
          <a:xfrm>
            <a:off x="857250" y="2152650"/>
            <a:ext cx="400050" cy="228600"/>
          </a:xfrm>
          <a:prstGeom prst="rect">
            <a:avLst/>
          </a:prstGeom>
          <a:noFill/>
          <a:ln w="0">
            <a:noFill/>
            <a:prstDash val="solid"/>
          </a:ln>
        </p:spPr>
        <p:txBody>
          <a:bodyPr/>
          <a:lstStyle/>
          <a:p>
            <a:pPr algn="ctr">
              <a:defRPr sz="1350" b="1">
                <a:solidFill>
                  <a:srgbClr val="FFFFFF"/>
                </a:solidFill>
              </a:defRPr>
            </a:pPr>
            <a:r>
              <a:rPr sz="1350" b="1" dirty="0">
                <a:solidFill>
                  <a:srgbClr val="FFFFFF"/>
                </a:solidFill>
              </a:rPr>
              <a:t>1</a:t>
            </a:r>
          </a:p>
        </p:txBody>
      </p:sp>
      <p:pic>
        <p:nvPicPr>
          <p:cNvPr id="35" name="Graphic 34">
            <a:extLst>
              <a:ext uri="{FF2B5EF4-FFF2-40B4-BE49-F238E27FC236}">
                <a16:creationId xmlns:a16="http://schemas.microsoft.com/office/drawing/2014/main" id="{7BEAB4B5-D981-EF99-DF55-7FFB94CBCBA9}"/>
              </a:ext>
            </a:extLst>
          </p:cNvPr>
          <p:cNvPicPr>
            <a:picLocks noChangeAspect="1"/>
          </p:cNvPicPr>
          <p:nvPr/>
        </p:nvPicPr>
        <p:blipFill>
          <a:blip>
            <a:extLst>
              <a:ext uri="{96DAC541-7B7A-43D3-8B79-37D633B846F1}">
                <asvg:svgBlip xmlns:asvg="http://schemas.microsoft.com/office/drawing/2016/SVG/main" r:embed="rId4"/>
              </a:ext>
            </a:extLst>
          </a:blip>
          <a:stretch/>
        </p:blipFill>
        <p:spPr>
          <a:xfrm>
            <a:off x="2476500" y="2133600"/>
            <a:ext cx="323850" cy="323850"/>
          </a:xfrm>
          <a:prstGeom prst="rect">
            <a:avLst/>
          </a:prstGeom>
        </p:spPr>
      </p:pic>
      <p:sp>
        <p:nvSpPr>
          <p:cNvPr id="37" name="Rectangle 36">
            <a:extLst>
              <a:ext uri="{FF2B5EF4-FFF2-40B4-BE49-F238E27FC236}">
                <a16:creationId xmlns:a16="http://schemas.microsoft.com/office/drawing/2014/main" id="{15A83759-4B2A-CC2C-BF73-33A222118333}"/>
              </a:ext>
            </a:extLst>
          </p:cNvPr>
          <p:cNvSpPr>
            <a:spLocks noGrp="1"/>
          </p:cNvSpPr>
          <p:nvPr/>
        </p:nvSpPr>
        <p:spPr>
          <a:xfrm>
            <a:off x="914400" y="2705100"/>
            <a:ext cx="1924050" cy="285750"/>
          </a:xfrm>
          <a:prstGeom prst="rect">
            <a:avLst/>
          </a:prstGeom>
          <a:noFill/>
          <a:ln w="0">
            <a:noFill/>
            <a:prstDash val="solid"/>
          </a:ln>
        </p:spPr>
        <p:txBody>
          <a:bodyPr/>
          <a:lstStyle/>
          <a:p>
            <a:pPr algn="l">
              <a:defRPr sz="1650" b="1">
                <a:solidFill>
                  <a:srgbClr val="083344"/>
                </a:solidFill>
              </a:defRPr>
            </a:pPr>
            <a:r>
              <a:rPr sz="1650" b="1">
                <a:solidFill>
                  <a:srgbClr val="083344"/>
                </a:solidFill>
              </a:rPr>
              <a:t>Documents grew</a:t>
            </a:r>
          </a:p>
        </p:txBody>
      </p:sp>
      <p:sp>
        <p:nvSpPr>
          <p:cNvPr id="39" name="Rectangle 38">
            <a:extLst>
              <a:ext uri="{FF2B5EF4-FFF2-40B4-BE49-F238E27FC236}">
                <a16:creationId xmlns:a16="http://schemas.microsoft.com/office/drawing/2014/main" id="{C90E0D30-9CAC-398F-418D-D3657F575566}"/>
              </a:ext>
            </a:extLst>
          </p:cNvPr>
          <p:cNvSpPr>
            <a:spLocks noGrp="1"/>
          </p:cNvSpPr>
          <p:nvPr/>
        </p:nvSpPr>
        <p:spPr>
          <a:xfrm>
            <a:off x="914400" y="3067050"/>
            <a:ext cx="1924050" cy="457200"/>
          </a:xfrm>
          <a:prstGeom prst="rect">
            <a:avLst/>
          </a:prstGeom>
          <a:noFill/>
          <a:ln w="0">
            <a:noFill/>
            <a:prstDash val="solid"/>
          </a:ln>
        </p:spPr>
        <p:txBody>
          <a:bodyPr/>
          <a:lstStyle/>
          <a:p>
            <a:pPr algn="l">
              <a:defRPr sz="1275" b="0">
                <a:solidFill>
                  <a:srgbClr val="5B6B78"/>
                </a:solidFill>
              </a:defRPr>
            </a:pPr>
            <a:r>
              <a:rPr sz="1400" b="0" dirty="0">
                <a:solidFill>
                  <a:srgbClr val="5B6B78"/>
                </a:solidFill>
              </a:rPr>
              <a:t>Knowledge became hard to locate</a:t>
            </a:r>
          </a:p>
        </p:txBody>
      </p:sp>
      <p:sp>
        <p:nvSpPr>
          <p:cNvPr id="41" name="Arrow: Right 40">
            <a:extLst>
              <a:ext uri="{FF2B5EF4-FFF2-40B4-BE49-F238E27FC236}">
                <a16:creationId xmlns:a16="http://schemas.microsoft.com/office/drawing/2014/main" id="{7006370A-68E4-D5CA-BDCD-877DBDD14295}"/>
              </a:ext>
            </a:extLst>
          </p:cNvPr>
          <p:cNvSpPr>
            <a:spLocks noGrp="1"/>
          </p:cNvSpPr>
          <p:nvPr/>
        </p:nvSpPr>
        <p:spPr>
          <a:xfrm>
            <a:off x="3067050" y="2743200"/>
            <a:ext cx="390524" cy="266700"/>
          </a:xfrm>
          <a:prstGeom prst="rightArrow">
            <a:avLst/>
          </a:prstGeom>
          <a:solidFill>
            <a:srgbClr val="00A3AD"/>
          </a:solidFill>
          <a:ln w="0">
            <a:solidFill>
              <a:srgbClr val="00A3AD"/>
            </a:solidFill>
            <a:prstDash val="solid"/>
          </a:ln>
        </p:spPr>
        <p:txBody>
          <a:bodyPr/>
          <a:lstStyle/>
          <a:p>
            <a:endParaRPr lang="en-US"/>
          </a:p>
        </p:txBody>
      </p:sp>
      <p:sp>
        <p:nvSpPr>
          <p:cNvPr id="43" name="Rectangle: Rounded Corners 42">
            <a:extLst>
              <a:ext uri="{FF2B5EF4-FFF2-40B4-BE49-F238E27FC236}">
                <a16:creationId xmlns:a16="http://schemas.microsoft.com/office/drawing/2014/main" id="{E5BB4EB4-3540-B4A1-9F2E-BEF42B5435C5}"/>
              </a:ext>
            </a:extLst>
          </p:cNvPr>
          <p:cNvSpPr>
            <a:spLocks noGrp="1"/>
          </p:cNvSpPr>
          <p:nvPr/>
        </p:nvSpPr>
        <p:spPr>
          <a:xfrm>
            <a:off x="3467100" y="1924050"/>
            <a:ext cx="2381250" cy="2000250"/>
          </a:xfrm>
          <a:prstGeom prst="roundRect">
            <a:avLst>
              <a:gd name="adj" fmla="val 5714"/>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45" name="Oval 44">
            <a:extLst>
              <a:ext uri="{FF2B5EF4-FFF2-40B4-BE49-F238E27FC236}">
                <a16:creationId xmlns:a16="http://schemas.microsoft.com/office/drawing/2014/main" id="{D947BFCC-FAB2-EC4A-A2D2-1818FBABE500}"/>
              </a:ext>
            </a:extLst>
          </p:cNvPr>
          <p:cNvSpPr>
            <a:spLocks noGrp="1"/>
          </p:cNvSpPr>
          <p:nvPr/>
        </p:nvSpPr>
        <p:spPr>
          <a:xfrm>
            <a:off x="3638550" y="2095500"/>
            <a:ext cx="400050" cy="400050"/>
          </a:xfrm>
          <a:prstGeom prst="ellipse">
            <a:avLst/>
          </a:prstGeom>
          <a:solidFill>
            <a:srgbClr val="009999"/>
          </a:solidFill>
          <a:ln w="0">
            <a:solidFill>
              <a:srgbClr val="009999"/>
            </a:solidFill>
            <a:prstDash val="solid"/>
          </a:ln>
        </p:spPr>
        <p:txBody>
          <a:bodyPr/>
          <a:lstStyle/>
          <a:p>
            <a:endParaRPr lang="en-US"/>
          </a:p>
        </p:txBody>
      </p:sp>
      <p:sp>
        <p:nvSpPr>
          <p:cNvPr id="48" name="Rectangle 47">
            <a:extLst>
              <a:ext uri="{FF2B5EF4-FFF2-40B4-BE49-F238E27FC236}">
                <a16:creationId xmlns:a16="http://schemas.microsoft.com/office/drawing/2014/main" id="{8D3C517C-4EEF-6E88-8296-1228E4AA44D3}"/>
              </a:ext>
            </a:extLst>
          </p:cNvPr>
          <p:cNvSpPr>
            <a:spLocks noGrp="1"/>
          </p:cNvSpPr>
          <p:nvPr/>
        </p:nvSpPr>
        <p:spPr>
          <a:xfrm>
            <a:off x="3638550" y="2152650"/>
            <a:ext cx="400050" cy="228600"/>
          </a:xfrm>
          <a:prstGeom prst="rect">
            <a:avLst/>
          </a:prstGeom>
          <a:noFill/>
          <a:ln w="0">
            <a:noFill/>
            <a:prstDash val="solid"/>
          </a:ln>
        </p:spPr>
        <p:txBody>
          <a:bodyPr/>
          <a:lstStyle/>
          <a:p>
            <a:pPr algn="ctr">
              <a:defRPr sz="1350" b="1">
                <a:solidFill>
                  <a:srgbClr val="FFFFFF"/>
                </a:solidFill>
              </a:defRPr>
            </a:pPr>
            <a:r>
              <a:rPr sz="1350" b="1" dirty="0">
                <a:solidFill>
                  <a:srgbClr val="FFFFFF"/>
                </a:solidFill>
              </a:rPr>
              <a:t>2</a:t>
            </a:r>
          </a:p>
        </p:txBody>
      </p:sp>
      <p:pic>
        <p:nvPicPr>
          <p:cNvPr id="50" name="Graphic 49">
            <a:extLst>
              <a:ext uri="{FF2B5EF4-FFF2-40B4-BE49-F238E27FC236}">
                <a16:creationId xmlns:a16="http://schemas.microsoft.com/office/drawing/2014/main" id="{175D6A6D-6481-8609-3EAF-EEEF8426F1CA}"/>
              </a:ext>
            </a:extLst>
          </p:cNvPr>
          <p:cNvPicPr>
            <a:picLocks noChangeAspect="1"/>
          </p:cNvPicPr>
          <p:nvPr/>
        </p:nvPicPr>
        <p:blipFill>
          <a:blip>
            <a:extLst>
              <a:ext uri="{96DAC541-7B7A-43D3-8B79-37D633B846F1}">
                <asvg:svgBlip xmlns:asvg="http://schemas.microsoft.com/office/drawing/2016/SVG/main" r:embed="rId5"/>
              </a:ext>
            </a:extLst>
          </a:blip>
          <a:stretch/>
        </p:blipFill>
        <p:spPr>
          <a:xfrm>
            <a:off x="5257800" y="2133600"/>
            <a:ext cx="323850" cy="323850"/>
          </a:xfrm>
          <a:prstGeom prst="rect">
            <a:avLst/>
          </a:prstGeom>
        </p:spPr>
      </p:pic>
      <p:sp>
        <p:nvSpPr>
          <p:cNvPr id="53" name="Rectangle 52">
            <a:extLst>
              <a:ext uri="{FF2B5EF4-FFF2-40B4-BE49-F238E27FC236}">
                <a16:creationId xmlns:a16="http://schemas.microsoft.com/office/drawing/2014/main" id="{63C722F6-2727-6B51-CCBE-F03731C5441F}"/>
              </a:ext>
            </a:extLst>
          </p:cNvPr>
          <p:cNvSpPr>
            <a:spLocks noGrp="1"/>
          </p:cNvSpPr>
          <p:nvPr/>
        </p:nvSpPr>
        <p:spPr>
          <a:xfrm>
            <a:off x="3695700" y="2705100"/>
            <a:ext cx="1924050" cy="285750"/>
          </a:xfrm>
          <a:prstGeom prst="rect">
            <a:avLst/>
          </a:prstGeom>
          <a:noFill/>
          <a:ln w="0">
            <a:noFill/>
            <a:prstDash val="solid"/>
          </a:ln>
        </p:spPr>
        <p:txBody>
          <a:bodyPr/>
          <a:lstStyle/>
          <a:p>
            <a:pPr algn="l">
              <a:defRPr sz="1650" b="1">
                <a:solidFill>
                  <a:srgbClr val="083344"/>
                </a:solidFill>
              </a:defRPr>
            </a:pPr>
            <a:r>
              <a:rPr sz="1650" b="1">
                <a:solidFill>
                  <a:srgbClr val="083344"/>
                </a:solidFill>
              </a:rPr>
              <a:t>Users asked</a:t>
            </a:r>
          </a:p>
        </p:txBody>
      </p:sp>
      <p:sp>
        <p:nvSpPr>
          <p:cNvPr id="55" name="Rectangle 54">
            <a:extLst>
              <a:ext uri="{FF2B5EF4-FFF2-40B4-BE49-F238E27FC236}">
                <a16:creationId xmlns:a16="http://schemas.microsoft.com/office/drawing/2014/main" id="{CD23C61F-4FF8-8131-F64F-373803639CB1}"/>
              </a:ext>
            </a:extLst>
          </p:cNvPr>
          <p:cNvSpPr>
            <a:spLocks noGrp="1"/>
          </p:cNvSpPr>
          <p:nvPr/>
        </p:nvSpPr>
        <p:spPr>
          <a:xfrm>
            <a:off x="3695699" y="3067050"/>
            <a:ext cx="1924050" cy="457200"/>
          </a:xfrm>
          <a:prstGeom prst="rect">
            <a:avLst/>
          </a:prstGeom>
          <a:noFill/>
          <a:ln w="0">
            <a:noFill/>
            <a:prstDash val="solid"/>
          </a:ln>
        </p:spPr>
        <p:txBody>
          <a:bodyPr/>
          <a:lstStyle/>
          <a:p>
            <a:pPr algn="l">
              <a:defRPr sz="1275" b="0">
                <a:solidFill>
                  <a:srgbClr val="5B6B78"/>
                </a:solidFill>
              </a:defRPr>
            </a:pPr>
            <a:r>
              <a:rPr sz="1400" b="0" dirty="0">
                <a:solidFill>
                  <a:srgbClr val="5B6B78"/>
                </a:solidFill>
              </a:rPr>
              <a:t>Natural questions needed answers</a:t>
            </a:r>
          </a:p>
        </p:txBody>
      </p:sp>
      <p:sp>
        <p:nvSpPr>
          <p:cNvPr id="57" name="Arrow: Right 56">
            <a:extLst>
              <a:ext uri="{FF2B5EF4-FFF2-40B4-BE49-F238E27FC236}">
                <a16:creationId xmlns:a16="http://schemas.microsoft.com/office/drawing/2014/main" id="{917A6781-243C-B3E4-7AFE-D3D3D8F9A9D1}"/>
              </a:ext>
            </a:extLst>
          </p:cNvPr>
          <p:cNvSpPr>
            <a:spLocks noGrp="1"/>
          </p:cNvSpPr>
          <p:nvPr/>
        </p:nvSpPr>
        <p:spPr>
          <a:xfrm>
            <a:off x="5848350" y="2743200"/>
            <a:ext cx="381000" cy="266700"/>
          </a:xfrm>
          <a:prstGeom prst="rightArrow">
            <a:avLst/>
          </a:prstGeom>
          <a:solidFill>
            <a:srgbClr val="00A3AD"/>
          </a:solidFill>
          <a:ln w="0">
            <a:solidFill>
              <a:srgbClr val="00A3AD"/>
            </a:solidFill>
            <a:prstDash val="solid"/>
          </a:ln>
        </p:spPr>
        <p:txBody>
          <a:bodyPr/>
          <a:lstStyle/>
          <a:p>
            <a:endParaRPr lang="en-US"/>
          </a:p>
        </p:txBody>
      </p:sp>
      <p:sp>
        <p:nvSpPr>
          <p:cNvPr id="60" name="Rectangle: Rounded Corners 59">
            <a:extLst>
              <a:ext uri="{FF2B5EF4-FFF2-40B4-BE49-F238E27FC236}">
                <a16:creationId xmlns:a16="http://schemas.microsoft.com/office/drawing/2014/main" id="{0EEA36D9-1672-1FEE-6A75-CA403C413F07}"/>
              </a:ext>
            </a:extLst>
          </p:cNvPr>
          <p:cNvSpPr>
            <a:spLocks noGrp="1"/>
          </p:cNvSpPr>
          <p:nvPr/>
        </p:nvSpPr>
        <p:spPr>
          <a:xfrm>
            <a:off x="6248400" y="1924050"/>
            <a:ext cx="2381250" cy="2000250"/>
          </a:xfrm>
          <a:prstGeom prst="roundRect">
            <a:avLst>
              <a:gd name="adj" fmla="val 5714"/>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62" name="Oval 61">
            <a:extLst>
              <a:ext uri="{FF2B5EF4-FFF2-40B4-BE49-F238E27FC236}">
                <a16:creationId xmlns:a16="http://schemas.microsoft.com/office/drawing/2014/main" id="{0CC7CBBB-A184-4E85-35F5-C6C5F2CF1D42}"/>
              </a:ext>
            </a:extLst>
          </p:cNvPr>
          <p:cNvSpPr>
            <a:spLocks noGrp="1"/>
          </p:cNvSpPr>
          <p:nvPr/>
        </p:nvSpPr>
        <p:spPr>
          <a:xfrm>
            <a:off x="6419850" y="2095500"/>
            <a:ext cx="400050" cy="400050"/>
          </a:xfrm>
          <a:prstGeom prst="ellipse">
            <a:avLst/>
          </a:prstGeom>
          <a:solidFill>
            <a:srgbClr val="2CA58D"/>
          </a:solidFill>
          <a:ln w="0">
            <a:solidFill>
              <a:srgbClr val="2CA58D"/>
            </a:solidFill>
            <a:prstDash val="solid"/>
          </a:ln>
        </p:spPr>
        <p:txBody>
          <a:bodyPr/>
          <a:lstStyle/>
          <a:p>
            <a:endParaRPr lang="en-US"/>
          </a:p>
        </p:txBody>
      </p:sp>
      <p:sp>
        <p:nvSpPr>
          <p:cNvPr id="65" name="Rectangle 64">
            <a:extLst>
              <a:ext uri="{FF2B5EF4-FFF2-40B4-BE49-F238E27FC236}">
                <a16:creationId xmlns:a16="http://schemas.microsoft.com/office/drawing/2014/main" id="{1AFA3270-07FE-72E0-32D6-8BF019F82C67}"/>
              </a:ext>
            </a:extLst>
          </p:cNvPr>
          <p:cNvSpPr>
            <a:spLocks noGrp="1"/>
          </p:cNvSpPr>
          <p:nvPr/>
        </p:nvSpPr>
        <p:spPr>
          <a:xfrm>
            <a:off x="6419850" y="2152650"/>
            <a:ext cx="400050" cy="228600"/>
          </a:xfrm>
          <a:prstGeom prst="rect">
            <a:avLst/>
          </a:prstGeom>
          <a:noFill/>
          <a:ln w="0">
            <a:noFill/>
            <a:prstDash val="solid"/>
          </a:ln>
        </p:spPr>
        <p:txBody>
          <a:bodyPr/>
          <a:lstStyle/>
          <a:p>
            <a:pPr algn="ctr">
              <a:defRPr sz="1350" b="1">
                <a:solidFill>
                  <a:srgbClr val="FFFFFF"/>
                </a:solidFill>
              </a:defRPr>
            </a:pPr>
            <a:r>
              <a:rPr sz="1350" b="1" dirty="0">
                <a:solidFill>
                  <a:srgbClr val="FFFFFF"/>
                </a:solidFill>
              </a:rPr>
              <a:t>3</a:t>
            </a:r>
          </a:p>
        </p:txBody>
      </p:sp>
      <p:pic>
        <p:nvPicPr>
          <p:cNvPr id="67" name="Graphic 66">
            <a:extLst>
              <a:ext uri="{FF2B5EF4-FFF2-40B4-BE49-F238E27FC236}">
                <a16:creationId xmlns:a16="http://schemas.microsoft.com/office/drawing/2014/main" id="{C1779CB9-E9E7-916F-2AF9-B0B144EA3B7A}"/>
              </a:ext>
            </a:extLst>
          </p:cNvPr>
          <p:cNvPicPr>
            <a:picLocks noChangeAspect="1"/>
          </p:cNvPicPr>
          <p:nvPr/>
        </p:nvPicPr>
        <p:blipFill>
          <a:blip>
            <a:extLst>
              <a:ext uri="{96DAC541-7B7A-43D3-8B79-37D633B846F1}">
                <asvg:svgBlip xmlns:asvg="http://schemas.microsoft.com/office/drawing/2016/SVG/main" r:embed="rId6"/>
              </a:ext>
            </a:extLst>
          </a:blip>
          <a:stretch/>
        </p:blipFill>
        <p:spPr>
          <a:xfrm>
            <a:off x="8039100" y="2133600"/>
            <a:ext cx="323850" cy="323850"/>
          </a:xfrm>
          <a:prstGeom prst="rect">
            <a:avLst/>
          </a:prstGeom>
        </p:spPr>
      </p:pic>
      <p:sp>
        <p:nvSpPr>
          <p:cNvPr id="69" name="Rectangle 68">
            <a:extLst>
              <a:ext uri="{FF2B5EF4-FFF2-40B4-BE49-F238E27FC236}">
                <a16:creationId xmlns:a16="http://schemas.microsoft.com/office/drawing/2014/main" id="{E2AFB9E8-5351-BA10-B015-BEB4696B82DC}"/>
              </a:ext>
            </a:extLst>
          </p:cNvPr>
          <p:cNvSpPr>
            <a:spLocks noGrp="1"/>
          </p:cNvSpPr>
          <p:nvPr/>
        </p:nvSpPr>
        <p:spPr>
          <a:xfrm>
            <a:off x="6477000" y="2705100"/>
            <a:ext cx="1924050" cy="285750"/>
          </a:xfrm>
          <a:prstGeom prst="rect">
            <a:avLst/>
          </a:prstGeom>
          <a:noFill/>
          <a:ln w="0">
            <a:noFill/>
            <a:prstDash val="solid"/>
          </a:ln>
        </p:spPr>
        <p:txBody>
          <a:bodyPr/>
          <a:lstStyle/>
          <a:p>
            <a:pPr algn="l">
              <a:defRPr sz="1650" b="1">
                <a:solidFill>
                  <a:srgbClr val="083344"/>
                </a:solidFill>
              </a:defRPr>
            </a:pPr>
            <a:r>
              <a:rPr sz="1650" b="1">
                <a:solidFill>
                  <a:srgbClr val="083344"/>
                </a:solidFill>
              </a:rPr>
              <a:t>System retrieved</a:t>
            </a:r>
          </a:p>
        </p:txBody>
      </p:sp>
      <p:sp>
        <p:nvSpPr>
          <p:cNvPr id="72" name="Rectangle 71">
            <a:extLst>
              <a:ext uri="{FF2B5EF4-FFF2-40B4-BE49-F238E27FC236}">
                <a16:creationId xmlns:a16="http://schemas.microsoft.com/office/drawing/2014/main" id="{04ED5758-173F-B8BC-C14B-8824E329D84F}"/>
              </a:ext>
            </a:extLst>
          </p:cNvPr>
          <p:cNvSpPr>
            <a:spLocks noGrp="1"/>
          </p:cNvSpPr>
          <p:nvPr/>
        </p:nvSpPr>
        <p:spPr>
          <a:xfrm>
            <a:off x="6477000" y="3067050"/>
            <a:ext cx="2019300" cy="457200"/>
          </a:xfrm>
          <a:prstGeom prst="rect">
            <a:avLst/>
          </a:prstGeom>
          <a:noFill/>
          <a:ln w="0">
            <a:noFill/>
            <a:prstDash val="solid"/>
          </a:ln>
        </p:spPr>
        <p:txBody>
          <a:bodyPr/>
          <a:lstStyle/>
          <a:p>
            <a:pPr algn="l">
              <a:defRPr sz="1275" b="0">
                <a:solidFill>
                  <a:srgbClr val="5B6B78"/>
                </a:solidFill>
              </a:defRPr>
            </a:pPr>
            <a:r>
              <a:rPr sz="1400" b="0" dirty="0">
                <a:solidFill>
                  <a:srgbClr val="5B6B78"/>
                </a:solidFill>
              </a:rPr>
              <a:t>Relevant chunks provided context</a:t>
            </a:r>
          </a:p>
        </p:txBody>
      </p:sp>
      <p:sp>
        <p:nvSpPr>
          <p:cNvPr id="74" name="Arrow: Right 73">
            <a:extLst>
              <a:ext uri="{FF2B5EF4-FFF2-40B4-BE49-F238E27FC236}">
                <a16:creationId xmlns:a16="http://schemas.microsoft.com/office/drawing/2014/main" id="{5CC1DED5-E32E-3916-446D-40D1FC152CF5}"/>
              </a:ext>
            </a:extLst>
          </p:cNvPr>
          <p:cNvSpPr>
            <a:spLocks noGrp="1"/>
          </p:cNvSpPr>
          <p:nvPr/>
        </p:nvSpPr>
        <p:spPr>
          <a:xfrm>
            <a:off x="8629650" y="2743200"/>
            <a:ext cx="390524" cy="266700"/>
          </a:xfrm>
          <a:prstGeom prst="rightArrow">
            <a:avLst/>
          </a:prstGeom>
          <a:solidFill>
            <a:srgbClr val="00A3AD"/>
          </a:solidFill>
          <a:ln w="0">
            <a:solidFill>
              <a:srgbClr val="00A3AD"/>
            </a:solidFill>
            <a:prstDash val="solid"/>
          </a:ln>
        </p:spPr>
        <p:txBody>
          <a:bodyPr/>
          <a:lstStyle/>
          <a:p>
            <a:endParaRPr lang="en-US"/>
          </a:p>
        </p:txBody>
      </p:sp>
      <p:sp>
        <p:nvSpPr>
          <p:cNvPr id="76" name="Rectangle: Rounded Corners 75">
            <a:extLst>
              <a:ext uri="{FF2B5EF4-FFF2-40B4-BE49-F238E27FC236}">
                <a16:creationId xmlns:a16="http://schemas.microsoft.com/office/drawing/2014/main" id="{8343E723-3F02-B2D2-399C-330A0AC21442}"/>
              </a:ext>
            </a:extLst>
          </p:cNvPr>
          <p:cNvSpPr>
            <a:spLocks noGrp="1"/>
          </p:cNvSpPr>
          <p:nvPr/>
        </p:nvSpPr>
        <p:spPr>
          <a:xfrm>
            <a:off x="9029700" y="1924050"/>
            <a:ext cx="2381250" cy="2000250"/>
          </a:xfrm>
          <a:prstGeom prst="roundRect">
            <a:avLst>
              <a:gd name="adj" fmla="val 5714"/>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8" name="Oval 77">
            <a:extLst>
              <a:ext uri="{FF2B5EF4-FFF2-40B4-BE49-F238E27FC236}">
                <a16:creationId xmlns:a16="http://schemas.microsoft.com/office/drawing/2014/main" id="{9D0A914B-5F46-FDA3-0317-B00E12F42D98}"/>
              </a:ext>
            </a:extLst>
          </p:cNvPr>
          <p:cNvSpPr>
            <a:spLocks noGrp="1"/>
          </p:cNvSpPr>
          <p:nvPr/>
        </p:nvSpPr>
        <p:spPr>
          <a:xfrm>
            <a:off x="9201150" y="2095500"/>
            <a:ext cx="400050" cy="400050"/>
          </a:xfrm>
          <a:prstGeom prst="ellipse">
            <a:avLst/>
          </a:prstGeom>
          <a:solidFill>
            <a:srgbClr val="F28C28"/>
          </a:solidFill>
          <a:ln w="0">
            <a:solidFill>
              <a:srgbClr val="F28C28"/>
            </a:solidFill>
            <a:prstDash val="solid"/>
          </a:ln>
        </p:spPr>
        <p:txBody>
          <a:bodyPr/>
          <a:lstStyle/>
          <a:p>
            <a:endParaRPr lang="en-US"/>
          </a:p>
        </p:txBody>
      </p:sp>
      <p:sp>
        <p:nvSpPr>
          <p:cNvPr id="80" name="Rectangle 79">
            <a:extLst>
              <a:ext uri="{FF2B5EF4-FFF2-40B4-BE49-F238E27FC236}">
                <a16:creationId xmlns:a16="http://schemas.microsoft.com/office/drawing/2014/main" id="{41730795-A860-98DB-C05B-0026FCFE7996}"/>
              </a:ext>
            </a:extLst>
          </p:cNvPr>
          <p:cNvSpPr>
            <a:spLocks noGrp="1"/>
          </p:cNvSpPr>
          <p:nvPr/>
        </p:nvSpPr>
        <p:spPr>
          <a:xfrm>
            <a:off x="9201150" y="2152650"/>
            <a:ext cx="400050" cy="228600"/>
          </a:xfrm>
          <a:prstGeom prst="rect">
            <a:avLst/>
          </a:prstGeom>
          <a:noFill/>
          <a:ln w="0">
            <a:noFill/>
            <a:prstDash val="solid"/>
          </a:ln>
        </p:spPr>
        <p:txBody>
          <a:bodyPr/>
          <a:lstStyle/>
          <a:p>
            <a:pPr algn="ctr">
              <a:defRPr sz="1350" b="1">
                <a:solidFill>
                  <a:srgbClr val="FFFFFF"/>
                </a:solidFill>
              </a:defRPr>
            </a:pPr>
            <a:r>
              <a:rPr sz="1350" b="1" dirty="0">
                <a:solidFill>
                  <a:srgbClr val="FFFFFF"/>
                </a:solidFill>
              </a:rPr>
              <a:t>4</a:t>
            </a:r>
          </a:p>
        </p:txBody>
      </p:sp>
      <p:pic>
        <p:nvPicPr>
          <p:cNvPr id="82" name="Graphic 81">
            <a:extLst>
              <a:ext uri="{FF2B5EF4-FFF2-40B4-BE49-F238E27FC236}">
                <a16:creationId xmlns:a16="http://schemas.microsoft.com/office/drawing/2014/main" id="{63D143C1-9400-1CCE-4465-05C708546004}"/>
              </a:ext>
            </a:extLst>
          </p:cNvPr>
          <p:cNvPicPr>
            <a:picLocks noChangeAspect="1"/>
          </p:cNvPicPr>
          <p:nvPr/>
        </p:nvPicPr>
        <p:blipFill>
          <a:blip>
            <a:extLst>
              <a:ext uri="{96DAC541-7B7A-43D3-8B79-37D633B846F1}">
                <asvg:svgBlip xmlns:asvg="http://schemas.microsoft.com/office/drawing/2016/SVG/main" r:embed="rId7"/>
              </a:ext>
            </a:extLst>
          </a:blip>
          <a:stretch/>
        </p:blipFill>
        <p:spPr>
          <a:xfrm>
            <a:off x="10820400" y="2133600"/>
            <a:ext cx="323850" cy="323850"/>
          </a:xfrm>
          <a:prstGeom prst="rect">
            <a:avLst/>
          </a:prstGeom>
        </p:spPr>
      </p:pic>
      <p:sp>
        <p:nvSpPr>
          <p:cNvPr id="84" name="Rectangle 83">
            <a:extLst>
              <a:ext uri="{FF2B5EF4-FFF2-40B4-BE49-F238E27FC236}">
                <a16:creationId xmlns:a16="http://schemas.microsoft.com/office/drawing/2014/main" id="{553EFFF5-340E-114C-7A2A-031D262F6AAB}"/>
              </a:ext>
            </a:extLst>
          </p:cNvPr>
          <p:cNvSpPr>
            <a:spLocks noGrp="1"/>
          </p:cNvSpPr>
          <p:nvPr/>
        </p:nvSpPr>
        <p:spPr>
          <a:xfrm>
            <a:off x="9258300" y="2705100"/>
            <a:ext cx="2019300" cy="285750"/>
          </a:xfrm>
          <a:prstGeom prst="rect">
            <a:avLst/>
          </a:prstGeom>
          <a:noFill/>
          <a:ln w="0">
            <a:noFill/>
            <a:prstDash val="solid"/>
          </a:ln>
        </p:spPr>
        <p:txBody>
          <a:bodyPr/>
          <a:lstStyle/>
          <a:p>
            <a:pPr algn="l">
              <a:defRPr sz="1650" b="1">
                <a:solidFill>
                  <a:srgbClr val="083344"/>
                </a:solidFill>
              </a:defRPr>
            </a:pPr>
            <a:r>
              <a:rPr sz="1650" b="1" dirty="0">
                <a:solidFill>
                  <a:srgbClr val="083344"/>
                </a:solidFill>
              </a:rPr>
              <a:t>Responses grounded</a:t>
            </a:r>
          </a:p>
        </p:txBody>
      </p:sp>
      <p:sp>
        <p:nvSpPr>
          <p:cNvPr id="86" name="Rectangle 85">
            <a:extLst>
              <a:ext uri="{FF2B5EF4-FFF2-40B4-BE49-F238E27FC236}">
                <a16:creationId xmlns:a16="http://schemas.microsoft.com/office/drawing/2014/main" id="{AA4EB4CD-CF67-BA04-AEC5-35B00A2D4611}"/>
              </a:ext>
            </a:extLst>
          </p:cNvPr>
          <p:cNvSpPr>
            <a:spLocks noGrp="1"/>
          </p:cNvSpPr>
          <p:nvPr/>
        </p:nvSpPr>
        <p:spPr>
          <a:xfrm>
            <a:off x="9258300" y="3067050"/>
            <a:ext cx="2019300" cy="457200"/>
          </a:xfrm>
          <a:prstGeom prst="rect">
            <a:avLst/>
          </a:prstGeom>
          <a:noFill/>
          <a:ln w="0">
            <a:noFill/>
            <a:prstDash val="solid"/>
          </a:ln>
        </p:spPr>
        <p:txBody>
          <a:bodyPr/>
          <a:lstStyle/>
          <a:p>
            <a:pPr algn="l">
              <a:defRPr sz="1275" b="0">
                <a:solidFill>
                  <a:srgbClr val="5B6B78"/>
                </a:solidFill>
              </a:defRPr>
            </a:pPr>
            <a:r>
              <a:rPr sz="1400" b="0" dirty="0">
                <a:solidFill>
                  <a:srgbClr val="5B6B78"/>
                </a:solidFill>
              </a:rPr>
              <a:t>Answers referenced document sources</a:t>
            </a:r>
          </a:p>
        </p:txBody>
      </p:sp>
      <p:sp>
        <p:nvSpPr>
          <p:cNvPr id="88" name="Rectangle 87">
            <a:extLst>
              <a:ext uri="{FF2B5EF4-FFF2-40B4-BE49-F238E27FC236}">
                <a16:creationId xmlns:a16="http://schemas.microsoft.com/office/drawing/2014/main" id="{46D9DB2C-A240-8E8E-4D74-43720BD851AF}"/>
              </a:ext>
            </a:extLst>
          </p:cNvPr>
          <p:cNvSpPr>
            <a:spLocks noGrp="1"/>
          </p:cNvSpPr>
          <p:nvPr/>
        </p:nvSpPr>
        <p:spPr>
          <a:xfrm>
            <a:off x="1466850" y="4476750"/>
            <a:ext cx="9258300" cy="419100"/>
          </a:xfrm>
          <a:prstGeom prst="rect">
            <a:avLst/>
          </a:prstGeom>
          <a:noFill/>
          <a:ln w="0">
            <a:noFill/>
            <a:prstDash val="solid"/>
          </a:ln>
        </p:spPr>
        <p:txBody>
          <a:bodyPr/>
          <a:lstStyle/>
          <a:p>
            <a:pPr algn="ctr">
              <a:defRPr sz="2400" b="1">
                <a:solidFill>
                  <a:srgbClr val="083344"/>
                </a:solidFill>
              </a:defRPr>
            </a:pPr>
            <a:r>
              <a:rPr sz="2400" b="1">
                <a:solidFill>
                  <a:srgbClr val="083344"/>
                </a:solidFill>
              </a:rPr>
              <a:t>From document overload to guided retrieval</a:t>
            </a:r>
          </a:p>
        </p:txBody>
      </p:sp>
      <p:sp>
        <p:nvSpPr>
          <p:cNvPr id="90" name="Rectangle 89">
            <a:extLst>
              <a:ext uri="{FF2B5EF4-FFF2-40B4-BE49-F238E27FC236}">
                <a16:creationId xmlns:a16="http://schemas.microsoft.com/office/drawing/2014/main" id="{29D2C6A3-E2CD-7F47-85B5-950301DD9717}"/>
              </a:ext>
            </a:extLst>
          </p:cNvPr>
          <p:cNvSpPr>
            <a:spLocks noGrp="1"/>
          </p:cNvSpPr>
          <p:nvPr/>
        </p:nvSpPr>
        <p:spPr>
          <a:xfrm>
            <a:off x="1962150" y="5010150"/>
            <a:ext cx="8267700" cy="285750"/>
          </a:xfrm>
          <a:prstGeom prst="rect">
            <a:avLst/>
          </a:prstGeom>
          <a:noFill/>
          <a:ln w="0">
            <a:noFill/>
            <a:prstDash val="solid"/>
          </a:ln>
        </p:spPr>
        <p:txBody>
          <a:bodyPr/>
          <a:lstStyle/>
          <a:p>
            <a:pPr algn="ctr">
              <a:defRPr sz="1575" b="0">
                <a:solidFill>
                  <a:srgbClr val="5B6B78"/>
                </a:solidFill>
              </a:defRPr>
            </a:pPr>
            <a:r>
              <a:rPr sz="1575" b="0">
                <a:solidFill>
                  <a:srgbClr val="5B6B78"/>
                </a:solidFill>
              </a:rPr>
              <a:t>The system turns enterprise documents into searchable knowledge.</a:t>
            </a:r>
          </a:p>
        </p:txBody>
      </p:sp>
    </p:spTree>
    <p:extLst>
      <p:ext uri="{BB962C8B-B14F-4D97-AF65-F5344CB8AC3E}">
        <p14:creationId xmlns:p14="http://schemas.microsoft.com/office/powerpoint/2010/main" val="1477649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BFD"/>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C0C3861-1F49-4FC9-BE8A-9DC49AA17814}"/>
              </a:ext>
            </a:extLst>
          </p:cNvPr>
          <p:cNvSpPr>
            <a:spLocks noGrp="1"/>
          </p:cNvSpPr>
          <p:nvPr/>
        </p:nvSpPr>
        <p:spPr>
          <a:xfrm>
            <a:off x="0" y="0"/>
            <a:ext cx="12192000" cy="114300"/>
          </a:xfrm>
          <a:prstGeom prst="rect">
            <a:avLst/>
          </a:prstGeom>
          <a:solidFill>
            <a:srgbClr val="00A3AD"/>
          </a:solidFill>
          <a:ln w="0">
            <a:solidFill>
              <a:srgbClr val="00A3AD"/>
            </a:solidFill>
            <a:prstDash val="solid"/>
          </a:ln>
        </p:spPr>
        <p:txBody>
          <a:bodyPr/>
          <a:lstStyle/>
          <a:p>
            <a:endParaRPr/>
          </a:p>
        </p:txBody>
      </p:sp>
      <p:sp>
        <p:nvSpPr>
          <p:cNvPr id="2" name="Rectangle 1">
            <a:extLst>
              <a:ext uri="{FF2B5EF4-FFF2-40B4-BE49-F238E27FC236}">
                <a16:creationId xmlns:a16="http://schemas.microsoft.com/office/drawing/2014/main" id="{288F3D13-21B0-4D00-B8A0-76F7B1674049}"/>
              </a:ext>
            </a:extLst>
          </p:cNvPr>
          <p:cNvSpPr>
            <a:spLocks noGrp="1"/>
          </p:cNvSpPr>
          <p:nvPr/>
        </p:nvSpPr>
        <p:spPr>
          <a:xfrm>
            <a:off x="685800" y="342900"/>
            <a:ext cx="4000500" cy="209550"/>
          </a:xfrm>
          <a:prstGeom prst="rect">
            <a:avLst/>
          </a:prstGeom>
          <a:noFill/>
          <a:ln w="0">
            <a:noFill/>
            <a:prstDash val="solid"/>
          </a:ln>
        </p:spPr>
        <p:txBody>
          <a:bodyPr/>
          <a:lstStyle/>
          <a:p>
            <a:pPr>
              <a:buNone/>
              <a:defRPr sz="900" b="1">
                <a:solidFill>
                  <a:srgbClr val="009999"/>
                </a:solidFill>
              </a:defRPr>
            </a:pPr>
            <a:r>
              <a:rPr lang="en-US" sz="900" b="1" dirty="0">
                <a:solidFill>
                  <a:srgbClr val="009999"/>
                </a:solidFill>
              </a:rPr>
              <a:t>Verification</a:t>
            </a:r>
            <a:endParaRPr sz="900" b="1" dirty="0">
              <a:solidFill>
                <a:srgbClr val="009999"/>
              </a:solidFill>
            </a:endParaRPr>
          </a:p>
        </p:txBody>
      </p:sp>
      <p:sp>
        <p:nvSpPr>
          <p:cNvPr id="3" name="Rectangle 2">
            <a:extLst>
              <a:ext uri="{FF2B5EF4-FFF2-40B4-BE49-F238E27FC236}">
                <a16:creationId xmlns:a16="http://schemas.microsoft.com/office/drawing/2014/main" id="{9D583CA0-0E71-42E7-9CE1-DD7CED507296}"/>
              </a:ext>
            </a:extLst>
          </p:cNvPr>
          <p:cNvSpPr>
            <a:spLocks noGrp="1"/>
          </p:cNvSpPr>
          <p:nvPr/>
        </p:nvSpPr>
        <p:spPr>
          <a:xfrm>
            <a:off x="685800" y="609600"/>
            <a:ext cx="7810500" cy="495300"/>
          </a:xfrm>
          <a:prstGeom prst="rect">
            <a:avLst/>
          </a:prstGeom>
          <a:noFill/>
          <a:ln w="0">
            <a:noFill/>
            <a:prstDash val="solid"/>
          </a:ln>
        </p:spPr>
        <p:txBody>
          <a:bodyPr/>
          <a:lstStyle/>
          <a:p>
            <a:pPr algn="l">
              <a:buNone/>
              <a:defRPr sz="2850" b="1">
                <a:solidFill>
                  <a:srgbClr val="083344"/>
                </a:solidFill>
              </a:defRPr>
            </a:pPr>
            <a:r>
              <a:rPr sz="2850" b="1">
                <a:solidFill>
                  <a:srgbClr val="083344"/>
                </a:solidFill>
              </a:rPr>
              <a:t>Requirements</a:t>
            </a:r>
          </a:p>
        </p:txBody>
      </p:sp>
      <p:sp>
        <p:nvSpPr>
          <p:cNvPr id="4" name="Rectangle: Rounded Corners 3">
            <a:extLst>
              <a:ext uri="{FF2B5EF4-FFF2-40B4-BE49-F238E27FC236}">
                <a16:creationId xmlns:a16="http://schemas.microsoft.com/office/drawing/2014/main" id="{A1D70934-87C0-40F7-B97E-F1AE16DF15ED}"/>
              </a:ext>
            </a:extLst>
          </p:cNvPr>
          <p:cNvSpPr>
            <a:spLocks noGrp="1"/>
          </p:cNvSpPr>
          <p:nvPr/>
        </p:nvSpPr>
        <p:spPr>
          <a:xfrm>
            <a:off x="781050" y="1466850"/>
            <a:ext cx="4953000" cy="4189232"/>
          </a:xfrm>
          <a:prstGeom prst="roundRect">
            <a:avLst>
              <a:gd name="adj" fmla="val 3000"/>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Rectangle: Rounded Corners 4">
            <a:extLst>
              <a:ext uri="{FF2B5EF4-FFF2-40B4-BE49-F238E27FC236}">
                <a16:creationId xmlns:a16="http://schemas.microsoft.com/office/drawing/2014/main" id="{C8A4DF39-FD07-454A-9964-7D20CA386D0A}"/>
              </a:ext>
            </a:extLst>
          </p:cNvPr>
          <p:cNvSpPr>
            <a:spLocks noGrp="1"/>
          </p:cNvSpPr>
          <p:nvPr/>
        </p:nvSpPr>
        <p:spPr>
          <a:xfrm>
            <a:off x="6190422" y="1466850"/>
            <a:ext cx="4953000" cy="4189232"/>
          </a:xfrm>
          <a:prstGeom prst="roundRect">
            <a:avLst>
              <a:gd name="adj" fmla="val 3000"/>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a:p>
        </p:txBody>
      </p:sp>
      <p:sp>
        <p:nvSpPr>
          <p:cNvPr id="6" name="Rectangle 5">
            <a:extLst>
              <a:ext uri="{FF2B5EF4-FFF2-40B4-BE49-F238E27FC236}">
                <a16:creationId xmlns:a16="http://schemas.microsoft.com/office/drawing/2014/main" id="{44E9D034-9493-430D-A3F2-E24E434BF5E4}"/>
              </a:ext>
            </a:extLst>
          </p:cNvPr>
          <p:cNvSpPr>
            <a:spLocks noGrp="1"/>
          </p:cNvSpPr>
          <p:nvPr/>
        </p:nvSpPr>
        <p:spPr>
          <a:xfrm>
            <a:off x="1219200" y="1905000"/>
            <a:ext cx="2667000" cy="304800"/>
          </a:xfrm>
          <a:prstGeom prst="rect">
            <a:avLst/>
          </a:prstGeom>
          <a:noFill/>
          <a:ln w="0">
            <a:noFill/>
            <a:prstDash val="solid"/>
          </a:ln>
        </p:spPr>
        <p:txBody>
          <a:bodyPr/>
          <a:lstStyle/>
          <a:p>
            <a:pPr algn="l">
              <a:buNone/>
              <a:defRPr sz="2250" b="1">
                <a:solidFill>
                  <a:srgbClr val="083344"/>
                </a:solidFill>
              </a:defRPr>
            </a:pPr>
            <a:r>
              <a:rPr sz="2250" b="1">
                <a:solidFill>
                  <a:srgbClr val="083344"/>
                </a:solidFill>
              </a:rPr>
              <a:t>Functional</a:t>
            </a:r>
          </a:p>
        </p:txBody>
      </p:sp>
      <p:sp>
        <p:nvSpPr>
          <p:cNvPr id="7" name="Rectangle 6">
            <a:extLst>
              <a:ext uri="{FF2B5EF4-FFF2-40B4-BE49-F238E27FC236}">
                <a16:creationId xmlns:a16="http://schemas.microsoft.com/office/drawing/2014/main" id="{92F92EA1-F0E0-40AC-8A49-FADC15C481EA}"/>
              </a:ext>
            </a:extLst>
          </p:cNvPr>
          <p:cNvSpPr>
            <a:spLocks noGrp="1"/>
          </p:cNvSpPr>
          <p:nvPr/>
        </p:nvSpPr>
        <p:spPr>
          <a:xfrm>
            <a:off x="6600291" y="1905000"/>
            <a:ext cx="2857500" cy="304800"/>
          </a:xfrm>
          <a:prstGeom prst="rect">
            <a:avLst/>
          </a:prstGeom>
          <a:noFill/>
          <a:ln w="0">
            <a:noFill/>
            <a:prstDash val="solid"/>
          </a:ln>
        </p:spPr>
        <p:txBody>
          <a:bodyPr/>
          <a:lstStyle/>
          <a:p>
            <a:pPr algn="l">
              <a:buNone/>
              <a:defRPr sz="2250" b="1">
                <a:solidFill>
                  <a:srgbClr val="083344"/>
                </a:solidFill>
              </a:defRPr>
            </a:pPr>
            <a:r>
              <a:rPr sz="2250" b="1">
                <a:solidFill>
                  <a:srgbClr val="083344"/>
                </a:solidFill>
              </a:rPr>
              <a:t>Non-functional</a:t>
            </a:r>
          </a:p>
        </p:txBody>
      </p:sp>
      <p:sp>
        <p:nvSpPr>
          <p:cNvPr id="8" name="Rectangle: Rounded Corners 7">
            <a:extLst>
              <a:ext uri="{FF2B5EF4-FFF2-40B4-BE49-F238E27FC236}">
                <a16:creationId xmlns:a16="http://schemas.microsoft.com/office/drawing/2014/main" id="{2C8E0F43-4778-4BAB-8AC8-8D0C34FB02AD}"/>
              </a:ext>
            </a:extLst>
          </p:cNvPr>
          <p:cNvSpPr>
            <a:spLocks noGrp="1"/>
          </p:cNvSpPr>
          <p:nvPr/>
        </p:nvSpPr>
        <p:spPr>
          <a:xfrm>
            <a:off x="1219199" y="2533650"/>
            <a:ext cx="3663885" cy="457200"/>
          </a:xfrm>
          <a:prstGeom prst="roundRect">
            <a:avLst>
              <a:gd name="adj" fmla="val 50000"/>
            </a:avLst>
          </a:prstGeom>
          <a:solidFill>
            <a:srgbClr val="FFFFFF"/>
          </a:solidFill>
          <a:ln w="9525">
            <a:solidFill>
              <a:srgbClr val="CBE4EC"/>
            </a:solidFill>
            <a:prstDash val="solid"/>
          </a:ln>
        </p:spPr>
        <p:txBody>
          <a:bodyPr/>
          <a:lstStyle/>
          <a:p>
            <a:endParaRPr/>
          </a:p>
        </p:txBody>
      </p:sp>
      <p:sp>
        <p:nvSpPr>
          <p:cNvPr id="10" name="Rectangle 9">
            <a:extLst>
              <a:ext uri="{FF2B5EF4-FFF2-40B4-BE49-F238E27FC236}">
                <a16:creationId xmlns:a16="http://schemas.microsoft.com/office/drawing/2014/main" id="{8EB9A52B-D158-4B32-A19B-DC909875BFD8}"/>
              </a:ext>
            </a:extLst>
          </p:cNvPr>
          <p:cNvSpPr>
            <a:spLocks noGrp="1"/>
          </p:cNvSpPr>
          <p:nvPr/>
        </p:nvSpPr>
        <p:spPr>
          <a:xfrm>
            <a:off x="1675572" y="2609022"/>
            <a:ext cx="2990850" cy="247650"/>
          </a:xfrm>
          <a:prstGeom prst="rect">
            <a:avLst/>
          </a:prstGeom>
          <a:noFill/>
          <a:ln w="0">
            <a:noFill/>
            <a:prstDash val="solid"/>
          </a:ln>
        </p:spPr>
        <p:txBody>
          <a:bodyPr/>
          <a:lstStyle/>
          <a:p>
            <a:pPr algn="l">
              <a:buNone/>
              <a:defRPr sz="1275" b="1">
                <a:solidFill>
                  <a:srgbClr val="083344"/>
                </a:solidFill>
              </a:defRPr>
            </a:pPr>
            <a:r>
              <a:rPr lang="de-DE" sz="1400" b="1" dirty="0">
                <a:solidFill>
                  <a:srgbClr val="083344"/>
                </a:solidFill>
              </a:rPr>
              <a:t>FR-1: </a:t>
            </a:r>
            <a:r>
              <a:rPr sz="1400" b="1" dirty="0">
                <a:solidFill>
                  <a:srgbClr val="083344"/>
                </a:solidFill>
              </a:rPr>
              <a:t>Upload and manage documents</a:t>
            </a:r>
          </a:p>
        </p:txBody>
      </p:sp>
      <p:sp>
        <p:nvSpPr>
          <p:cNvPr id="11" name="Rectangle: Rounded Corners 10">
            <a:extLst>
              <a:ext uri="{FF2B5EF4-FFF2-40B4-BE49-F238E27FC236}">
                <a16:creationId xmlns:a16="http://schemas.microsoft.com/office/drawing/2014/main" id="{FF54D458-11EF-436B-A955-2DD37AB2DBFB}"/>
              </a:ext>
            </a:extLst>
          </p:cNvPr>
          <p:cNvSpPr>
            <a:spLocks noGrp="1"/>
          </p:cNvSpPr>
          <p:nvPr/>
        </p:nvSpPr>
        <p:spPr>
          <a:xfrm>
            <a:off x="1219200" y="3086100"/>
            <a:ext cx="3663884" cy="457200"/>
          </a:xfrm>
          <a:prstGeom prst="roundRect">
            <a:avLst>
              <a:gd name="adj" fmla="val 50000"/>
            </a:avLst>
          </a:prstGeom>
          <a:solidFill>
            <a:srgbClr val="FFFFFF"/>
          </a:solidFill>
          <a:ln w="9525">
            <a:solidFill>
              <a:srgbClr val="CBE4EC"/>
            </a:solidFill>
            <a:prstDash val="solid"/>
          </a:ln>
        </p:spPr>
        <p:txBody>
          <a:bodyPr/>
          <a:lstStyle/>
          <a:p>
            <a:endParaRPr/>
          </a:p>
        </p:txBody>
      </p:sp>
      <p:pic>
        <p:nvPicPr>
          <p:cNvPr id="53" name="Graphic 44"/>
          <p:cNvPicPr>
            <a:picLocks noChangeAspect="1"/>
          </p:cNvPicPr>
          <p:nvPr/>
        </p:nvPicPr>
        <p:blipFill>
          <a:blip>
            <a:extLst>
              <a:ext uri="{96DAC541-7B7A-43D3-8B79-37D633B846F1}">
                <asvg:svgBlip xmlns:asvg="http://schemas.microsoft.com/office/drawing/2016/SVG/main" r:embed="rId3"/>
              </a:ext>
            </a:extLst>
          </a:blip>
          <a:stretch/>
        </p:blipFill>
        <p:spPr>
          <a:xfrm>
            <a:off x="1385895" y="2663367"/>
            <a:ext cx="228600" cy="228600"/>
          </a:xfrm>
          <a:prstGeom prst="rect">
            <a:avLst/>
          </a:prstGeom>
        </p:spPr>
      </p:pic>
      <p:sp>
        <p:nvSpPr>
          <p:cNvPr id="13" name="Rectangle 12">
            <a:extLst>
              <a:ext uri="{FF2B5EF4-FFF2-40B4-BE49-F238E27FC236}">
                <a16:creationId xmlns:a16="http://schemas.microsoft.com/office/drawing/2014/main" id="{EE9FA30F-5CBA-4748-9010-0DA5866C2E30}"/>
              </a:ext>
            </a:extLst>
          </p:cNvPr>
          <p:cNvSpPr>
            <a:spLocks noGrp="1"/>
          </p:cNvSpPr>
          <p:nvPr/>
        </p:nvSpPr>
        <p:spPr>
          <a:xfrm>
            <a:off x="1675572" y="3161472"/>
            <a:ext cx="2990850" cy="247650"/>
          </a:xfrm>
          <a:prstGeom prst="rect">
            <a:avLst/>
          </a:prstGeom>
          <a:noFill/>
          <a:ln w="0">
            <a:noFill/>
            <a:prstDash val="solid"/>
          </a:ln>
        </p:spPr>
        <p:txBody>
          <a:bodyPr/>
          <a:lstStyle/>
          <a:p>
            <a:pPr algn="l">
              <a:buNone/>
              <a:defRPr sz="1275" b="1">
                <a:solidFill>
                  <a:srgbClr val="083344"/>
                </a:solidFill>
              </a:defRPr>
            </a:pPr>
            <a:r>
              <a:rPr lang="de-DE" sz="1400" b="1" dirty="0">
                <a:solidFill>
                  <a:srgbClr val="083344"/>
                </a:solidFill>
              </a:rPr>
              <a:t>FR-2: </a:t>
            </a:r>
            <a:r>
              <a:rPr sz="1400" b="1" dirty="0">
                <a:solidFill>
                  <a:srgbClr val="083344"/>
                </a:solidFill>
              </a:rPr>
              <a:t>Process content; track readiness</a:t>
            </a:r>
          </a:p>
        </p:txBody>
      </p:sp>
      <p:sp>
        <p:nvSpPr>
          <p:cNvPr id="14" name="Rectangle: Rounded Corners 13">
            <a:extLst>
              <a:ext uri="{FF2B5EF4-FFF2-40B4-BE49-F238E27FC236}">
                <a16:creationId xmlns:a16="http://schemas.microsoft.com/office/drawing/2014/main" id="{87F45175-A985-461D-A78D-36B1366A0D6A}"/>
              </a:ext>
            </a:extLst>
          </p:cNvPr>
          <p:cNvSpPr>
            <a:spLocks noGrp="1"/>
          </p:cNvSpPr>
          <p:nvPr/>
        </p:nvSpPr>
        <p:spPr>
          <a:xfrm>
            <a:off x="1219200" y="3638550"/>
            <a:ext cx="3663884" cy="457200"/>
          </a:xfrm>
          <a:prstGeom prst="roundRect">
            <a:avLst>
              <a:gd name="adj" fmla="val 50000"/>
            </a:avLst>
          </a:prstGeom>
          <a:solidFill>
            <a:srgbClr val="FFFFFF"/>
          </a:solidFill>
          <a:ln w="9525">
            <a:solidFill>
              <a:srgbClr val="CBE4EC"/>
            </a:solidFill>
            <a:prstDash val="solid"/>
          </a:ln>
        </p:spPr>
        <p:txBody>
          <a:bodyPr/>
          <a:lstStyle/>
          <a:p>
            <a:endParaRPr/>
          </a:p>
        </p:txBody>
      </p:sp>
      <p:pic>
        <p:nvPicPr>
          <p:cNvPr id="56" name="Graphic 47"/>
          <p:cNvPicPr>
            <a:picLocks noChangeAspect="1"/>
          </p:cNvPicPr>
          <p:nvPr/>
        </p:nvPicPr>
        <p:blipFill>
          <a:blip>
            <a:extLst>
              <a:ext uri="{96DAC541-7B7A-43D3-8B79-37D633B846F1}">
                <asvg:svgBlip xmlns:asvg="http://schemas.microsoft.com/office/drawing/2016/SVG/main" r:embed="rId4"/>
              </a:ext>
            </a:extLst>
          </a:blip>
          <a:stretch/>
        </p:blipFill>
        <p:spPr>
          <a:xfrm>
            <a:off x="1371600" y="3752850"/>
            <a:ext cx="228600" cy="228600"/>
          </a:xfrm>
          <a:prstGeom prst="rect">
            <a:avLst/>
          </a:prstGeom>
        </p:spPr>
      </p:pic>
      <p:sp>
        <p:nvSpPr>
          <p:cNvPr id="16" name="Rectangle 15">
            <a:extLst>
              <a:ext uri="{FF2B5EF4-FFF2-40B4-BE49-F238E27FC236}">
                <a16:creationId xmlns:a16="http://schemas.microsoft.com/office/drawing/2014/main" id="{34F6A1BD-7443-4A5A-AC3B-83A3E3679CB7}"/>
              </a:ext>
            </a:extLst>
          </p:cNvPr>
          <p:cNvSpPr>
            <a:spLocks noGrp="1"/>
          </p:cNvSpPr>
          <p:nvPr/>
        </p:nvSpPr>
        <p:spPr>
          <a:xfrm>
            <a:off x="1675572" y="3713922"/>
            <a:ext cx="3227390" cy="247650"/>
          </a:xfrm>
          <a:prstGeom prst="rect">
            <a:avLst/>
          </a:prstGeom>
          <a:noFill/>
          <a:ln w="0">
            <a:noFill/>
            <a:prstDash val="solid"/>
          </a:ln>
        </p:spPr>
        <p:txBody>
          <a:bodyPr/>
          <a:lstStyle/>
          <a:p>
            <a:pPr>
              <a:defRPr sz="1275" b="1">
                <a:solidFill>
                  <a:srgbClr val="083344"/>
                </a:solidFill>
              </a:defRPr>
            </a:pPr>
            <a:r>
              <a:rPr lang="de-DE" sz="1400" b="1" dirty="0">
                <a:solidFill>
                  <a:srgbClr val="083344"/>
                </a:solidFill>
              </a:rPr>
              <a:t>FR-3: </a:t>
            </a:r>
            <a:r>
              <a:rPr lang="en-US" sz="1400" b="1" dirty="0"/>
              <a:t>Answer from selected documents</a:t>
            </a:r>
            <a:endParaRPr sz="1400" b="1" dirty="0">
              <a:solidFill>
                <a:srgbClr val="083344"/>
              </a:solidFill>
            </a:endParaRPr>
          </a:p>
        </p:txBody>
      </p:sp>
      <p:sp>
        <p:nvSpPr>
          <p:cNvPr id="17" name="Rectangle: Rounded Corners 16">
            <a:extLst>
              <a:ext uri="{FF2B5EF4-FFF2-40B4-BE49-F238E27FC236}">
                <a16:creationId xmlns:a16="http://schemas.microsoft.com/office/drawing/2014/main" id="{6CF5D0F7-8F0B-4234-860F-29647AB49C24}"/>
              </a:ext>
            </a:extLst>
          </p:cNvPr>
          <p:cNvSpPr>
            <a:spLocks noGrp="1"/>
          </p:cNvSpPr>
          <p:nvPr/>
        </p:nvSpPr>
        <p:spPr>
          <a:xfrm>
            <a:off x="1219200" y="4191000"/>
            <a:ext cx="3663884" cy="457200"/>
          </a:xfrm>
          <a:prstGeom prst="roundRect">
            <a:avLst>
              <a:gd name="adj" fmla="val 50000"/>
            </a:avLst>
          </a:prstGeom>
          <a:solidFill>
            <a:srgbClr val="FFFFFF"/>
          </a:solidFill>
          <a:ln w="9525">
            <a:solidFill>
              <a:srgbClr val="CBE4EC"/>
            </a:solidFill>
            <a:prstDash val="solid"/>
          </a:ln>
        </p:spPr>
        <p:txBody>
          <a:bodyPr/>
          <a:lstStyle/>
          <a:p>
            <a:endParaRPr/>
          </a:p>
        </p:txBody>
      </p:sp>
      <p:pic>
        <p:nvPicPr>
          <p:cNvPr id="59" name="Graphic 50"/>
          <p:cNvPicPr>
            <a:picLocks noChangeAspect="1"/>
          </p:cNvPicPr>
          <p:nvPr/>
        </p:nvPicPr>
        <p:blipFill>
          <a:blip>
            <a:extLst>
              <a:ext uri="{96DAC541-7B7A-43D3-8B79-37D633B846F1}">
                <asvg:svgBlip xmlns:asvg="http://schemas.microsoft.com/office/drawing/2016/SVG/main" r:embed="rId5"/>
              </a:ext>
            </a:extLst>
          </a:blip>
          <a:stretch/>
        </p:blipFill>
        <p:spPr>
          <a:xfrm>
            <a:off x="1371600" y="4305300"/>
            <a:ext cx="228600" cy="228600"/>
          </a:xfrm>
          <a:prstGeom prst="rect">
            <a:avLst/>
          </a:prstGeom>
        </p:spPr>
      </p:pic>
      <p:sp>
        <p:nvSpPr>
          <p:cNvPr id="19" name="Rectangle 18">
            <a:extLst>
              <a:ext uri="{FF2B5EF4-FFF2-40B4-BE49-F238E27FC236}">
                <a16:creationId xmlns:a16="http://schemas.microsoft.com/office/drawing/2014/main" id="{123804CE-42EA-43CF-BAB9-943ADD009373}"/>
              </a:ext>
            </a:extLst>
          </p:cNvPr>
          <p:cNvSpPr>
            <a:spLocks noGrp="1"/>
          </p:cNvSpPr>
          <p:nvPr/>
        </p:nvSpPr>
        <p:spPr>
          <a:xfrm>
            <a:off x="1675572" y="4266372"/>
            <a:ext cx="2990850" cy="247650"/>
          </a:xfrm>
          <a:prstGeom prst="rect">
            <a:avLst/>
          </a:prstGeom>
          <a:noFill/>
          <a:ln w="0">
            <a:noFill/>
            <a:prstDash val="solid"/>
          </a:ln>
        </p:spPr>
        <p:txBody>
          <a:bodyPr/>
          <a:lstStyle/>
          <a:p>
            <a:pPr>
              <a:defRPr sz="1275" b="1">
                <a:solidFill>
                  <a:srgbClr val="083344"/>
                </a:solidFill>
              </a:defRPr>
            </a:pPr>
            <a:r>
              <a:rPr lang="de-DE" sz="1400" b="1" dirty="0">
                <a:solidFill>
                  <a:srgbClr val="083344"/>
                </a:solidFill>
              </a:rPr>
              <a:t>FR-4: </a:t>
            </a:r>
            <a:r>
              <a:rPr lang="en-US" sz="1400" b="1" dirty="0"/>
              <a:t>Show source references</a:t>
            </a:r>
            <a:endParaRPr sz="1400" b="1" dirty="0">
              <a:solidFill>
                <a:srgbClr val="083344"/>
              </a:solidFill>
            </a:endParaRPr>
          </a:p>
        </p:txBody>
      </p:sp>
      <p:sp>
        <p:nvSpPr>
          <p:cNvPr id="20" name="Rectangle: Rounded Corners 19">
            <a:extLst>
              <a:ext uri="{FF2B5EF4-FFF2-40B4-BE49-F238E27FC236}">
                <a16:creationId xmlns:a16="http://schemas.microsoft.com/office/drawing/2014/main" id="{4FF443F0-64A8-4678-837C-8E6A760DE8F4}"/>
              </a:ext>
            </a:extLst>
          </p:cNvPr>
          <p:cNvSpPr>
            <a:spLocks noGrp="1"/>
          </p:cNvSpPr>
          <p:nvPr/>
        </p:nvSpPr>
        <p:spPr>
          <a:xfrm>
            <a:off x="6600290" y="2533650"/>
            <a:ext cx="4117986" cy="457200"/>
          </a:xfrm>
          <a:prstGeom prst="roundRect">
            <a:avLst>
              <a:gd name="adj" fmla="val 50000"/>
            </a:avLst>
          </a:prstGeom>
          <a:solidFill>
            <a:srgbClr val="FFFFFF"/>
          </a:solidFill>
          <a:ln w="9525">
            <a:solidFill>
              <a:srgbClr val="CBE4EC"/>
            </a:solidFill>
            <a:prstDash val="solid"/>
          </a:ln>
        </p:spPr>
        <p:txBody>
          <a:bodyPr/>
          <a:lstStyle/>
          <a:p>
            <a:endParaRPr/>
          </a:p>
        </p:txBody>
      </p:sp>
      <p:pic>
        <p:nvPicPr>
          <p:cNvPr id="62" name="Graphic 53"/>
          <p:cNvPicPr>
            <a:picLocks noChangeAspect="1"/>
          </p:cNvPicPr>
          <p:nvPr/>
        </p:nvPicPr>
        <p:blipFill>
          <a:blip>
            <a:extLst>
              <a:ext uri="{96DAC541-7B7A-43D3-8B79-37D633B846F1}">
                <asvg:svgBlip xmlns:asvg="http://schemas.microsoft.com/office/drawing/2016/SVG/main" r:embed="rId6"/>
              </a:ext>
            </a:extLst>
          </a:blip>
          <a:stretch/>
        </p:blipFill>
        <p:spPr>
          <a:xfrm>
            <a:off x="6752691" y="2647950"/>
            <a:ext cx="228600" cy="228600"/>
          </a:xfrm>
          <a:prstGeom prst="rect">
            <a:avLst/>
          </a:prstGeom>
        </p:spPr>
      </p:pic>
      <p:sp>
        <p:nvSpPr>
          <p:cNvPr id="22" name="Rectangle 21">
            <a:extLst>
              <a:ext uri="{FF2B5EF4-FFF2-40B4-BE49-F238E27FC236}">
                <a16:creationId xmlns:a16="http://schemas.microsoft.com/office/drawing/2014/main" id="{6199A91B-EA3A-4C59-9CDE-712EC5A52640}"/>
              </a:ext>
            </a:extLst>
          </p:cNvPr>
          <p:cNvSpPr>
            <a:spLocks noGrp="1"/>
          </p:cNvSpPr>
          <p:nvPr/>
        </p:nvSpPr>
        <p:spPr>
          <a:xfrm>
            <a:off x="7038833" y="2609022"/>
            <a:ext cx="3715578" cy="247650"/>
          </a:xfrm>
          <a:prstGeom prst="rect">
            <a:avLst/>
          </a:prstGeom>
          <a:noFill/>
          <a:ln w="0">
            <a:noFill/>
            <a:prstDash val="solid"/>
          </a:ln>
        </p:spPr>
        <p:txBody>
          <a:bodyPr/>
          <a:lstStyle/>
          <a:p>
            <a:pPr>
              <a:defRPr sz="1275" b="1">
                <a:solidFill>
                  <a:srgbClr val="083344"/>
                </a:solidFill>
              </a:defRPr>
            </a:pPr>
            <a:r>
              <a:rPr lang="de-DE" sz="1400" b="1" dirty="0">
                <a:solidFill>
                  <a:srgbClr val="083344"/>
                </a:solidFill>
              </a:rPr>
              <a:t>NFR-1: </a:t>
            </a:r>
            <a:r>
              <a:rPr sz="1400" b="1" dirty="0">
                <a:solidFill>
                  <a:srgbClr val="083344"/>
                </a:solidFill>
              </a:rPr>
              <a:t>Upload </a:t>
            </a:r>
            <a:r>
              <a:rPr lang="en-US" sz="1400" b="1" dirty="0"/>
              <a:t>acknowledgement</a:t>
            </a:r>
            <a:r>
              <a:rPr sz="1400" b="1" dirty="0">
                <a:solidFill>
                  <a:srgbClr val="083344"/>
                </a:solidFill>
              </a:rPr>
              <a:t> &lt;=</a:t>
            </a:r>
            <a:r>
              <a:rPr lang="de-DE" sz="1400" b="1" dirty="0">
                <a:solidFill>
                  <a:srgbClr val="083344"/>
                </a:solidFill>
              </a:rPr>
              <a:t> </a:t>
            </a:r>
            <a:r>
              <a:rPr sz="1400" b="1" dirty="0">
                <a:solidFill>
                  <a:srgbClr val="083344"/>
                </a:solidFill>
              </a:rPr>
              <a:t>3 seconds</a:t>
            </a:r>
          </a:p>
        </p:txBody>
      </p:sp>
      <p:sp>
        <p:nvSpPr>
          <p:cNvPr id="23" name="Rectangle: Rounded Corners 22">
            <a:extLst>
              <a:ext uri="{FF2B5EF4-FFF2-40B4-BE49-F238E27FC236}">
                <a16:creationId xmlns:a16="http://schemas.microsoft.com/office/drawing/2014/main" id="{F80EDBDC-FA1E-4A8B-A5F7-B459544D7A34}"/>
              </a:ext>
            </a:extLst>
          </p:cNvPr>
          <p:cNvSpPr>
            <a:spLocks noGrp="1"/>
          </p:cNvSpPr>
          <p:nvPr/>
        </p:nvSpPr>
        <p:spPr>
          <a:xfrm>
            <a:off x="6600290" y="3086100"/>
            <a:ext cx="4117985" cy="457200"/>
          </a:xfrm>
          <a:prstGeom prst="roundRect">
            <a:avLst>
              <a:gd name="adj" fmla="val 50000"/>
            </a:avLst>
          </a:prstGeom>
          <a:solidFill>
            <a:srgbClr val="FFFFFF"/>
          </a:solidFill>
          <a:ln w="9525">
            <a:solidFill>
              <a:srgbClr val="CBE4EC"/>
            </a:solidFill>
            <a:prstDash val="solid"/>
          </a:ln>
        </p:spPr>
        <p:txBody>
          <a:bodyPr/>
          <a:lstStyle/>
          <a:p>
            <a:endParaRPr/>
          </a:p>
        </p:txBody>
      </p:sp>
      <p:sp>
        <p:nvSpPr>
          <p:cNvPr id="25" name="Rectangle 24">
            <a:extLst>
              <a:ext uri="{FF2B5EF4-FFF2-40B4-BE49-F238E27FC236}">
                <a16:creationId xmlns:a16="http://schemas.microsoft.com/office/drawing/2014/main" id="{B1429158-6657-4913-92B6-B7431289927C}"/>
              </a:ext>
            </a:extLst>
          </p:cNvPr>
          <p:cNvSpPr>
            <a:spLocks noGrp="1"/>
          </p:cNvSpPr>
          <p:nvPr/>
        </p:nvSpPr>
        <p:spPr>
          <a:xfrm>
            <a:off x="7038833" y="3161472"/>
            <a:ext cx="3490906" cy="247650"/>
          </a:xfrm>
          <a:prstGeom prst="rect">
            <a:avLst/>
          </a:prstGeom>
          <a:noFill/>
          <a:ln w="0">
            <a:noFill/>
            <a:prstDash val="solid"/>
          </a:ln>
        </p:spPr>
        <p:txBody>
          <a:bodyPr/>
          <a:lstStyle/>
          <a:p>
            <a:pPr>
              <a:defRPr sz="1275" b="1">
                <a:solidFill>
                  <a:srgbClr val="083344"/>
                </a:solidFill>
              </a:defRPr>
            </a:pPr>
            <a:r>
              <a:rPr lang="de-DE" sz="1400" b="1" dirty="0">
                <a:solidFill>
                  <a:srgbClr val="083344"/>
                </a:solidFill>
              </a:rPr>
              <a:t>NFR-2: </a:t>
            </a:r>
            <a:r>
              <a:rPr sz="1400" b="1" dirty="0">
                <a:solidFill>
                  <a:srgbClr val="083344"/>
                </a:solidFill>
              </a:rPr>
              <a:t>&gt;=90% queries</a:t>
            </a:r>
            <a:r>
              <a:rPr lang="de-DE" sz="1400" b="1" dirty="0">
                <a:solidFill>
                  <a:srgbClr val="083344"/>
                </a:solidFill>
              </a:rPr>
              <a:t> within</a:t>
            </a:r>
            <a:r>
              <a:rPr sz="1400" b="1" dirty="0">
                <a:solidFill>
                  <a:srgbClr val="083344"/>
                </a:solidFill>
              </a:rPr>
              <a:t> &lt;=20 seconds</a:t>
            </a:r>
          </a:p>
        </p:txBody>
      </p:sp>
      <p:sp>
        <p:nvSpPr>
          <p:cNvPr id="26" name="Rectangle: Rounded Corners 25">
            <a:extLst>
              <a:ext uri="{FF2B5EF4-FFF2-40B4-BE49-F238E27FC236}">
                <a16:creationId xmlns:a16="http://schemas.microsoft.com/office/drawing/2014/main" id="{7DED2F81-CF6A-45C2-A693-6311D51829D1}"/>
              </a:ext>
            </a:extLst>
          </p:cNvPr>
          <p:cNvSpPr>
            <a:spLocks noGrp="1"/>
          </p:cNvSpPr>
          <p:nvPr/>
        </p:nvSpPr>
        <p:spPr>
          <a:xfrm>
            <a:off x="6600290" y="3638550"/>
            <a:ext cx="4117985" cy="457200"/>
          </a:xfrm>
          <a:prstGeom prst="roundRect">
            <a:avLst>
              <a:gd name="adj" fmla="val 50000"/>
            </a:avLst>
          </a:prstGeom>
          <a:solidFill>
            <a:srgbClr val="FFFFFF"/>
          </a:solidFill>
          <a:ln w="9525">
            <a:solidFill>
              <a:srgbClr val="CBE4EC"/>
            </a:solidFill>
            <a:prstDash val="solid"/>
          </a:ln>
        </p:spPr>
        <p:txBody>
          <a:bodyPr/>
          <a:lstStyle/>
          <a:p>
            <a:endParaRPr/>
          </a:p>
        </p:txBody>
      </p:sp>
      <p:sp>
        <p:nvSpPr>
          <p:cNvPr id="28" name="Rectangle 27">
            <a:extLst>
              <a:ext uri="{FF2B5EF4-FFF2-40B4-BE49-F238E27FC236}">
                <a16:creationId xmlns:a16="http://schemas.microsoft.com/office/drawing/2014/main" id="{449D1D83-4703-4DB2-89BB-9BDB6B372F75}"/>
              </a:ext>
            </a:extLst>
          </p:cNvPr>
          <p:cNvSpPr>
            <a:spLocks noGrp="1"/>
          </p:cNvSpPr>
          <p:nvPr/>
        </p:nvSpPr>
        <p:spPr>
          <a:xfrm>
            <a:off x="7038833" y="3713922"/>
            <a:ext cx="3048000" cy="247650"/>
          </a:xfrm>
          <a:prstGeom prst="rect">
            <a:avLst/>
          </a:prstGeom>
          <a:noFill/>
          <a:ln w="0">
            <a:noFill/>
            <a:prstDash val="solid"/>
          </a:ln>
        </p:spPr>
        <p:txBody>
          <a:bodyPr/>
          <a:lstStyle/>
          <a:p>
            <a:pPr algn="l">
              <a:buNone/>
              <a:defRPr sz="1275" b="1">
                <a:solidFill>
                  <a:srgbClr val="083344"/>
                </a:solidFill>
              </a:defRPr>
            </a:pPr>
            <a:r>
              <a:rPr lang="de-DE" sz="1400" b="1" dirty="0">
                <a:solidFill>
                  <a:srgbClr val="083344"/>
                </a:solidFill>
              </a:rPr>
              <a:t>NFR-3: </a:t>
            </a:r>
            <a:r>
              <a:rPr lang="en-US" sz="1400" b="1" dirty="0">
                <a:solidFill>
                  <a:srgbClr val="083344"/>
                </a:solidFill>
              </a:rPr>
              <a:t>Support ≥ 10 concurrent users</a:t>
            </a:r>
            <a:endParaRPr sz="1400" b="1" dirty="0">
              <a:solidFill>
                <a:srgbClr val="083344"/>
              </a:solidFill>
            </a:endParaRPr>
          </a:p>
        </p:txBody>
      </p:sp>
      <p:sp>
        <p:nvSpPr>
          <p:cNvPr id="32" name="Rectangle 31">
            <a:extLst>
              <a:ext uri="{FF2B5EF4-FFF2-40B4-BE49-F238E27FC236}">
                <a16:creationId xmlns:a16="http://schemas.microsoft.com/office/drawing/2014/main" id="{884FDB43-7AA5-4000-9B37-45239601D72F}"/>
              </a:ext>
            </a:extLst>
          </p:cNvPr>
          <p:cNvSpPr>
            <a:spLocks noGrp="1"/>
          </p:cNvSpPr>
          <p:nvPr/>
        </p:nvSpPr>
        <p:spPr>
          <a:xfrm>
            <a:off x="685800" y="6419850"/>
            <a:ext cx="5905500" cy="228600"/>
          </a:xfrm>
          <a:prstGeom prst="rect">
            <a:avLst/>
          </a:prstGeom>
          <a:noFill/>
          <a:ln w="0">
            <a:noFill/>
            <a:prstDash val="solid"/>
          </a:ln>
        </p:spPr>
        <p:txBody>
          <a:bodyPr/>
          <a:lstStyle/>
          <a:p>
            <a:pPr>
              <a:buNone/>
              <a:defRPr sz="900" b="0">
                <a:solidFill>
                  <a:srgbClr val="5B6B78"/>
                </a:solidFill>
              </a:defRPr>
            </a:pPr>
            <a:r>
              <a:rPr lang="en-US" sz="900" dirty="0">
                <a:solidFill>
                  <a:srgbClr val="5B6B78"/>
                </a:solidFill>
              </a:rPr>
              <a:t>AI-powered enterprise document retrieval system | Md Fahim Hossain | July 2026</a:t>
            </a:r>
          </a:p>
        </p:txBody>
      </p:sp>
      <p:sp>
        <p:nvSpPr>
          <p:cNvPr id="33" name="Rectangle 32">
            <a:extLst>
              <a:ext uri="{FF2B5EF4-FFF2-40B4-BE49-F238E27FC236}">
                <a16:creationId xmlns:a16="http://schemas.microsoft.com/office/drawing/2014/main" id="{35992B2C-722F-46D8-94B4-705311379FBD}"/>
              </a:ext>
            </a:extLst>
          </p:cNvPr>
          <p:cNvSpPr>
            <a:spLocks noGrp="1"/>
          </p:cNvSpPr>
          <p:nvPr/>
        </p:nvSpPr>
        <p:spPr>
          <a:xfrm>
            <a:off x="10820400" y="6419850"/>
            <a:ext cx="685800" cy="228600"/>
          </a:xfrm>
          <a:prstGeom prst="rect">
            <a:avLst/>
          </a:prstGeom>
          <a:noFill/>
          <a:ln w="0">
            <a:noFill/>
            <a:prstDash val="solid"/>
          </a:ln>
        </p:spPr>
        <p:txBody>
          <a:bodyPr/>
          <a:lstStyle/>
          <a:p>
            <a:pPr algn="r">
              <a:buNone/>
              <a:defRPr sz="900" b="1">
                <a:solidFill>
                  <a:srgbClr val="0077B6"/>
                </a:solidFill>
              </a:defRPr>
            </a:pPr>
            <a:r>
              <a:rPr sz="900" b="1">
                <a:solidFill>
                  <a:srgbClr val="0077B6"/>
                </a:solidFill>
              </a:rPr>
              <a:t>05 / 11</a:t>
            </a:r>
          </a:p>
        </p:txBody>
      </p:sp>
      <p:pic>
        <p:nvPicPr>
          <p:cNvPr id="72" name="Picture 14"/>
          <p:cNvPicPr>
            <a:picLocks noChangeAspect="1"/>
          </p:cNvPicPr>
          <p:nvPr/>
        </p:nvPicPr>
        <p:blipFill>
          <a:blip r:embed="rId7"/>
          <a:stretch>
            <a:fillRect/>
          </a:stretch>
        </p:blipFill>
        <p:spPr>
          <a:xfrm>
            <a:off x="10820400" y="326316"/>
            <a:ext cx="1156607" cy="397584"/>
          </a:xfrm>
          <a:prstGeom prst="rect">
            <a:avLst/>
          </a:prstGeom>
        </p:spPr>
      </p:pic>
      <p:sp>
        <p:nvSpPr>
          <p:cNvPr id="15" name="Rectangle: Rounded Corners 14">
            <a:extLst>
              <a:ext uri="{FF2B5EF4-FFF2-40B4-BE49-F238E27FC236}">
                <a16:creationId xmlns:a16="http://schemas.microsoft.com/office/drawing/2014/main" id="{F5F0B9C9-E28F-C2A4-B183-97D895525841}"/>
              </a:ext>
            </a:extLst>
          </p:cNvPr>
          <p:cNvSpPr>
            <a:spLocks noGrp="1"/>
          </p:cNvSpPr>
          <p:nvPr/>
        </p:nvSpPr>
        <p:spPr>
          <a:xfrm>
            <a:off x="1239078" y="4743450"/>
            <a:ext cx="3663884" cy="457200"/>
          </a:xfrm>
          <a:prstGeom prst="roundRect">
            <a:avLst>
              <a:gd name="adj" fmla="val 50000"/>
            </a:avLst>
          </a:prstGeom>
          <a:solidFill>
            <a:srgbClr val="FFFFFF"/>
          </a:solidFill>
          <a:ln w="9525">
            <a:solidFill>
              <a:srgbClr val="CBE4EC"/>
            </a:solidFill>
            <a:prstDash val="solid"/>
          </a:ln>
        </p:spPr>
        <p:txBody>
          <a:bodyPr/>
          <a:lstStyle/>
          <a:p>
            <a:endParaRPr/>
          </a:p>
        </p:txBody>
      </p:sp>
      <p:sp>
        <p:nvSpPr>
          <p:cNvPr id="27" name="Rectangle 26">
            <a:extLst>
              <a:ext uri="{FF2B5EF4-FFF2-40B4-BE49-F238E27FC236}">
                <a16:creationId xmlns:a16="http://schemas.microsoft.com/office/drawing/2014/main" id="{79C6A6EB-3DFF-33D2-9920-9E6F89E937F7}"/>
              </a:ext>
            </a:extLst>
          </p:cNvPr>
          <p:cNvSpPr>
            <a:spLocks noGrp="1"/>
          </p:cNvSpPr>
          <p:nvPr/>
        </p:nvSpPr>
        <p:spPr>
          <a:xfrm>
            <a:off x="1695450" y="4818822"/>
            <a:ext cx="2990850" cy="247650"/>
          </a:xfrm>
          <a:prstGeom prst="rect">
            <a:avLst/>
          </a:prstGeom>
          <a:noFill/>
          <a:ln w="0">
            <a:noFill/>
            <a:prstDash val="solid"/>
          </a:ln>
        </p:spPr>
        <p:txBody>
          <a:bodyPr/>
          <a:lstStyle/>
          <a:p>
            <a:pPr>
              <a:defRPr sz="1275" b="1">
                <a:solidFill>
                  <a:srgbClr val="083344"/>
                </a:solidFill>
              </a:defRPr>
            </a:pPr>
            <a:r>
              <a:rPr lang="de-DE" sz="1400" b="1" dirty="0">
                <a:solidFill>
                  <a:srgbClr val="083344"/>
                </a:solidFill>
              </a:rPr>
              <a:t>FR-5: </a:t>
            </a:r>
            <a:r>
              <a:rPr lang="en-US" sz="1400" b="1" dirty="0"/>
              <a:t>Preserve conversation history</a:t>
            </a:r>
            <a:endParaRPr sz="1400" b="1" dirty="0">
              <a:solidFill>
                <a:srgbClr val="083344"/>
              </a:solidFill>
            </a:endParaRPr>
          </a:p>
        </p:txBody>
      </p:sp>
      <p:sp>
        <p:nvSpPr>
          <p:cNvPr id="30" name="Rectangle: Rounded Corners 29">
            <a:extLst>
              <a:ext uri="{FF2B5EF4-FFF2-40B4-BE49-F238E27FC236}">
                <a16:creationId xmlns:a16="http://schemas.microsoft.com/office/drawing/2014/main" id="{4B22E517-C1E6-13F8-638F-B6CFC4D44A89}"/>
              </a:ext>
            </a:extLst>
          </p:cNvPr>
          <p:cNvSpPr>
            <a:spLocks noGrp="1"/>
          </p:cNvSpPr>
          <p:nvPr/>
        </p:nvSpPr>
        <p:spPr>
          <a:xfrm>
            <a:off x="6600290" y="4202882"/>
            <a:ext cx="4117985" cy="457200"/>
          </a:xfrm>
          <a:prstGeom prst="roundRect">
            <a:avLst>
              <a:gd name="adj" fmla="val 50000"/>
            </a:avLst>
          </a:prstGeom>
          <a:solidFill>
            <a:srgbClr val="FFFFFF"/>
          </a:solidFill>
          <a:ln w="9525">
            <a:solidFill>
              <a:srgbClr val="CBE4EC"/>
            </a:solidFill>
            <a:prstDash val="solid"/>
          </a:ln>
        </p:spPr>
        <p:txBody>
          <a:bodyPr/>
          <a:lstStyle/>
          <a:p>
            <a:endParaRPr/>
          </a:p>
        </p:txBody>
      </p:sp>
      <p:pic>
        <p:nvPicPr>
          <p:cNvPr id="34" name="Graphic 59">
            <a:extLst>
              <a:ext uri="{FF2B5EF4-FFF2-40B4-BE49-F238E27FC236}">
                <a16:creationId xmlns:a16="http://schemas.microsoft.com/office/drawing/2014/main" id="{986F7BD1-BC95-8A00-0348-B94F91CCA2F7}"/>
              </a:ext>
            </a:extLst>
          </p:cNvPr>
          <p:cNvPicPr>
            <a:picLocks noChangeAspect="1"/>
          </p:cNvPicPr>
          <p:nvPr/>
        </p:nvPicPr>
        <p:blipFill>
          <a:blip>
            <a:extLst>
              <a:ext uri="{96DAC541-7B7A-43D3-8B79-37D633B846F1}">
                <asvg:svgBlip xmlns:asvg="http://schemas.microsoft.com/office/drawing/2016/SVG/main" r:embed="rId8"/>
              </a:ext>
            </a:extLst>
          </a:blip>
          <a:stretch/>
        </p:blipFill>
        <p:spPr>
          <a:xfrm>
            <a:off x="6752691" y="4317182"/>
            <a:ext cx="228600" cy="228600"/>
          </a:xfrm>
          <a:prstGeom prst="rect">
            <a:avLst/>
          </a:prstGeom>
        </p:spPr>
      </p:pic>
      <p:sp>
        <p:nvSpPr>
          <p:cNvPr id="36" name="Rectangle 35">
            <a:extLst>
              <a:ext uri="{FF2B5EF4-FFF2-40B4-BE49-F238E27FC236}">
                <a16:creationId xmlns:a16="http://schemas.microsoft.com/office/drawing/2014/main" id="{183F84BC-A2B5-C391-67BC-EC93BD7E740A}"/>
              </a:ext>
            </a:extLst>
          </p:cNvPr>
          <p:cNvSpPr>
            <a:spLocks noGrp="1"/>
          </p:cNvSpPr>
          <p:nvPr/>
        </p:nvSpPr>
        <p:spPr>
          <a:xfrm>
            <a:off x="7038832" y="4278254"/>
            <a:ext cx="3933967" cy="247650"/>
          </a:xfrm>
          <a:prstGeom prst="rect">
            <a:avLst/>
          </a:prstGeom>
          <a:noFill/>
          <a:ln w="0">
            <a:noFill/>
            <a:prstDash val="solid"/>
          </a:ln>
        </p:spPr>
        <p:txBody>
          <a:bodyPr/>
          <a:lstStyle/>
          <a:p>
            <a:pPr algn="l">
              <a:buNone/>
              <a:defRPr sz="1275" b="1">
                <a:solidFill>
                  <a:srgbClr val="083344"/>
                </a:solidFill>
              </a:defRPr>
            </a:pPr>
            <a:r>
              <a:rPr lang="de-DE" sz="1400" b="1" dirty="0">
                <a:solidFill>
                  <a:srgbClr val="083344"/>
                </a:solidFill>
              </a:rPr>
              <a:t>NFR-4: </a:t>
            </a:r>
            <a:r>
              <a:rPr lang="en-US" sz="1400" b="1" dirty="0">
                <a:solidFill>
                  <a:srgbClr val="083344"/>
                </a:solidFill>
              </a:rPr>
              <a:t>Isolate user data; enforce RBAC</a:t>
            </a:r>
            <a:endParaRPr sz="1400" b="1" dirty="0">
              <a:solidFill>
                <a:srgbClr val="083344"/>
              </a:solidFill>
            </a:endParaRPr>
          </a:p>
        </p:txBody>
      </p:sp>
      <p:pic>
        <p:nvPicPr>
          <p:cNvPr id="38" name="Graphic 37">
            <a:extLst>
              <a:ext uri="{FF2B5EF4-FFF2-40B4-BE49-F238E27FC236}">
                <a16:creationId xmlns:a16="http://schemas.microsoft.com/office/drawing/2014/main" id="{251CD1E8-995C-B521-07B9-5BA440A8F43D}"/>
              </a:ext>
            </a:extLst>
          </p:cNvPr>
          <p:cNvPicPr>
            <a:picLocks noChangeAspect="1"/>
          </p:cNvPicPr>
          <p:nvPr/>
        </p:nvPicPr>
        <p:blipFill>
          <a:blip>
            <a:extLst>
              <a:ext uri="{96DAC541-7B7A-43D3-8B79-37D633B846F1}">
                <asvg:svgBlip xmlns:asvg="http://schemas.microsoft.com/office/drawing/2016/SVG/main" r:embed="rId9"/>
              </a:ext>
            </a:extLst>
          </a:blip>
          <a:stretch/>
        </p:blipFill>
        <p:spPr>
          <a:xfrm>
            <a:off x="1385895" y="3219450"/>
            <a:ext cx="228600" cy="228600"/>
          </a:xfrm>
          <a:prstGeom prst="rect">
            <a:avLst/>
          </a:prstGeom>
        </p:spPr>
      </p:pic>
      <p:pic>
        <p:nvPicPr>
          <p:cNvPr id="40" name="Graphic 39">
            <a:extLst>
              <a:ext uri="{FF2B5EF4-FFF2-40B4-BE49-F238E27FC236}">
                <a16:creationId xmlns:a16="http://schemas.microsoft.com/office/drawing/2014/main" id="{5E6246FD-E0F9-13AA-269E-A488999A352D}"/>
              </a:ext>
            </a:extLst>
          </p:cNvPr>
          <p:cNvPicPr>
            <a:picLocks noChangeAspect="1"/>
          </p:cNvPicPr>
          <p:nvPr/>
        </p:nvPicPr>
        <p:blipFill>
          <a:blip>
            <a:extLst>
              <a:ext uri="{96DAC541-7B7A-43D3-8B79-37D633B846F1}">
                <asvg:svgBlip xmlns:asvg="http://schemas.microsoft.com/office/drawing/2016/SVG/main" r:embed="rId10"/>
              </a:ext>
            </a:extLst>
          </a:blip>
          <a:stretch/>
        </p:blipFill>
        <p:spPr>
          <a:xfrm>
            <a:off x="6749254" y="3755010"/>
            <a:ext cx="228600" cy="228600"/>
          </a:xfrm>
          <a:prstGeom prst="rect">
            <a:avLst/>
          </a:prstGeom>
        </p:spPr>
      </p:pic>
      <p:pic>
        <p:nvPicPr>
          <p:cNvPr id="42" name="Graphic 41">
            <a:extLst>
              <a:ext uri="{FF2B5EF4-FFF2-40B4-BE49-F238E27FC236}">
                <a16:creationId xmlns:a16="http://schemas.microsoft.com/office/drawing/2014/main" id="{2CBAD9F0-C1AD-FAB1-3A00-9F0F53D6559F}"/>
              </a:ext>
            </a:extLst>
          </p:cNvPr>
          <p:cNvPicPr>
            <a:picLocks noChangeAspect="1"/>
          </p:cNvPicPr>
          <p:nvPr/>
        </p:nvPicPr>
        <p:blipFill>
          <a:blip>
            <a:extLst>
              <a:ext uri="{96DAC541-7B7A-43D3-8B79-37D633B846F1}">
                <asvg:svgBlip xmlns:asvg="http://schemas.microsoft.com/office/drawing/2016/SVG/main" r:embed="rId11"/>
              </a:ext>
            </a:extLst>
          </a:blip>
          <a:stretch/>
        </p:blipFill>
        <p:spPr>
          <a:xfrm>
            <a:off x="6749254" y="3206882"/>
            <a:ext cx="228600" cy="228600"/>
          </a:xfrm>
          <a:prstGeom prst="rect">
            <a:avLst/>
          </a:prstGeom>
        </p:spPr>
      </p:pic>
      <p:pic>
        <p:nvPicPr>
          <p:cNvPr id="65" name="Graphic 56"/>
          <p:cNvPicPr>
            <a:picLocks noChangeAspect="1"/>
          </p:cNvPicPr>
          <p:nvPr/>
        </p:nvPicPr>
        <p:blipFill>
          <a:blip>
            <a:extLst>
              <a:ext uri="{96DAC541-7B7A-43D3-8B79-37D633B846F1}">
                <asvg:svgBlip xmlns:asvg="http://schemas.microsoft.com/office/drawing/2016/SVG/main" r:embed="rId12"/>
              </a:ext>
            </a:extLst>
          </a:blip>
          <a:stretch/>
        </p:blipFill>
        <p:spPr>
          <a:xfrm>
            <a:off x="1367455" y="4859518"/>
            <a:ext cx="228600" cy="228600"/>
          </a:xfrm>
          <a:prstGeom prst="rect">
            <a:avLst/>
          </a:prstGeom>
        </p:spPr>
      </p:pic>
    </p:spTree>
    <p:extLst>
      <p:ext uri="{BB962C8B-B14F-4D97-AF65-F5344CB8AC3E}">
        <p14:creationId xmlns:p14="http://schemas.microsoft.com/office/powerpoint/2010/main" val="13449625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BFD"/>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FF6F53B-8F8F-4EDF-917B-5444BA2CE9DC}"/>
              </a:ext>
            </a:extLst>
          </p:cNvPr>
          <p:cNvSpPr>
            <a:spLocks noGrp="1"/>
          </p:cNvSpPr>
          <p:nvPr/>
        </p:nvSpPr>
        <p:spPr>
          <a:xfrm>
            <a:off x="0" y="0"/>
            <a:ext cx="12192000" cy="114300"/>
          </a:xfrm>
          <a:prstGeom prst="rect">
            <a:avLst/>
          </a:prstGeom>
          <a:solidFill>
            <a:srgbClr val="00A3AD"/>
          </a:solidFill>
          <a:ln w="0">
            <a:solidFill>
              <a:srgbClr val="00A3AD"/>
            </a:solidFill>
            <a:prstDash val="solid"/>
          </a:ln>
        </p:spPr>
        <p:txBody>
          <a:bodyPr/>
          <a:lstStyle/>
          <a:p>
            <a:endParaRPr/>
          </a:p>
        </p:txBody>
      </p:sp>
      <p:sp>
        <p:nvSpPr>
          <p:cNvPr id="2" name="Rectangle 1">
            <a:extLst>
              <a:ext uri="{FF2B5EF4-FFF2-40B4-BE49-F238E27FC236}">
                <a16:creationId xmlns:a16="http://schemas.microsoft.com/office/drawing/2014/main" id="{6361593D-1228-4539-8877-4FB3DE40F6CF}"/>
              </a:ext>
            </a:extLst>
          </p:cNvPr>
          <p:cNvSpPr>
            <a:spLocks noGrp="1"/>
          </p:cNvSpPr>
          <p:nvPr/>
        </p:nvSpPr>
        <p:spPr>
          <a:xfrm>
            <a:off x="685800" y="342900"/>
            <a:ext cx="4000500" cy="209550"/>
          </a:xfrm>
          <a:prstGeom prst="rect">
            <a:avLst/>
          </a:prstGeom>
          <a:noFill/>
          <a:ln w="0">
            <a:noFill/>
            <a:prstDash val="solid"/>
          </a:ln>
        </p:spPr>
        <p:txBody>
          <a:bodyPr/>
          <a:lstStyle/>
          <a:p>
            <a:pPr>
              <a:buNone/>
              <a:defRPr sz="900" b="1">
                <a:solidFill>
                  <a:srgbClr val="009999"/>
                </a:solidFill>
              </a:defRPr>
            </a:pPr>
            <a:r>
              <a:rPr sz="900" b="1">
                <a:solidFill>
                  <a:srgbClr val="009999"/>
                </a:solidFill>
              </a:rPr>
              <a:t>VERIFICATION</a:t>
            </a:r>
          </a:p>
        </p:txBody>
      </p:sp>
      <p:sp>
        <p:nvSpPr>
          <p:cNvPr id="25" name="Rectangle 24">
            <a:extLst>
              <a:ext uri="{FF2B5EF4-FFF2-40B4-BE49-F238E27FC236}">
                <a16:creationId xmlns:a16="http://schemas.microsoft.com/office/drawing/2014/main" id="{5B28DED5-816E-4D99-AC4E-9ED684D871E3}"/>
              </a:ext>
            </a:extLst>
          </p:cNvPr>
          <p:cNvSpPr>
            <a:spLocks noGrp="1"/>
          </p:cNvSpPr>
          <p:nvPr/>
        </p:nvSpPr>
        <p:spPr>
          <a:xfrm>
            <a:off x="685800" y="6419850"/>
            <a:ext cx="5905500" cy="228600"/>
          </a:xfrm>
          <a:prstGeom prst="rect">
            <a:avLst/>
          </a:prstGeom>
          <a:noFill/>
          <a:ln w="0">
            <a:noFill/>
            <a:prstDash val="solid"/>
          </a:ln>
        </p:spPr>
        <p:txBody>
          <a:bodyPr/>
          <a:lstStyle/>
          <a:p>
            <a:pPr>
              <a:buNone/>
              <a:defRPr sz="900" b="0">
                <a:solidFill>
                  <a:srgbClr val="5B6B78"/>
                </a:solidFill>
              </a:defRPr>
            </a:pPr>
            <a:r>
              <a:rPr lang="en-US" sz="900" dirty="0">
                <a:solidFill>
                  <a:srgbClr val="5B6B78"/>
                </a:solidFill>
              </a:rPr>
              <a:t>AI-powered enterprise document retrieval system | Md Fahim Hossain | July 2026</a:t>
            </a:r>
          </a:p>
        </p:txBody>
      </p:sp>
      <p:sp>
        <p:nvSpPr>
          <p:cNvPr id="26" name="Rectangle 25">
            <a:extLst>
              <a:ext uri="{FF2B5EF4-FFF2-40B4-BE49-F238E27FC236}">
                <a16:creationId xmlns:a16="http://schemas.microsoft.com/office/drawing/2014/main" id="{5D53C423-3169-407F-A532-FA833B83038A}"/>
              </a:ext>
            </a:extLst>
          </p:cNvPr>
          <p:cNvSpPr>
            <a:spLocks noGrp="1"/>
          </p:cNvSpPr>
          <p:nvPr/>
        </p:nvSpPr>
        <p:spPr>
          <a:xfrm>
            <a:off x="10820400" y="6419850"/>
            <a:ext cx="685800" cy="228600"/>
          </a:xfrm>
          <a:prstGeom prst="rect">
            <a:avLst/>
          </a:prstGeom>
          <a:noFill/>
          <a:ln w="0">
            <a:noFill/>
            <a:prstDash val="solid"/>
          </a:ln>
        </p:spPr>
        <p:txBody>
          <a:bodyPr/>
          <a:lstStyle/>
          <a:p>
            <a:pPr algn="r">
              <a:buNone/>
              <a:defRPr sz="900" b="1">
                <a:solidFill>
                  <a:srgbClr val="0077B6"/>
                </a:solidFill>
              </a:defRPr>
            </a:pPr>
            <a:r>
              <a:rPr sz="900" b="1">
                <a:solidFill>
                  <a:srgbClr val="0077B6"/>
                </a:solidFill>
              </a:rPr>
              <a:t>06 / 11</a:t>
            </a:r>
          </a:p>
        </p:txBody>
      </p:sp>
      <p:pic>
        <p:nvPicPr>
          <p:cNvPr id="57" name="Picture 10"/>
          <p:cNvPicPr>
            <a:picLocks noChangeAspect="1"/>
          </p:cNvPicPr>
          <p:nvPr/>
        </p:nvPicPr>
        <p:blipFill>
          <a:blip r:embed="rId3"/>
          <a:stretch>
            <a:fillRect/>
          </a:stretch>
        </p:blipFill>
        <p:spPr>
          <a:xfrm>
            <a:off x="10820400" y="326316"/>
            <a:ext cx="1156607" cy="397584"/>
          </a:xfrm>
          <a:prstGeom prst="rect">
            <a:avLst/>
          </a:prstGeom>
        </p:spPr>
      </p:pic>
      <p:sp>
        <p:nvSpPr>
          <p:cNvPr id="8" name="Rectangle 7">
            <a:extLst>
              <a:ext uri="{FF2B5EF4-FFF2-40B4-BE49-F238E27FC236}">
                <a16:creationId xmlns:a16="http://schemas.microsoft.com/office/drawing/2014/main" id="{B7EC520C-F74A-EBD4-0D12-BDCF03FFCF9D}"/>
              </a:ext>
            </a:extLst>
          </p:cNvPr>
          <p:cNvSpPr>
            <a:spLocks noGrp="1"/>
          </p:cNvSpPr>
          <p:nvPr/>
        </p:nvSpPr>
        <p:spPr>
          <a:xfrm>
            <a:off x="685800" y="609600"/>
            <a:ext cx="7810500" cy="495300"/>
          </a:xfrm>
          <a:prstGeom prst="rect">
            <a:avLst/>
          </a:prstGeom>
          <a:noFill/>
          <a:ln w="0">
            <a:noFill/>
            <a:prstDash val="solid"/>
          </a:ln>
        </p:spPr>
        <p:txBody>
          <a:bodyPr/>
          <a:lstStyle/>
          <a:p>
            <a:pPr algn="l">
              <a:buNone/>
              <a:defRPr sz="2850" b="1">
                <a:solidFill>
                  <a:srgbClr val="083344"/>
                </a:solidFill>
              </a:defRPr>
            </a:pPr>
            <a:r>
              <a:rPr sz="2850" b="1">
                <a:solidFill>
                  <a:srgbClr val="083344"/>
                </a:solidFill>
              </a:rPr>
              <a:t>Test Cases and Traceability</a:t>
            </a:r>
          </a:p>
        </p:txBody>
      </p:sp>
      <p:sp>
        <p:nvSpPr>
          <p:cNvPr id="11" name="Rectangle: Rounded Corners 10">
            <a:extLst>
              <a:ext uri="{FF2B5EF4-FFF2-40B4-BE49-F238E27FC236}">
                <a16:creationId xmlns:a16="http://schemas.microsoft.com/office/drawing/2014/main" id="{4BB1BA77-CC63-D4B1-4DC8-05C1F136E227}"/>
              </a:ext>
            </a:extLst>
          </p:cNvPr>
          <p:cNvSpPr>
            <a:spLocks noGrp="1"/>
          </p:cNvSpPr>
          <p:nvPr/>
        </p:nvSpPr>
        <p:spPr>
          <a:xfrm>
            <a:off x="785563" y="1199316"/>
            <a:ext cx="4993067" cy="3854460"/>
          </a:xfrm>
          <a:prstGeom prst="roundRect">
            <a:avLst>
              <a:gd name="adj" fmla="val 3636"/>
            </a:avLst>
          </a:prstGeom>
          <a:solidFill>
            <a:srgbClr val="FFFFFF"/>
          </a:solidFill>
          <a:ln w="9525">
            <a:solidFill>
              <a:srgbClr val="D8E8EE"/>
            </a:solidFill>
            <a:prstDash val="solid"/>
          </a:ln>
        </p:spPr>
        <p:style>
          <a:lnRef idx="0">
            <a:scrgbClr r="0" g="0" b="0"/>
          </a:lnRef>
          <a:fillRef idx="0">
            <a:scrgbClr r="0" g="0" b="0"/>
          </a:fillRef>
          <a:effectRef idx="4">
            <a:scrgbClr r="0" g="0" b="0"/>
          </a:effectRef>
          <a:fontRef idx="major"/>
        </p:style>
        <p:txBody>
          <a:bodyPr/>
          <a:lstStyle/>
          <a:p>
            <a:endParaRPr/>
          </a:p>
        </p:txBody>
      </p:sp>
      <p:sp>
        <p:nvSpPr>
          <p:cNvPr id="17" name="Rectangle: Rounded Corners 16">
            <a:extLst>
              <a:ext uri="{FF2B5EF4-FFF2-40B4-BE49-F238E27FC236}">
                <a16:creationId xmlns:a16="http://schemas.microsoft.com/office/drawing/2014/main" id="{411E6034-D00C-411D-C53D-A890A0FA4409}"/>
              </a:ext>
            </a:extLst>
          </p:cNvPr>
          <p:cNvSpPr>
            <a:spLocks noGrp="1"/>
          </p:cNvSpPr>
          <p:nvPr/>
        </p:nvSpPr>
        <p:spPr>
          <a:xfrm>
            <a:off x="6096000" y="1199316"/>
            <a:ext cx="4933949" cy="3854460"/>
          </a:xfrm>
          <a:prstGeom prst="roundRect">
            <a:avLst>
              <a:gd name="adj" fmla="val 3636"/>
            </a:avLst>
          </a:prstGeom>
          <a:solidFill>
            <a:srgbClr val="FFFFFF"/>
          </a:solidFill>
          <a:ln w="9525">
            <a:solidFill>
              <a:srgbClr val="D8E8EE"/>
            </a:solidFill>
            <a:prstDash val="solid"/>
          </a:ln>
        </p:spPr>
        <p:style>
          <a:lnRef idx="0">
            <a:scrgbClr r="0" g="0" b="0"/>
          </a:lnRef>
          <a:fillRef idx="0">
            <a:scrgbClr r="0" g="0" b="0"/>
          </a:fillRef>
          <a:effectRef idx="4">
            <a:scrgbClr r="0" g="0" b="0"/>
          </a:effectRef>
          <a:fontRef idx="major"/>
        </p:style>
        <p:txBody>
          <a:bodyPr/>
          <a:lstStyle/>
          <a:p>
            <a:endParaRPr/>
          </a:p>
        </p:txBody>
      </p:sp>
      <p:sp>
        <p:nvSpPr>
          <p:cNvPr id="23" name="Rectangle: Rounded Corners 22">
            <a:extLst>
              <a:ext uri="{FF2B5EF4-FFF2-40B4-BE49-F238E27FC236}">
                <a16:creationId xmlns:a16="http://schemas.microsoft.com/office/drawing/2014/main" id="{E483EADB-AB7B-4196-7CAA-9E102D0F48E1}"/>
              </a:ext>
            </a:extLst>
          </p:cNvPr>
          <p:cNvSpPr>
            <a:spLocks noGrp="1"/>
          </p:cNvSpPr>
          <p:nvPr/>
        </p:nvSpPr>
        <p:spPr>
          <a:xfrm>
            <a:off x="809625" y="5535264"/>
            <a:ext cx="1809750" cy="438150"/>
          </a:xfrm>
          <a:prstGeom prst="roundRect">
            <a:avLst>
              <a:gd name="adj" fmla="val 50000"/>
            </a:avLst>
          </a:prstGeom>
          <a:solidFill>
            <a:srgbClr val="FFFFFF"/>
          </a:solidFill>
          <a:ln w="9525">
            <a:solidFill>
              <a:srgbClr val="CBE4EC"/>
            </a:solidFill>
            <a:prstDash val="solid"/>
          </a:ln>
        </p:spPr>
        <p:txBody>
          <a:bodyPr/>
          <a:lstStyle/>
          <a:p>
            <a:endParaRPr/>
          </a:p>
        </p:txBody>
      </p:sp>
      <p:pic>
        <p:nvPicPr>
          <p:cNvPr id="28" name="Graphic 36">
            <a:extLst>
              <a:ext uri="{FF2B5EF4-FFF2-40B4-BE49-F238E27FC236}">
                <a16:creationId xmlns:a16="http://schemas.microsoft.com/office/drawing/2014/main" id="{FE0E84ED-B3B0-91CB-B61E-4927DFEEF0C6}"/>
              </a:ext>
            </a:extLst>
          </p:cNvPr>
          <p:cNvPicPr>
            <a:picLocks noChangeAspect="1"/>
          </p:cNvPicPr>
          <p:nvPr/>
        </p:nvPicPr>
        <p:blipFill>
          <a:blip>
            <a:extLst>
              <a:ext uri="{96DAC541-7B7A-43D3-8B79-37D633B846F1}">
                <asvg:svgBlip xmlns:asvg="http://schemas.microsoft.com/office/drawing/2016/SVG/main" r:embed="rId4"/>
              </a:ext>
            </a:extLst>
          </a:blip>
          <a:stretch/>
        </p:blipFill>
        <p:spPr>
          <a:xfrm>
            <a:off x="1197663" y="5649564"/>
            <a:ext cx="228600" cy="228600"/>
          </a:xfrm>
          <a:prstGeom prst="rect">
            <a:avLst/>
          </a:prstGeom>
        </p:spPr>
      </p:pic>
      <p:sp>
        <p:nvSpPr>
          <p:cNvPr id="30" name="Rectangle 29">
            <a:extLst>
              <a:ext uri="{FF2B5EF4-FFF2-40B4-BE49-F238E27FC236}">
                <a16:creationId xmlns:a16="http://schemas.microsoft.com/office/drawing/2014/main" id="{488FABDF-3A58-FDB1-4FE8-5AEDC23403F3}"/>
              </a:ext>
            </a:extLst>
          </p:cNvPr>
          <p:cNvSpPr>
            <a:spLocks noGrp="1"/>
          </p:cNvSpPr>
          <p:nvPr/>
        </p:nvSpPr>
        <p:spPr>
          <a:xfrm>
            <a:off x="1521513" y="5612988"/>
            <a:ext cx="834885" cy="247650"/>
          </a:xfrm>
          <a:prstGeom prst="rect">
            <a:avLst/>
          </a:prstGeom>
          <a:noFill/>
          <a:ln w="0">
            <a:noFill/>
            <a:prstDash val="solid"/>
          </a:ln>
        </p:spPr>
        <p:txBody>
          <a:bodyPr/>
          <a:lstStyle/>
          <a:p>
            <a:pPr algn="l">
              <a:buNone/>
              <a:defRPr sz="1275" b="1">
                <a:solidFill>
                  <a:srgbClr val="083344"/>
                </a:solidFill>
              </a:defRPr>
            </a:pPr>
            <a:r>
              <a:rPr sz="1275" b="1" dirty="0">
                <a:solidFill>
                  <a:srgbClr val="083344"/>
                </a:solidFill>
              </a:rPr>
              <a:t>Unit</a:t>
            </a:r>
          </a:p>
        </p:txBody>
      </p:sp>
      <p:sp>
        <p:nvSpPr>
          <p:cNvPr id="32" name="Rectangle: Rounded Corners 31">
            <a:extLst>
              <a:ext uri="{FF2B5EF4-FFF2-40B4-BE49-F238E27FC236}">
                <a16:creationId xmlns:a16="http://schemas.microsoft.com/office/drawing/2014/main" id="{B800D547-3B24-839A-B833-38C7F3F4E02C}"/>
              </a:ext>
            </a:extLst>
          </p:cNvPr>
          <p:cNvSpPr>
            <a:spLocks noGrp="1"/>
          </p:cNvSpPr>
          <p:nvPr/>
        </p:nvSpPr>
        <p:spPr>
          <a:xfrm>
            <a:off x="2970972" y="5535264"/>
            <a:ext cx="1809750" cy="438150"/>
          </a:xfrm>
          <a:prstGeom prst="roundRect">
            <a:avLst>
              <a:gd name="adj" fmla="val 50000"/>
            </a:avLst>
          </a:prstGeom>
          <a:solidFill>
            <a:srgbClr val="FFFFFF"/>
          </a:solidFill>
          <a:ln w="9525">
            <a:solidFill>
              <a:srgbClr val="CBE4EC"/>
            </a:solidFill>
            <a:prstDash val="solid"/>
          </a:ln>
        </p:spPr>
        <p:txBody>
          <a:bodyPr/>
          <a:lstStyle/>
          <a:p>
            <a:endParaRPr/>
          </a:p>
        </p:txBody>
      </p:sp>
      <p:pic>
        <p:nvPicPr>
          <p:cNvPr id="34" name="Graphic 39">
            <a:extLst>
              <a:ext uri="{FF2B5EF4-FFF2-40B4-BE49-F238E27FC236}">
                <a16:creationId xmlns:a16="http://schemas.microsoft.com/office/drawing/2014/main" id="{53D1DAFF-29A4-2C69-F9B4-EFBED6AEB6AC}"/>
              </a:ext>
            </a:extLst>
          </p:cNvPr>
          <p:cNvPicPr>
            <a:picLocks noChangeAspect="1"/>
          </p:cNvPicPr>
          <p:nvPr/>
        </p:nvPicPr>
        <p:blipFill>
          <a:blip>
            <a:extLst>
              <a:ext uri="{96DAC541-7B7A-43D3-8B79-37D633B846F1}">
                <asvg:svgBlip xmlns:asvg="http://schemas.microsoft.com/office/drawing/2016/SVG/main" r:embed="rId5"/>
              </a:ext>
            </a:extLst>
          </a:blip>
          <a:stretch/>
        </p:blipFill>
        <p:spPr>
          <a:xfrm>
            <a:off x="3302274" y="5649564"/>
            <a:ext cx="228600" cy="228600"/>
          </a:xfrm>
          <a:prstGeom prst="rect">
            <a:avLst/>
          </a:prstGeom>
        </p:spPr>
      </p:pic>
      <p:sp>
        <p:nvSpPr>
          <p:cNvPr id="36" name="Rectangle 35">
            <a:extLst>
              <a:ext uri="{FF2B5EF4-FFF2-40B4-BE49-F238E27FC236}">
                <a16:creationId xmlns:a16="http://schemas.microsoft.com/office/drawing/2014/main" id="{6CF07FEC-82F0-101B-7405-B0A8CAD03DDA}"/>
              </a:ext>
            </a:extLst>
          </p:cNvPr>
          <p:cNvSpPr>
            <a:spLocks noGrp="1"/>
          </p:cNvSpPr>
          <p:nvPr/>
        </p:nvSpPr>
        <p:spPr>
          <a:xfrm>
            <a:off x="3596307" y="5612988"/>
            <a:ext cx="1219200" cy="247650"/>
          </a:xfrm>
          <a:prstGeom prst="rect">
            <a:avLst/>
          </a:prstGeom>
          <a:noFill/>
          <a:ln w="0">
            <a:noFill/>
            <a:prstDash val="solid"/>
          </a:ln>
        </p:spPr>
        <p:txBody>
          <a:bodyPr/>
          <a:lstStyle/>
          <a:p>
            <a:pPr algn="l">
              <a:buNone/>
              <a:defRPr sz="1275" b="1">
                <a:solidFill>
                  <a:srgbClr val="083344"/>
                </a:solidFill>
              </a:defRPr>
            </a:pPr>
            <a:r>
              <a:rPr sz="1275" b="1">
                <a:solidFill>
                  <a:srgbClr val="083344"/>
                </a:solidFill>
              </a:rPr>
              <a:t>Integration</a:t>
            </a:r>
          </a:p>
        </p:txBody>
      </p:sp>
      <p:sp>
        <p:nvSpPr>
          <p:cNvPr id="38" name="Rectangle: Rounded Corners 37">
            <a:extLst>
              <a:ext uri="{FF2B5EF4-FFF2-40B4-BE49-F238E27FC236}">
                <a16:creationId xmlns:a16="http://schemas.microsoft.com/office/drawing/2014/main" id="{A59E33A3-2CA1-8CB5-2A9A-38AC3E8AA375}"/>
              </a:ext>
            </a:extLst>
          </p:cNvPr>
          <p:cNvSpPr>
            <a:spLocks noGrp="1"/>
          </p:cNvSpPr>
          <p:nvPr/>
        </p:nvSpPr>
        <p:spPr>
          <a:xfrm>
            <a:off x="5065644" y="5535264"/>
            <a:ext cx="1809750" cy="438150"/>
          </a:xfrm>
          <a:prstGeom prst="roundRect">
            <a:avLst>
              <a:gd name="adj" fmla="val 50000"/>
            </a:avLst>
          </a:prstGeom>
          <a:solidFill>
            <a:srgbClr val="FFFFFF"/>
          </a:solidFill>
          <a:ln w="9525">
            <a:solidFill>
              <a:srgbClr val="CBE4EC"/>
            </a:solidFill>
            <a:prstDash val="solid"/>
          </a:ln>
        </p:spPr>
        <p:txBody>
          <a:bodyPr/>
          <a:lstStyle/>
          <a:p>
            <a:endParaRPr/>
          </a:p>
        </p:txBody>
      </p:sp>
      <p:pic>
        <p:nvPicPr>
          <p:cNvPr id="40" name="Graphic 42">
            <a:extLst>
              <a:ext uri="{FF2B5EF4-FFF2-40B4-BE49-F238E27FC236}">
                <a16:creationId xmlns:a16="http://schemas.microsoft.com/office/drawing/2014/main" id="{E2BDFF35-2A59-54A7-33F0-39958EF71FB7}"/>
              </a:ext>
            </a:extLst>
          </p:cNvPr>
          <p:cNvPicPr>
            <a:picLocks noChangeAspect="1"/>
          </p:cNvPicPr>
          <p:nvPr/>
        </p:nvPicPr>
        <p:blipFill>
          <a:blip>
            <a:extLst>
              <a:ext uri="{96DAC541-7B7A-43D3-8B79-37D633B846F1}">
                <asvg:svgBlip xmlns:asvg="http://schemas.microsoft.com/office/drawing/2016/SVG/main" r:embed="rId6"/>
              </a:ext>
            </a:extLst>
          </a:blip>
          <a:stretch/>
        </p:blipFill>
        <p:spPr>
          <a:xfrm>
            <a:off x="5533229" y="5649564"/>
            <a:ext cx="228600" cy="228600"/>
          </a:xfrm>
          <a:prstGeom prst="rect">
            <a:avLst/>
          </a:prstGeom>
        </p:spPr>
      </p:pic>
      <p:sp>
        <p:nvSpPr>
          <p:cNvPr id="43" name="Rectangle 42">
            <a:extLst>
              <a:ext uri="{FF2B5EF4-FFF2-40B4-BE49-F238E27FC236}">
                <a16:creationId xmlns:a16="http://schemas.microsoft.com/office/drawing/2014/main" id="{44EF17EF-A38D-2AEB-05F5-E291E612CA4A}"/>
              </a:ext>
            </a:extLst>
          </p:cNvPr>
          <p:cNvSpPr>
            <a:spLocks noGrp="1"/>
          </p:cNvSpPr>
          <p:nvPr/>
        </p:nvSpPr>
        <p:spPr>
          <a:xfrm>
            <a:off x="5828798" y="5612988"/>
            <a:ext cx="1219200" cy="247650"/>
          </a:xfrm>
          <a:prstGeom prst="rect">
            <a:avLst/>
          </a:prstGeom>
          <a:noFill/>
          <a:ln w="0">
            <a:noFill/>
            <a:prstDash val="solid"/>
          </a:ln>
        </p:spPr>
        <p:txBody>
          <a:bodyPr/>
          <a:lstStyle/>
          <a:p>
            <a:pPr algn="l">
              <a:buNone/>
              <a:defRPr sz="1275" b="1">
                <a:solidFill>
                  <a:srgbClr val="083344"/>
                </a:solidFill>
              </a:defRPr>
            </a:pPr>
            <a:r>
              <a:rPr sz="1275" b="1">
                <a:solidFill>
                  <a:srgbClr val="083344"/>
                </a:solidFill>
              </a:rPr>
              <a:t>Load</a:t>
            </a:r>
          </a:p>
        </p:txBody>
      </p:sp>
      <p:sp>
        <p:nvSpPr>
          <p:cNvPr id="46" name="Rectangle: Rounded Corners 45">
            <a:extLst>
              <a:ext uri="{FF2B5EF4-FFF2-40B4-BE49-F238E27FC236}">
                <a16:creationId xmlns:a16="http://schemas.microsoft.com/office/drawing/2014/main" id="{9AECE47C-5DF0-1949-2C00-B3026DBDAF87}"/>
              </a:ext>
            </a:extLst>
          </p:cNvPr>
          <p:cNvSpPr>
            <a:spLocks noGrp="1"/>
          </p:cNvSpPr>
          <p:nvPr/>
        </p:nvSpPr>
        <p:spPr>
          <a:xfrm>
            <a:off x="7180194" y="5535264"/>
            <a:ext cx="1809750" cy="438150"/>
          </a:xfrm>
          <a:prstGeom prst="roundRect">
            <a:avLst>
              <a:gd name="adj" fmla="val 50000"/>
            </a:avLst>
          </a:prstGeom>
          <a:solidFill>
            <a:srgbClr val="FFFFFF"/>
          </a:solidFill>
          <a:ln w="9525">
            <a:solidFill>
              <a:srgbClr val="CBE4EC"/>
            </a:solidFill>
            <a:prstDash val="solid"/>
          </a:ln>
        </p:spPr>
        <p:txBody>
          <a:bodyPr/>
          <a:lstStyle/>
          <a:p>
            <a:endParaRPr/>
          </a:p>
        </p:txBody>
      </p:sp>
      <p:pic>
        <p:nvPicPr>
          <p:cNvPr id="49" name="Graphic 45">
            <a:extLst>
              <a:ext uri="{FF2B5EF4-FFF2-40B4-BE49-F238E27FC236}">
                <a16:creationId xmlns:a16="http://schemas.microsoft.com/office/drawing/2014/main" id="{7EA24969-4A05-7ED7-2E8A-6DB918ACBC88}"/>
              </a:ext>
            </a:extLst>
          </p:cNvPr>
          <p:cNvPicPr>
            <a:picLocks noChangeAspect="1"/>
          </p:cNvPicPr>
          <p:nvPr/>
        </p:nvPicPr>
        <p:blipFill>
          <a:blip>
            <a:extLst>
              <a:ext uri="{96DAC541-7B7A-43D3-8B79-37D633B846F1}">
                <asvg:svgBlip xmlns:asvg="http://schemas.microsoft.com/office/drawing/2016/SVG/main" r:embed="rId7"/>
              </a:ext>
            </a:extLst>
          </a:blip>
          <a:stretch/>
        </p:blipFill>
        <p:spPr>
          <a:xfrm>
            <a:off x="7455446" y="5649564"/>
            <a:ext cx="228600" cy="228600"/>
          </a:xfrm>
          <a:prstGeom prst="rect">
            <a:avLst/>
          </a:prstGeom>
        </p:spPr>
      </p:pic>
      <p:sp>
        <p:nvSpPr>
          <p:cNvPr id="52" name="Rectangle 51">
            <a:extLst>
              <a:ext uri="{FF2B5EF4-FFF2-40B4-BE49-F238E27FC236}">
                <a16:creationId xmlns:a16="http://schemas.microsoft.com/office/drawing/2014/main" id="{BD4CF4D9-5CF4-BDEA-099D-396031B96A9B}"/>
              </a:ext>
            </a:extLst>
          </p:cNvPr>
          <p:cNvSpPr>
            <a:spLocks noGrp="1"/>
          </p:cNvSpPr>
          <p:nvPr/>
        </p:nvSpPr>
        <p:spPr>
          <a:xfrm>
            <a:off x="7799174" y="5612988"/>
            <a:ext cx="1219200" cy="247650"/>
          </a:xfrm>
          <a:prstGeom prst="rect">
            <a:avLst/>
          </a:prstGeom>
          <a:noFill/>
          <a:ln w="0">
            <a:noFill/>
            <a:prstDash val="solid"/>
          </a:ln>
        </p:spPr>
        <p:txBody>
          <a:bodyPr/>
          <a:lstStyle/>
          <a:p>
            <a:pPr algn="l">
              <a:buNone/>
              <a:defRPr sz="1275" b="1">
                <a:solidFill>
                  <a:srgbClr val="083344"/>
                </a:solidFill>
              </a:defRPr>
            </a:pPr>
            <a:r>
              <a:rPr sz="1275" b="1">
                <a:solidFill>
                  <a:srgbClr val="083344"/>
                </a:solidFill>
              </a:rPr>
              <a:t>Functional</a:t>
            </a:r>
          </a:p>
        </p:txBody>
      </p:sp>
      <p:sp>
        <p:nvSpPr>
          <p:cNvPr id="55" name="Rectangle: Rounded Corners 54">
            <a:extLst>
              <a:ext uri="{FF2B5EF4-FFF2-40B4-BE49-F238E27FC236}">
                <a16:creationId xmlns:a16="http://schemas.microsoft.com/office/drawing/2014/main" id="{7DF55751-E468-5CDE-BB82-12768777D17E}"/>
              </a:ext>
            </a:extLst>
          </p:cNvPr>
          <p:cNvSpPr>
            <a:spLocks noGrp="1"/>
          </p:cNvSpPr>
          <p:nvPr/>
        </p:nvSpPr>
        <p:spPr>
          <a:xfrm>
            <a:off x="9220199" y="5535264"/>
            <a:ext cx="1809750" cy="438150"/>
          </a:xfrm>
          <a:prstGeom prst="roundRect">
            <a:avLst>
              <a:gd name="adj" fmla="val 50000"/>
            </a:avLst>
          </a:prstGeom>
          <a:solidFill>
            <a:srgbClr val="FFFFFF"/>
          </a:solidFill>
          <a:ln w="9525">
            <a:solidFill>
              <a:srgbClr val="CBE4EC"/>
            </a:solidFill>
            <a:prstDash val="solid"/>
          </a:ln>
        </p:spPr>
        <p:txBody>
          <a:bodyPr/>
          <a:lstStyle/>
          <a:p>
            <a:endParaRPr/>
          </a:p>
        </p:txBody>
      </p:sp>
      <p:pic>
        <p:nvPicPr>
          <p:cNvPr id="60" name="Graphic 48">
            <a:extLst>
              <a:ext uri="{FF2B5EF4-FFF2-40B4-BE49-F238E27FC236}">
                <a16:creationId xmlns:a16="http://schemas.microsoft.com/office/drawing/2014/main" id="{EDC84FEC-2505-5C16-7846-8CF70627D38E}"/>
              </a:ext>
            </a:extLst>
          </p:cNvPr>
          <p:cNvPicPr>
            <a:picLocks noChangeAspect="1"/>
          </p:cNvPicPr>
          <p:nvPr/>
        </p:nvPicPr>
        <p:blipFill>
          <a:blip>
            <a:extLst>
              <a:ext uri="{96DAC541-7B7A-43D3-8B79-37D633B846F1}">
                <asvg:svgBlip xmlns:asvg="http://schemas.microsoft.com/office/drawing/2016/SVG/main" r:embed="rId8"/>
              </a:ext>
            </a:extLst>
          </a:blip>
          <a:stretch/>
        </p:blipFill>
        <p:spPr>
          <a:xfrm>
            <a:off x="9486900" y="5649564"/>
            <a:ext cx="228600" cy="228600"/>
          </a:xfrm>
          <a:prstGeom prst="rect">
            <a:avLst/>
          </a:prstGeom>
        </p:spPr>
      </p:pic>
      <p:sp>
        <p:nvSpPr>
          <p:cNvPr id="62" name="Rectangle 61">
            <a:extLst>
              <a:ext uri="{FF2B5EF4-FFF2-40B4-BE49-F238E27FC236}">
                <a16:creationId xmlns:a16="http://schemas.microsoft.com/office/drawing/2014/main" id="{A4987B92-8C3C-7A4B-CC0B-76BC92953572}"/>
              </a:ext>
            </a:extLst>
          </p:cNvPr>
          <p:cNvSpPr>
            <a:spLocks noGrp="1"/>
          </p:cNvSpPr>
          <p:nvPr/>
        </p:nvSpPr>
        <p:spPr>
          <a:xfrm>
            <a:off x="9790872" y="5612988"/>
            <a:ext cx="1219200" cy="247650"/>
          </a:xfrm>
          <a:prstGeom prst="rect">
            <a:avLst/>
          </a:prstGeom>
          <a:noFill/>
          <a:ln w="0">
            <a:noFill/>
            <a:prstDash val="solid"/>
          </a:ln>
        </p:spPr>
        <p:txBody>
          <a:bodyPr/>
          <a:lstStyle/>
          <a:p>
            <a:pPr algn="l">
              <a:buNone/>
              <a:defRPr sz="1275" b="1">
                <a:solidFill>
                  <a:srgbClr val="083344"/>
                </a:solidFill>
              </a:defRPr>
            </a:pPr>
            <a:r>
              <a:rPr sz="1275" b="1">
                <a:solidFill>
                  <a:srgbClr val="083344"/>
                </a:solidFill>
              </a:rPr>
              <a:t>Acceptance</a:t>
            </a:r>
          </a:p>
        </p:txBody>
      </p:sp>
      <p:graphicFrame>
        <p:nvGraphicFramePr>
          <p:cNvPr id="64" name="Table 63">
            <a:extLst>
              <a:ext uri="{FF2B5EF4-FFF2-40B4-BE49-F238E27FC236}">
                <a16:creationId xmlns:a16="http://schemas.microsoft.com/office/drawing/2014/main" id="{DAB35960-0EA7-9401-BA0C-DBDEDCD2676A}"/>
              </a:ext>
            </a:extLst>
          </p:cNvPr>
          <p:cNvGraphicFramePr/>
          <p:nvPr>
            <p:extLst>
              <p:ext uri="{D42A27DB-BD31-4B8C-83A1-F6EECF244321}">
                <p14:modId xmlns:p14="http://schemas.microsoft.com/office/powerpoint/2010/main" val="868619195"/>
              </p:ext>
            </p:extLst>
          </p:nvPr>
        </p:nvGraphicFramePr>
        <p:xfrm>
          <a:off x="923925" y="1390062"/>
          <a:ext cx="4697481" cy="3448050"/>
        </p:xfrm>
        <a:graphic>
          <a:graphicData uri="http://schemas.openxmlformats.org/drawingml/2006/table">
            <a:tbl>
              <a:tblPr/>
              <a:tblGrid>
                <a:gridCol w="598037">
                  <a:extLst>
                    <a:ext uri="{9D8B030D-6E8A-4147-A177-3AD203B41FA5}">
                      <a16:colId xmlns:a16="http://schemas.microsoft.com/office/drawing/2014/main" val="20000"/>
                    </a:ext>
                  </a:extLst>
                </a:gridCol>
                <a:gridCol w="1664339">
                  <a:extLst>
                    <a:ext uri="{9D8B030D-6E8A-4147-A177-3AD203B41FA5}">
                      <a16:colId xmlns:a16="http://schemas.microsoft.com/office/drawing/2014/main" val="20001"/>
                    </a:ext>
                  </a:extLst>
                </a:gridCol>
                <a:gridCol w="2435105">
                  <a:extLst>
                    <a:ext uri="{9D8B030D-6E8A-4147-A177-3AD203B41FA5}">
                      <a16:colId xmlns:a16="http://schemas.microsoft.com/office/drawing/2014/main" val="20002"/>
                    </a:ext>
                  </a:extLst>
                </a:gridCol>
              </a:tblGrid>
              <a:tr h="400050">
                <a:tc gridSpan="3">
                  <a:txBody>
                    <a:bodyPr/>
                    <a:lstStyle/>
                    <a:p>
                      <a:pPr algn="l"/>
                      <a:r>
                        <a:rPr sz="1350" b="1" dirty="0">
                          <a:solidFill>
                            <a:srgbClr val="083344"/>
                          </a:solidFill>
                          <a:latin typeface="Calibri"/>
                          <a:ea typeface="Calibri"/>
                          <a:cs typeface="Calibri"/>
                        </a:rPr>
                        <a:t>Functional </a:t>
                      </a:r>
                      <a:r>
                        <a:rPr lang="de-DE" sz="1350" b="1" dirty="0">
                          <a:solidFill>
                            <a:srgbClr val="083344"/>
                          </a:solidFill>
                          <a:latin typeface="Calibri"/>
                          <a:ea typeface="Calibri"/>
                          <a:cs typeface="Calibri"/>
                        </a:rPr>
                        <a:t>t</a:t>
                      </a:r>
                      <a:r>
                        <a:rPr sz="1350" b="1" dirty="0" err="1">
                          <a:solidFill>
                            <a:srgbClr val="083344"/>
                          </a:solidFill>
                          <a:latin typeface="Calibri"/>
                          <a:ea typeface="Calibri"/>
                          <a:cs typeface="Calibri"/>
                        </a:rPr>
                        <a:t>raceability</a:t>
                      </a:r>
                      <a:endParaRPr sz="1350" b="1" dirty="0">
                        <a:solidFill>
                          <a:srgbClr val="083344"/>
                        </a:solidFill>
                        <a:latin typeface="Calibri"/>
                        <a:ea typeface="Calibri"/>
                        <a:cs typeface="Calibri"/>
                      </a:endParaRPr>
                    </a:p>
                  </a:txBody>
                  <a:tcPr marL="114300" marR="95250" marT="47625" marB="47625" anchor="ctr">
                    <a:solidFill>
                      <a:srgbClr val="E8F5F7"/>
                    </a:solidFill>
                  </a:tcPr>
                </a:tc>
                <a:tc hMerge="1">
                  <a:txBody>
                    <a:bodyPr/>
                    <a:lstStyle/>
                    <a:p>
                      <a:pPr algn="l"/>
                      <a:endParaRPr/>
                    </a:p>
                  </a:txBody>
                  <a:tcPr marL="114300" marR="95250" marT="47625" marB="47625" anchor="ctr">
                    <a:solidFill>
                      <a:srgbClr val="E8F5F7"/>
                    </a:solidFill>
                  </a:tcPr>
                </a:tc>
                <a:tc hMerge="1">
                  <a:txBody>
                    <a:bodyPr/>
                    <a:lstStyle/>
                    <a:p>
                      <a:pPr algn="l"/>
                      <a:endParaRPr/>
                    </a:p>
                  </a:txBody>
                  <a:tcPr marL="114300" marR="95250" marT="47625" marB="47625" anchor="ctr">
                    <a:solidFill>
                      <a:srgbClr val="E8F5F7"/>
                    </a:solidFill>
                  </a:tcPr>
                </a:tc>
                <a:extLst>
                  <a:ext uri="{0D108BD9-81ED-4DB2-BD59-A6C34878D82A}">
                    <a16:rowId xmlns:a16="http://schemas.microsoft.com/office/drawing/2014/main" val="10000"/>
                  </a:ext>
                </a:extLst>
              </a:tr>
              <a:tr h="323850">
                <a:tc>
                  <a:txBody>
                    <a:bodyPr/>
                    <a:lstStyle/>
                    <a:p>
                      <a:pPr algn="l"/>
                      <a:r>
                        <a:rPr sz="1100" b="1">
                          <a:solidFill>
                            <a:srgbClr val="5B6B78"/>
                          </a:solidFill>
                          <a:latin typeface="Calibri"/>
                          <a:ea typeface="Calibri"/>
                          <a:cs typeface="Calibri"/>
                        </a:rPr>
                        <a:t>Req.</a:t>
                      </a:r>
                    </a:p>
                  </a:txBody>
                  <a:tcPr marL="66675" marR="66675" marT="38100" marB="38100" anchor="ctr">
                    <a:solidFill>
                      <a:srgbClr val="F2F8FA"/>
                    </a:solidFill>
                  </a:tcPr>
                </a:tc>
                <a:tc>
                  <a:txBody>
                    <a:bodyPr/>
                    <a:lstStyle/>
                    <a:p>
                      <a:pPr algn="l"/>
                      <a:r>
                        <a:rPr sz="1100" b="1" dirty="0">
                          <a:solidFill>
                            <a:srgbClr val="5B6B78"/>
                          </a:solidFill>
                          <a:latin typeface="Calibri"/>
                          <a:ea typeface="Calibri"/>
                          <a:cs typeface="Calibri"/>
                        </a:rPr>
                        <a:t>Linked tests</a:t>
                      </a:r>
                    </a:p>
                  </a:txBody>
                  <a:tcPr marL="66675" marR="66675" marT="38100" marB="38100" anchor="ctr">
                    <a:solidFill>
                      <a:srgbClr val="F2F8FA"/>
                    </a:solidFill>
                  </a:tcPr>
                </a:tc>
                <a:tc>
                  <a:txBody>
                    <a:bodyPr/>
                    <a:lstStyle/>
                    <a:p>
                      <a:pPr algn="l"/>
                      <a:r>
                        <a:rPr sz="1100" b="1" dirty="0">
                          <a:solidFill>
                            <a:srgbClr val="5B6B78"/>
                          </a:solidFill>
                          <a:latin typeface="Calibri"/>
                          <a:ea typeface="Calibri"/>
                          <a:cs typeface="Calibri"/>
                        </a:rPr>
                        <a:t>Verification level</a:t>
                      </a:r>
                    </a:p>
                  </a:txBody>
                  <a:tcPr marL="66675" marR="66675" marT="38100" marB="38100" anchor="ctr">
                    <a:solidFill>
                      <a:srgbClr val="F2F8FA"/>
                    </a:solidFill>
                  </a:tcPr>
                </a:tc>
                <a:extLst>
                  <a:ext uri="{0D108BD9-81ED-4DB2-BD59-A6C34878D82A}">
                    <a16:rowId xmlns:a16="http://schemas.microsoft.com/office/drawing/2014/main" val="10001"/>
                  </a:ext>
                </a:extLst>
              </a:tr>
              <a:tr h="544830">
                <a:tc>
                  <a:txBody>
                    <a:bodyPr/>
                    <a:lstStyle/>
                    <a:p>
                      <a:pPr algn="ctr"/>
                      <a:r>
                        <a:rPr sz="1200" b="1" dirty="0">
                          <a:solidFill>
                            <a:srgbClr val="0077B6"/>
                          </a:solidFill>
                          <a:latin typeface="Calibri"/>
                          <a:ea typeface="Calibri"/>
                          <a:cs typeface="Calibri"/>
                        </a:rPr>
                        <a:t>FR1</a:t>
                      </a:r>
                    </a:p>
                  </a:txBody>
                  <a:tcPr marL="66675" marR="66675" marT="47625" marB="47625" anchor="ctr">
                    <a:solidFill>
                      <a:srgbClr val="EAF4FB"/>
                    </a:solidFill>
                  </a:tcPr>
                </a:tc>
                <a:tc>
                  <a:txBody>
                    <a:bodyPr/>
                    <a:lstStyle/>
                    <a:p>
                      <a:r>
                        <a:rPr sz="1200" b="1" dirty="0">
                          <a:solidFill>
                            <a:schemeClr val="accent1"/>
                          </a:solidFill>
                          <a:latin typeface="+mn-lt"/>
                          <a:ea typeface="Calibri"/>
                          <a:cs typeface="Calibri"/>
                        </a:rPr>
                        <a:t>TC</a:t>
                      </a:r>
                      <a:r>
                        <a:rPr lang="de-DE" sz="1200" b="1" dirty="0">
                          <a:solidFill>
                            <a:schemeClr val="accent1"/>
                          </a:solidFill>
                          <a:latin typeface="+mn-lt"/>
                          <a:ea typeface="Calibri"/>
                          <a:cs typeface="Calibri"/>
                        </a:rPr>
                        <a:t>-</a:t>
                      </a:r>
                      <a:r>
                        <a:rPr sz="1200" b="1" dirty="0">
                          <a:solidFill>
                            <a:schemeClr val="accent1"/>
                          </a:solidFill>
                          <a:latin typeface="+mn-lt"/>
                          <a:ea typeface="Calibri"/>
                          <a:cs typeface="Calibri"/>
                        </a:rPr>
                        <a:t>1</a:t>
                      </a:r>
                      <a:r>
                        <a:rPr lang="de-DE" sz="1200" b="1" dirty="0">
                          <a:solidFill>
                            <a:schemeClr val="accent1"/>
                          </a:solidFill>
                          <a:latin typeface="+mn-lt"/>
                          <a:ea typeface="Calibri"/>
                          <a:cs typeface="Calibri"/>
                        </a:rPr>
                        <a:t>: </a:t>
                      </a:r>
                      <a:r>
                        <a:rPr lang="en-US" sz="1200" b="0" dirty="0">
                          <a:solidFill>
                            <a:schemeClr val="accent1"/>
                          </a:solidFill>
                          <a:latin typeface="+mn-lt"/>
                        </a:rPr>
                        <a:t>Upload</a:t>
                      </a:r>
                      <a:endParaRPr lang="de-DE" sz="1200" b="0" dirty="0">
                        <a:solidFill>
                          <a:schemeClr val="accent1"/>
                        </a:solidFill>
                        <a:latin typeface="+mn-lt"/>
                        <a:ea typeface="Calibri"/>
                        <a:cs typeface="Calibri"/>
                      </a:endParaRPr>
                    </a:p>
                    <a:p>
                      <a:r>
                        <a:rPr sz="1200" b="1" dirty="0">
                          <a:solidFill>
                            <a:schemeClr val="accent1"/>
                          </a:solidFill>
                          <a:latin typeface="+mn-lt"/>
                          <a:ea typeface="Calibri"/>
                          <a:cs typeface="Calibri"/>
                        </a:rPr>
                        <a:t>TC</a:t>
                      </a:r>
                      <a:r>
                        <a:rPr lang="de-DE" sz="1200" b="1" dirty="0">
                          <a:solidFill>
                            <a:schemeClr val="accent1"/>
                          </a:solidFill>
                          <a:latin typeface="+mn-lt"/>
                          <a:ea typeface="Calibri"/>
                          <a:cs typeface="Calibri"/>
                        </a:rPr>
                        <a:t>-</a:t>
                      </a:r>
                      <a:r>
                        <a:rPr sz="1200" b="1" dirty="0">
                          <a:solidFill>
                            <a:schemeClr val="accent1"/>
                          </a:solidFill>
                          <a:latin typeface="+mn-lt"/>
                          <a:ea typeface="Calibri"/>
                          <a:cs typeface="Calibri"/>
                        </a:rPr>
                        <a:t>6</a:t>
                      </a:r>
                      <a:r>
                        <a:rPr lang="de-DE" sz="1200" b="1" dirty="0">
                          <a:solidFill>
                            <a:schemeClr val="accent1"/>
                          </a:solidFill>
                          <a:latin typeface="+mn-lt"/>
                          <a:ea typeface="Calibri"/>
                          <a:cs typeface="Calibri"/>
                        </a:rPr>
                        <a:t>: </a:t>
                      </a:r>
                      <a:r>
                        <a:rPr lang="en-US" sz="1200" b="0" dirty="0">
                          <a:solidFill>
                            <a:schemeClr val="accent1"/>
                          </a:solidFill>
                          <a:latin typeface="+mn-lt"/>
                        </a:rPr>
                        <a:t>Deletion</a:t>
                      </a:r>
                      <a:endParaRPr sz="1200" b="0" dirty="0">
                        <a:solidFill>
                          <a:schemeClr val="accent1"/>
                        </a:solidFill>
                        <a:latin typeface="+mn-lt"/>
                        <a:ea typeface="Calibri"/>
                        <a:cs typeface="Calibri"/>
                      </a:endParaRPr>
                    </a:p>
                  </a:txBody>
                  <a:tcPr marL="66675" marR="66675" marT="47625" marB="47625" anchor="ctr">
                    <a:solidFill>
                      <a:srgbClr val="FBFDFE"/>
                    </a:solidFill>
                  </a:tcPr>
                </a:tc>
                <a:tc>
                  <a:txBody>
                    <a:bodyPr/>
                    <a:lstStyle/>
                    <a:p>
                      <a:r>
                        <a:rPr sz="1200" dirty="0">
                          <a:solidFill>
                            <a:srgbClr val="083344"/>
                          </a:solidFill>
                          <a:latin typeface="Calibri"/>
                          <a:ea typeface="Calibri"/>
                          <a:cs typeface="Calibri"/>
                        </a:rPr>
                        <a:t>Functional</a:t>
                      </a:r>
                    </a:p>
                  </a:txBody>
                  <a:tcPr marL="66675" marR="66675" marT="47625" marB="47625" anchor="ctr">
                    <a:solidFill>
                      <a:srgbClr val="FBFDFE"/>
                    </a:solidFill>
                  </a:tcPr>
                </a:tc>
                <a:extLst>
                  <a:ext uri="{0D108BD9-81ED-4DB2-BD59-A6C34878D82A}">
                    <a16:rowId xmlns:a16="http://schemas.microsoft.com/office/drawing/2014/main" val="10002"/>
                  </a:ext>
                </a:extLst>
              </a:tr>
              <a:tr h="544830">
                <a:tc>
                  <a:txBody>
                    <a:bodyPr/>
                    <a:lstStyle/>
                    <a:p>
                      <a:pPr algn="ctr"/>
                      <a:r>
                        <a:rPr sz="1200" b="1" dirty="0">
                          <a:solidFill>
                            <a:srgbClr val="0077B6"/>
                          </a:solidFill>
                          <a:latin typeface="Calibri"/>
                          <a:ea typeface="Calibri"/>
                          <a:cs typeface="Calibri"/>
                        </a:rPr>
                        <a:t>FR2</a:t>
                      </a:r>
                    </a:p>
                  </a:txBody>
                  <a:tcPr marL="66675" marR="66675" marT="47625" marB="47625" anchor="ctr">
                    <a:solidFill>
                      <a:srgbClr val="EAF4FB"/>
                    </a:solidFill>
                  </a:tcPr>
                </a:tc>
                <a:tc>
                  <a:txBody>
                    <a:bodyPr/>
                    <a:lstStyle/>
                    <a:p>
                      <a:r>
                        <a:rPr sz="1200" b="1" dirty="0">
                          <a:solidFill>
                            <a:schemeClr val="accent1"/>
                          </a:solidFill>
                          <a:latin typeface="+mn-lt"/>
                          <a:ea typeface="Calibri"/>
                          <a:cs typeface="Calibri"/>
                        </a:rPr>
                        <a:t>TC</a:t>
                      </a:r>
                      <a:r>
                        <a:rPr lang="de-DE" sz="1200" b="1" dirty="0">
                          <a:solidFill>
                            <a:schemeClr val="accent1"/>
                          </a:solidFill>
                          <a:latin typeface="+mn-lt"/>
                          <a:ea typeface="Calibri"/>
                          <a:cs typeface="Calibri"/>
                        </a:rPr>
                        <a:t>-</a:t>
                      </a:r>
                      <a:r>
                        <a:rPr sz="1200" b="1" dirty="0">
                          <a:solidFill>
                            <a:schemeClr val="accent1"/>
                          </a:solidFill>
                          <a:latin typeface="+mn-lt"/>
                          <a:ea typeface="Calibri"/>
                          <a:cs typeface="Calibri"/>
                        </a:rPr>
                        <a:t>2</a:t>
                      </a:r>
                      <a:r>
                        <a:rPr lang="de-DE" sz="1200" b="1" dirty="0">
                          <a:solidFill>
                            <a:schemeClr val="accent1"/>
                          </a:solidFill>
                          <a:latin typeface="+mn-lt"/>
                          <a:ea typeface="Calibri"/>
                          <a:cs typeface="Calibri"/>
                        </a:rPr>
                        <a:t>: </a:t>
                      </a:r>
                      <a:r>
                        <a:rPr lang="en-US" sz="1200" b="0" dirty="0">
                          <a:solidFill>
                            <a:schemeClr val="accent1"/>
                          </a:solidFill>
                          <a:latin typeface="+mn-lt"/>
                        </a:rPr>
                        <a:t>Processing</a:t>
                      </a:r>
                      <a:endParaRPr sz="1200" b="0" dirty="0">
                        <a:solidFill>
                          <a:schemeClr val="accent1"/>
                        </a:solidFill>
                        <a:latin typeface="+mn-lt"/>
                        <a:ea typeface="Calibri"/>
                        <a:cs typeface="Calibri"/>
                      </a:endParaRPr>
                    </a:p>
                  </a:txBody>
                  <a:tcPr marL="66675" marR="66675" marT="47625" marB="47625" anchor="ctr">
                    <a:solidFill>
                      <a:srgbClr val="FFFFFF"/>
                    </a:solidFill>
                  </a:tcPr>
                </a:tc>
                <a:tc>
                  <a:txBody>
                    <a:bodyPr/>
                    <a:lstStyle/>
                    <a:p>
                      <a:r>
                        <a:rPr sz="1200" dirty="0">
                          <a:solidFill>
                            <a:srgbClr val="083344"/>
                          </a:solidFill>
                          <a:latin typeface="Calibri"/>
                          <a:ea typeface="Calibri"/>
                          <a:cs typeface="Calibri"/>
                        </a:rPr>
                        <a:t>Unit + Integration + Functional</a:t>
                      </a:r>
                    </a:p>
                  </a:txBody>
                  <a:tcPr marL="66675" marR="66675" marT="47625" marB="47625" anchor="ctr">
                    <a:solidFill>
                      <a:srgbClr val="FFFFFF"/>
                    </a:solidFill>
                  </a:tcPr>
                </a:tc>
                <a:extLst>
                  <a:ext uri="{0D108BD9-81ED-4DB2-BD59-A6C34878D82A}">
                    <a16:rowId xmlns:a16="http://schemas.microsoft.com/office/drawing/2014/main" val="10003"/>
                  </a:ext>
                </a:extLst>
              </a:tr>
              <a:tr h="544830">
                <a:tc>
                  <a:txBody>
                    <a:bodyPr/>
                    <a:lstStyle/>
                    <a:p>
                      <a:pPr algn="ctr"/>
                      <a:r>
                        <a:rPr sz="1200" b="1" dirty="0">
                          <a:solidFill>
                            <a:srgbClr val="0077B6"/>
                          </a:solidFill>
                          <a:latin typeface="Calibri"/>
                          <a:ea typeface="Calibri"/>
                          <a:cs typeface="Calibri"/>
                        </a:rPr>
                        <a:t>FR3</a:t>
                      </a:r>
                    </a:p>
                  </a:txBody>
                  <a:tcPr marL="66675" marR="66675" marT="47625" marB="47625" anchor="ctr">
                    <a:solidFill>
                      <a:srgbClr val="EAF4FB"/>
                    </a:solidFill>
                  </a:tcPr>
                </a:tc>
                <a:tc>
                  <a:txBody>
                    <a:bodyPr/>
                    <a:lstStyle/>
                    <a:p>
                      <a:r>
                        <a:rPr sz="1200" b="1" dirty="0">
                          <a:solidFill>
                            <a:schemeClr val="accent1"/>
                          </a:solidFill>
                          <a:latin typeface="+mn-lt"/>
                          <a:ea typeface="Calibri"/>
                          <a:cs typeface="Calibri"/>
                        </a:rPr>
                        <a:t>TC</a:t>
                      </a:r>
                      <a:r>
                        <a:rPr lang="de-DE" sz="1200" b="1" dirty="0">
                          <a:solidFill>
                            <a:schemeClr val="accent1"/>
                          </a:solidFill>
                          <a:latin typeface="+mn-lt"/>
                          <a:ea typeface="Calibri"/>
                          <a:cs typeface="Calibri"/>
                        </a:rPr>
                        <a:t>-</a:t>
                      </a:r>
                      <a:r>
                        <a:rPr sz="1200" b="1" dirty="0">
                          <a:solidFill>
                            <a:schemeClr val="accent1"/>
                          </a:solidFill>
                          <a:latin typeface="+mn-lt"/>
                          <a:ea typeface="Calibri"/>
                          <a:cs typeface="Calibri"/>
                        </a:rPr>
                        <a:t>3</a:t>
                      </a:r>
                      <a:r>
                        <a:rPr lang="de-DE" sz="1200" b="1" dirty="0">
                          <a:solidFill>
                            <a:schemeClr val="accent1"/>
                          </a:solidFill>
                          <a:latin typeface="+mn-lt"/>
                          <a:ea typeface="Calibri"/>
                          <a:cs typeface="Calibri"/>
                        </a:rPr>
                        <a:t>: </a:t>
                      </a:r>
                      <a:r>
                        <a:rPr lang="en-US" sz="1200" b="0" dirty="0">
                          <a:solidFill>
                            <a:schemeClr val="accent1"/>
                          </a:solidFill>
                          <a:latin typeface="+mn-lt"/>
                        </a:rPr>
                        <a:t>Q&amp;A</a:t>
                      </a:r>
                      <a:endParaRPr lang="de-DE" sz="1200" b="0" dirty="0">
                        <a:solidFill>
                          <a:schemeClr val="accent1"/>
                        </a:solidFill>
                        <a:latin typeface="+mn-lt"/>
                        <a:ea typeface="Calibri"/>
                        <a:cs typeface="Calibri"/>
                      </a:endParaRPr>
                    </a:p>
                    <a:p>
                      <a:r>
                        <a:rPr sz="1200" b="1" dirty="0">
                          <a:solidFill>
                            <a:schemeClr val="accent1"/>
                          </a:solidFill>
                          <a:latin typeface="+mn-lt"/>
                          <a:ea typeface="Calibri"/>
                          <a:cs typeface="Calibri"/>
                        </a:rPr>
                        <a:t>TC</a:t>
                      </a:r>
                      <a:r>
                        <a:rPr lang="de-DE" sz="1200" b="1" dirty="0">
                          <a:solidFill>
                            <a:schemeClr val="accent1"/>
                          </a:solidFill>
                          <a:latin typeface="+mn-lt"/>
                          <a:ea typeface="Calibri"/>
                          <a:cs typeface="Calibri"/>
                        </a:rPr>
                        <a:t>-</a:t>
                      </a:r>
                      <a:r>
                        <a:rPr sz="1200" b="1" dirty="0">
                          <a:solidFill>
                            <a:schemeClr val="accent1"/>
                          </a:solidFill>
                          <a:latin typeface="+mn-lt"/>
                          <a:ea typeface="Calibri"/>
                          <a:cs typeface="Calibri"/>
                        </a:rPr>
                        <a:t>4</a:t>
                      </a:r>
                      <a:r>
                        <a:rPr lang="de-DE" sz="1200" b="1" dirty="0">
                          <a:solidFill>
                            <a:schemeClr val="accent1"/>
                          </a:solidFill>
                          <a:latin typeface="+mn-lt"/>
                          <a:ea typeface="Calibri"/>
                          <a:cs typeface="Calibri"/>
                        </a:rPr>
                        <a:t>: </a:t>
                      </a:r>
                      <a:r>
                        <a:rPr lang="en-US" sz="1200" b="0" dirty="0">
                          <a:solidFill>
                            <a:schemeClr val="accent1"/>
                          </a:solidFill>
                          <a:latin typeface="+mn-lt"/>
                        </a:rPr>
                        <a:t>Multi-document</a:t>
                      </a:r>
                      <a:endParaRPr sz="1200" b="0" dirty="0">
                        <a:solidFill>
                          <a:schemeClr val="accent1"/>
                        </a:solidFill>
                        <a:latin typeface="+mn-lt"/>
                        <a:ea typeface="Calibri"/>
                        <a:cs typeface="Calibri"/>
                      </a:endParaRPr>
                    </a:p>
                  </a:txBody>
                  <a:tcPr marL="66675" marR="66675" marT="47625" marB="47625" anchor="ctr">
                    <a:solidFill>
                      <a:srgbClr val="FBFDFE"/>
                    </a:solidFill>
                  </a:tcPr>
                </a:tc>
                <a:tc>
                  <a:txBody>
                    <a:bodyPr/>
                    <a:lstStyle/>
                    <a:p>
                      <a:r>
                        <a:rPr sz="1200" dirty="0">
                          <a:solidFill>
                            <a:srgbClr val="083344"/>
                          </a:solidFill>
                          <a:latin typeface="Calibri"/>
                          <a:ea typeface="Calibri"/>
                          <a:cs typeface="Calibri"/>
                        </a:rPr>
                        <a:t>Unit + Integration + Functional</a:t>
                      </a:r>
                    </a:p>
                  </a:txBody>
                  <a:tcPr marL="66675" marR="66675" marT="47625" marB="47625" anchor="ctr">
                    <a:solidFill>
                      <a:srgbClr val="FBFDFE"/>
                    </a:solidFill>
                  </a:tcPr>
                </a:tc>
                <a:extLst>
                  <a:ext uri="{0D108BD9-81ED-4DB2-BD59-A6C34878D82A}">
                    <a16:rowId xmlns:a16="http://schemas.microsoft.com/office/drawing/2014/main" val="10004"/>
                  </a:ext>
                </a:extLst>
              </a:tr>
              <a:tr h="544830">
                <a:tc>
                  <a:txBody>
                    <a:bodyPr/>
                    <a:lstStyle/>
                    <a:p>
                      <a:pPr algn="ctr"/>
                      <a:r>
                        <a:rPr sz="1200" b="1" dirty="0">
                          <a:solidFill>
                            <a:srgbClr val="0077B6"/>
                          </a:solidFill>
                          <a:latin typeface="Calibri"/>
                          <a:ea typeface="Calibri"/>
                          <a:cs typeface="Calibri"/>
                        </a:rPr>
                        <a:t>FR4</a:t>
                      </a:r>
                    </a:p>
                  </a:txBody>
                  <a:tcPr marL="66675" marR="66675" marT="47625" marB="47625" anchor="ctr">
                    <a:solidFill>
                      <a:srgbClr val="EAF4FB"/>
                    </a:solidFill>
                  </a:tcPr>
                </a:tc>
                <a:tc>
                  <a:txBody>
                    <a:bodyPr/>
                    <a:lstStyle/>
                    <a:p>
                      <a:r>
                        <a:rPr lang="it-IT" sz="1200" b="1" dirty="0">
                          <a:solidFill>
                            <a:schemeClr val="accent1"/>
                          </a:solidFill>
                          <a:latin typeface="+mn-lt"/>
                          <a:ea typeface="+mn-ea"/>
                          <a:cs typeface="+mn-cs"/>
                        </a:rPr>
                        <a:t>TC-3: </a:t>
                      </a:r>
                      <a:r>
                        <a:rPr lang="it-IT" sz="1200" b="0" dirty="0">
                          <a:solidFill>
                            <a:schemeClr val="accent1"/>
                          </a:solidFill>
                          <a:latin typeface="+mn-lt"/>
                        </a:rPr>
                        <a:t>Q&amp;A</a:t>
                      </a:r>
                      <a:endParaRPr lang="it-IT" sz="1200" b="0" dirty="0">
                        <a:solidFill>
                          <a:schemeClr val="accent1"/>
                        </a:solidFill>
                        <a:latin typeface="+mn-lt"/>
                        <a:ea typeface="+mn-ea"/>
                        <a:cs typeface="+mn-cs"/>
                      </a:endParaRPr>
                    </a:p>
                    <a:p>
                      <a:r>
                        <a:rPr lang="it-IT" sz="1200" b="1" dirty="0">
                          <a:solidFill>
                            <a:schemeClr val="accent1"/>
                          </a:solidFill>
                          <a:latin typeface="+mn-lt"/>
                          <a:ea typeface="+mn-ea"/>
                          <a:cs typeface="+mn-cs"/>
                        </a:rPr>
                        <a:t>TC-4: </a:t>
                      </a:r>
                      <a:r>
                        <a:rPr lang="it-IT" sz="1200" b="0" dirty="0">
                          <a:solidFill>
                            <a:schemeClr val="accent1"/>
                          </a:solidFill>
                          <a:latin typeface="+mn-lt"/>
                        </a:rPr>
                        <a:t>Multi-document</a:t>
                      </a:r>
                      <a:endParaRPr lang="it-IT" sz="1200" b="0" dirty="0">
                        <a:solidFill>
                          <a:schemeClr val="accent1"/>
                        </a:solidFill>
                        <a:latin typeface="+mn-lt"/>
                        <a:ea typeface="+mn-ea"/>
                        <a:cs typeface="+mn-cs"/>
                      </a:endParaRPr>
                    </a:p>
                  </a:txBody>
                  <a:tcPr marL="66675" marR="66675" marT="47625" marB="47625" anchor="ctr">
                    <a:solidFill>
                      <a:srgbClr val="FFFFFF"/>
                    </a:solidFill>
                  </a:tcPr>
                </a:tc>
                <a:tc>
                  <a:txBody>
                    <a:bodyPr/>
                    <a:lstStyle/>
                    <a:p>
                      <a:r>
                        <a:rPr sz="1200">
                          <a:solidFill>
                            <a:srgbClr val="083344"/>
                          </a:solidFill>
                          <a:latin typeface="Calibri"/>
                          <a:ea typeface="Calibri"/>
                          <a:cs typeface="Calibri"/>
                        </a:rPr>
                        <a:t>Unit + Functional</a:t>
                      </a:r>
                    </a:p>
                  </a:txBody>
                  <a:tcPr marL="66675" marR="66675" marT="47625" marB="47625" anchor="ctr">
                    <a:solidFill>
                      <a:srgbClr val="FFFFFF"/>
                    </a:solidFill>
                  </a:tcPr>
                </a:tc>
                <a:extLst>
                  <a:ext uri="{0D108BD9-81ED-4DB2-BD59-A6C34878D82A}">
                    <a16:rowId xmlns:a16="http://schemas.microsoft.com/office/drawing/2014/main" val="10005"/>
                  </a:ext>
                </a:extLst>
              </a:tr>
              <a:tr h="544830">
                <a:tc>
                  <a:txBody>
                    <a:bodyPr/>
                    <a:lstStyle/>
                    <a:p>
                      <a:pPr algn="ctr"/>
                      <a:r>
                        <a:rPr sz="1200" b="1" dirty="0">
                          <a:solidFill>
                            <a:srgbClr val="0077B6"/>
                          </a:solidFill>
                          <a:latin typeface="Calibri"/>
                          <a:ea typeface="Calibri"/>
                          <a:cs typeface="Calibri"/>
                        </a:rPr>
                        <a:t>FR5</a:t>
                      </a:r>
                    </a:p>
                  </a:txBody>
                  <a:tcPr marL="66675" marR="66675" marT="47625" marB="47625" anchor="ctr">
                    <a:solidFill>
                      <a:srgbClr val="EAF4FB"/>
                    </a:solidFill>
                  </a:tcPr>
                </a:tc>
                <a:tc>
                  <a:txBody>
                    <a:bodyPr/>
                    <a:lstStyle/>
                    <a:p>
                      <a:r>
                        <a:rPr sz="1200" b="1" dirty="0">
                          <a:solidFill>
                            <a:schemeClr val="accent1"/>
                          </a:solidFill>
                          <a:latin typeface="+mn-lt"/>
                          <a:ea typeface="Calibri"/>
                          <a:cs typeface="Calibri"/>
                        </a:rPr>
                        <a:t>TC</a:t>
                      </a:r>
                      <a:r>
                        <a:rPr lang="de-DE" sz="1200" b="1" dirty="0">
                          <a:solidFill>
                            <a:schemeClr val="accent1"/>
                          </a:solidFill>
                          <a:latin typeface="+mn-lt"/>
                          <a:ea typeface="Calibri"/>
                          <a:cs typeface="Calibri"/>
                        </a:rPr>
                        <a:t>-</a:t>
                      </a:r>
                      <a:r>
                        <a:rPr sz="1200" b="1" dirty="0">
                          <a:solidFill>
                            <a:schemeClr val="accent1"/>
                          </a:solidFill>
                          <a:latin typeface="+mn-lt"/>
                          <a:ea typeface="Calibri"/>
                          <a:cs typeface="Calibri"/>
                        </a:rPr>
                        <a:t>5</a:t>
                      </a:r>
                      <a:r>
                        <a:rPr lang="de-DE" sz="1200" b="1" dirty="0">
                          <a:solidFill>
                            <a:schemeClr val="accent1"/>
                          </a:solidFill>
                          <a:latin typeface="+mn-lt"/>
                          <a:ea typeface="Calibri"/>
                          <a:cs typeface="Calibri"/>
                        </a:rPr>
                        <a:t>:</a:t>
                      </a:r>
                      <a:r>
                        <a:rPr lang="de-DE" sz="1200" b="0" dirty="0">
                          <a:solidFill>
                            <a:schemeClr val="accent1"/>
                          </a:solidFill>
                          <a:latin typeface="+mn-lt"/>
                          <a:ea typeface="Calibri"/>
                          <a:cs typeface="Calibri"/>
                        </a:rPr>
                        <a:t> </a:t>
                      </a:r>
                      <a:r>
                        <a:rPr lang="en-US" sz="1200" b="0" dirty="0">
                          <a:solidFill>
                            <a:schemeClr val="accent1"/>
                          </a:solidFill>
                          <a:latin typeface="+mn-lt"/>
                        </a:rPr>
                        <a:t>History</a:t>
                      </a:r>
                      <a:endParaRPr sz="1200" b="0" dirty="0">
                        <a:solidFill>
                          <a:schemeClr val="accent1"/>
                        </a:solidFill>
                        <a:latin typeface="+mn-lt"/>
                        <a:ea typeface="Calibri"/>
                        <a:cs typeface="Calibri"/>
                      </a:endParaRPr>
                    </a:p>
                  </a:txBody>
                  <a:tcPr marL="66675" marR="66675" marT="47625" marB="47625" anchor="ctr">
                    <a:solidFill>
                      <a:srgbClr val="FBFDFE"/>
                    </a:solidFill>
                  </a:tcPr>
                </a:tc>
                <a:tc>
                  <a:txBody>
                    <a:bodyPr/>
                    <a:lstStyle/>
                    <a:p>
                      <a:r>
                        <a:rPr sz="1200" dirty="0">
                          <a:solidFill>
                            <a:srgbClr val="083344"/>
                          </a:solidFill>
                          <a:latin typeface="Calibri"/>
                          <a:ea typeface="Calibri"/>
                          <a:cs typeface="Calibri"/>
                        </a:rPr>
                        <a:t>Functional</a:t>
                      </a:r>
                    </a:p>
                  </a:txBody>
                  <a:tcPr marL="66675" marR="66675" marT="47625" marB="47625" anchor="ctr">
                    <a:solidFill>
                      <a:srgbClr val="FBFDFE"/>
                    </a:solidFill>
                  </a:tcPr>
                </a:tc>
                <a:extLst>
                  <a:ext uri="{0D108BD9-81ED-4DB2-BD59-A6C34878D82A}">
                    <a16:rowId xmlns:a16="http://schemas.microsoft.com/office/drawing/2014/main" val="10006"/>
                  </a:ext>
                </a:extLst>
              </a:tr>
            </a:tbl>
          </a:graphicData>
        </a:graphic>
      </p:graphicFrame>
      <p:graphicFrame>
        <p:nvGraphicFramePr>
          <p:cNvPr id="66" name="Table 65">
            <a:extLst>
              <a:ext uri="{FF2B5EF4-FFF2-40B4-BE49-F238E27FC236}">
                <a16:creationId xmlns:a16="http://schemas.microsoft.com/office/drawing/2014/main" id="{2C55B2B4-85F1-C5C1-8307-0B5E55618BEF}"/>
              </a:ext>
            </a:extLst>
          </p:cNvPr>
          <p:cNvGraphicFramePr/>
          <p:nvPr>
            <p:extLst>
              <p:ext uri="{D42A27DB-BD31-4B8C-83A1-F6EECF244321}">
                <p14:modId xmlns:p14="http://schemas.microsoft.com/office/powerpoint/2010/main" val="3598387269"/>
              </p:ext>
            </p:extLst>
          </p:nvPr>
        </p:nvGraphicFramePr>
        <p:xfrm>
          <a:off x="6286500" y="1399685"/>
          <a:ext cx="4610100" cy="3409952"/>
        </p:xfrm>
        <a:graphic>
          <a:graphicData uri="http://schemas.openxmlformats.org/drawingml/2006/table">
            <a:tbl>
              <a:tblPr/>
              <a:tblGrid>
                <a:gridCol w="666750">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gridCol w="1847850">
                  <a:extLst>
                    <a:ext uri="{9D8B030D-6E8A-4147-A177-3AD203B41FA5}">
                      <a16:colId xmlns:a16="http://schemas.microsoft.com/office/drawing/2014/main" val="20002"/>
                    </a:ext>
                  </a:extLst>
                </a:gridCol>
              </a:tblGrid>
              <a:tr h="400050">
                <a:tc gridSpan="3">
                  <a:txBody>
                    <a:bodyPr/>
                    <a:lstStyle/>
                    <a:p>
                      <a:pPr algn="l"/>
                      <a:r>
                        <a:rPr sz="1350" b="1" dirty="0">
                          <a:solidFill>
                            <a:srgbClr val="083344"/>
                          </a:solidFill>
                          <a:latin typeface="Calibri"/>
                          <a:ea typeface="Calibri"/>
                          <a:cs typeface="Calibri"/>
                        </a:rPr>
                        <a:t>Non-functional traceability</a:t>
                      </a:r>
                    </a:p>
                  </a:txBody>
                  <a:tcPr marL="114300" marR="95250" marT="47625" marB="47625" anchor="ctr">
                    <a:solidFill>
                      <a:srgbClr val="E8F6F3"/>
                    </a:solidFill>
                  </a:tcPr>
                </a:tc>
                <a:tc hMerge="1">
                  <a:txBody>
                    <a:bodyPr/>
                    <a:lstStyle/>
                    <a:p>
                      <a:pPr algn="l"/>
                      <a:endParaRPr/>
                    </a:p>
                  </a:txBody>
                  <a:tcPr marL="114300" marR="95250" marT="47625" marB="47625" anchor="ctr">
                    <a:solidFill>
                      <a:srgbClr val="E8F6F3"/>
                    </a:solidFill>
                  </a:tcPr>
                </a:tc>
                <a:tc hMerge="1">
                  <a:txBody>
                    <a:bodyPr/>
                    <a:lstStyle/>
                    <a:p>
                      <a:pPr algn="l"/>
                      <a:endParaRPr/>
                    </a:p>
                  </a:txBody>
                  <a:tcPr marL="114300" marR="95250" marT="47625" marB="47625" anchor="ctr">
                    <a:solidFill>
                      <a:srgbClr val="E8F6F3"/>
                    </a:solidFill>
                  </a:tcPr>
                </a:tc>
                <a:extLst>
                  <a:ext uri="{0D108BD9-81ED-4DB2-BD59-A6C34878D82A}">
                    <a16:rowId xmlns:a16="http://schemas.microsoft.com/office/drawing/2014/main" val="10000"/>
                  </a:ext>
                </a:extLst>
              </a:tr>
              <a:tr h="323850">
                <a:tc>
                  <a:txBody>
                    <a:bodyPr/>
                    <a:lstStyle/>
                    <a:p>
                      <a:pPr algn="l"/>
                      <a:r>
                        <a:rPr sz="1100" b="1">
                          <a:solidFill>
                            <a:srgbClr val="5B6B78"/>
                          </a:solidFill>
                          <a:latin typeface="Calibri"/>
                          <a:ea typeface="Calibri"/>
                          <a:cs typeface="Calibri"/>
                        </a:rPr>
                        <a:t>Req.</a:t>
                      </a:r>
                    </a:p>
                  </a:txBody>
                  <a:tcPr marL="66675" marR="66675" marT="38100" marB="38100" anchor="ctr">
                    <a:solidFill>
                      <a:srgbClr val="F2F8FA"/>
                    </a:solidFill>
                  </a:tcPr>
                </a:tc>
                <a:tc>
                  <a:txBody>
                    <a:bodyPr/>
                    <a:lstStyle/>
                    <a:p>
                      <a:pPr algn="l"/>
                      <a:r>
                        <a:rPr sz="1100" b="1">
                          <a:solidFill>
                            <a:srgbClr val="5B6B78"/>
                          </a:solidFill>
                          <a:latin typeface="Calibri"/>
                          <a:ea typeface="Calibri"/>
                          <a:cs typeface="Calibri"/>
                        </a:rPr>
                        <a:t>Verification evidence</a:t>
                      </a:r>
                    </a:p>
                  </a:txBody>
                  <a:tcPr marL="66675" marR="66675" marT="38100" marB="38100" anchor="ctr">
                    <a:solidFill>
                      <a:srgbClr val="F2F8FA"/>
                    </a:solidFill>
                  </a:tcPr>
                </a:tc>
                <a:tc>
                  <a:txBody>
                    <a:bodyPr/>
                    <a:lstStyle/>
                    <a:p>
                      <a:pPr algn="l"/>
                      <a:r>
                        <a:rPr sz="1100" b="1" dirty="0">
                          <a:solidFill>
                            <a:srgbClr val="5B6B78"/>
                          </a:solidFill>
                          <a:latin typeface="Calibri"/>
                          <a:ea typeface="Calibri"/>
                          <a:cs typeface="Calibri"/>
                        </a:rPr>
                        <a:t>Level</a:t>
                      </a:r>
                    </a:p>
                  </a:txBody>
                  <a:tcPr marL="66675" marR="66675" marT="38100" marB="38100" anchor="ctr">
                    <a:solidFill>
                      <a:srgbClr val="F2F8FA"/>
                    </a:solidFill>
                  </a:tcPr>
                </a:tc>
                <a:extLst>
                  <a:ext uri="{0D108BD9-81ED-4DB2-BD59-A6C34878D82A}">
                    <a16:rowId xmlns:a16="http://schemas.microsoft.com/office/drawing/2014/main" val="10001"/>
                  </a:ext>
                </a:extLst>
              </a:tr>
              <a:tr h="671513">
                <a:tc>
                  <a:txBody>
                    <a:bodyPr/>
                    <a:lstStyle/>
                    <a:p>
                      <a:pPr algn="ctr"/>
                      <a:r>
                        <a:rPr sz="1200" b="1" dirty="0">
                          <a:solidFill>
                            <a:srgbClr val="009999"/>
                          </a:solidFill>
                          <a:latin typeface="Calibri"/>
                          <a:ea typeface="Calibri"/>
                          <a:cs typeface="Calibri"/>
                        </a:rPr>
                        <a:t>NFR1</a:t>
                      </a:r>
                    </a:p>
                  </a:txBody>
                  <a:tcPr marL="66675" marR="66675" marT="47625" marB="47625" anchor="ctr">
                    <a:solidFill>
                      <a:srgbClr val="E8F6F3"/>
                    </a:solidFill>
                  </a:tcPr>
                </a:tc>
                <a:tc>
                  <a:txBody>
                    <a:bodyPr/>
                    <a:lstStyle/>
                    <a:p>
                      <a:r>
                        <a:rPr sz="1200" b="1" dirty="0">
                          <a:solidFill>
                            <a:srgbClr val="083344"/>
                          </a:solidFill>
                          <a:latin typeface="Calibri"/>
                          <a:ea typeface="Calibri"/>
                          <a:cs typeface="Calibri"/>
                        </a:rPr>
                        <a:t>10-upload timing test</a:t>
                      </a:r>
                    </a:p>
                  </a:txBody>
                  <a:tcPr marL="66675" marR="66675" marT="47625" marB="47625" anchor="ctr">
                    <a:solidFill>
                      <a:srgbClr val="FBFDFE"/>
                    </a:solidFill>
                  </a:tcPr>
                </a:tc>
                <a:tc>
                  <a:txBody>
                    <a:bodyPr/>
                    <a:lstStyle/>
                    <a:p>
                      <a:r>
                        <a:rPr sz="1200">
                          <a:solidFill>
                            <a:srgbClr val="083344"/>
                          </a:solidFill>
                          <a:latin typeface="Calibri"/>
                          <a:ea typeface="Calibri"/>
                          <a:cs typeface="Calibri"/>
                        </a:rPr>
                        <a:t>Load</a:t>
                      </a:r>
                    </a:p>
                  </a:txBody>
                  <a:tcPr marL="66675" marR="66675" marT="47625" marB="47625" anchor="ctr">
                    <a:solidFill>
                      <a:srgbClr val="FBFDFE"/>
                    </a:solidFill>
                  </a:tcPr>
                </a:tc>
                <a:extLst>
                  <a:ext uri="{0D108BD9-81ED-4DB2-BD59-A6C34878D82A}">
                    <a16:rowId xmlns:a16="http://schemas.microsoft.com/office/drawing/2014/main" val="10002"/>
                  </a:ext>
                </a:extLst>
              </a:tr>
              <a:tr h="671513">
                <a:tc>
                  <a:txBody>
                    <a:bodyPr/>
                    <a:lstStyle/>
                    <a:p>
                      <a:pPr algn="ctr"/>
                      <a:r>
                        <a:rPr sz="1200" b="1" dirty="0">
                          <a:solidFill>
                            <a:srgbClr val="009999"/>
                          </a:solidFill>
                          <a:latin typeface="Calibri"/>
                          <a:ea typeface="Calibri"/>
                          <a:cs typeface="Calibri"/>
                        </a:rPr>
                        <a:t>NFR2</a:t>
                      </a:r>
                    </a:p>
                  </a:txBody>
                  <a:tcPr marL="66675" marR="66675" marT="47625" marB="47625" anchor="ctr">
                    <a:solidFill>
                      <a:srgbClr val="E8F6F3"/>
                    </a:solidFill>
                  </a:tcPr>
                </a:tc>
                <a:tc>
                  <a:txBody>
                    <a:bodyPr/>
                    <a:lstStyle/>
                    <a:p>
                      <a:r>
                        <a:rPr sz="1200" b="1" dirty="0">
                          <a:solidFill>
                            <a:srgbClr val="083344"/>
                          </a:solidFill>
                          <a:latin typeface="Calibri"/>
                          <a:ea typeface="Calibri"/>
                          <a:cs typeface="Calibri"/>
                        </a:rPr>
                        <a:t>20-query timing test</a:t>
                      </a:r>
                    </a:p>
                  </a:txBody>
                  <a:tcPr marL="66675" marR="66675" marT="47625" marB="47625" anchor="ctr">
                    <a:solidFill>
                      <a:srgbClr val="FFFFFF"/>
                    </a:solidFill>
                  </a:tcPr>
                </a:tc>
                <a:tc>
                  <a:txBody>
                    <a:bodyPr/>
                    <a:lstStyle/>
                    <a:p>
                      <a:r>
                        <a:rPr sz="1200">
                          <a:solidFill>
                            <a:srgbClr val="083344"/>
                          </a:solidFill>
                          <a:latin typeface="Calibri"/>
                          <a:ea typeface="Calibri"/>
                          <a:cs typeface="Calibri"/>
                        </a:rPr>
                        <a:t>Load</a:t>
                      </a:r>
                    </a:p>
                  </a:txBody>
                  <a:tcPr marL="66675" marR="66675" marT="47625" marB="47625" anchor="ctr">
                    <a:solidFill>
                      <a:srgbClr val="FFFFFF"/>
                    </a:solidFill>
                  </a:tcPr>
                </a:tc>
                <a:extLst>
                  <a:ext uri="{0D108BD9-81ED-4DB2-BD59-A6C34878D82A}">
                    <a16:rowId xmlns:a16="http://schemas.microsoft.com/office/drawing/2014/main" val="10003"/>
                  </a:ext>
                </a:extLst>
              </a:tr>
              <a:tr h="671513">
                <a:tc>
                  <a:txBody>
                    <a:bodyPr/>
                    <a:lstStyle/>
                    <a:p>
                      <a:pPr algn="ctr"/>
                      <a:r>
                        <a:rPr sz="1200" b="1" dirty="0">
                          <a:solidFill>
                            <a:srgbClr val="009999"/>
                          </a:solidFill>
                          <a:latin typeface="Calibri"/>
                          <a:ea typeface="Calibri"/>
                          <a:cs typeface="Calibri"/>
                        </a:rPr>
                        <a:t>NFR3</a:t>
                      </a:r>
                    </a:p>
                  </a:txBody>
                  <a:tcPr marL="66675" marR="66675" marT="47625" marB="47625" anchor="ctr">
                    <a:solidFill>
                      <a:srgbClr val="E8F6F3"/>
                    </a:solidFill>
                  </a:tcPr>
                </a:tc>
                <a:tc>
                  <a:txBody>
                    <a:bodyPr/>
                    <a:lstStyle/>
                    <a:p>
                      <a:r>
                        <a:rPr sz="1200" b="1" dirty="0">
                          <a:solidFill>
                            <a:srgbClr val="083344"/>
                          </a:solidFill>
                          <a:latin typeface="Calibri"/>
                          <a:ea typeface="Calibri"/>
                          <a:cs typeface="Calibri"/>
                        </a:rPr>
                        <a:t>10-user stability test</a:t>
                      </a:r>
                    </a:p>
                  </a:txBody>
                  <a:tcPr marL="66675" marR="66675" marT="47625" marB="47625" anchor="ctr">
                    <a:solidFill>
                      <a:srgbClr val="FBFDFE"/>
                    </a:solidFill>
                  </a:tcPr>
                </a:tc>
                <a:tc>
                  <a:txBody>
                    <a:bodyPr/>
                    <a:lstStyle/>
                    <a:p>
                      <a:r>
                        <a:rPr sz="1200" dirty="0">
                          <a:solidFill>
                            <a:srgbClr val="083344"/>
                          </a:solidFill>
                          <a:latin typeface="Calibri"/>
                          <a:ea typeface="Calibri"/>
                          <a:cs typeface="Calibri"/>
                        </a:rPr>
                        <a:t>Load</a:t>
                      </a:r>
                    </a:p>
                  </a:txBody>
                  <a:tcPr marL="66675" marR="66675" marT="47625" marB="47625" anchor="ctr">
                    <a:solidFill>
                      <a:srgbClr val="FBFDFE"/>
                    </a:solidFill>
                  </a:tcPr>
                </a:tc>
                <a:extLst>
                  <a:ext uri="{0D108BD9-81ED-4DB2-BD59-A6C34878D82A}">
                    <a16:rowId xmlns:a16="http://schemas.microsoft.com/office/drawing/2014/main" val="10004"/>
                  </a:ext>
                </a:extLst>
              </a:tr>
              <a:tr h="671513">
                <a:tc>
                  <a:txBody>
                    <a:bodyPr/>
                    <a:lstStyle/>
                    <a:p>
                      <a:pPr algn="ctr"/>
                      <a:r>
                        <a:rPr sz="1200" b="1" dirty="0">
                          <a:solidFill>
                            <a:srgbClr val="009999"/>
                          </a:solidFill>
                          <a:latin typeface="Calibri"/>
                          <a:ea typeface="Calibri"/>
                          <a:cs typeface="Calibri"/>
                        </a:rPr>
                        <a:t>NFR4</a:t>
                      </a:r>
                    </a:p>
                  </a:txBody>
                  <a:tcPr marL="66675" marR="66675" marT="47625" marB="47625" anchor="ctr">
                    <a:solidFill>
                      <a:srgbClr val="E8F6F3"/>
                    </a:solidFill>
                  </a:tcPr>
                </a:tc>
                <a:tc>
                  <a:txBody>
                    <a:bodyPr/>
                    <a:lstStyle/>
                    <a:p>
                      <a:r>
                        <a:rPr sz="1200" b="1" dirty="0">
                          <a:solidFill>
                            <a:srgbClr val="083344"/>
                          </a:solidFill>
                          <a:latin typeface="Calibri"/>
                          <a:ea typeface="Calibri"/>
                          <a:cs typeface="Calibri"/>
                        </a:rPr>
                        <a:t>Access-control checks</a:t>
                      </a:r>
                    </a:p>
                  </a:txBody>
                  <a:tcPr marL="66675" marR="66675" marT="47625" marB="47625" anchor="ctr">
                    <a:solidFill>
                      <a:srgbClr val="FFFFFF"/>
                    </a:solidFill>
                  </a:tcPr>
                </a:tc>
                <a:tc>
                  <a:txBody>
                    <a:bodyPr/>
                    <a:lstStyle/>
                    <a:p>
                      <a:r>
                        <a:rPr sz="1200" dirty="0">
                          <a:solidFill>
                            <a:srgbClr val="083344"/>
                          </a:solidFill>
                          <a:latin typeface="Calibri"/>
                          <a:ea typeface="Calibri"/>
                          <a:cs typeface="Calibri"/>
                        </a:rPr>
                        <a:t>Functional + Acceptance</a:t>
                      </a:r>
                    </a:p>
                  </a:txBody>
                  <a:tcPr marL="66675" marR="66675" marT="47625" marB="47625"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729559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BFD"/>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F38CCF-2C6B-4E40-A2EA-CF31480B7D94}"/>
              </a:ext>
            </a:extLst>
          </p:cNvPr>
          <p:cNvSpPr>
            <a:spLocks noGrp="1"/>
          </p:cNvSpPr>
          <p:nvPr/>
        </p:nvSpPr>
        <p:spPr>
          <a:xfrm>
            <a:off x="0" y="0"/>
            <a:ext cx="12192000" cy="114300"/>
          </a:xfrm>
          <a:prstGeom prst="rect">
            <a:avLst/>
          </a:prstGeom>
          <a:solidFill>
            <a:srgbClr val="00A3AD"/>
          </a:solidFill>
          <a:ln w="0">
            <a:solidFill>
              <a:srgbClr val="00A3AD"/>
            </a:solidFill>
            <a:prstDash val="solid"/>
          </a:ln>
        </p:spPr>
        <p:txBody>
          <a:bodyPr/>
          <a:lstStyle/>
          <a:p>
            <a:endParaRPr/>
          </a:p>
        </p:txBody>
      </p:sp>
      <p:sp>
        <p:nvSpPr>
          <p:cNvPr id="2" name="Rectangle 1">
            <a:extLst>
              <a:ext uri="{FF2B5EF4-FFF2-40B4-BE49-F238E27FC236}">
                <a16:creationId xmlns:a16="http://schemas.microsoft.com/office/drawing/2014/main" id="{365ACFD4-2D90-40D4-85EB-D2CFB8D9797F}"/>
              </a:ext>
            </a:extLst>
          </p:cNvPr>
          <p:cNvSpPr>
            <a:spLocks noGrp="1"/>
          </p:cNvSpPr>
          <p:nvPr/>
        </p:nvSpPr>
        <p:spPr>
          <a:xfrm>
            <a:off x="685800" y="342900"/>
            <a:ext cx="4000500" cy="209550"/>
          </a:xfrm>
          <a:prstGeom prst="rect">
            <a:avLst/>
          </a:prstGeom>
          <a:noFill/>
          <a:ln w="0">
            <a:noFill/>
            <a:prstDash val="solid"/>
          </a:ln>
        </p:spPr>
        <p:txBody>
          <a:bodyPr/>
          <a:lstStyle/>
          <a:p>
            <a:pPr>
              <a:buNone/>
              <a:defRPr sz="900" b="1">
                <a:solidFill>
                  <a:srgbClr val="009999"/>
                </a:solidFill>
              </a:defRPr>
            </a:pPr>
            <a:r>
              <a:rPr sz="900" b="1">
                <a:solidFill>
                  <a:srgbClr val="009999"/>
                </a:solidFill>
              </a:rPr>
              <a:t>VALIDATION</a:t>
            </a:r>
          </a:p>
        </p:txBody>
      </p:sp>
      <p:sp>
        <p:nvSpPr>
          <p:cNvPr id="33" name="Rectangle 32">
            <a:extLst>
              <a:ext uri="{FF2B5EF4-FFF2-40B4-BE49-F238E27FC236}">
                <a16:creationId xmlns:a16="http://schemas.microsoft.com/office/drawing/2014/main" id="{AA175B47-92A8-411A-BC39-8148DF52B3BD}"/>
              </a:ext>
            </a:extLst>
          </p:cNvPr>
          <p:cNvSpPr>
            <a:spLocks noGrp="1"/>
          </p:cNvSpPr>
          <p:nvPr/>
        </p:nvSpPr>
        <p:spPr>
          <a:xfrm>
            <a:off x="685800" y="6419850"/>
            <a:ext cx="5905500" cy="228600"/>
          </a:xfrm>
          <a:prstGeom prst="rect">
            <a:avLst/>
          </a:prstGeom>
          <a:noFill/>
          <a:ln w="0">
            <a:noFill/>
            <a:prstDash val="solid"/>
          </a:ln>
        </p:spPr>
        <p:txBody>
          <a:bodyPr/>
          <a:lstStyle/>
          <a:p>
            <a:pPr>
              <a:buNone/>
              <a:defRPr sz="900" b="0">
                <a:solidFill>
                  <a:srgbClr val="5B6B78"/>
                </a:solidFill>
              </a:defRPr>
            </a:pPr>
            <a:r>
              <a:rPr lang="en-US" sz="900" dirty="0">
                <a:solidFill>
                  <a:srgbClr val="5B6B78"/>
                </a:solidFill>
              </a:rPr>
              <a:t>AI-powered enterprise document retrieval system | Md Fahim Hossain | July 2026</a:t>
            </a:r>
          </a:p>
        </p:txBody>
      </p:sp>
      <p:sp>
        <p:nvSpPr>
          <p:cNvPr id="34" name="Rectangle 33">
            <a:extLst>
              <a:ext uri="{FF2B5EF4-FFF2-40B4-BE49-F238E27FC236}">
                <a16:creationId xmlns:a16="http://schemas.microsoft.com/office/drawing/2014/main" id="{1A2E2571-65AA-44C8-AEF7-DB7C4B02B5BB}"/>
              </a:ext>
            </a:extLst>
          </p:cNvPr>
          <p:cNvSpPr>
            <a:spLocks noGrp="1"/>
          </p:cNvSpPr>
          <p:nvPr/>
        </p:nvSpPr>
        <p:spPr>
          <a:xfrm>
            <a:off x="10820400" y="6419850"/>
            <a:ext cx="685800" cy="228600"/>
          </a:xfrm>
          <a:prstGeom prst="rect">
            <a:avLst/>
          </a:prstGeom>
          <a:noFill/>
          <a:ln w="0">
            <a:noFill/>
            <a:prstDash val="solid"/>
          </a:ln>
        </p:spPr>
        <p:txBody>
          <a:bodyPr/>
          <a:lstStyle/>
          <a:p>
            <a:pPr algn="r">
              <a:buNone/>
              <a:defRPr sz="900" b="1">
                <a:solidFill>
                  <a:srgbClr val="0077B6"/>
                </a:solidFill>
              </a:defRPr>
            </a:pPr>
            <a:r>
              <a:rPr sz="900" b="1">
                <a:solidFill>
                  <a:srgbClr val="0077B6"/>
                </a:solidFill>
              </a:rPr>
              <a:t>07 / 11</a:t>
            </a:r>
          </a:p>
        </p:txBody>
      </p:sp>
      <p:pic>
        <p:nvPicPr>
          <p:cNvPr id="68" name="Picture 20"/>
          <p:cNvPicPr>
            <a:picLocks noChangeAspect="1"/>
          </p:cNvPicPr>
          <p:nvPr/>
        </p:nvPicPr>
        <p:blipFill>
          <a:blip r:embed="rId3"/>
          <a:stretch>
            <a:fillRect/>
          </a:stretch>
        </p:blipFill>
        <p:spPr>
          <a:xfrm>
            <a:off x="10820400" y="326316"/>
            <a:ext cx="1156607" cy="397584"/>
          </a:xfrm>
          <a:prstGeom prst="rect">
            <a:avLst/>
          </a:prstGeom>
        </p:spPr>
      </p:pic>
      <p:sp>
        <p:nvSpPr>
          <p:cNvPr id="80" name="Rectangle 79">
            <a:extLst>
              <a:ext uri="{FF2B5EF4-FFF2-40B4-BE49-F238E27FC236}">
                <a16:creationId xmlns:a16="http://schemas.microsoft.com/office/drawing/2014/main" id="{447F0083-3F1E-9C40-6DFE-F143B4692371}"/>
              </a:ext>
            </a:extLst>
          </p:cNvPr>
          <p:cNvSpPr>
            <a:spLocks noGrp="1"/>
          </p:cNvSpPr>
          <p:nvPr/>
        </p:nvSpPr>
        <p:spPr>
          <a:xfrm>
            <a:off x="685800" y="609600"/>
            <a:ext cx="7810500" cy="495300"/>
          </a:xfrm>
          <a:prstGeom prst="rect">
            <a:avLst/>
          </a:prstGeom>
          <a:noFill/>
          <a:ln w="0">
            <a:noFill/>
            <a:prstDash val="solid"/>
          </a:ln>
        </p:spPr>
        <p:txBody>
          <a:bodyPr/>
          <a:lstStyle/>
          <a:p>
            <a:pPr algn="l">
              <a:buNone/>
              <a:defRPr sz="2850" b="1">
                <a:solidFill>
                  <a:srgbClr val="083344"/>
                </a:solidFill>
              </a:defRPr>
            </a:pPr>
            <a:r>
              <a:rPr sz="2850" b="1" dirty="0">
                <a:solidFill>
                  <a:srgbClr val="083344"/>
                </a:solidFill>
              </a:rPr>
              <a:t>End-to-End Tests</a:t>
            </a:r>
          </a:p>
        </p:txBody>
      </p:sp>
      <p:sp>
        <p:nvSpPr>
          <p:cNvPr id="82" name="Rectangle: Rounded Corners 81">
            <a:extLst>
              <a:ext uri="{FF2B5EF4-FFF2-40B4-BE49-F238E27FC236}">
                <a16:creationId xmlns:a16="http://schemas.microsoft.com/office/drawing/2014/main" id="{47846899-1D58-0B6E-7441-0E12C686C2E8}"/>
              </a:ext>
            </a:extLst>
          </p:cNvPr>
          <p:cNvSpPr>
            <a:spLocks noGrp="1"/>
          </p:cNvSpPr>
          <p:nvPr/>
        </p:nvSpPr>
        <p:spPr>
          <a:xfrm>
            <a:off x="819150" y="1409700"/>
            <a:ext cx="4572000" cy="1581150"/>
          </a:xfrm>
          <a:prstGeom prst="roundRect">
            <a:avLst>
              <a:gd name="adj" fmla="val 5714"/>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dirty="0"/>
          </a:p>
        </p:txBody>
      </p:sp>
      <p:sp>
        <p:nvSpPr>
          <p:cNvPr id="84" name="Oval 83">
            <a:extLst>
              <a:ext uri="{FF2B5EF4-FFF2-40B4-BE49-F238E27FC236}">
                <a16:creationId xmlns:a16="http://schemas.microsoft.com/office/drawing/2014/main" id="{FD979A40-B589-A330-267D-0922CF9D7B03}"/>
              </a:ext>
            </a:extLst>
          </p:cNvPr>
          <p:cNvSpPr>
            <a:spLocks noGrp="1"/>
          </p:cNvSpPr>
          <p:nvPr/>
        </p:nvSpPr>
        <p:spPr>
          <a:xfrm>
            <a:off x="1047750" y="1609725"/>
            <a:ext cx="419100" cy="419100"/>
          </a:xfrm>
          <a:prstGeom prst="ellipse">
            <a:avLst/>
          </a:prstGeom>
          <a:solidFill>
            <a:srgbClr val="0077B6"/>
          </a:solidFill>
          <a:ln w="0">
            <a:solidFill>
              <a:srgbClr val="0077B6"/>
            </a:solidFill>
            <a:prstDash val="solid"/>
          </a:ln>
        </p:spPr>
        <p:txBody>
          <a:bodyPr/>
          <a:lstStyle/>
          <a:p>
            <a:endParaRPr/>
          </a:p>
        </p:txBody>
      </p:sp>
      <p:sp>
        <p:nvSpPr>
          <p:cNvPr id="86" name="Rectangle 85">
            <a:extLst>
              <a:ext uri="{FF2B5EF4-FFF2-40B4-BE49-F238E27FC236}">
                <a16:creationId xmlns:a16="http://schemas.microsoft.com/office/drawing/2014/main" id="{618FB314-8A88-FB86-5A3C-259338EC24A8}"/>
              </a:ext>
            </a:extLst>
          </p:cNvPr>
          <p:cNvSpPr>
            <a:spLocks noGrp="1"/>
          </p:cNvSpPr>
          <p:nvPr/>
        </p:nvSpPr>
        <p:spPr>
          <a:xfrm>
            <a:off x="1047750" y="1666875"/>
            <a:ext cx="419100" cy="22860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1</a:t>
            </a:r>
          </a:p>
        </p:txBody>
      </p:sp>
      <p:pic>
        <p:nvPicPr>
          <p:cNvPr id="88" name="Graphic 40">
            <a:extLst>
              <a:ext uri="{FF2B5EF4-FFF2-40B4-BE49-F238E27FC236}">
                <a16:creationId xmlns:a16="http://schemas.microsoft.com/office/drawing/2014/main" id="{7E8E9E63-A5F9-122C-BA66-2A502ED6F22E}"/>
              </a:ext>
            </a:extLst>
          </p:cNvPr>
          <p:cNvPicPr>
            <a:picLocks noChangeAspect="1"/>
          </p:cNvPicPr>
          <p:nvPr/>
        </p:nvPicPr>
        <p:blipFill>
          <a:blip>
            <a:extLst>
              <a:ext uri="{96DAC541-7B7A-43D3-8B79-37D633B846F1}">
                <asvg:svgBlip xmlns:asvg="http://schemas.microsoft.com/office/drawing/2016/SVG/main" r:embed="rId4"/>
              </a:ext>
            </a:extLst>
          </a:blip>
          <a:stretch/>
        </p:blipFill>
        <p:spPr>
          <a:xfrm>
            <a:off x="4857750" y="1609725"/>
            <a:ext cx="323850" cy="323850"/>
          </a:xfrm>
          <a:prstGeom prst="rect">
            <a:avLst/>
          </a:prstGeom>
        </p:spPr>
      </p:pic>
      <p:sp>
        <p:nvSpPr>
          <p:cNvPr id="90" name="Rectangle 89">
            <a:extLst>
              <a:ext uri="{FF2B5EF4-FFF2-40B4-BE49-F238E27FC236}">
                <a16:creationId xmlns:a16="http://schemas.microsoft.com/office/drawing/2014/main" id="{56C6760C-09B0-0402-1DAF-F0B6A86F58EB}"/>
              </a:ext>
            </a:extLst>
          </p:cNvPr>
          <p:cNvSpPr>
            <a:spLocks noGrp="1"/>
          </p:cNvSpPr>
          <p:nvPr/>
        </p:nvSpPr>
        <p:spPr>
          <a:xfrm>
            <a:off x="1657350" y="1411663"/>
            <a:ext cx="3028950" cy="819150"/>
          </a:xfrm>
          <a:prstGeom prst="rect">
            <a:avLst/>
          </a:prstGeom>
          <a:noFill/>
          <a:ln w="0">
            <a:noFill/>
            <a:prstDash val="solid"/>
          </a:ln>
        </p:spPr>
        <p:txBody>
          <a:bodyPr lIns="38100" tIns="38100" rIns="38100" bIns="38100" anchor="ctr"/>
          <a:lstStyle/>
          <a:p>
            <a:pPr algn="l">
              <a:buNone/>
              <a:defRPr sz="1500" b="1">
                <a:solidFill>
                  <a:srgbClr val="083344"/>
                </a:solidFill>
                <a:latin typeface="Calibri"/>
                <a:ea typeface="Calibri"/>
                <a:cs typeface="Calibri"/>
              </a:defRPr>
            </a:pPr>
            <a:r>
              <a:rPr sz="1500" b="1" dirty="0">
                <a:solidFill>
                  <a:srgbClr val="083344"/>
                </a:solidFill>
                <a:latin typeface="Calibri"/>
                <a:ea typeface="Calibri"/>
                <a:cs typeface="Calibri"/>
              </a:rPr>
              <a:t>Upload document
Processing reaches Ready</a:t>
            </a:r>
          </a:p>
        </p:txBody>
      </p:sp>
      <p:sp>
        <p:nvSpPr>
          <p:cNvPr id="92" name="Arrow: Right 91">
            <a:extLst>
              <a:ext uri="{FF2B5EF4-FFF2-40B4-BE49-F238E27FC236}">
                <a16:creationId xmlns:a16="http://schemas.microsoft.com/office/drawing/2014/main" id="{96318AAB-3677-EBD9-B739-E4E40E653AE0}"/>
              </a:ext>
            </a:extLst>
          </p:cNvPr>
          <p:cNvSpPr>
            <a:spLocks noGrp="1"/>
          </p:cNvSpPr>
          <p:nvPr/>
        </p:nvSpPr>
        <p:spPr>
          <a:xfrm>
            <a:off x="5581650" y="2000250"/>
            <a:ext cx="1028700" cy="342900"/>
          </a:xfrm>
          <a:prstGeom prst="rightArrow">
            <a:avLst/>
          </a:prstGeom>
          <a:solidFill>
            <a:srgbClr val="00A3AD"/>
          </a:solidFill>
          <a:ln w="0">
            <a:solidFill>
              <a:srgbClr val="00A3AD"/>
            </a:solidFill>
            <a:prstDash val="solid"/>
          </a:ln>
        </p:spPr>
        <p:txBody>
          <a:bodyPr/>
          <a:lstStyle/>
          <a:p>
            <a:endParaRPr/>
          </a:p>
        </p:txBody>
      </p:sp>
      <p:sp>
        <p:nvSpPr>
          <p:cNvPr id="94" name="Rectangle: Rounded Corners 93">
            <a:extLst>
              <a:ext uri="{FF2B5EF4-FFF2-40B4-BE49-F238E27FC236}">
                <a16:creationId xmlns:a16="http://schemas.microsoft.com/office/drawing/2014/main" id="{702ABC96-00B5-6960-8E84-33B1B92DDF4A}"/>
              </a:ext>
            </a:extLst>
          </p:cNvPr>
          <p:cNvSpPr>
            <a:spLocks noGrp="1"/>
          </p:cNvSpPr>
          <p:nvPr/>
        </p:nvSpPr>
        <p:spPr>
          <a:xfrm>
            <a:off x="6800850" y="1409700"/>
            <a:ext cx="4572000" cy="1581150"/>
          </a:xfrm>
          <a:prstGeom prst="roundRect">
            <a:avLst>
              <a:gd name="adj" fmla="val 5714"/>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a:p>
        </p:txBody>
      </p:sp>
      <p:sp>
        <p:nvSpPr>
          <p:cNvPr id="96" name="Oval 95">
            <a:extLst>
              <a:ext uri="{FF2B5EF4-FFF2-40B4-BE49-F238E27FC236}">
                <a16:creationId xmlns:a16="http://schemas.microsoft.com/office/drawing/2014/main" id="{CF45004F-1EE3-5902-0E93-8E805A3CA0CC}"/>
              </a:ext>
            </a:extLst>
          </p:cNvPr>
          <p:cNvSpPr>
            <a:spLocks noGrp="1"/>
          </p:cNvSpPr>
          <p:nvPr/>
        </p:nvSpPr>
        <p:spPr>
          <a:xfrm>
            <a:off x="7029450" y="1609725"/>
            <a:ext cx="419100" cy="419100"/>
          </a:xfrm>
          <a:prstGeom prst="ellipse">
            <a:avLst/>
          </a:prstGeom>
          <a:solidFill>
            <a:srgbClr val="009999"/>
          </a:solidFill>
          <a:ln w="0">
            <a:solidFill>
              <a:srgbClr val="009999"/>
            </a:solidFill>
            <a:prstDash val="solid"/>
          </a:ln>
        </p:spPr>
        <p:txBody>
          <a:bodyPr/>
          <a:lstStyle/>
          <a:p>
            <a:endParaRPr/>
          </a:p>
        </p:txBody>
      </p:sp>
      <p:sp>
        <p:nvSpPr>
          <p:cNvPr id="98" name="Rectangle 97">
            <a:extLst>
              <a:ext uri="{FF2B5EF4-FFF2-40B4-BE49-F238E27FC236}">
                <a16:creationId xmlns:a16="http://schemas.microsoft.com/office/drawing/2014/main" id="{A7229DAB-3729-B5B2-0D28-04F1688E77EF}"/>
              </a:ext>
            </a:extLst>
          </p:cNvPr>
          <p:cNvSpPr>
            <a:spLocks noGrp="1"/>
          </p:cNvSpPr>
          <p:nvPr/>
        </p:nvSpPr>
        <p:spPr>
          <a:xfrm>
            <a:off x="7029450" y="1666875"/>
            <a:ext cx="419100" cy="22860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2</a:t>
            </a:r>
          </a:p>
        </p:txBody>
      </p:sp>
      <p:pic>
        <p:nvPicPr>
          <p:cNvPr id="100" name="Graphic 47">
            <a:extLst>
              <a:ext uri="{FF2B5EF4-FFF2-40B4-BE49-F238E27FC236}">
                <a16:creationId xmlns:a16="http://schemas.microsoft.com/office/drawing/2014/main" id="{B57B2692-77F3-93CF-5EF0-CC86703F55A5}"/>
              </a:ext>
            </a:extLst>
          </p:cNvPr>
          <p:cNvPicPr>
            <a:picLocks noChangeAspect="1"/>
          </p:cNvPicPr>
          <p:nvPr/>
        </p:nvPicPr>
        <p:blipFill>
          <a:blip>
            <a:extLst>
              <a:ext uri="{96DAC541-7B7A-43D3-8B79-37D633B846F1}">
                <asvg:svgBlip xmlns:asvg="http://schemas.microsoft.com/office/drawing/2016/SVG/main" r:embed="rId5"/>
              </a:ext>
            </a:extLst>
          </a:blip>
          <a:stretch/>
        </p:blipFill>
        <p:spPr>
          <a:xfrm>
            <a:off x="10839450" y="1609725"/>
            <a:ext cx="323850" cy="323850"/>
          </a:xfrm>
          <a:prstGeom prst="rect">
            <a:avLst/>
          </a:prstGeom>
        </p:spPr>
      </p:pic>
      <p:sp>
        <p:nvSpPr>
          <p:cNvPr id="102" name="Rectangle 101">
            <a:extLst>
              <a:ext uri="{FF2B5EF4-FFF2-40B4-BE49-F238E27FC236}">
                <a16:creationId xmlns:a16="http://schemas.microsoft.com/office/drawing/2014/main" id="{EFE2AC49-871F-6DF1-B878-E89D91D03930}"/>
              </a:ext>
            </a:extLst>
          </p:cNvPr>
          <p:cNvSpPr>
            <a:spLocks noGrp="1"/>
          </p:cNvSpPr>
          <p:nvPr/>
        </p:nvSpPr>
        <p:spPr>
          <a:xfrm>
            <a:off x="7629525" y="1411663"/>
            <a:ext cx="3028950" cy="819150"/>
          </a:xfrm>
          <a:prstGeom prst="rect">
            <a:avLst/>
          </a:prstGeom>
          <a:noFill/>
          <a:ln w="0">
            <a:noFill/>
            <a:prstDash val="solid"/>
          </a:ln>
        </p:spPr>
        <p:txBody>
          <a:bodyPr lIns="38100" tIns="38100" rIns="38100" bIns="38100" anchor="ctr"/>
          <a:lstStyle/>
          <a:p>
            <a:pPr algn="l">
              <a:buNone/>
              <a:defRPr sz="1500" b="1">
                <a:solidFill>
                  <a:srgbClr val="083344"/>
                </a:solidFill>
                <a:latin typeface="Calibri"/>
                <a:ea typeface="Calibri"/>
                <a:cs typeface="Calibri"/>
              </a:defRPr>
            </a:pPr>
            <a:r>
              <a:rPr sz="1500" b="1" dirty="0">
                <a:solidFill>
                  <a:srgbClr val="083344"/>
                </a:solidFill>
                <a:latin typeface="Calibri"/>
                <a:ea typeface="Calibri"/>
                <a:cs typeface="Calibri"/>
              </a:rPr>
              <a:t>Select Ready documents
Ask a natural-language question</a:t>
            </a:r>
          </a:p>
        </p:txBody>
      </p:sp>
      <p:sp>
        <p:nvSpPr>
          <p:cNvPr id="104" name="Arrow: Right 103">
            <a:extLst>
              <a:ext uri="{FF2B5EF4-FFF2-40B4-BE49-F238E27FC236}">
                <a16:creationId xmlns:a16="http://schemas.microsoft.com/office/drawing/2014/main" id="{EC82AE79-CEB8-F66D-D9FF-94C2E86D6075}"/>
              </a:ext>
            </a:extLst>
          </p:cNvPr>
          <p:cNvSpPr>
            <a:spLocks noGrp="1"/>
          </p:cNvSpPr>
          <p:nvPr/>
        </p:nvSpPr>
        <p:spPr>
          <a:xfrm rot="5400000">
            <a:off x="9010650" y="3114675"/>
            <a:ext cx="514350" cy="323850"/>
          </a:xfrm>
          <a:prstGeom prst="rightArrow">
            <a:avLst/>
          </a:prstGeom>
          <a:solidFill>
            <a:srgbClr val="00A3AD"/>
          </a:solidFill>
          <a:ln w="0">
            <a:solidFill>
              <a:srgbClr val="00A3AD"/>
            </a:solidFill>
            <a:prstDash val="solid"/>
          </a:ln>
        </p:spPr>
        <p:txBody>
          <a:bodyPr/>
          <a:lstStyle/>
          <a:p>
            <a:endParaRPr/>
          </a:p>
        </p:txBody>
      </p:sp>
      <p:sp>
        <p:nvSpPr>
          <p:cNvPr id="106" name="Rectangle: Rounded Corners 105">
            <a:extLst>
              <a:ext uri="{FF2B5EF4-FFF2-40B4-BE49-F238E27FC236}">
                <a16:creationId xmlns:a16="http://schemas.microsoft.com/office/drawing/2014/main" id="{DF99CDA7-EF42-9557-481F-7CEF924A9E25}"/>
              </a:ext>
            </a:extLst>
          </p:cNvPr>
          <p:cNvSpPr>
            <a:spLocks noGrp="1"/>
          </p:cNvSpPr>
          <p:nvPr/>
        </p:nvSpPr>
        <p:spPr>
          <a:xfrm>
            <a:off x="6800850" y="3676650"/>
            <a:ext cx="4572000" cy="1581150"/>
          </a:xfrm>
          <a:prstGeom prst="roundRect">
            <a:avLst>
              <a:gd name="adj" fmla="val 5714"/>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a:p>
        </p:txBody>
      </p:sp>
      <p:sp>
        <p:nvSpPr>
          <p:cNvPr id="108" name="Oval 107">
            <a:extLst>
              <a:ext uri="{FF2B5EF4-FFF2-40B4-BE49-F238E27FC236}">
                <a16:creationId xmlns:a16="http://schemas.microsoft.com/office/drawing/2014/main" id="{470EB0C9-1860-5451-E0C3-EBD06571599C}"/>
              </a:ext>
            </a:extLst>
          </p:cNvPr>
          <p:cNvSpPr>
            <a:spLocks noGrp="1"/>
          </p:cNvSpPr>
          <p:nvPr/>
        </p:nvSpPr>
        <p:spPr>
          <a:xfrm>
            <a:off x="7029450" y="3876675"/>
            <a:ext cx="419100" cy="419100"/>
          </a:xfrm>
          <a:prstGeom prst="ellipse">
            <a:avLst/>
          </a:prstGeom>
          <a:solidFill>
            <a:srgbClr val="2CA58D"/>
          </a:solidFill>
          <a:ln w="0">
            <a:solidFill>
              <a:srgbClr val="2CA58D"/>
            </a:solidFill>
            <a:prstDash val="solid"/>
          </a:ln>
        </p:spPr>
        <p:txBody>
          <a:bodyPr/>
          <a:lstStyle/>
          <a:p>
            <a:endParaRPr/>
          </a:p>
        </p:txBody>
      </p:sp>
      <p:sp>
        <p:nvSpPr>
          <p:cNvPr id="110" name="Rectangle 109">
            <a:extLst>
              <a:ext uri="{FF2B5EF4-FFF2-40B4-BE49-F238E27FC236}">
                <a16:creationId xmlns:a16="http://schemas.microsoft.com/office/drawing/2014/main" id="{628C2DBA-6076-F63B-0415-BB22D6D286D1}"/>
              </a:ext>
            </a:extLst>
          </p:cNvPr>
          <p:cNvSpPr>
            <a:spLocks noGrp="1"/>
          </p:cNvSpPr>
          <p:nvPr/>
        </p:nvSpPr>
        <p:spPr>
          <a:xfrm>
            <a:off x="7029450" y="3933825"/>
            <a:ext cx="419100" cy="22860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3</a:t>
            </a:r>
          </a:p>
        </p:txBody>
      </p:sp>
      <p:pic>
        <p:nvPicPr>
          <p:cNvPr id="112" name="Graphic 54">
            <a:extLst>
              <a:ext uri="{FF2B5EF4-FFF2-40B4-BE49-F238E27FC236}">
                <a16:creationId xmlns:a16="http://schemas.microsoft.com/office/drawing/2014/main" id="{616FD8DC-6131-93C1-90BD-BFF63995395F}"/>
              </a:ext>
            </a:extLst>
          </p:cNvPr>
          <p:cNvPicPr>
            <a:picLocks noChangeAspect="1"/>
          </p:cNvPicPr>
          <p:nvPr/>
        </p:nvPicPr>
        <p:blipFill>
          <a:blip>
            <a:extLst>
              <a:ext uri="{96DAC541-7B7A-43D3-8B79-37D633B846F1}">
                <asvg:svgBlip xmlns:asvg="http://schemas.microsoft.com/office/drawing/2016/SVG/main" r:embed="rId6"/>
              </a:ext>
            </a:extLst>
          </a:blip>
          <a:stretch/>
        </p:blipFill>
        <p:spPr>
          <a:xfrm>
            <a:off x="10839450" y="3876675"/>
            <a:ext cx="323850" cy="323850"/>
          </a:xfrm>
          <a:prstGeom prst="rect">
            <a:avLst/>
          </a:prstGeom>
        </p:spPr>
      </p:pic>
      <p:sp>
        <p:nvSpPr>
          <p:cNvPr id="114" name="Rectangle 113">
            <a:extLst>
              <a:ext uri="{FF2B5EF4-FFF2-40B4-BE49-F238E27FC236}">
                <a16:creationId xmlns:a16="http://schemas.microsoft.com/office/drawing/2014/main" id="{D0F0AA84-0B68-F11D-24A3-B27124BFC104}"/>
              </a:ext>
            </a:extLst>
          </p:cNvPr>
          <p:cNvSpPr>
            <a:spLocks noGrp="1"/>
          </p:cNvSpPr>
          <p:nvPr/>
        </p:nvSpPr>
        <p:spPr>
          <a:xfrm>
            <a:off x="7629525" y="3676650"/>
            <a:ext cx="3028950" cy="819150"/>
          </a:xfrm>
          <a:prstGeom prst="rect">
            <a:avLst/>
          </a:prstGeom>
          <a:noFill/>
          <a:ln w="0">
            <a:noFill/>
            <a:prstDash val="solid"/>
          </a:ln>
        </p:spPr>
        <p:txBody>
          <a:bodyPr lIns="38100" tIns="38100" rIns="38100" bIns="38100" anchor="ctr"/>
          <a:lstStyle/>
          <a:p>
            <a:pPr algn="l">
              <a:buNone/>
              <a:defRPr sz="1500" b="1">
                <a:solidFill>
                  <a:srgbClr val="083344"/>
                </a:solidFill>
                <a:latin typeface="Calibri"/>
                <a:ea typeface="Calibri"/>
                <a:cs typeface="Calibri"/>
              </a:defRPr>
            </a:pPr>
            <a:r>
              <a:rPr sz="1500" b="1" dirty="0">
                <a:solidFill>
                  <a:srgbClr val="083344"/>
                </a:solidFill>
                <a:latin typeface="Calibri"/>
                <a:ea typeface="Calibri"/>
                <a:cs typeface="Calibri"/>
              </a:rPr>
              <a:t>Retrieve grounded answer
Display source references</a:t>
            </a:r>
          </a:p>
        </p:txBody>
      </p:sp>
      <p:sp>
        <p:nvSpPr>
          <p:cNvPr id="116" name="Arrow: Right 115">
            <a:extLst>
              <a:ext uri="{FF2B5EF4-FFF2-40B4-BE49-F238E27FC236}">
                <a16:creationId xmlns:a16="http://schemas.microsoft.com/office/drawing/2014/main" id="{5CA61C99-46E9-3417-8409-ACEEBA309960}"/>
              </a:ext>
            </a:extLst>
          </p:cNvPr>
          <p:cNvSpPr>
            <a:spLocks noGrp="1"/>
          </p:cNvSpPr>
          <p:nvPr/>
        </p:nvSpPr>
        <p:spPr>
          <a:xfrm rot="10800000">
            <a:off x="5581650" y="4267200"/>
            <a:ext cx="1028700" cy="342900"/>
          </a:xfrm>
          <a:prstGeom prst="rightArrow">
            <a:avLst/>
          </a:prstGeom>
          <a:solidFill>
            <a:srgbClr val="00A3AD"/>
          </a:solidFill>
          <a:ln w="0">
            <a:solidFill>
              <a:srgbClr val="00A3AD"/>
            </a:solidFill>
            <a:prstDash val="solid"/>
          </a:ln>
        </p:spPr>
        <p:txBody>
          <a:bodyPr/>
          <a:lstStyle/>
          <a:p>
            <a:endParaRPr/>
          </a:p>
        </p:txBody>
      </p:sp>
      <p:sp>
        <p:nvSpPr>
          <p:cNvPr id="118" name="Rectangle: Rounded Corners 117">
            <a:extLst>
              <a:ext uri="{FF2B5EF4-FFF2-40B4-BE49-F238E27FC236}">
                <a16:creationId xmlns:a16="http://schemas.microsoft.com/office/drawing/2014/main" id="{A2A23BC9-C646-0739-504C-FE44DC70ACF7}"/>
              </a:ext>
            </a:extLst>
          </p:cNvPr>
          <p:cNvSpPr>
            <a:spLocks noGrp="1"/>
          </p:cNvSpPr>
          <p:nvPr/>
        </p:nvSpPr>
        <p:spPr>
          <a:xfrm>
            <a:off x="819150" y="3676650"/>
            <a:ext cx="4572000" cy="1581150"/>
          </a:xfrm>
          <a:prstGeom prst="roundRect">
            <a:avLst>
              <a:gd name="adj" fmla="val 5714"/>
            </a:avLst>
          </a:prstGeom>
          <a:solidFill>
            <a:srgbClr val="FFFFFF"/>
          </a:solidFill>
          <a:ln w="9525">
            <a:solidFill>
              <a:srgbClr val="D4E8EF"/>
            </a:solidFill>
            <a:prstDash val="solid"/>
          </a:ln>
        </p:spPr>
        <p:style>
          <a:lnRef idx="0">
            <a:scrgbClr r="0" g="0" b="0"/>
          </a:lnRef>
          <a:fillRef idx="0">
            <a:scrgbClr r="0" g="0" b="0"/>
          </a:fillRef>
          <a:effectRef idx="4">
            <a:scrgbClr r="0" g="0" b="0"/>
          </a:effectRef>
          <a:fontRef idx="major"/>
        </p:style>
        <p:txBody>
          <a:bodyPr/>
          <a:lstStyle/>
          <a:p>
            <a:endParaRPr/>
          </a:p>
        </p:txBody>
      </p:sp>
      <p:sp>
        <p:nvSpPr>
          <p:cNvPr id="120" name="Oval 119">
            <a:extLst>
              <a:ext uri="{FF2B5EF4-FFF2-40B4-BE49-F238E27FC236}">
                <a16:creationId xmlns:a16="http://schemas.microsoft.com/office/drawing/2014/main" id="{0F0E4C6F-8C04-5EAE-3961-B40C15999A6C}"/>
              </a:ext>
            </a:extLst>
          </p:cNvPr>
          <p:cNvSpPr>
            <a:spLocks noGrp="1"/>
          </p:cNvSpPr>
          <p:nvPr/>
        </p:nvSpPr>
        <p:spPr>
          <a:xfrm>
            <a:off x="1047750" y="3876675"/>
            <a:ext cx="419100" cy="419100"/>
          </a:xfrm>
          <a:prstGeom prst="ellipse">
            <a:avLst/>
          </a:prstGeom>
          <a:solidFill>
            <a:srgbClr val="F28C28"/>
          </a:solidFill>
          <a:ln w="0">
            <a:solidFill>
              <a:srgbClr val="F28C28"/>
            </a:solidFill>
            <a:prstDash val="solid"/>
          </a:ln>
        </p:spPr>
        <p:txBody>
          <a:bodyPr/>
          <a:lstStyle/>
          <a:p>
            <a:endParaRPr/>
          </a:p>
        </p:txBody>
      </p:sp>
      <p:sp>
        <p:nvSpPr>
          <p:cNvPr id="122" name="Rectangle 121">
            <a:extLst>
              <a:ext uri="{FF2B5EF4-FFF2-40B4-BE49-F238E27FC236}">
                <a16:creationId xmlns:a16="http://schemas.microsoft.com/office/drawing/2014/main" id="{094F01FE-7338-CFB4-011B-7AFA4859BCA7}"/>
              </a:ext>
            </a:extLst>
          </p:cNvPr>
          <p:cNvSpPr>
            <a:spLocks noGrp="1"/>
          </p:cNvSpPr>
          <p:nvPr/>
        </p:nvSpPr>
        <p:spPr>
          <a:xfrm>
            <a:off x="1047750" y="3933825"/>
            <a:ext cx="419100" cy="22860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4</a:t>
            </a:r>
          </a:p>
        </p:txBody>
      </p:sp>
      <p:pic>
        <p:nvPicPr>
          <p:cNvPr id="124" name="Graphic 61">
            <a:extLst>
              <a:ext uri="{FF2B5EF4-FFF2-40B4-BE49-F238E27FC236}">
                <a16:creationId xmlns:a16="http://schemas.microsoft.com/office/drawing/2014/main" id="{930EF79C-9028-C3B0-D949-92D3080076FB}"/>
              </a:ext>
            </a:extLst>
          </p:cNvPr>
          <p:cNvPicPr>
            <a:picLocks noChangeAspect="1"/>
          </p:cNvPicPr>
          <p:nvPr/>
        </p:nvPicPr>
        <p:blipFill>
          <a:blip>
            <a:extLst>
              <a:ext uri="{96DAC541-7B7A-43D3-8B79-37D633B846F1}">
                <asvg:svgBlip xmlns:asvg="http://schemas.microsoft.com/office/drawing/2016/SVG/main" r:embed="rId7"/>
              </a:ext>
            </a:extLst>
          </a:blip>
          <a:stretch/>
        </p:blipFill>
        <p:spPr>
          <a:xfrm>
            <a:off x="4857750" y="3876675"/>
            <a:ext cx="323850" cy="323850"/>
          </a:xfrm>
          <a:prstGeom prst="rect">
            <a:avLst/>
          </a:prstGeom>
        </p:spPr>
      </p:pic>
      <p:sp>
        <p:nvSpPr>
          <p:cNvPr id="126" name="Rectangle 125">
            <a:extLst>
              <a:ext uri="{FF2B5EF4-FFF2-40B4-BE49-F238E27FC236}">
                <a16:creationId xmlns:a16="http://schemas.microsoft.com/office/drawing/2014/main" id="{8F996805-8EDC-0D03-EF50-D58DE2244113}"/>
              </a:ext>
            </a:extLst>
          </p:cNvPr>
          <p:cNvSpPr>
            <a:spLocks noGrp="1"/>
          </p:cNvSpPr>
          <p:nvPr/>
        </p:nvSpPr>
        <p:spPr>
          <a:xfrm>
            <a:off x="1657350" y="3676650"/>
            <a:ext cx="3028950" cy="819150"/>
          </a:xfrm>
          <a:prstGeom prst="rect">
            <a:avLst/>
          </a:prstGeom>
          <a:noFill/>
          <a:ln w="0">
            <a:noFill/>
            <a:prstDash val="solid"/>
          </a:ln>
        </p:spPr>
        <p:txBody>
          <a:bodyPr lIns="38100" tIns="38100" rIns="38100" bIns="38100" anchor="ctr"/>
          <a:lstStyle/>
          <a:p>
            <a:pPr algn="l">
              <a:buNone/>
              <a:defRPr sz="1500" b="1">
                <a:solidFill>
                  <a:srgbClr val="083344"/>
                </a:solidFill>
                <a:latin typeface="Calibri"/>
                <a:ea typeface="Calibri"/>
                <a:cs typeface="Calibri"/>
              </a:defRPr>
            </a:pPr>
            <a:r>
              <a:rPr sz="1500" b="1" dirty="0">
                <a:solidFill>
                  <a:srgbClr val="083344"/>
                </a:solidFill>
                <a:latin typeface="Calibri"/>
                <a:ea typeface="Calibri"/>
                <a:cs typeface="Calibri"/>
              </a:rPr>
              <a:t>Reopen conversation
Continue with preserved history</a:t>
            </a:r>
          </a:p>
        </p:txBody>
      </p:sp>
      <p:sp>
        <p:nvSpPr>
          <p:cNvPr id="127" name="TextBox 126">
            <a:extLst>
              <a:ext uri="{FF2B5EF4-FFF2-40B4-BE49-F238E27FC236}">
                <a16:creationId xmlns:a16="http://schemas.microsoft.com/office/drawing/2014/main" id="{AE8AD235-9177-B5C8-90F4-AE58CE74D06A}"/>
              </a:ext>
            </a:extLst>
          </p:cNvPr>
          <p:cNvSpPr txBox="1"/>
          <p:nvPr/>
        </p:nvSpPr>
        <p:spPr>
          <a:xfrm>
            <a:off x="1575725" y="2162273"/>
            <a:ext cx="3013517" cy="523220"/>
          </a:xfrm>
          <a:prstGeom prst="rect">
            <a:avLst/>
          </a:prstGeom>
          <a:noFill/>
        </p:spPr>
        <p:txBody>
          <a:bodyPr wrap="none" rtlCol="0">
            <a:spAutoFit/>
          </a:bodyPr>
          <a:lstStyle/>
          <a:p>
            <a:pPr marL="285750" indent="-285750">
              <a:buFont typeface="Arial" panose="020B0604020202020204" pitchFamily="34" charset="0"/>
              <a:buChar char="•"/>
            </a:pPr>
            <a:r>
              <a:rPr lang="en-US" sz="1400" dirty="0">
                <a:solidFill>
                  <a:schemeClr val="tx1">
                    <a:lumMod val="75000"/>
                    <a:lumOff val="25000"/>
                  </a:schemeClr>
                </a:solidFill>
              </a:rPr>
              <a:t>Upload accepted &amp; status tracked</a:t>
            </a:r>
          </a:p>
          <a:p>
            <a:pPr marL="285750" indent="-285750">
              <a:buFont typeface="Arial" panose="020B0604020202020204" pitchFamily="34" charset="0"/>
              <a:buChar char="•"/>
            </a:pPr>
            <a:r>
              <a:rPr lang="en-US" sz="1400" dirty="0">
                <a:solidFill>
                  <a:schemeClr val="tx1">
                    <a:lumMod val="75000"/>
                    <a:lumOff val="25000"/>
                  </a:schemeClr>
                </a:solidFill>
              </a:rPr>
              <a:t>Failed docs excluded from retrieval</a:t>
            </a:r>
          </a:p>
        </p:txBody>
      </p:sp>
      <p:sp>
        <p:nvSpPr>
          <p:cNvPr id="129" name="TextBox 128">
            <a:extLst>
              <a:ext uri="{FF2B5EF4-FFF2-40B4-BE49-F238E27FC236}">
                <a16:creationId xmlns:a16="http://schemas.microsoft.com/office/drawing/2014/main" id="{7DE8EF90-69C2-AF83-93FD-C11136EB9B69}"/>
              </a:ext>
            </a:extLst>
          </p:cNvPr>
          <p:cNvSpPr txBox="1"/>
          <p:nvPr/>
        </p:nvSpPr>
        <p:spPr>
          <a:xfrm>
            <a:off x="7580091" y="2138592"/>
            <a:ext cx="3013517" cy="523220"/>
          </a:xfrm>
          <a:prstGeom prst="rect">
            <a:avLst/>
          </a:prstGeom>
          <a:noFill/>
        </p:spPr>
        <p:txBody>
          <a:bodyPr wrap="none" rtlCol="0">
            <a:spAutoFit/>
          </a:bodyPr>
          <a:lstStyle/>
          <a:p>
            <a:pPr marL="285750" indent="-285750">
              <a:buFont typeface="Arial" panose="020B0604020202020204" pitchFamily="34" charset="0"/>
              <a:buChar char="•"/>
            </a:pPr>
            <a:r>
              <a:rPr lang="en-US" sz="1400" dirty="0">
                <a:solidFill>
                  <a:schemeClr val="tx1">
                    <a:lumMod val="75000"/>
                    <a:lumOff val="25000"/>
                  </a:schemeClr>
                </a:solidFill>
              </a:rPr>
              <a:t>Only user's own docs selectable</a:t>
            </a:r>
          </a:p>
          <a:p>
            <a:pPr marL="285750" indent="-285750">
              <a:buFont typeface="Arial" panose="020B0604020202020204" pitchFamily="34" charset="0"/>
              <a:buChar char="•"/>
            </a:pPr>
            <a:r>
              <a:rPr lang="en-US" sz="1400" dirty="0">
                <a:solidFill>
                  <a:schemeClr val="tx1">
                    <a:lumMod val="75000"/>
                    <a:lumOff val="25000"/>
                  </a:schemeClr>
                </a:solidFill>
              </a:rPr>
              <a:t>Natural-language query accepted</a:t>
            </a:r>
          </a:p>
        </p:txBody>
      </p:sp>
      <p:sp>
        <p:nvSpPr>
          <p:cNvPr id="131" name="TextBox 130">
            <a:extLst>
              <a:ext uri="{FF2B5EF4-FFF2-40B4-BE49-F238E27FC236}">
                <a16:creationId xmlns:a16="http://schemas.microsoft.com/office/drawing/2014/main" id="{C213A67D-D2F5-B200-EFA4-10BE1DE0A688}"/>
              </a:ext>
            </a:extLst>
          </p:cNvPr>
          <p:cNvSpPr txBox="1"/>
          <p:nvPr/>
        </p:nvSpPr>
        <p:spPr>
          <a:xfrm>
            <a:off x="7580091" y="4438650"/>
            <a:ext cx="3013517" cy="523220"/>
          </a:xfrm>
          <a:prstGeom prst="rect">
            <a:avLst/>
          </a:prstGeom>
          <a:noFill/>
        </p:spPr>
        <p:txBody>
          <a:bodyPr wrap="none" rtlCol="0">
            <a:spAutoFit/>
          </a:bodyPr>
          <a:lstStyle/>
          <a:p>
            <a:pPr marL="285750" indent="-285750">
              <a:buFont typeface="Arial" panose="020B0604020202020204" pitchFamily="34" charset="0"/>
              <a:buChar char="•"/>
            </a:pPr>
            <a:r>
              <a:rPr lang="en-US" sz="1400" dirty="0">
                <a:solidFill>
                  <a:schemeClr val="tx1">
                    <a:lumMod val="75000"/>
                    <a:lumOff val="25000"/>
                  </a:schemeClr>
                </a:solidFill>
              </a:rPr>
              <a:t>Relevant chunks retrieved via RAG</a:t>
            </a:r>
          </a:p>
          <a:p>
            <a:pPr marL="285750" indent="-285750">
              <a:buFont typeface="Arial" panose="020B0604020202020204" pitchFamily="34" charset="0"/>
              <a:buChar char="•"/>
            </a:pPr>
            <a:r>
              <a:rPr lang="en-US" sz="1400" dirty="0">
                <a:solidFill>
                  <a:schemeClr val="tx1">
                    <a:lumMod val="75000"/>
                    <a:lumOff val="25000"/>
                  </a:schemeClr>
                </a:solidFill>
              </a:rPr>
              <a:t>Response includes source citations</a:t>
            </a:r>
          </a:p>
        </p:txBody>
      </p:sp>
      <p:sp>
        <p:nvSpPr>
          <p:cNvPr id="133" name="TextBox 132">
            <a:extLst>
              <a:ext uri="{FF2B5EF4-FFF2-40B4-BE49-F238E27FC236}">
                <a16:creationId xmlns:a16="http://schemas.microsoft.com/office/drawing/2014/main" id="{76F70EB2-D222-8C82-6834-F5F7C49EEF7A}"/>
              </a:ext>
            </a:extLst>
          </p:cNvPr>
          <p:cNvSpPr txBox="1"/>
          <p:nvPr/>
        </p:nvSpPr>
        <p:spPr>
          <a:xfrm>
            <a:off x="1598391" y="4438650"/>
            <a:ext cx="3156762" cy="523220"/>
          </a:xfrm>
          <a:prstGeom prst="rect">
            <a:avLst/>
          </a:prstGeom>
          <a:noFill/>
        </p:spPr>
        <p:txBody>
          <a:bodyPr wrap="none" rtlCol="0">
            <a:spAutoFit/>
          </a:bodyPr>
          <a:lstStyle/>
          <a:p>
            <a:pPr marL="285750" indent="-285750">
              <a:buFont typeface="Arial" panose="020B0604020202020204" pitchFamily="34" charset="0"/>
              <a:buChar char="•"/>
            </a:pPr>
            <a:r>
              <a:rPr lang="en-US" sz="1400" dirty="0">
                <a:solidFill>
                  <a:schemeClr val="tx1">
                    <a:lumMod val="75000"/>
                    <a:lumOff val="25000"/>
                  </a:schemeClr>
                </a:solidFill>
              </a:rPr>
              <a:t>Follow-up questions keep context</a:t>
            </a:r>
          </a:p>
          <a:p>
            <a:pPr marL="285750" indent="-285750">
              <a:buFont typeface="Arial" panose="020B0604020202020204" pitchFamily="34" charset="0"/>
              <a:buChar char="•"/>
            </a:pPr>
            <a:r>
              <a:rPr lang="en-US" sz="1400" dirty="0">
                <a:solidFill>
                  <a:schemeClr val="tx1">
                    <a:lumMod val="75000"/>
                    <a:lumOff val="25000"/>
                  </a:schemeClr>
                </a:solidFill>
              </a:rPr>
              <a:t>Past conversations remain accessible</a:t>
            </a:r>
          </a:p>
        </p:txBody>
      </p:sp>
    </p:spTree>
    <p:extLst>
      <p:ext uri="{BB962C8B-B14F-4D97-AF65-F5344CB8AC3E}">
        <p14:creationId xmlns:p14="http://schemas.microsoft.com/office/powerpoint/2010/main" val="1477649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BFD"/>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C0C3861-1F49-4FC9-BE8A-9DC49AA17814}"/>
              </a:ext>
            </a:extLst>
          </p:cNvPr>
          <p:cNvSpPr>
            <a:spLocks noGrp="1"/>
          </p:cNvSpPr>
          <p:nvPr/>
        </p:nvSpPr>
        <p:spPr>
          <a:xfrm>
            <a:off x="0" y="0"/>
            <a:ext cx="12192000" cy="114300"/>
          </a:xfrm>
          <a:prstGeom prst="rect">
            <a:avLst/>
          </a:prstGeom>
          <a:solidFill>
            <a:srgbClr val="00A3AD"/>
          </a:solidFill>
          <a:ln w="0">
            <a:solidFill>
              <a:srgbClr val="00A3AD"/>
            </a:solidFill>
            <a:prstDash val="solid"/>
          </a:ln>
        </p:spPr>
        <p:txBody>
          <a:bodyPr/>
          <a:lstStyle/>
          <a:p>
            <a:endParaRPr/>
          </a:p>
        </p:txBody>
      </p:sp>
      <p:sp>
        <p:nvSpPr>
          <p:cNvPr id="2" name="Rectangle 1">
            <a:extLst>
              <a:ext uri="{FF2B5EF4-FFF2-40B4-BE49-F238E27FC236}">
                <a16:creationId xmlns:a16="http://schemas.microsoft.com/office/drawing/2014/main" id="{288F3D13-21B0-4D00-B8A0-76F7B1674049}"/>
              </a:ext>
            </a:extLst>
          </p:cNvPr>
          <p:cNvSpPr>
            <a:spLocks noGrp="1"/>
          </p:cNvSpPr>
          <p:nvPr/>
        </p:nvSpPr>
        <p:spPr>
          <a:xfrm>
            <a:off x="685800" y="342900"/>
            <a:ext cx="4000500" cy="209550"/>
          </a:xfrm>
          <a:prstGeom prst="rect">
            <a:avLst/>
          </a:prstGeom>
          <a:noFill/>
          <a:ln w="0">
            <a:noFill/>
            <a:prstDash val="solid"/>
          </a:ln>
        </p:spPr>
        <p:txBody>
          <a:bodyPr/>
          <a:lstStyle/>
          <a:p>
            <a:pPr>
              <a:buNone/>
              <a:defRPr sz="900" b="1">
                <a:solidFill>
                  <a:srgbClr val="009999"/>
                </a:solidFill>
              </a:defRPr>
            </a:pPr>
            <a:r>
              <a:rPr sz="900" b="1">
                <a:solidFill>
                  <a:srgbClr val="009999"/>
                </a:solidFill>
              </a:rPr>
              <a:t>VALIDATION</a:t>
            </a:r>
          </a:p>
        </p:txBody>
      </p:sp>
      <p:sp>
        <p:nvSpPr>
          <p:cNvPr id="32" name="Rectangle 31">
            <a:extLst>
              <a:ext uri="{FF2B5EF4-FFF2-40B4-BE49-F238E27FC236}">
                <a16:creationId xmlns:a16="http://schemas.microsoft.com/office/drawing/2014/main" id="{884FDB43-7AA5-4000-9B37-45239601D72F}"/>
              </a:ext>
            </a:extLst>
          </p:cNvPr>
          <p:cNvSpPr>
            <a:spLocks noGrp="1"/>
          </p:cNvSpPr>
          <p:nvPr/>
        </p:nvSpPr>
        <p:spPr>
          <a:xfrm>
            <a:off x="685800" y="6419850"/>
            <a:ext cx="5905500" cy="228600"/>
          </a:xfrm>
          <a:prstGeom prst="rect">
            <a:avLst/>
          </a:prstGeom>
          <a:noFill/>
          <a:ln w="0">
            <a:noFill/>
            <a:prstDash val="solid"/>
          </a:ln>
        </p:spPr>
        <p:txBody>
          <a:bodyPr/>
          <a:lstStyle/>
          <a:p>
            <a:pPr>
              <a:buNone/>
              <a:defRPr sz="900" b="0">
                <a:solidFill>
                  <a:srgbClr val="5B6B78"/>
                </a:solidFill>
              </a:defRPr>
            </a:pPr>
            <a:r>
              <a:rPr lang="en-US" sz="900" dirty="0">
                <a:solidFill>
                  <a:srgbClr val="5B6B78"/>
                </a:solidFill>
              </a:rPr>
              <a:t>AI-powered enterprise document retrieval system | Md Fahim Hossain | July 2026</a:t>
            </a:r>
          </a:p>
        </p:txBody>
      </p:sp>
      <p:sp>
        <p:nvSpPr>
          <p:cNvPr id="33" name="Rectangle 32">
            <a:extLst>
              <a:ext uri="{FF2B5EF4-FFF2-40B4-BE49-F238E27FC236}">
                <a16:creationId xmlns:a16="http://schemas.microsoft.com/office/drawing/2014/main" id="{35992B2C-722F-46D8-94B4-705311379FBD}"/>
              </a:ext>
            </a:extLst>
          </p:cNvPr>
          <p:cNvSpPr>
            <a:spLocks noGrp="1"/>
          </p:cNvSpPr>
          <p:nvPr/>
        </p:nvSpPr>
        <p:spPr>
          <a:xfrm>
            <a:off x="10820400" y="6419850"/>
            <a:ext cx="685800" cy="228600"/>
          </a:xfrm>
          <a:prstGeom prst="rect">
            <a:avLst/>
          </a:prstGeom>
          <a:noFill/>
          <a:ln w="0">
            <a:noFill/>
            <a:prstDash val="solid"/>
          </a:ln>
        </p:spPr>
        <p:txBody>
          <a:bodyPr/>
          <a:lstStyle/>
          <a:p>
            <a:pPr algn="r">
              <a:buNone/>
              <a:defRPr sz="900" b="1">
                <a:solidFill>
                  <a:srgbClr val="0077B6"/>
                </a:solidFill>
              </a:defRPr>
            </a:pPr>
            <a:r>
              <a:rPr sz="900" b="1">
                <a:solidFill>
                  <a:srgbClr val="0077B6"/>
                </a:solidFill>
              </a:rPr>
              <a:t>08 / 11</a:t>
            </a:r>
          </a:p>
        </p:txBody>
      </p:sp>
      <p:pic>
        <p:nvPicPr>
          <p:cNvPr id="68" name="Picture 14"/>
          <p:cNvPicPr>
            <a:picLocks noChangeAspect="1"/>
          </p:cNvPicPr>
          <p:nvPr/>
        </p:nvPicPr>
        <p:blipFill>
          <a:blip r:embed="rId3"/>
          <a:stretch>
            <a:fillRect/>
          </a:stretch>
        </p:blipFill>
        <p:spPr>
          <a:xfrm>
            <a:off x="10820400" y="326316"/>
            <a:ext cx="1156607" cy="397584"/>
          </a:xfrm>
          <a:prstGeom prst="rect">
            <a:avLst/>
          </a:prstGeom>
        </p:spPr>
      </p:pic>
      <p:sp>
        <p:nvSpPr>
          <p:cNvPr id="73" name="Rectangle 72">
            <a:extLst>
              <a:ext uri="{FF2B5EF4-FFF2-40B4-BE49-F238E27FC236}">
                <a16:creationId xmlns:a16="http://schemas.microsoft.com/office/drawing/2014/main" id="{8FCAA788-9264-38A1-D3EF-C25AA74C9B22}"/>
              </a:ext>
            </a:extLst>
          </p:cNvPr>
          <p:cNvSpPr>
            <a:spLocks noGrp="1"/>
          </p:cNvSpPr>
          <p:nvPr/>
        </p:nvSpPr>
        <p:spPr>
          <a:xfrm>
            <a:off x="685800" y="609600"/>
            <a:ext cx="7810500" cy="495300"/>
          </a:xfrm>
          <a:prstGeom prst="rect">
            <a:avLst/>
          </a:prstGeom>
          <a:noFill/>
          <a:ln w="0">
            <a:noFill/>
            <a:prstDash val="solid"/>
          </a:ln>
        </p:spPr>
        <p:txBody>
          <a:bodyPr/>
          <a:lstStyle/>
          <a:p>
            <a:pPr algn="l">
              <a:buNone/>
              <a:defRPr sz="2850" b="1">
                <a:solidFill>
                  <a:srgbClr val="083344"/>
                </a:solidFill>
              </a:defRPr>
            </a:pPr>
            <a:r>
              <a:rPr sz="2850" b="1">
                <a:solidFill>
                  <a:srgbClr val="083344"/>
                </a:solidFill>
              </a:rPr>
              <a:t>Definition of Done</a:t>
            </a:r>
          </a:p>
        </p:txBody>
      </p:sp>
      <p:sp>
        <p:nvSpPr>
          <p:cNvPr id="77" name="Rounded Rectangle 69">
            <a:extLst>
              <a:ext uri="{FF2B5EF4-FFF2-40B4-BE49-F238E27FC236}">
                <a16:creationId xmlns:a16="http://schemas.microsoft.com/office/drawing/2014/main" id="{53BA7A36-A8BF-55A5-978B-66F3A449D1F2}"/>
              </a:ext>
            </a:extLst>
          </p:cNvPr>
          <p:cNvSpPr/>
          <p:nvPr/>
        </p:nvSpPr>
        <p:spPr>
          <a:xfrm>
            <a:off x="777240" y="1338606"/>
            <a:ext cx="10652760" cy="4317476"/>
          </a:xfrm>
          <a:prstGeom prst="roundRect">
            <a:avLst/>
          </a:prstGeom>
          <a:solidFill>
            <a:srgbClr val="FFFFFF"/>
          </a:solidFill>
          <a:ln w="12700">
            <a:solidFill>
              <a:srgbClr val="BE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ounded Rectangle 70">
            <a:extLst>
              <a:ext uri="{FF2B5EF4-FFF2-40B4-BE49-F238E27FC236}">
                <a16:creationId xmlns:a16="http://schemas.microsoft.com/office/drawing/2014/main" id="{A5896A65-0CA7-3163-7E9A-493533784649}"/>
              </a:ext>
            </a:extLst>
          </p:cNvPr>
          <p:cNvSpPr/>
          <p:nvPr/>
        </p:nvSpPr>
        <p:spPr>
          <a:xfrm>
            <a:off x="1078992" y="1764792"/>
            <a:ext cx="4572000" cy="475488"/>
          </a:xfrm>
          <a:prstGeom prst="roundRect">
            <a:avLst/>
          </a:prstGeom>
          <a:solidFill>
            <a:srgbClr val="E8F7F8"/>
          </a:solidFill>
          <a:ln w="13970">
            <a:solidFill>
              <a:srgbClr val="009999"/>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009999"/>
                </a:solidFill>
                <a:latin typeface="Aptos"/>
              </a:rPr>
              <a:t>Engineering gate</a:t>
            </a:r>
          </a:p>
        </p:txBody>
      </p:sp>
      <p:sp>
        <p:nvSpPr>
          <p:cNvPr id="81" name="Rounded Rectangle 71">
            <a:extLst>
              <a:ext uri="{FF2B5EF4-FFF2-40B4-BE49-F238E27FC236}">
                <a16:creationId xmlns:a16="http://schemas.microsoft.com/office/drawing/2014/main" id="{DEF037AB-9D42-B6B1-496E-9D05742ED15C}"/>
              </a:ext>
            </a:extLst>
          </p:cNvPr>
          <p:cNvSpPr/>
          <p:nvPr/>
        </p:nvSpPr>
        <p:spPr>
          <a:xfrm>
            <a:off x="6537960" y="1764792"/>
            <a:ext cx="4572000" cy="475488"/>
          </a:xfrm>
          <a:prstGeom prst="roundRect">
            <a:avLst/>
          </a:prstGeom>
          <a:solidFill>
            <a:srgbClr val="E8F7EC"/>
          </a:solidFill>
          <a:ln w="13970">
            <a:solidFill>
              <a:srgbClr val="C8E8D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900" b="1">
                <a:solidFill>
                  <a:srgbClr val="2E8B57"/>
                </a:solidFill>
                <a:latin typeface="Aptos"/>
              </a:rPr>
              <a:t>Acceptance gate</a:t>
            </a:r>
          </a:p>
        </p:txBody>
      </p:sp>
      <p:sp>
        <p:nvSpPr>
          <p:cNvPr id="83" name="TextBox 82">
            <a:extLst>
              <a:ext uri="{FF2B5EF4-FFF2-40B4-BE49-F238E27FC236}">
                <a16:creationId xmlns:a16="http://schemas.microsoft.com/office/drawing/2014/main" id="{54EA5710-2CBB-A749-16FD-30865D58625B}"/>
              </a:ext>
            </a:extLst>
          </p:cNvPr>
          <p:cNvSpPr txBox="1"/>
          <p:nvPr/>
        </p:nvSpPr>
        <p:spPr>
          <a:xfrm>
            <a:off x="1261872" y="2331720"/>
            <a:ext cx="4251960" cy="256032"/>
          </a:xfrm>
          <a:prstGeom prst="rect">
            <a:avLst/>
          </a:prstGeom>
          <a:noFill/>
        </p:spPr>
        <p:txBody>
          <a:bodyPr wrap="none" lIns="0" tIns="0" rIns="0" bIns="0" anchor="ctr">
            <a:spAutoFit/>
          </a:bodyPr>
          <a:lstStyle/>
          <a:p>
            <a:pPr algn="ctr"/>
            <a:r>
              <a:rPr sz="1300" b="0">
                <a:solidFill>
                  <a:srgbClr val="69808B"/>
                </a:solidFill>
                <a:latin typeface="Aptos"/>
              </a:rPr>
              <a:t>Internal quality checks</a:t>
            </a:r>
          </a:p>
        </p:txBody>
      </p:sp>
      <p:sp>
        <p:nvSpPr>
          <p:cNvPr id="85" name="TextBox 84">
            <a:extLst>
              <a:ext uri="{FF2B5EF4-FFF2-40B4-BE49-F238E27FC236}">
                <a16:creationId xmlns:a16="http://schemas.microsoft.com/office/drawing/2014/main" id="{ADAF0183-91FD-9E33-A4E3-B8F41EFA748D}"/>
              </a:ext>
            </a:extLst>
          </p:cNvPr>
          <p:cNvSpPr txBox="1"/>
          <p:nvPr/>
        </p:nvSpPr>
        <p:spPr>
          <a:xfrm>
            <a:off x="6720840" y="2331720"/>
            <a:ext cx="4251960" cy="256032"/>
          </a:xfrm>
          <a:prstGeom prst="rect">
            <a:avLst/>
          </a:prstGeom>
          <a:noFill/>
        </p:spPr>
        <p:txBody>
          <a:bodyPr wrap="none" lIns="0" tIns="0" rIns="0" bIns="0" anchor="ctr">
            <a:spAutoFit/>
          </a:bodyPr>
          <a:lstStyle/>
          <a:p>
            <a:pPr algn="ctr"/>
            <a:r>
              <a:rPr sz="1300" b="0">
                <a:solidFill>
                  <a:srgbClr val="69808B"/>
                </a:solidFill>
                <a:latin typeface="Aptos"/>
              </a:rPr>
              <a:t>User-facing completion checks</a:t>
            </a:r>
          </a:p>
        </p:txBody>
      </p:sp>
      <p:sp>
        <p:nvSpPr>
          <p:cNvPr id="87" name="Oval 86">
            <a:extLst>
              <a:ext uri="{FF2B5EF4-FFF2-40B4-BE49-F238E27FC236}">
                <a16:creationId xmlns:a16="http://schemas.microsoft.com/office/drawing/2014/main" id="{C8FC9BF3-A86A-C5A9-F1F6-02F3FA5491E6}"/>
              </a:ext>
            </a:extLst>
          </p:cNvPr>
          <p:cNvSpPr/>
          <p:nvPr/>
        </p:nvSpPr>
        <p:spPr>
          <a:xfrm>
            <a:off x="1417320" y="2761488"/>
            <a:ext cx="429768" cy="429768"/>
          </a:xfrm>
          <a:prstGeom prst="ellipse">
            <a:avLst/>
          </a:prstGeom>
          <a:solidFill>
            <a:srgbClr val="E8F7F8"/>
          </a:solidFill>
          <a:ln w="22860">
            <a:solidFill>
              <a:srgbClr val="009999"/>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09999"/>
                </a:solidFill>
                <a:latin typeface="Segoe UI Symbol"/>
              </a:rPr>
              <a:t>✓</a:t>
            </a:r>
          </a:p>
        </p:txBody>
      </p:sp>
      <p:sp>
        <p:nvSpPr>
          <p:cNvPr id="89" name="TextBox 88">
            <a:extLst>
              <a:ext uri="{FF2B5EF4-FFF2-40B4-BE49-F238E27FC236}">
                <a16:creationId xmlns:a16="http://schemas.microsoft.com/office/drawing/2014/main" id="{36EB9761-98CB-A3C2-FE02-19A99CB2FA1A}"/>
              </a:ext>
            </a:extLst>
          </p:cNvPr>
          <p:cNvSpPr txBox="1"/>
          <p:nvPr/>
        </p:nvSpPr>
        <p:spPr>
          <a:xfrm>
            <a:off x="1984248" y="2779776"/>
            <a:ext cx="3429000" cy="384048"/>
          </a:xfrm>
          <a:prstGeom prst="rect">
            <a:avLst/>
          </a:prstGeom>
          <a:noFill/>
        </p:spPr>
        <p:txBody>
          <a:bodyPr wrap="none" lIns="0" tIns="0" rIns="0" bIns="0" anchor="ctr">
            <a:spAutoFit/>
          </a:bodyPr>
          <a:lstStyle/>
          <a:p>
            <a:pPr algn="l"/>
            <a:r>
              <a:rPr sz="1700" b="1">
                <a:solidFill>
                  <a:srgbClr val="00303C"/>
                </a:solidFill>
                <a:latin typeface="Aptos"/>
              </a:rPr>
              <a:t>Feature implemented</a:t>
            </a:r>
          </a:p>
        </p:txBody>
      </p:sp>
      <p:sp>
        <p:nvSpPr>
          <p:cNvPr id="91" name="Oval 90">
            <a:extLst>
              <a:ext uri="{FF2B5EF4-FFF2-40B4-BE49-F238E27FC236}">
                <a16:creationId xmlns:a16="http://schemas.microsoft.com/office/drawing/2014/main" id="{9B25495E-00E9-6C85-700D-7D438774618C}"/>
              </a:ext>
            </a:extLst>
          </p:cNvPr>
          <p:cNvSpPr/>
          <p:nvPr/>
        </p:nvSpPr>
        <p:spPr>
          <a:xfrm>
            <a:off x="1417320" y="3328416"/>
            <a:ext cx="429768" cy="429768"/>
          </a:xfrm>
          <a:prstGeom prst="ellipse">
            <a:avLst/>
          </a:prstGeom>
          <a:solidFill>
            <a:srgbClr val="E8F7F8"/>
          </a:solidFill>
          <a:ln w="22860">
            <a:solidFill>
              <a:srgbClr val="009999"/>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09999"/>
                </a:solidFill>
                <a:latin typeface="Segoe UI Symbol"/>
              </a:rPr>
              <a:t>↻</a:t>
            </a:r>
          </a:p>
        </p:txBody>
      </p:sp>
      <p:sp>
        <p:nvSpPr>
          <p:cNvPr id="93" name="TextBox 92">
            <a:extLst>
              <a:ext uri="{FF2B5EF4-FFF2-40B4-BE49-F238E27FC236}">
                <a16:creationId xmlns:a16="http://schemas.microsoft.com/office/drawing/2014/main" id="{2E6268DC-7976-7B1E-8666-8A1B13BA9EC9}"/>
              </a:ext>
            </a:extLst>
          </p:cNvPr>
          <p:cNvSpPr txBox="1"/>
          <p:nvPr/>
        </p:nvSpPr>
        <p:spPr>
          <a:xfrm>
            <a:off x="1984248" y="3346704"/>
            <a:ext cx="3429000" cy="384048"/>
          </a:xfrm>
          <a:prstGeom prst="rect">
            <a:avLst/>
          </a:prstGeom>
          <a:noFill/>
        </p:spPr>
        <p:txBody>
          <a:bodyPr wrap="none" lIns="0" tIns="0" rIns="0" bIns="0" anchor="ctr">
            <a:spAutoFit/>
          </a:bodyPr>
          <a:lstStyle/>
          <a:p>
            <a:pPr algn="l"/>
            <a:r>
              <a:rPr sz="1700" b="1">
                <a:solidFill>
                  <a:srgbClr val="00303C"/>
                </a:solidFill>
                <a:latin typeface="Aptos"/>
              </a:rPr>
              <a:t>Code reviewed</a:t>
            </a:r>
          </a:p>
        </p:txBody>
      </p:sp>
      <p:sp>
        <p:nvSpPr>
          <p:cNvPr id="95" name="Oval 94">
            <a:extLst>
              <a:ext uri="{FF2B5EF4-FFF2-40B4-BE49-F238E27FC236}">
                <a16:creationId xmlns:a16="http://schemas.microsoft.com/office/drawing/2014/main" id="{C42CC22A-4E8E-0D45-8B3D-E9E190936B66}"/>
              </a:ext>
            </a:extLst>
          </p:cNvPr>
          <p:cNvSpPr/>
          <p:nvPr/>
        </p:nvSpPr>
        <p:spPr>
          <a:xfrm>
            <a:off x="1417320" y="3895344"/>
            <a:ext cx="429768" cy="429768"/>
          </a:xfrm>
          <a:prstGeom prst="ellipse">
            <a:avLst/>
          </a:prstGeom>
          <a:solidFill>
            <a:srgbClr val="E8F7F8"/>
          </a:solidFill>
          <a:ln w="22860">
            <a:solidFill>
              <a:srgbClr val="009999"/>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09999"/>
                </a:solidFill>
                <a:latin typeface="Segoe UI Symbol"/>
              </a:rPr>
              <a:t>T</a:t>
            </a:r>
          </a:p>
        </p:txBody>
      </p:sp>
      <p:sp>
        <p:nvSpPr>
          <p:cNvPr id="97" name="TextBox 96">
            <a:extLst>
              <a:ext uri="{FF2B5EF4-FFF2-40B4-BE49-F238E27FC236}">
                <a16:creationId xmlns:a16="http://schemas.microsoft.com/office/drawing/2014/main" id="{EEC6CE0B-879B-38EF-FD75-B4BAE49F8F7B}"/>
              </a:ext>
            </a:extLst>
          </p:cNvPr>
          <p:cNvSpPr txBox="1"/>
          <p:nvPr/>
        </p:nvSpPr>
        <p:spPr>
          <a:xfrm>
            <a:off x="1984248" y="3913631"/>
            <a:ext cx="3429000" cy="384048"/>
          </a:xfrm>
          <a:prstGeom prst="rect">
            <a:avLst/>
          </a:prstGeom>
          <a:noFill/>
        </p:spPr>
        <p:txBody>
          <a:bodyPr wrap="none" lIns="0" tIns="0" rIns="0" bIns="0" anchor="ctr">
            <a:spAutoFit/>
          </a:bodyPr>
          <a:lstStyle/>
          <a:p>
            <a:pPr algn="l"/>
            <a:r>
              <a:rPr sz="1700" b="1">
                <a:solidFill>
                  <a:srgbClr val="00303C"/>
                </a:solidFill>
                <a:latin typeface="Aptos"/>
              </a:rPr>
              <a:t>Tests passed</a:t>
            </a:r>
          </a:p>
        </p:txBody>
      </p:sp>
      <p:sp>
        <p:nvSpPr>
          <p:cNvPr id="99" name="Oval 98">
            <a:extLst>
              <a:ext uri="{FF2B5EF4-FFF2-40B4-BE49-F238E27FC236}">
                <a16:creationId xmlns:a16="http://schemas.microsoft.com/office/drawing/2014/main" id="{2061BFF5-C860-052D-6E82-4CE83642C0B7}"/>
              </a:ext>
            </a:extLst>
          </p:cNvPr>
          <p:cNvSpPr/>
          <p:nvPr/>
        </p:nvSpPr>
        <p:spPr>
          <a:xfrm>
            <a:off x="6858000" y="2761488"/>
            <a:ext cx="429768" cy="429768"/>
          </a:xfrm>
          <a:prstGeom prst="ellipse">
            <a:avLst/>
          </a:prstGeom>
          <a:solidFill>
            <a:srgbClr val="E8F7EC"/>
          </a:solidFill>
          <a:ln w="22860">
            <a:solidFill>
              <a:srgbClr val="C8E8D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2E8B57"/>
                </a:solidFill>
                <a:latin typeface="Segoe UI Symbol"/>
              </a:rPr>
              <a:t>◉</a:t>
            </a:r>
          </a:p>
        </p:txBody>
      </p:sp>
      <p:sp>
        <p:nvSpPr>
          <p:cNvPr id="101" name="TextBox 100">
            <a:extLst>
              <a:ext uri="{FF2B5EF4-FFF2-40B4-BE49-F238E27FC236}">
                <a16:creationId xmlns:a16="http://schemas.microsoft.com/office/drawing/2014/main" id="{EA63D9C6-E469-5B13-B4E8-B6D2AB218599}"/>
              </a:ext>
            </a:extLst>
          </p:cNvPr>
          <p:cNvSpPr txBox="1"/>
          <p:nvPr/>
        </p:nvSpPr>
        <p:spPr>
          <a:xfrm>
            <a:off x="7424927" y="2779776"/>
            <a:ext cx="3429000" cy="384048"/>
          </a:xfrm>
          <a:prstGeom prst="rect">
            <a:avLst/>
          </a:prstGeom>
          <a:noFill/>
        </p:spPr>
        <p:txBody>
          <a:bodyPr wrap="none" lIns="0" tIns="0" rIns="0" bIns="0" anchor="ctr">
            <a:spAutoFit/>
          </a:bodyPr>
          <a:lstStyle/>
          <a:p>
            <a:pPr algn="l"/>
            <a:r>
              <a:rPr sz="1700" b="1">
                <a:solidFill>
                  <a:srgbClr val="00303C"/>
                </a:solidFill>
                <a:latin typeface="Aptos"/>
              </a:rPr>
              <a:t>UI feedback verified</a:t>
            </a:r>
          </a:p>
        </p:txBody>
      </p:sp>
      <p:sp>
        <p:nvSpPr>
          <p:cNvPr id="103" name="Oval 102">
            <a:extLst>
              <a:ext uri="{FF2B5EF4-FFF2-40B4-BE49-F238E27FC236}">
                <a16:creationId xmlns:a16="http://schemas.microsoft.com/office/drawing/2014/main" id="{DE45BDF8-A1E4-4EB8-F81F-CF382EBFA5EF}"/>
              </a:ext>
            </a:extLst>
          </p:cNvPr>
          <p:cNvSpPr/>
          <p:nvPr/>
        </p:nvSpPr>
        <p:spPr>
          <a:xfrm>
            <a:off x="6858000" y="3328416"/>
            <a:ext cx="429768" cy="429768"/>
          </a:xfrm>
          <a:prstGeom prst="ellipse">
            <a:avLst/>
          </a:prstGeom>
          <a:solidFill>
            <a:srgbClr val="E8F7EC"/>
          </a:solidFill>
          <a:ln w="22860">
            <a:solidFill>
              <a:srgbClr val="C8E8D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2E8B57"/>
                </a:solidFill>
                <a:latin typeface="Segoe UI Symbol"/>
              </a:rPr>
              <a:t>✓</a:t>
            </a:r>
          </a:p>
        </p:txBody>
      </p:sp>
      <p:sp>
        <p:nvSpPr>
          <p:cNvPr id="105" name="TextBox 104">
            <a:extLst>
              <a:ext uri="{FF2B5EF4-FFF2-40B4-BE49-F238E27FC236}">
                <a16:creationId xmlns:a16="http://schemas.microsoft.com/office/drawing/2014/main" id="{CE9F656E-A640-4F17-6F0C-CBC875CB7EDA}"/>
              </a:ext>
            </a:extLst>
          </p:cNvPr>
          <p:cNvSpPr txBox="1"/>
          <p:nvPr/>
        </p:nvSpPr>
        <p:spPr>
          <a:xfrm>
            <a:off x="7424927" y="3346704"/>
            <a:ext cx="3429000" cy="384048"/>
          </a:xfrm>
          <a:prstGeom prst="rect">
            <a:avLst/>
          </a:prstGeom>
          <a:noFill/>
        </p:spPr>
        <p:txBody>
          <a:bodyPr wrap="none" lIns="0" tIns="0" rIns="0" bIns="0" anchor="ctr">
            <a:spAutoFit/>
          </a:bodyPr>
          <a:lstStyle/>
          <a:p>
            <a:pPr algn="l"/>
            <a:r>
              <a:rPr sz="1700" b="1">
                <a:solidFill>
                  <a:srgbClr val="00303C"/>
                </a:solidFill>
                <a:latin typeface="Aptos"/>
              </a:rPr>
              <a:t>Acceptance criteria met</a:t>
            </a:r>
          </a:p>
        </p:txBody>
      </p:sp>
      <p:sp>
        <p:nvSpPr>
          <p:cNvPr id="107" name="Oval 106">
            <a:extLst>
              <a:ext uri="{FF2B5EF4-FFF2-40B4-BE49-F238E27FC236}">
                <a16:creationId xmlns:a16="http://schemas.microsoft.com/office/drawing/2014/main" id="{67CBEBD3-EA92-2CFB-D639-273D4ED332ED}"/>
              </a:ext>
            </a:extLst>
          </p:cNvPr>
          <p:cNvSpPr/>
          <p:nvPr/>
        </p:nvSpPr>
        <p:spPr>
          <a:xfrm>
            <a:off x="6858000" y="3895344"/>
            <a:ext cx="429768" cy="429768"/>
          </a:xfrm>
          <a:prstGeom prst="ellipse">
            <a:avLst/>
          </a:prstGeom>
          <a:solidFill>
            <a:srgbClr val="E8F7EC"/>
          </a:solidFill>
          <a:ln w="22860">
            <a:solidFill>
              <a:srgbClr val="C8E8D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2E8B57"/>
                </a:solidFill>
                <a:latin typeface="Segoe UI Symbol"/>
              </a:rPr>
              <a:t>!</a:t>
            </a:r>
          </a:p>
        </p:txBody>
      </p:sp>
      <p:sp>
        <p:nvSpPr>
          <p:cNvPr id="109" name="TextBox 108">
            <a:extLst>
              <a:ext uri="{FF2B5EF4-FFF2-40B4-BE49-F238E27FC236}">
                <a16:creationId xmlns:a16="http://schemas.microsoft.com/office/drawing/2014/main" id="{32D4E5D1-0AAF-776D-5B16-C78507945FA4}"/>
              </a:ext>
            </a:extLst>
          </p:cNvPr>
          <p:cNvSpPr txBox="1"/>
          <p:nvPr/>
        </p:nvSpPr>
        <p:spPr>
          <a:xfrm>
            <a:off x="7424927" y="3913631"/>
            <a:ext cx="3429000" cy="384048"/>
          </a:xfrm>
          <a:prstGeom prst="rect">
            <a:avLst/>
          </a:prstGeom>
          <a:noFill/>
        </p:spPr>
        <p:txBody>
          <a:bodyPr wrap="none" lIns="0" tIns="0" rIns="0" bIns="0" anchor="ctr">
            <a:spAutoFit/>
          </a:bodyPr>
          <a:lstStyle/>
          <a:p>
            <a:pPr algn="l"/>
            <a:r>
              <a:rPr sz="1700" b="1">
                <a:solidFill>
                  <a:srgbClr val="00303C"/>
                </a:solidFill>
                <a:latin typeface="Aptos"/>
              </a:rPr>
              <a:t>No critical issues open</a:t>
            </a:r>
          </a:p>
        </p:txBody>
      </p:sp>
      <p:sp>
        <p:nvSpPr>
          <p:cNvPr id="111" name="Rectangle 110">
            <a:extLst>
              <a:ext uri="{FF2B5EF4-FFF2-40B4-BE49-F238E27FC236}">
                <a16:creationId xmlns:a16="http://schemas.microsoft.com/office/drawing/2014/main" id="{4BF3BF54-563F-BF21-603D-95A41A005CB3}"/>
              </a:ext>
            </a:extLst>
          </p:cNvPr>
          <p:cNvSpPr/>
          <p:nvPr/>
        </p:nvSpPr>
        <p:spPr>
          <a:xfrm>
            <a:off x="6080760" y="1828800"/>
            <a:ext cx="18288" cy="2743200"/>
          </a:xfrm>
          <a:prstGeom prst="rect">
            <a:avLst/>
          </a:prstGeom>
          <a:solidFill>
            <a:srgbClr val="BEDEE4"/>
          </a:solidFill>
          <a:ln>
            <a:solidFill>
              <a:srgbClr val="BE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Rounded Rectangle 87">
            <a:extLst>
              <a:ext uri="{FF2B5EF4-FFF2-40B4-BE49-F238E27FC236}">
                <a16:creationId xmlns:a16="http://schemas.microsoft.com/office/drawing/2014/main" id="{04D7CC60-3BC4-F204-9AA3-AC3C97EEFF87}"/>
              </a:ext>
            </a:extLst>
          </p:cNvPr>
          <p:cNvSpPr/>
          <p:nvPr/>
        </p:nvSpPr>
        <p:spPr>
          <a:xfrm>
            <a:off x="2057400" y="4804845"/>
            <a:ext cx="8092440" cy="438912"/>
          </a:xfrm>
          <a:prstGeom prst="roundRect">
            <a:avLst/>
          </a:prstGeom>
          <a:solidFill>
            <a:srgbClr val="F6FBFC"/>
          </a:solidFill>
          <a:ln w="13970">
            <a:solidFill>
              <a:srgbClr val="BEDEE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00303C"/>
                </a:solidFill>
                <a:latin typeface="Aptos"/>
              </a:rPr>
              <a:t>A feature was complete only after all gates passed.</a:t>
            </a:r>
          </a:p>
        </p:txBody>
      </p:sp>
    </p:spTree>
    <p:extLst>
      <p:ext uri="{BB962C8B-B14F-4D97-AF65-F5344CB8AC3E}">
        <p14:creationId xmlns:p14="http://schemas.microsoft.com/office/powerpoint/2010/main" val="1344962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BFD"/>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C0C3861-1F49-4FC9-BE8A-9DC49AA17814}"/>
              </a:ext>
            </a:extLst>
          </p:cNvPr>
          <p:cNvSpPr>
            <a:spLocks noGrp="1"/>
          </p:cNvSpPr>
          <p:nvPr/>
        </p:nvSpPr>
        <p:spPr>
          <a:xfrm>
            <a:off x="0" y="0"/>
            <a:ext cx="12192000" cy="114300"/>
          </a:xfrm>
          <a:prstGeom prst="rect">
            <a:avLst/>
          </a:prstGeom>
          <a:solidFill>
            <a:srgbClr val="00A3AD"/>
          </a:solidFill>
          <a:ln w="0">
            <a:solidFill>
              <a:srgbClr val="00A3AD"/>
            </a:solidFill>
            <a:prstDash val="solid"/>
          </a:ln>
        </p:spPr>
        <p:txBody>
          <a:bodyPr/>
          <a:lstStyle/>
          <a:p>
            <a:endParaRPr/>
          </a:p>
        </p:txBody>
      </p:sp>
      <p:sp>
        <p:nvSpPr>
          <p:cNvPr id="2" name="Rectangle 1">
            <a:extLst>
              <a:ext uri="{FF2B5EF4-FFF2-40B4-BE49-F238E27FC236}">
                <a16:creationId xmlns:a16="http://schemas.microsoft.com/office/drawing/2014/main" id="{288F3D13-21B0-4D00-B8A0-76F7B1674049}"/>
              </a:ext>
            </a:extLst>
          </p:cNvPr>
          <p:cNvSpPr>
            <a:spLocks noGrp="1"/>
          </p:cNvSpPr>
          <p:nvPr/>
        </p:nvSpPr>
        <p:spPr>
          <a:xfrm>
            <a:off x="685800" y="342900"/>
            <a:ext cx="4000500" cy="209550"/>
          </a:xfrm>
          <a:prstGeom prst="rect">
            <a:avLst/>
          </a:prstGeom>
          <a:noFill/>
          <a:ln w="0">
            <a:noFill/>
            <a:prstDash val="solid"/>
          </a:ln>
        </p:spPr>
        <p:txBody>
          <a:bodyPr/>
          <a:lstStyle/>
          <a:p>
            <a:pPr>
              <a:buNone/>
              <a:defRPr sz="900" b="1">
                <a:solidFill>
                  <a:srgbClr val="009999"/>
                </a:solidFill>
              </a:defRPr>
            </a:pPr>
            <a:r>
              <a:rPr sz="900" b="1">
                <a:solidFill>
                  <a:srgbClr val="009999"/>
                </a:solidFill>
              </a:rPr>
              <a:t>EVIDENCE</a:t>
            </a:r>
          </a:p>
        </p:txBody>
      </p:sp>
      <p:sp>
        <p:nvSpPr>
          <p:cNvPr id="32" name="Rectangle 31">
            <a:extLst>
              <a:ext uri="{FF2B5EF4-FFF2-40B4-BE49-F238E27FC236}">
                <a16:creationId xmlns:a16="http://schemas.microsoft.com/office/drawing/2014/main" id="{884FDB43-7AA5-4000-9B37-45239601D72F}"/>
              </a:ext>
            </a:extLst>
          </p:cNvPr>
          <p:cNvSpPr>
            <a:spLocks noGrp="1"/>
          </p:cNvSpPr>
          <p:nvPr/>
        </p:nvSpPr>
        <p:spPr>
          <a:xfrm>
            <a:off x="685800" y="6419850"/>
            <a:ext cx="5905500" cy="228600"/>
          </a:xfrm>
          <a:prstGeom prst="rect">
            <a:avLst/>
          </a:prstGeom>
          <a:noFill/>
          <a:ln w="0">
            <a:noFill/>
            <a:prstDash val="solid"/>
          </a:ln>
        </p:spPr>
        <p:txBody>
          <a:bodyPr/>
          <a:lstStyle/>
          <a:p>
            <a:pPr>
              <a:buNone/>
              <a:defRPr sz="900" b="0">
                <a:solidFill>
                  <a:srgbClr val="5B6B78"/>
                </a:solidFill>
              </a:defRPr>
            </a:pPr>
            <a:r>
              <a:rPr lang="en-US" sz="900" dirty="0">
                <a:solidFill>
                  <a:srgbClr val="5B6B78"/>
                </a:solidFill>
              </a:rPr>
              <a:t>AI-powered enterprise document retrieval system | Md Fahim Hossain | July 2026</a:t>
            </a:r>
          </a:p>
        </p:txBody>
      </p:sp>
      <p:sp>
        <p:nvSpPr>
          <p:cNvPr id="33" name="Rectangle 32">
            <a:extLst>
              <a:ext uri="{FF2B5EF4-FFF2-40B4-BE49-F238E27FC236}">
                <a16:creationId xmlns:a16="http://schemas.microsoft.com/office/drawing/2014/main" id="{35992B2C-722F-46D8-94B4-705311379FBD}"/>
              </a:ext>
            </a:extLst>
          </p:cNvPr>
          <p:cNvSpPr>
            <a:spLocks noGrp="1"/>
          </p:cNvSpPr>
          <p:nvPr/>
        </p:nvSpPr>
        <p:spPr>
          <a:xfrm>
            <a:off x="10820400" y="6419850"/>
            <a:ext cx="685800" cy="228600"/>
          </a:xfrm>
          <a:prstGeom prst="rect">
            <a:avLst/>
          </a:prstGeom>
          <a:noFill/>
          <a:ln w="0">
            <a:noFill/>
            <a:prstDash val="solid"/>
          </a:ln>
        </p:spPr>
        <p:txBody>
          <a:bodyPr/>
          <a:lstStyle/>
          <a:p>
            <a:pPr algn="r">
              <a:buNone/>
              <a:defRPr sz="900" b="1">
                <a:solidFill>
                  <a:srgbClr val="0077B6"/>
                </a:solidFill>
              </a:defRPr>
            </a:pPr>
            <a:r>
              <a:rPr sz="900" b="1">
                <a:solidFill>
                  <a:srgbClr val="0077B6"/>
                </a:solidFill>
              </a:rPr>
              <a:t>09 / 11</a:t>
            </a:r>
          </a:p>
        </p:txBody>
      </p:sp>
      <p:pic>
        <p:nvPicPr>
          <p:cNvPr id="72" name="Picture 14"/>
          <p:cNvPicPr>
            <a:picLocks noChangeAspect="1"/>
          </p:cNvPicPr>
          <p:nvPr/>
        </p:nvPicPr>
        <p:blipFill>
          <a:blip r:embed="rId3"/>
          <a:stretch>
            <a:fillRect/>
          </a:stretch>
        </p:blipFill>
        <p:spPr>
          <a:xfrm>
            <a:off x="10820400" y="326316"/>
            <a:ext cx="1156607" cy="397584"/>
          </a:xfrm>
          <a:prstGeom prst="rect">
            <a:avLst/>
          </a:prstGeom>
        </p:spPr>
      </p:pic>
      <p:sp>
        <p:nvSpPr>
          <p:cNvPr id="15" name="Rectangle 14">
            <a:extLst>
              <a:ext uri="{FF2B5EF4-FFF2-40B4-BE49-F238E27FC236}">
                <a16:creationId xmlns:a16="http://schemas.microsoft.com/office/drawing/2014/main" id="{D408C261-BB4B-43AF-A72C-443524B999FE}"/>
              </a:ext>
            </a:extLst>
          </p:cNvPr>
          <p:cNvSpPr>
            <a:spLocks noGrp="1"/>
          </p:cNvSpPr>
          <p:nvPr/>
        </p:nvSpPr>
        <p:spPr>
          <a:xfrm>
            <a:off x="685800" y="609600"/>
            <a:ext cx="7810500" cy="495300"/>
          </a:xfrm>
          <a:prstGeom prst="rect">
            <a:avLst/>
          </a:prstGeom>
          <a:noFill/>
          <a:ln w="0">
            <a:noFill/>
            <a:prstDash val="solid"/>
          </a:ln>
        </p:spPr>
        <p:txBody>
          <a:bodyPr/>
          <a:lstStyle/>
          <a:p>
            <a:pPr algn="l">
              <a:buNone/>
              <a:defRPr sz="2850" b="1">
                <a:solidFill>
                  <a:srgbClr val="083344"/>
                </a:solidFill>
              </a:defRPr>
            </a:pPr>
            <a:r>
              <a:rPr sz="2850" b="1">
                <a:solidFill>
                  <a:srgbClr val="083344"/>
                </a:solidFill>
              </a:rPr>
              <a:t>Results and Manual Testing</a:t>
            </a:r>
          </a:p>
        </p:txBody>
      </p:sp>
      <p:sp>
        <p:nvSpPr>
          <p:cNvPr id="27" name="Rounded Rectangle 73">
            <a:extLst>
              <a:ext uri="{FF2B5EF4-FFF2-40B4-BE49-F238E27FC236}">
                <a16:creationId xmlns:a16="http://schemas.microsoft.com/office/drawing/2014/main" id="{5D1CADBD-A8D3-D54C-4E8D-DEDA3F9ABE0D}"/>
              </a:ext>
            </a:extLst>
          </p:cNvPr>
          <p:cNvSpPr/>
          <p:nvPr/>
        </p:nvSpPr>
        <p:spPr>
          <a:xfrm>
            <a:off x="752855" y="1467565"/>
            <a:ext cx="2468880" cy="1417320"/>
          </a:xfrm>
          <a:prstGeom prst="roundRect">
            <a:avLst/>
          </a:prstGeom>
          <a:solidFill>
            <a:srgbClr val="FFFFFF"/>
          </a:solidFill>
          <a:ln>
            <a:solidFill>
              <a:srgbClr val="BE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74">
            <a:extLst>
              <a:ext uri="{FF2B5EF4-FFF2-40B4-BE49-F238E27FC236}">
                <a16:creationId xmlns:a16="http://schemas.microsoft.com/office/drawing/2014/main" id="{EA9BE807-69DB-C845-FE9A-E4C5EA7EB722}"/>
              </a:ext>
            </a:extLst>
          </p:cNvPr>
          <p:cNvSpPr/>
          <p:nvPr/>
        </p:nvSpPr>
        <p:spPr>
          <a:xfrm>
            <a:off x="982370" y="1655347"/>
            <a:ext cx="347472" cy="347472"/>
          </a:xfrm>
          <a:prstGeom prst="roundRect">
            <a:avLst/>
          </a:prstGeom>
          <a:solidFill>
            <a:srgbClr val="E8F7F8"/>
          </a:solidFill>
          <a:ln>
            <a:solidFill>
              <a:srgbClr val="E8F7F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dirty="0">
                <a:solidFill>
                  <a:srgbClr val="00A3AD"/>
                </a:solidFill>
                <a:latin typeface="Aptos"/>
              </a:rPr>
              <a:t>1</a:t>
            </a:r>
          </a:p>
        </p:txBody>
      </p:sp>
      <p:sp>
        <p:nvSpPr>
          <p:cNvPr id="34" name="TextBox 33">
            <a:extLst>
              <a:ext uri="{FF2B5EF4-FFF2-40B4-BE49-F238E27FC236}">
                <a16:creationId xmlns:a16="http://schemas.microsoft.com/office/drawing/2014/main" id="{FE3B8658-26EF-7F29-4E37-EAF585B02DFE}"/>
              </a:ext>
            </a:extLst>
          </p:cNvPr>
          <p:cNvSpPr txBox="1"/>
          <p:nvPr/>
        </p:nvSpPr>
        <p:spPr>
          <a:xfrm>
            <a:off x="1874519" y="1662276"/>
            <a:ext cx="2276856" cy="329184"/>
          </a:xfrm>
          <a:prstGeom prst="rect">
            <a:avLst/>
          </a:prstGeom>
          <a:noFill/>
        </p:spPr>
        <p:txBody>
          <a:bodyPr wrap="none" lIns="0" tIns="0" rIns="0" bIns="0" anchor="ctr">
            <a:spAutoFit/>
          </a:bodyPr>
          <a:lstStyle/>
          <a:p>
            <a:pPr algn="l">
              <a:defRPr sz="2400" b="1">
                <a:solidFill>
                  <a:srgbClr val="00303C"/>
                </a:solidFill>
                <a:latin typeface="Aptos"/>
              </a:defRPr>
            </a:pPr>
            <a:r>
              <a:rPr dirty="0"/>
              <a:t>0.8–2.4 s</a:t>
            </a:r>
          </a:p>
        </p:txBody>
      </p:sp>
      <p:sp>
        <p:nvSpPr>
          <p:cNvPr id="36" name="TextBox 35">
            <a:extLst>
              <a:ext uri="{FF2B5EF4-FFF2-40B4-BE49-F238E27FC236}">
                <a16:creationId xmlns:a16="http://schemas.microsoft.com/office/drawing/2014/main" id="{18F4A7BD-C1B0-CDC4-231E-8445CC76D3DC}"/>
              </a:ext>
            </a:extLst>
          </p:cNvPr>
          <p:cNvSpPr txBox="1"/>
          <p:nvPr/>
        </p:nvSpPr>
        <p:spPr>
          <a:xfrm>
            <a:off x="982370" y="2284449"/>
            <a:ext cx="2276856" cy="219456"/>
          </a:xfrm>
          <a:prstGeom prst="rect">
            <a:avLst/>
          </a:prstGeom>
          <a:noFill/>
        </p:spPr>
        <p:txBody>
          <a:bodyPr wrap="none" lIns="0" tIns="0" rIns="0" bIns="0" anchor="ctr">
            <a:spAutoFit/>
          </a:bodyPr>
          <a:lstStyle/>
          <a:p>
            <a:pPr algn="l">
              <a:defRPr sz="1300" b="0">
                <a:solidFill>
                  <a:srgbClr val="69808B"/>
                </a:solidFill>
                <a:latin typeface="Aptos"/>
              </a:defRPr>
            </a:pPr>
            <a:r>
              <a:rPr dirty="0"/>
              <a:t>Upload acknowledgement</a:t>
            </a:r>
          </a:p>
        </p:txBody>
      </p:sp>
      <p:sp>
        <p:nvSpPr>
          <p:cNvPr id="38" name="TextBox 37">
            <a:extLst>
              <a:ext uri="{FF2B5EF4-FFF2-40B4-BE49-F238E27FC236}">
                <a16:creationId xmlns:a16="http://schemas.microsoft.com/office/drawing/2014/main" id="{D246EF1B-F730-ADFA-9544-0747E2FAB69A}"/>
              </a:ext>
            </a:extLst>
          </p:cNvPr>
          <p:cNvSpPr txBox="1"/>
          <p:nvPr/>
        </p:nvSpPr>
        <p:spPr>
          <a:xfrm>
            <a:off x="982370" y="2558769"/>
            <a:ext cx="2276856" cy="201168"/>
          </a:xfrm>
          <a:prstGeom prst="rect">
            <a:avLst/>
          </a:prstGeom>
          <a:noFill/>
        </p:spPr>
        <p:txBody>
          <a:bodyPr wrap="none" lIns="0" tIns="0" rIns="0" bIns="0" anchor="ctr">
            <a:spAutoFit/>
          </a:bodyPr>
          <a:lstStyle/>
          <a:p>
            <a:pPr algn="l">
              <a:defRPr sz="1200" b="1">
                <a:solidFill>
                  <a:srgbClr val="2E8B57"/>
                </a:solidFill>
                <a:latin typeface="Aptos"/>
              </a:defRPr>
            </a:pPr>
            <a:r>
              <a:rPr dirty="0"/>
              <a:t>Target ≤ 3 s</a:t>
            </a:r>
          </a:p>
        </p:txBody>
      </p:sp>
      <p:sp>
        <p:nvSpPr>
          <p:cNvPr id="40" name="Rounded Rectangle 78">
            <a:extLst>
              <a:ext uri="{FF2B5EF4-FFF2-40B4-BE49-F238E27FC236}">
                <a16:creationId xmlns:a16="http://schemas.microsoft.com/office/drawing/2014/main" id="{49E22557-13E5-1484-02DE-6B6BFE3B9956}"/>
              </a:ext>
            </a:extLst>
          </p:cNvPr>
          <p:cNvSpPr/>
          <p:nvPr/>
        </p:nvSpPr>
        <p:spPr>
          <a:xfrm>
            <a:off x="3508705" y="1484989"/>
            <a:ext cx="2468880" cy="1417320"/>
          </a:xfrm>
          <a:prstGeom prst="roundRect">
            <a:avLst/>
          </a:prstGeom>
          <a:solidFill>
            <a:srgbClr val="FFFFFF"/>
          </a:solidFill>
          <a:ln>
            <a:solidFill>
              <a:srgbClr val="BE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79">
            <a:extLst>
              <a:ext uri="{FF2B5EF4-FFF2-40B4-BE49-F238E27FC236}">
                <a16:creationId xmlns:a16="http://schemas.microsoft.com/office/drawing/2014/main" id="{42CCFD8C-D656-1C72-01F2-B24832804952}"/>
              </a:ext>
            </a:extLst>
          </p:cNvPr>
          <p:cNvSpPr/>
          <p:nvPr/>
        </p:nvSpPr>
        <p:spPr>
          <a:xfrm>
            <a:off x="3675888" y="1655347"/>
            <a:ext cx="347472" cy="347472"/>
          </a:xfrm>
          <a:prstGeom prst="roundRect">
            <a:avLst/>
          </a:prstGeom>
          <a:solidFill>
            <a:srgbClr val="E8F7F8"/>
          </a:solidFill>
          <a:ln>
            <a:solidFill>
              <a:srgbClr val="E8F7F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dirty="0">
                <a:solidFill>
                  <a:srgbClr val="00A3AD"/>
                </a:solidFill>
                <a:latin typeface="Aptos"/>
              </a:rPr>
              <a:t>2</a:t>
            </a:r>
          </a:p>
        </p:txBody>
      </p:sp>
      <p:sp>
        <p:nvSpPr>
          <p:cNvPr id="44" name="TextBox 43">
            <a:extLst>
              <a:ext uri="{FF2B5EF4-FFF2-40B4-BE49-F238E27FC236}">
                <a16:creationId xmlns:a16="http://schemas.microsoft.com/office/drawing/2014/main" id="{F8EEAFAF-8C35-A1D7-AE62-45FBF50C651F}"/>
              </a:ext>
            </a:extLst>
          </p:cNvPr>
          <p:cNvSpPr txBox="1"/>
          <p:nvPr/>
        </p:nvSpPr>
        <p:spPr>
          <a:xfrm>
            <a:off x="5128262" y="1662276"/>
            <a:ext cx="2276856" cy="329184"/>
          </a:xfrm>
          <a:prstGeom prst="rect">
            <a:avLst/>
          </a:prstGeom>
          <a:noFill/>
        </p:spPr>
        <p:txBody>
          <a:bodyPr wrap="none" lIns="0" tIns="0" rIns="0" bIns="0" anchor="ctr">
            <a:spAutoFit/>
          </a:bodyPr>
          <a:lstStyle/>
          <a:p>
            <a:pPr algn="l">
              <a:defRPr sz="2400" b="1">
                <a:solidFill>
                  <a:srgbClr val="00303C"/>
                </a:solidFill>
                <a:latin typeface="Aptos"/>
              </a:defRPr>
            </a:pPr>
            <a:r>
              <a:rPr dirty="0"/>
              <a:t>95%</a:t>
            </a:r>
          </a:p>
        </p:txBody>
      </p:sp>
      <p:sp>
        <p:nvSpPr>
          <p:cNvPr id="46" name="TextBox 45">
            <a:extLst>
              <a:ext uri="{FF2B5EF4-FFF2-40B4-BE49-F238E27FC236}">
                <a16:creationId xmlns:a16="http://schemas.microsoft.com/office/drawing/2014/main" id="{290930E9-811A-709A-519A-D6E10C792EB8}"/>
              </a:ext>
            </a:extLst>
          </p:cNvPr>
          <p:cNvSpPr txBox="1"/>
          <p:nvPr/>
        </p:nvSpPr>
        <p:spPr>
          <a:xfrm>
            <a:off x="3688081" y="2294149"/>
            <a:ext cx="1902765" cy="200055"/>
          </a:xfrm>
          <a:prstGeom prst="rect">
            <a:avLst/>
          </a:prstGeom>
          <a:noFill/>
        </p:spPr>
        <p:txBody>
          <a:bodyPr wrap="none" lIns="0" tIns="0" rIns="0" bIns="0" anchor="ctr">
            <a:spAutoFit/>
          </a:bodyPr>
          <a:lstStyle/>
          <a:p>
            <a:pPr algn="l">
              <a:defRPr sz="1300" b="0">
                <a:solidFill>
                  <a:srgbClr val="69808B"/>
                </a:solidFill>
                <a:latin typeface="Aptos"/>
              </a:defRPr>
            </a:pPr>
            <a:r>
              <a:rPr dirty="0"/>
              <a:t>Queries within 20 s</a:t>
            </a:r>
            <a:r>
              <a:rPr lang="de-DE" dirty="0"/>
              <a:t>econds</a:t>
            </a:r>
            <a:endParaRPr dirty="0"/>
          </a:p>
        </p:txBody>
      </p:sp>
      <p:sp>
        <p:nvSpPr>
          <p:cNvPr id="48" name="TextBox 47">
            <a:extLst>
              <a:ext uri="{FF2B5EF4-FFF2-40B4-BE49-F238E27FC236}">
                <a16:creationId xmlns:a16="http://schemas.microsoft.com/office/drawing/2014/main" id="{25C9F754-6730-5A0C-4257-E2D145A2E3CE}"/>
              </a:ext>
            </a:extLst>
          </p:cNvPr>
          <p:cNvSpPr txBox="1"/>
          <p:nvPr/>
        </p:nvSpPr>
        <p:spPr>
          <a:xfrm>
            <a:off x="3688081" y="2558769"/>
            <a:ext cx="2276856" cy="201168"/>
          </a:xfrm>
          <a:prstGeom prst="rect">
            <a:avLst/>
          </a:prstGeom>
          <a:noFill/>
        </p:spPr>
        <p:txBody>
          <a:bodyPr wrap="none" lIns="0" tIns="0" rIns="0" bIns="0" anchor="ctr">
            <a:spAutoFit/>
          </a:bodyPr>
          <a:lstStyle/>
          <a:p>
            <a:pPr algn="l">
              <a:defRPr sz="1200" b="1">
                <a:solidFill>
                  <a:srgbClr val="2E8B57"/>
                </a:solidFill>
                <a:latin typeface="Aptos"/>
              </a:defRPr>
            </a:pPr>
            <a:r>
              <a:rPr dirty="0"/>
              <a:t>Target ≥ 90%</a:t>
            </a:r>
          </a:p>
        </p:txBody>
      </p:sp>
      <p:sp>
        <p:nvSpPr>
          <p:cNvPr id="51" name="Rounded Rectangle 83">
            <a:extLst>
              <a:ext uri="{FF2B5EF4-FFF2-40B4-BE49-F238E27FC236}">
                <a16:creationId xmlns:a16="http://schemas.microsoft.com/office/drawing/2014/main" id="{874C6817-10EE-E9A5-B7F9-136DDAA53F2F}"/>
              </a:ext>
            </a:extLst>
          </p:cNvPr>
          <p:cNvSpPr/>
          <p:nvPr/>
        </p:nvSpPr>
        <p:spPr>
          <a:xfrm>
            <a:off x="6253200" y="1488147"/>
            <a:ext cx="2468880" cy="1417320"/>
          </a:xfrm>
          <a:prstGeom prst="roundRect">
            <a:avLst/>
          </a:prstGeom>
          <a:solidFill>
            <a:srgbClr val="FFFFFF"/>
          </a:solidFill>
          <a:ln>
            <a:solidFill>
              <a:srgbClr val="BE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84">
            <a:extLst>
              <a:ext uri="{FF2B5EF4-FFF2-40B4-BE49-F238E27FC236}">
                <a16:creationId xmlns:a16="http://schemas.microsoft.com/office/drawing/2014/main" id="{42EC637B-4943-0F44-032D-7DB9A5F942C2}"/>
              </a:ext>
            </a:extLst>
          </p:cNvPr>
          <p:cNvSpPr/>
          <p:nvPr/>
        </p:nvSpPr>
        <p:spPr>
          <a:xfrm>
            <a:off x="6451092" y="1655347"/>
            <a:ext cx="347472" cy="347472"/>
          </a:xfrm>
          <a:prstGeom prst="roundRect">
            <a:avLst/>
          </a:prstGeom>
          <a:solidFill>
            <a:srgbClr val="E8F7F8"/>
          </a:solidFill>
          <a:ln>
            <a:solidFill>
              <a:srgbClr val="E8F7F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dirty="0">
                <a:solidFill>
                  <a:srgbClr val="00A3AD"/>
                </a:solidFill>
                <a:latin typeface="Aptos"/>
              </a:rPr>
              <a:t>3</a:t>
            </a:r>
          </a:p>
        </p:txBody>
      </p:sp>
      <p:sp>
        <p:nvSpPr>
          <p:cNvPr id="57" name="TextBox 56">
            <a:extLst>
              <a:ext uri="{FF2B5EF4-FFF2-40B4-BE49-F238E27FC236}">
                <a16:creationId xmlns:a16="http://schemas.microsoft.com/office/drawing/2014/main" id="{4370B1C5-6371-8694-C921-9731F0F97D91}"/>
              </a:ext>
            </a:extLst>
          </p:cNvPr>
          <p:cNvSpPr txBox="1"/>
          <p:nvPr/>
        </p:nvSpPr>
        <p:spPr>
          <a:xfrm>
            <a:off x="7707744" y="1642202"/>
            <a:ext cx="990887" cy="369332"/>
          </a:xfrm>
          <a:prstGeom prst="rect">
            <a:avLst/>
          </a:prstGeom>
          <a:noFill/>
        </p:spPr>
        <p:txBody>
          <a:bodyPr wrap="square" lIns="0" tIns="0" rIns="0" bIns="0" anchor="ctr">
            <a:spAutoFit/>
          </a:bodyPr>
          <a:lstStyle/>
          <a:p>
            <a:pPr algn="l">
              <a:defRPr sz="2400" b="1">
                <a:solidFill>
                  <a:srgbClr val="00303C"/>
                </a:solidFill>
                <a:latin typeface="Aptos"/>
              </a:defRPr>
            </a:pPr>
            <a:r>
              <a:rPr dirty="0"/>
              <a:t>0.18 s</a:t>
            </a:r>
          </a:p>
        </p:txBody>
      </p:sp>
      <p:sp>
        <p:nvSpPr>
          <p:cNvPr id="60" name="TextBox 59">
            <a:extLst>
              <a:ext uri="{FF2B5EF4-FFF2-40B4-BE49-F238E27FC236}">
                <a16:creationId xmlns:a16="http://schemas.microsoft.com/office/drawing/2014/main" id="{4FA4E9D3-417E-499C-9BB6-E3ED94342A29}"/>
              </a:ext>
            </a:extLst>
          </p:cNvPr>
          <p:cNvSpPr txBox="1"/>
          <p:nvPr/>
        </p:nvSpPr>
        <p:spPr>
          <a:xfrm>
            <a:off x="6451092" y="2284449"/>
            <a:ext cx="2276856" cy="219456"/>
          </a:xfrm>
          <a:prstGeom prst="rect">
            <a:avLst/>
          </a:prstGeom>
          <a:noFill/>
        </p:spPr>
        <p:txBody>
          <a:bodyPr wrap="none" lIns="0" tIns="0" rIns="0" bIns="0" anchor="ctr">
            <a:spAutoFit/>
          </a:bodyPr>
          <a:lstStyle/>
          <a:p>
            <a:pPr algn="l">
              <a:defRPr sz="1300" b="0">
                <a:solidFill>
                  <a:srgbClr val="69808B"/>
                </a:solidFill>
                <a:latin typeface="Aptos"/>
              </a:defRPr>
            </a:pPr>
            <a:r>
              <a:rPr dirty="0"/>
              <a:t>Average retrieval time</a:t>
            </a:r>
          </a:p>
        </p:txBody>
      </p:sp>
      <p:sp>
        <p:nvSpPr>
          <p:cNvPr id="63" name="TextBox 62">
            <a:extLst>
              <a:ext uri="{FF2B5EF4-FFF2-40B4-BE49-F238E27FC236}">
                <a16:creationId xmlns:a16="http://schemas.microsoft.com/office/drawing/2014/main" id="{D0591D12-D7C3-06CB-A806-549273B5ECEB}"/>
              </a:ext>
            </a:extLst>
          </p:cNvPr>
          <p:cNvSpPr txBox="1"/>
          <p:nvPr/>
        </p:nvSpPr>
        <p:spPr>
          <a:xfrm>
            <a:off x="6451092" y="2538434"/>
            <a:ext cx="2276856" cy="201168"/>
          </a:xfrm>
          <a:prstGeom prst="rect">
            <a:avLst/>
          </a:prstGeom>
          <a:noFill/>
        </p:spPr>
        <p:txBody>
          <a:bodyPr wrap="none" lIns="0" tIns="0" rIns="0" bIns="0" anchor="ctr">
            <a:spAutoFit/>
          </a:bodyPr>
          <a:lstStyle/>
          <a:p>
            <a:pPr algn="l">
              <a:defRPr sz="1200" b="1">
                <a:solidFill>
                  <a:srgbClr val="69808B"/>
                </a:solidFill>
                <a:latin typeface="Aptos"/>
              </a:defRPr>
            </a:pPr>
            <a:r>
              <a:rPr dirty="0"/>
              <a:t>Vector search</a:t>
            </a:r>
          </a:p>
        </p:txBody>
      </p:sp>
      <p:sp>
        <p:nvSpPr>
          <p:cNvPr id="66" name="Rounded Rectangle 88">
            <a:extLst>
              <a:ext uri="{FF2B5EF4-FFF2-40B4-BE49-F238E27FC236}">
                <a16:creationId xmlns:a16="http://schemas.microsoft.com/office/drawing/2014/main" id="{A27B9F45-FFA1-3653-B795-1C84C4489C82}"/>
              </a:ext>
            </a:extLst>
          </p:cNvPr>
          <p:cNvSpPr/>
          <p:nvPr/>
        </p:nvSpPr>
        <p:spPr>
          <a:xfrm>
            <a:off x="8970264" y="1493348"/>
            <a:ext cx="2468880" cy="1417320"/>
          </a:xfrm>
          <a:prstGeom prst="roundRect">
            <a:avLst/>
          </a:prstGeom>
          <a:solidFill>
            <a:srgbClr val="FFFFFF"/>
          </a:solidFill>
          <a:ln>
            <a:solidFill>
              <a:srgbClr val="BEDE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ounded Rectangle 89">
            <a:extLst>
              <a:ext uri="{FF2B5EF4-FFF2-40B4-BE49-F238E27FC236}">
                <a16:creationId xmlns:a16="http://schemas.microsoft.com/office/drawing/2014/main" id="{5F8F62F0-CE68-5D20-4AD3-C37F1EF74273}"/>
              </a:ext>
            </a:extLst>
          </p:cNvPr>
          <p:cNvSpPr/>
          <p:nvPr/>
        </p:nvSpPr>
        <p:spPr>
          <a:xfrm>
            <a:off x="9219438" y="1655347"/>
            <a:ext cx="347472" cy="347472"/>
          </a:xfrm>
          <a:prstGeom prst="roundRect">
            <a:avLst/>
          </a:prstGeom>
          <a:solidFill>
            <a:srgbClr val="E8F7F8"/>
          </a:solidFill>
          <a:ln>
            <a:solidFill>
              <a:srgbClr val="E8F7F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dirty="0">
                <a:solidFill>
                  <a:srgbClr val="00A3AD"/>
                </a:solidFill>
                <a:latin typeface="Aptos"/>
              </a:rPr>
              <a:t>4</a:t>
            </a:r>
          </a:p>
        </p:txBody>
      </p:sp>
      <p:sp>
        <p:nvSpPr>
          <p:cNvPr id="71" name="TextBox 70">
            <a:extLst>
              <a:ext uri="{FF2B5EF4-FFF2-40B4-BE49-F238E27FC236}">
                <a16:creationId xmlns:a16="http://schemas.microsoft.com/office/drawing/2014/main" id="{9E584D13-7D8E-A3BE-CE19-A352BA7ACCC5}"/>
              </a:ext>
            </a:extLst>
          </p:cNvPr>
          <p:cNvSpPr txBox="1"/>
          <p:nvPr/>
        </p:nvSpPr>
        <p:spPr>
          <a:xfrm>
            <a:off x="10029797" y="1642202"/>
            <a:ext cx="1245925" cy="369332"/>
          </a:xfrm>
          <a:prstGeom prst="rect">
            <a:avLst/>
          </a:prstGeom>
          <a:noFill/>
        </p:spPr>
        <p:txBody>
          <a:bodyPr wrap="square" lIns="0" tIns="0" rIns="0" bIns="0" anchor="ctr">
            <a:spAutoFit/>
          </a:bodyPr>
          <a:lstStyle/>
          <a:p>
            <a:pPr algn="l">
              <a:defRPr sz="2400" b="1">
                <a:solidFill>
                  <a:srgbClr val="00303C"/>
                </a:solidFill>
                <a:latin typeface="Aptos"/>
              </a:defRPr>
            </a:pPr>
            <a:r>
              <a:rPr dirty="0"/>
              <a:t>10 users</a:t>
            </a:r>
          </a:p>
        </p:txBody>
      </p:sp>
      <p:sp>
        <p:nvSpPr>
          <p:cNvPr id="74" name="TextBox 73">
            <a:extLst>
              <a:ext uri="{FF2B5EF4-FFF2-40B4-BE49-F238E27FC236}">
                <a16:creationId xmlns:a16="http://schemas.microsoft.com/office/drawing/2014/main" id="{0FAB4408-E786-93F3-A13E-58CFF2574F72}"/>
              </a:ext>
            </a:extLst>
          </p:cNvPr>
          <p:cNvSpPr txBox="1"/>
          <p:nvPr/>
        </p:nvSpPr>
        <p:spPr>
          <a:xfrm>
            <a:off x="9217553" y="2282327"/>
            <a:ext cx="2276856" cy="219456"/>
          </a:xfrm>
          <a:prstGeom prst="rect">
            <a:avLst/>
          </a:prstGeom>
          <a:noFill/>
        </p:spPr>
        <p:txBody>
          <a:bodyPr wrap="none" lIns="0" tIns="0" rIns="0" bIns="0" anchor="ctr">
            <a:spAutoFit/>
          </a:bodyPr>
          <a:lstStyle/>
          <a:p>
            <a:pPr algn="l">
              <a:defRPr sz="1300" b="0">
                <a:solidFill>
                  <a:srgbClr val="69808B"/>
                </a:solidFill>
                <a:latin typeface="Aptos"/>
              </a:defRPr>
            </a:pPr>
            <a:r>
              <a:rPr dirty="0"/>
              <a:t>Concurrent stability</a:t>
            </a:r>
          </a:p>
        </p:txBody>
      </p:sp>
      <p:sp>
        <p:nvSpPr>
          <p:cNvPr id="76" name="TextBox 75">
            <a:extLst>
              <a:ext uri="{FF2B5EF4-FFF2-40B4-BE49-F238E27FC236}">
                <a16:creationId xmlns:a16="http://schemas.microsoft.com/office/drawing/2014/main" id="{B6A09ABC-DF4A-0336-7036-3BBAEA24BB4E}"/>
              </a:ext>
            </a:extLst>
          </p:cNvPr>
          <p:cNvSpPr txBox="1"/>
          <p:nvPr/>
        </p:nvSpPr>
        <p:spPr>
          <a:xfrm>
            <a:off x="9217553" y="2532409"/>
            <a:ext cx="2276856" cy="201168"/>
          </a:xfrm>
          <a:prstGeom prst="rect">
            <a:avLst/>
          </a:prstGeom>
          <a:noFill/>
        </p:spPr>
        <p:txBody>
          <a:bodyPr wrap="none" lIns="0" tIns="0" rIns="0" bIns="0" anchor="ctr">
            <a:spAutoFit/>
          </a:bodyPr>
          <a:lstStyle/>
          <a:p>
            <a:pPr algn="l">
              <a:defRPr sz="1200" b="1">
                <a:solidFill>
                  <a:srgbClr val="2E8B57"/>
                </a:solidFill>
                <a:latin typeface="Aptos"/>
              </a:defRPr>
            </a:pPr>
            <a:r>
              <a:rPr dirty="0"/>
              <a:t>Passed</a:t>
            </a:r>
          </a:p>
        </p:txBody>
      </p:sp>
      <p:sp>
        <p:nvSpPr>
          <p:cNvPr id="78" name="Rounded Rectangle 93">
            <a:extLst>
              <a:ext uri="{FF2B5EF4-FFF2-40B4-BE49-F238E27FC236}">
                <a16:creationId xmlns:a16="http://schemas.microsoft.com/office/drawing/2014/main" id="{C8D8F834-532C-4A9D-83C1-B27A25A0DAF2}"/>
              </a:ext>
            </a:extLst>
          </p:cNvPr>
          <p:cNvSpPr/>
          <p:nvPr/>
        </p:nvSpPr>
        <p:spPr>
          <a:xfrm>
            <a:off x="752855" y="3255547"/>
            <a:ext cx="10686290" cy="1234440"/>
          </a:xfrm>
          <a:prstGeom prst="roundRect">
            <a:avLst/>
          </a:prstGeom>
          <a:solidFill>
            <a:srgbClr val="F6FBFC"/>
          </a:solidFill>
          <a:ln>
            <a:solidFill>
              <a:srgbClr val="D6E8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a:extLst>
              <a:ext uri="{FF2B5EF4-FFF2-40B4-BE49-F238E27FC236}">
                <a16:creationId xmlns:a16="http://schemas.microsoft.com/office/drawing/2014/main" id="{BE74E122-92B7-5DA9-917C-D881B4681D5D}"/>
              </a:ext>
            </a:extLst>
          </p:cNvPr>
          <p:cNvSpPr txBox="1"/>
          <p:nvPr/>
        </p:nvSpPr>
        <p:spPr>
          <a:xfrm>
            <a:off x="932688" y="3476984"/>
            <a:ext cx="2743200" cy="256032"/>
          </a:xfrm>
          <a:prstGeom prst="rect">
            <a:avLst/>
          </a:prstGeom>
          <a:noFill/>
        </p:spPr>
        <p:txBody>
          <a:bodyPr wrap="none" lIns="0" tIns="0" rIns="0" bIns="0" anchor="ctr">
            <a:spAutoFit/>
          </a:bodyPr>
          <a:lstStyle/>
          <a:p>
            <a:pPr algn="l">
              <a:defRPr sz="1700" b="1">
                <a:solidFill>
                  <a:srgbClr val="00303C"/>
                </a:solidFill>
                <a:latin typeface="Aptos"/>
              </a:defRPr>
            </a:pPr>
            <a:r>
              <a:t>Manual validation focus</a:t>
            </a:r>
          </a:p>
        </p:txBody>
      </p:sp>
      <p:sp>
        <p:nvSpPr>
          <p:cNvPr id="82" name="Rounded Rectangle 95">
            <a:extLst>
              <a:ext uri="{FF2B5EF4-FFF2-40B4-BE49-F238E27FC236}">
                <a16:creationId xmlns:a16="http://schemas.microsoft.com/office/drawing/2014/main" id="{060FF071-C81C-A26B-8A13-191B114BF500}"/>
              </a:ext>
            </a:extLst>
          </p:cNvPr>
          <p:cNvSpPr/>
          <p:nvPr/>
        </p:nvSpPr>
        <p:spPr>
          <a:xfrm>
            <a:off x="932688" y="3842744"/>
            <a:ext cx="384048" cy="384048"/>
          </a:xfrm>
          <a:prstGeom prst="roundRect">
            <a:avLst/>
          </a:prstGeom>
          <a:solidFill>
            <a:srgbClr val="E8F7EC"/>
          </a:solidFill>
          <a:ln>
            <a:solidFill>
              <a:srgbClr val="E8F7EC"/>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dirty="0">
                <a:solidFill>
                  <a:srgbClr val="2E8B57"/>
                </a:solidFill>
                <a:latin typeface="Aptos"/>
              </a:rPr>
              <a:t>✓</a:t>
            </a:r>
          </a:p>
        </p:txBody>
      </p:sp>
      <p:sp>
        <p:nvSpPr>
          <p:cNvPr id="84" name="TextBox 83">
            <a:extLst>
              <a:ext uri="{FF2B5EF4-FFF2-40B4-BE49-F238E27FC236}">
                <a16:creationId xmlns:a16="http://schemas.microsoft.com/office/drawing/2014/main" id="{715CCF51-E610-2543-A941-495ED14C6061}"/>
              </a:ext>
            </a:extLst>
          </p:cNvPr>
          <p:cNvSpPr txBox="1"/>
          <p:nvPr/>
        </p:nvSpPr>
        <p:spPr>
          <a:xfrm>
            <a:off x="1463040" y="3919352"/>
            <a:ext cx="2547492" cy="230832"/>
          </a:xfrm>
          <a:prstGeom prst="rect">
            <a:avLst/>
          </a:prstGeom>
          <a:noFill/>
        </p:spPr>
        <p:txBody>
          <a:bodyPr wrap="none" lIns="0" tIns="0" rIns="0" bIns="0" anchor="ctr">
            <a:spAutoFit/>
          </a:bodyPr>
          <a:lstStyle/>
          <a:p>
            <a:pPr>
              <a:defRPr sz="1500" b="1">
                <a:solidFill>
                  <a:srgbClr val="00303C"/>
                </a:solidFill>
                <a:latin typeface="Aptos"/>
              </a:defRPr>
            </a:pPr>
            <a:r>
              <a:rPr lang="en-US" sz="1500" b="1" dirty="0"/>
              <a:t>Response references verified</a:t>
            </a:r>
            <a:endParaRPr dirty="0"/>
          </a:p>
        </p:txBody>
      </p:sp>
      <p:sp>
        <p:nvSpPr>
          <p:cNvPr id="86" name="Rounded Rectangle 97">
            <a:extLst>
              <a:ext uri="{FF2B5EF4-FFF2-40B4-BE49-F238E27FC236}">
                <a16:creationId xmlns:a16="http://schemas.microsoft.com/office/drawing/2014/main" id="{A17C22AB-C520-2A51-FEFF-92CAD0DBDE0F}"/>
              </a:ext>
            </a:extLst>
          </p:cNvPr>
          <p:cNvSpPr/>
          <p:nvPr/>
        </p:nvSpPr>
        <p:spPr>
          <a:xfrm>
            <a:off x="4223113" y="3842744"/>
            <a:ext cx="384048" cy="384048"/>
          </a:xfrm>
          <a:prstGeom prst="roundRect">
            <a:avLst/>
          </a:prstGeom>
          <a:solidFill>
            <a:srgbClr val="E8F7EC"/>
          </a:solidFill>
          <a:ln>
            <a:solidFill>
              <a:srgbClr val="E8F7EC"/>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dirty="0">
                <a:solidFill>
                  <a:srgbClr val="2E8B57"/>
                </a:solidFill>
                <a:latin typeface="Aptos"/>
              </a:rPr>
              <a:t>✓</a:t>
            </a:r>
          </a:p>
        </p:txBody>
      </p:sp>
      <p:sp>
        <p:nvSpPr>
          <p:cNvPr id="88" name="TextBox 87">
            <a:extLst>
              <a:ext uri="{FF2B5EF4-FFF2-40B4-BE49-F238E27FC236}">
                <a16:creationId xmlns:a16="http://schemas.microsoft.com/office/drawing/2014/main" id="{15D00C11-A814-62C1-3ED0-06CBD2A59E78}"/>
              </a:ext>
            </a:extLst>
          </p:cNvPr>
          <p:cNvSpPr txBox="1"/>
          <p:nvPr/>
        </p:nvSpPr>
        <p:spPr>
          <a:xfrm>
            <a:off x="4753465" y="3919352"/>
            <a:ext cx="2937407" cy="230832"/>
          </a:xfrm>
          <a:prstGeom prst="rect">
            <a:avLst/>
          </a:prstGeom>
          <a:noFill/>
        </p:spPr>
        <p:txBody>
          <a:bodyPr wrap="none" lIns="0" tIns="0" rIns="0" bIns="0" anchor="ctr">
            <a:spAutoFit/>
          </a:bodyPr>
          <a:lstStyle/>
          <a:p>
            <a:pPr>
              <a:defRPr sz="1500" b="1">
                <a:solidFill>
                  <a:srgbClr val="00303C"/>
                </a:solidFill>
                <a:latin typeface="Aptos"/>
              </a:defRPr>
            </a:pPr>
            <a:r>
              <a:rPr lang="en-US" sz="1500" b="1" dirty="0"/>
              <a:t>User interface </a:t>
            </a:r>
            <a:r>
              <a:rPr lang="en-US" sz="1500" b="1" dirty="0" err="1"/>
              <a:t>behaviour</a:t>
            </a:r>
            <a:r>
              <a:rPr lang="en-US" sz="1500" b="1" dirty="0"/>
              <a:t> checked</a:t>
            </a:r>
            <a:endParaRPr dirty="0"/>
          </a:p>
        </p:txBody>
      </p:sp>
      <p:sp>
        <p:nvSpPr>
          <p:cNvPr id="90" name="Rounded Rectangle 99">
            <a:extLst>
              <a:ext uri="{FF2B5EF4-FFF2-40B4-BE49-F238E27FC236}">
                <a16:creationId xmlns:a16="http://schemas.microsoft.com/office/drawing/2014/main" id="{0F35C5DE-2DAD-F49A-3868-475A529110DC}"/>
              </a:ext>
            </a:extLst>
          </p:cNvPr>
          <p:cNvSpPr/>
          <p:nvPr/>
        </p:nvSpPr>
        <p:spPr>
          <a:xfrm>
            <a:off x="7937749" y="3842744"/>
            <a:ext cx="384048" cy="384048"/>
          </a:xfrm>
          <a:prstGeom prst="roundRect">
            <a:avLst/>
          </a:prstGeom>
          <a:solidFill>
            <a:srgbClr val="E8F7EC"/>
          </a:solidFill>
          <a:ln>
            <a:solidFill>
              <a:srgbClr val="E8F7EC"/>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dirty="0">
                <a:solidFill>
                  <a:srgbClr val="2E8B57"/>
                </a:solidFill>
                <a:latin typeface="Aptos"/>
              </a:rPr>
              <a:t>✓</a:t>
            </a:r>
          </a:p>
        </p:txBody>
      </p:sp>
      <p:sp>
        <p:nvSpPr>
          <p:cNvPr id="92" name="TextBox 91">
            <a:extLst>
              <a:ext uri="{FF2B5EF4-FFF2-40B4-BE49-F238E27FC236}">
                <a16:creationId xmlns:a16="http://schemas.microsoft.com/office/drawing/2014/main" id="{63E71C67-26D3-8F2C-1968-D9097BB967B5}"/>
              </a:ext>
            </a:extLst>
          </p:cNvPr>
          <p:cNvSpPr txBox="1"/>
          <p:nvPr/>
        </p:nvSpPr>
        <p:spPr>
          <a:xfrm>
            <a:off x="8468101" y="3919352"/>
            <a:ext cx="2764283" cy="230832"/>
          </a:xfrm>
          <a:prstGeom prst="rect">
            <a:avLst/>
          </a:prstGeom>
          <a:noFill/>
        </p:spPr>
        <p:txBody>
          <a:bodyPr wrap="none" lIns="0" tIns="0" rIns="0" bIns="0" anchor="ctr">
            <a:spAutoFit/>
          </a:bodyPr>
          <a:lstStyle/>
          <a:p>
            <a:pPr>
              <a:defRPr sz="1500" b="1">
                <a:solidFill>
                  <a:srgbClr val="00303C"/>
                </a:solidFill>
                <a:latin typeface="Aptos"/>
              </a:defRPr>
            </a:pPr>
            <a:r>
              <a:rPr lang="en-US" sz="1500" b="1" dirty="0"/>
              <a:t>End-to-end workflows validated</a:t>
            </a:r>
            <a:endParaRPr dirty="0"/>
          </a:p>
        </p:txBody>
      </p:sp>
      <p:sp>
        <p:nvSpPr>
          <p:cNvPr id="94" name="Rounded Rectangle 101">
            <a:extLst>
              <a:ext uri="{FF2B5EF4-FFF2-40B4-BE49-F238E27FC236}">
                <a16:creationId xmlns:a16="http://schemas.microsoft.com/office/drawing/2014/main" id="{559E5010-84E2-24BF-9E0A-968907780450}"/>
              </a:ext>
            </a:extLst>
          </p:cNvPr>
          <p:cNvSpPr/>
          <p:nvPr/>
        </p:nvSpPr>
        <p:spPr>
          <a:xfrm>
            <a:off x="2045665" y="4775666"/>
            <a:ext cx="7863840" cy="438912"/>
          </a:xfrm>
          <a:prstGeom prst="roundRect">
            <a:avLst/>
          </a:prstGeom>
          <a:solidFill>
            <a:srgbClr val="E8F7EC"/>
          </a:solidFill>
          <a:ln>
            <a:solidFill>
              <a:srgbClr val="C8E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Rounded Rectangle 102">
            <a:extLst>
              <a:ext uri="{FF2B5EF4-FFF2-40B4-BE49-F238E27FC236}">
                <a16:creationId xmlns:a16="http://schemas.microsoft.com/office/drawing/2014/main" id="{77EF96EC-EADA-A74B-E16C-EAC79E105DEC}"/>
              </a:ext>
            </a:extLst>
          </p:cNvPr>
          <p:cNvSpPr/>
          <p:nvPr/>
        </p:nvSpPr>
        <p:spPr>
          <a:xfrm>
            <a:off x="2776152" y="4857962"/>
            <a:ext cx="256032" cy="256032"/>
          </a:xfrm>
          <a:prstGeom prst="roundRect">
            <a:avLst/>
          </a:prstGeom>
          <a:solidFill>
            <a:srgbClr val="E8F7EC"/>
          </a:solidFill>
          <a:ln>
            <a:solidFill>
              <a:srgbClr val="E8F7EC"/>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dirty="0">
                <a:solidFill>
                  <a:srgbClr val="2E8B57"/>
                </a:solidFill>
                <a:latin typeface="Aptos"/>
              </a:rPr>
              <a:t>✓</a:t>
            </a:r>
          </a:p>
        </p:txBody>
      </p:sp>
      <p:sp>
        <p:nvSpPr>
          <p:cNvPr id="98" name="TextBox 97">
            <a:extLst>
              <a:ext uri="{FF2B5EF4-FFF2-40B4-BE49-F238E27FC236}">
                <a16:creationId xmlns:a16="http://schemas.microsoft.com/office/drawing/2014/main" id="{BAC0A7BF-644B-A260-161E-62A3AF7C7B05}"/>
              </a:ext>
            </a:extLst>
          </p:cNvPr>
          <p:cNvSpPr txBox="1"/>
          <p:nvPr/>
        </p:nvSpPr>
        <p:spPr>
          <a:xfrm>
            <a:off x="3141912" y="4872294"/>
            <a:ext cx="6049224" cy="246221"/>
          </a:xfrm>
          <a:prstGeom prst="rect">
            <a:avLst/>
          </a:prstGeom>
          <a:noFill/>
        </p:spPr>
        <p:txBody>
          <a:bodyPr wrap="square" lIns="0" tIns="0" rIns="0" bIns="0" anchor="ctr">
            <a:spAutoFit/>
          </a:bodyPr>
          <a:lstStyle/>
          <a:p>
            <a:pPr>
              <a:defRPr sz="1600" b="1">
                <a:solidFill>
                  <a:srgbClr val="2E8B57"/>
                </a:solidFill>
                <a:latin typeface="Aptos"/>
              </a:defRPr>
            </a:pPr>
            <a:r>
              <a:rPr lang="en-US" sz="1600" b="1" dirty="0"/>
              <a:t>All defined performance targets passed; no critical issues found</a:t>
            </a:r>
            <a:endParaRPr dirty="0"/>
          </a:p>
        </p:txBody>
      </p:sp>
    </p:spTree>
    <p:extLst>
      <p:ext uri="{BB962C8B-B14F-4D97-AF65-F5344CB8AC3E}">
        <p14:creationId xmlns:p14="http://schemas.microsoft.com/office/powerpoint/2010/main" val="1344962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BFD"/>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A0606B7-0AD7-4EE6-803A-2B47A0AAA95D}"/>
              </a:ext>
            </a:extLst>
          </p:cNvPr>
          <p:cNvSpPr>
            <a:spLocks noGrp="1"/>
          </p:cNvSpPr>
          <p:nvPr/>
        </p:nvSpPr>
        <p:spPr>
          <a:xfrm>
            <a:off x="0" y="0"/>
            <a:ext cx="12192000" cy="114300"/>
          </a:xfrm>
          <a:prstGeom prst="rect">
            <a:avLst/>
          </a:prstGeom>
          <a:solidFill>
            <a:srgbClr val="00A3AD"/>
          </a:solidFill>
          <a:ln w="0">
            <a:solidFill>
              <a:srgbClr val="00A3AD"/>
            </a:solidFill>
            <a:prstDash val="solid"/>
          </a:ln>
        </p:spPr>
        <p:txBody>
          <a:bodyPr/>
          <a:lstStyle/>
          <a:p>
            <a:endParaRPr/>
          </a:p>
        </p:txBody>
      </p:sp>
      <p:sp>
        <p:nvSpPr>
          <p:cNvPr id="2" name="Rectangle 1">
            <a:extLst>
              <a:ext uri="{FF2B5EF4-FFF2-40B4-BE49-F238E27FC236}">
                <a16:creationId xmlns:a16="http://schemas.microsoft.com/office/drawing/2014/main" id="{798C2021-80B1-4D95-977D-1E3523B75A9D}"/>
              </a:ext>
            </a:extLst>
          </p:cNvPr>
          <p:cNvSpPr>
            <a:spLocks noGrp="1"/>
          </p:cNvSpPr>
          <p:nvPr/>
        </p:nvSpPr>
        <p:spPr>
          <a:xfrm>
            <a:off x="685800" y="342900"/>
            <a:ext cx="4000500" cy="209550"/>
          </a:xfrm>
          <a:prstGeom prst="rect">
            <a:avLst/>
          </a:prstGeom>
          <a:noFill/>
          <a:ln w="0">
            <a:noFill/>
            <a:prstDash val="solid"/>
          </a:ln>
        </p:spPr>
        <p:txBody>
          <a:bodyPr/>
          <a:lstStyle/>
          <a:p>
            <a:pPr algn="l">
              <a:buNone/>
              <a:defRPr sz="900" b="1">
                <a:solidFill>
                  <a:srgbClr val="009999"/>
                </a:solidFill>
              </a:defRPr>
            </a:pPr>
            <a:r>
              <a:rPr sz="900" b="1">
                <a:solidFill>
                  <a:srgbClr val="009999"/>
                </a:solidFill>
              </a:rPr>
              <a:t>CLOSING</a:t>
            </a:r>
          </a:p>
        </p:txBody>
      </p:sp>
      <p:sp>
        <p:nvSpPr>
          <p:cNvPr id="3" name="Rectangle 2">
            <a:extLst>
              <a:ext uri="{FF2B5EF4-FFF2-40B4-BE49-F238E27FC236}">
                <a16:creationId xmlns:a16="http://schemas.microsoft.com/office/drawing/2014/main" id="{996C79EB-ACFB-463C-BB5E-3A0C367D998D}"/>
              </a:ext>
            </a:extLst>
          </p:cNvPr>
          <p:cNvSpPr>
            <a:spLocks noGrp="1"/>
          </p:cNvSpPr>
          <p:nvPr/>
        </p:nvSpPr>
        <p:spPr>
          <a:xfrm>
            <a:off x="685800" y="609600"/>
            <a:ext cx="7810500" cy="495300"/>
          </a:xfrm>
          <a:prstGeom prst="rect">
            <a:avLst/>
          </a:prstGeom>
          <a:noFill/>
          <a:ln w="0">
            <a:noFill/>
            <a:prstDash val="solid"/>
          </a:ln>
        </p:spPr>
        <p:txBody>
          <a:bodyPr/>
          <a:lstStyle/>
          <a:p>
            <a:pPr algn="l">
              <a:buNone/>
              <a:defRPr sz="2850" b="1">
                <a:solidFill>
                  <a:srgbClr val="083344"/>
                </a:solidFill>
              </a:defRPr>
            </a:pPr>
            <a:r>
              <a:rPr sz="2850" b="1">
                <a:solidFill>
                  <a:srgbClr val="083344"/>
                </a:solidFill>
              </a:rPr>
              <a:t>Conclusion</a:t>
            </a:r>
          </a:p>
        </p:txBody>
      </p:sp>
      <p:sp>
        <p:nvSpPr>
          <p:cNvPr id="4" name="Rectangle: Rounded Corners 3">
            <a:extLst>
              <a:ext uri="{FF2B5EF4-FFF2-40B4-BE49-F238E27FC236}">
                <a16:creationId xmlns:a16="http://schemas.microsoft.com/office/drawing/2014/main" id="{20F413A2-9496-42B7-B4F8-7BA558792E5F}"/>
              </a:ext>
            </a:extLst>
          </p:cNvPr>
          <p:cNvSpPr>
            <a:spLocks noGrp="1"/>
          </p:cNvSpPr>
          <p:nvPr/>
        </p:nvSpPr>
        <p:spPr>
          <a:xfrm>
            <a:off x="1726096" y="1700974"/>
            <a:ext cx="3810000" cy="552450"/>
          </a:xfrm>
          <a:prstGeom prst="roundRect">
            <a:avLst>
              <a:gd name="adj" fmla="val 50000"/>
            </a:avLst>
          </a:prstGeom>
          <a:solidFill>
            <a:srgbClr val="FFFFFF"/>
          </a:solidFill>
          <a:ln w="9525">
            <a:solidFill>
              <a:srgbClr val="CBE4EC"/>
            </a:solidFill>
            <a:prstDash val="solid"/>
          </a:ln>
        </p:spPr>
        <p:txBody>
          <a:bodyPr/>
          <a:lstStyle/>
          <a:p>
            <a:endParaRPr/>
          </a:p>
        </p:txBody>
      </p:sp>
      <p:pic>
        <p:nvPicPr>
          <p:cNvPr id="32" name="Graphic 25"/>
          <p:cNvPicPr>
            <a:picLocks noChangeAspect="1"/>
          </p:cNvPicPr>
          <p:nvPr/>
        </p:nvPicPr>
        <p:blipFill>
          <a:blip>
            <a:extLst>
              <a:ext uri="{96DAC541-7B7A-43D3-8B79-37D633B846F1}">
                <asvg:svgBlip xmlns:asvg="http://schemas.microsoft.com/office/drawing/2016/SVG/main" r:embed="rId3"/>
              </a:ext>
            </a:extLst>
          </a:blip>
          <a:stretch/>
        </p:blipFill>
        <p:spPr>
          <a:xfrm>
            <a:off x="2073367" y="1882337"/>
            <a:ext cx="228600" cy="228600"/>
          </a:xfrm>
          <a:prstGeom prst="rect">
            <a:avLst/>
          </a:prstGeom>
        </p:spPr>
      </p:pic>
      <p:sp>
        <p:nvSpPr>
          <p:cNvPr id="6" name="Rectangle 5">
            <a:extLst>
              <a:ext uri="{FF2B5EF4-FFF2-40B4-BE49-F238E27FC236}">
                <a16:creationId xmlns:a16="http://schemas.microsoft.com/office/drawing/2014/main" id="{39E9A281-CD65-468A-9726-228B6EF78227}"/>
              </a:ext>
            </a:extLst>
          </p:cNvPr>
          <p:cNvSpPr>
            <a:spLocks noGrp="1"/>
          </p:cNvSpPr>
          <p:nvPr/>
        </p:nvSpPr>
        <p:spPr>
          <a:xfrm>
            <a:off x="2387278" y="1835822"/>
            <a:ext cx="3219450" cy="247650"/>
          </a:xfrm>
          <a:prstGeom prst="rect">
            <a:avLst/>
          </a:prstGeom>
          <a:noFill/>
          <a:ln w="0">
            <a:noFill/>
            <a:prstDash val="solid"/>
          </a:ln>
        </p:spPr>
        <p:txBody>
          <a:bodyPr/>
          <a:lstStyle/>
          <a:p>
            <a:pPr algn="l">
              <a:buNone/>
              <a:defRPr sz="1275" b="1">
                <a:solidFill>
                  <a:srgbClr val="083344"/>
                </a:solidFill>
              </a:defRPr>
            </a:pPr>
            <a:r>
              <a:rPr sz="1400" b="1">
                <a:solidFill>
                  <a:srgbClr val="083344"/>
                </a:solidFill>
              </a:rPr>
              <a:t>Verified requirements and workflows</a:t>
            </a:r>
          </a:p>
        </p:txBody>
      </p:sp>
      <p:sp>
        <p:nvSpPr>
          <p:cNvPr id="7" name="Rectangle: Rounded Corners 6">
            <a:extLst>
              <a:ext uri="{FF2B5EF4-FFF2-40B4-BE49-F238E27FC236}">
                <a16:creationId xmlns:a16="http://schemas.microsoft.com/office/drawing/2014/main" id="{26AC86C3-AD1E-4302-A343-0826FCC58265}"/>
              </a:ext>
            </a:extLst>
          </p:cNvPr>
          <p:cNvSpPr>
            <a:spLocks noGrp="1"/>
          </p:cNvSpPr>
          <p:nvPr/>
        </p:nvSpPr>
        <p:spPr>
          <a:xfrm>
            <a:off x="6202846" y="1700974"/>
            <a:ext cx="3810000" cy="552450"/>
          </a:xfrm>
          <a:prstGeom prst="roundRect">
            <a:avLst>
              <a:gd name="adj" fmla="val 50000"/>
            </a:avLst>
          </a:prstGeom>
          <a:solidFill>
            <a:srgbClr val="FFFFFF"/>
          </a:solidFill>
          <a:ln w="9525">
            <a:solidFill>
              <a:srgbClr val="CBE4EC"/>
            </a:solidFill>
            <a:prstDash val="solid"/>
          </a:ln>
        </p:spPr>
        <p:txBody>
          <a:bodyPr/>
          <a:lstStyle/>
          <a:p>
            <a:endParaRPr/>
          </a:p>
        </p:txBody>
      </p:sp>
      <p:pic>
        <p:nvPicPr>
          <p:cNvPr id="35" name="Graphic 28"/>
          <p:cNvPicPr>
            <a:picLocks noChangeAspect="1"/>
          </p:cNvPicPr>
          <p:nvPr/>
        </p:nvPicPr>
        <p:blipFill>
          <a:blip>
            <a:extLst>
              <a:ext uri="{96DAC541-7B7A-43D3-8B79-37D633B846F1}">
                <asvg:svgBlip xmlns:asvg="http://schemas.microsoft.com/office/drawing/2016/SVG/main" r:embed="rId4"/>
              </a:ext>
            </a:extLst>
          </a:blip>
          <a:stretch/>
        </p:blipFill>
        <p:spPr>
          <a:xfrm>
            <a:off x="6755267" y="1871728"/>
            <a:ext cx="228600" cy="228600"/>
          </a:xfrm>
          <a:prstGeom prst="rect">
            <a:avLst/>
          </a:prstGeom>
        </p:spPr>
      </p:pic>
      <p:sp>
        <p:nvSpPr>
          <p:cNvPr id="9" name="Rectangle 8">
            <a:extLst>
              <a:ext uri="{FF2B5EF4-FFF2-40B4-BE49-F238E27FC236}">
                <a16:creationId xmlns:a16="http://schemas.microsoft.com/office/drawing/2014/main" id="{8E00972E-5159-4403-892E-0CAB996A3604}"/>
              </a:ext>
            </a:extLst>
          </p:cNvPr>
          <p:cNvSpPr>
            <a:spLocks noGrp="1"/>
          </p:cNvSpPr>
          <p:nvPr/>
        </p:nvSpPr>
        <p:spPr>
          <a:xfrm>
            <a:off x="7059239" y="1815274"/>
            <a:ext cx="3219450" cy="247650"/>
          </a:xfrm>
          <a:prstGeom prst="rect">
            <a:avLst/>
          </a:prstGeom>
          <a:noFill/>
          <a:ln w="0">
            <a:noFill/>
            <a:prstDash val="solid"/>
          </a:ln>
        </p:spPr>
        <p:txBody>
          <a:bodyPr/>
          <a:lstStyle/>
          <a:p>
            <a:pPr algn="l">
              <a:buNone/>
              <a:defRPr sz="1275" b="1">
                <a:solidFill>
                  <a:srgbClr val="083344"/>
                </a:solidFill>
              </a:defRPr>
            </a:pPr>
            <a:r>
              <a:rPr sz="1400" b="1">
                <a:solidFill>
                  <a:srgbClr val="083344"/>
                </a:solidFill>
              </a:rPr>
              <a:t>Validated realistic user journeys</a:t>
            </a:r>
          </a:p>
        </p:txBody>
      </p:sp>
      <p:sp>
        <p:nvSpPr>
          <p:cNvPr id="10" name="Rectangle: Rounded Corners 9">
            <a:extLst>
              <a:ext uri="{FF2B5EF4-FFF2-40B4-BE49-F238E27FC236}">
                <a16:creationId xmlns:a16="http://schemas.microsoft.com/office/drawing/2014/main" id="{347FBBCC-FB51-457B-BA7E-16F7532D25DA}"/>
              </a:ext>
            </a:extLst>
          </p:cNvPr>
          <p:cNvSpPr>
            <a:spLocks noGrp="1"/>
          </p:cNvSpPr>
          <p:nvPr/>
        </p:nvSpPr>
        <p:spPr>
          <a:xfrm>
            <a:off x="1726096" y="2615374"/>
            <a:ext cx="3810000" cy="552450"/>
          </a:xfrm>
          <a:prstGeom prst="roundRect">
            <a:avLst>
              <a:gd name="adj" fmla="val 50000"/>
            </a:avLst>
          </a:prstGeom>
          <a:solidFill>
            <a:srgbClr val="FFFFFF"/>
          </a:solidFill>
          <a:ln w="9525">
            <a:solidFill>
              <a:srgbClr val="CBE4EC"/>
            </a:solidFill>
            <a:prstDash val="solid"/>
          </a:ln>
        </p:spPr>
        <p:txBody>
          <a:bodyPr/>
          <a:lstStyle/>
          <a:p>
            <a:endParaRPr/>
          </a:p>
        </p:txBody>
      </p:sp>
      <p:pic>
        <p:nvPicPr>
          <p:cNvPr id="38" name="Graphic 31"/>
          <p:cNvPicPr>
            <a:picLocks noChangeAspect="1"/>
          </p:cNvPicPr>
          <p:nvPr/>
        </p:nvPicPr>
        <p:blipFill>
          <a:blip>
            <a:extLst>
              <a:ext uri="{96DAC541-7B7A-43D3-8B79-37D633B846F1}">
                <asvg:svgBlip xmlns:asvg="http://schemas.microsoft.com/office/drawing/2016/SVG/main" r:embed="rId5"/>
              </a:ext>
            </a:extLst>
          </a:blip>
          <a:stretch/>
        </p:blipFill>
        <p:spPr>
          <a:xfrm>
            <a:off x="2032271" y="2796737"/>
            <a:ext cx="228600" cy="228600"/>
          </a:xfrm>
          <a:prstGeom prst="rect">
            <a:avLst/>
          </a:prstGeom>
        </p:spPr>
      </p:pic>
      <p:sp>
        <p:nvSpPr>
          <p:cNvPr id="12" name="Rectangle 11">
            <a:extLst>
              <a:ext uri="{FF2B5EF4-FFF2-40B4-BE49-F238E27FC236}">
                <a16:creationId xmlns:a16="http://schemas.microsoft.com/office/drawing/2014/main" id="{3471C105-3B22-45EE-A2C1-2950235358F0}"/>
              </a:ext>
            </a:extLst>
          </p:cNvPr>
          <p:cNvSpPr>
            <a:spLocks noGrp="1"/>
          </p:cNvSpPr>
          <p:nvPr/>
        </p:nvSpPr>
        <p:spPr>
          <a:xfrm>
            <a:off x="2346182" y="2750222"/>
            <a:ext cx="3219450" cy="247650"/>
          </a:xfrm>
          <a:prstGeom prst="rect">
            <a:avLst/>
          </a:prstGeom>
          <a:noFill/>
          <a:ln w="0">
            <a:noFill/>
            <a:prstDash val="solid"/>
          </a:ln>
        </p:spPr>
        <p:txBody>
          <a:bodyPr/>
          <a:lstStyle/>
          <a:p>
            <a:pPr algn="l">
              <a:buNone/>
              <a:defRPr sz="1275" b="1">
                <a:solidFill>
                  <a:srgbClr val="083344"/>
                </a:solidFill>
              </a:defRPr>
            </a:pPr>
            <a:r>
              <a:rPr sz="1400" b="1">
                <a:solidFill>
                  <a:srgbClr val="083344"/>
                </a:solidFill>
              </a:rPr>
              <a:t>Measured performance targets passed</a:t>
            </a:r>
          </a:p>
        </p:txBody>
      </p:sp>
      <p:sp>
        <p:nvSpPr>
          <p:cNvPr id="13" name="Rectangle: Rounded Corners 12">
            <a:extLst>
              <a:ext uri="{FF2B5EF4-FFF2-40B4-BE49-F238E27FC236}">
                <a16:creationId xmlns:a16="http://schemas.microsoft.com/office/drawing/2014/main" id="{F370BAD4-89E2-42BC-A554-00B54527CDC0}"/>
              </a:ext>
            </a:extLst>
          </p:cNvPr>
          <p:cNvSpPr>
            <a:spLocks noGrp="1"/>
          </p:cNvSpPr>
          <p:nvPr/>
        </p:nvSpPr>
        <p:spPr>
          <a:xfrm>
            <a:off x="6202846" y="2615374"/>
            <a:ext cx="3810000" cy="552450"/>
          </a:xfrm>
          <a:prstGeom prst="roundRect">
            <a:avLst>
              <a:gd name="adj" fmla="val 50000"/>
            </a:avLst>
          </a:prstGeom>
          <a:solidFill>
            <a:srgbClr val="FFFFFF"/>
          </a:solidFill>
          <a:ln w="9525">
            <a:solidFill>
              <a:srgbClr val="CBE4EC"/>
            </a:solidFill>
            <a:prstDash val="solid"/>
          </a:ln>
        </p:spPr>
        <p:txBody>
          <a:bodyPr/>
          <a:lstStyle/>
          <a:p>
            <a:endParaRPr dirty="0"/>
          </a:p>
        </p:txBody>
      </p:sp>
      <p:pic>
        <p:nvPicPr>
          <p:cNvPr id="41" name="Graphic 34"/>
          <p:cNvPicPr>
            <a:picLocks noChangeAspect="1"/>
          </p:cNvPicPr>
          <p:nvPr/>
        </p:nvPicPr>
        <p:blipFill>
          <a:blip>
            <a:extLst>
              <a:ext uri="{96DAC541-7B7A-43D3-8B79-37D633B846F1}">
                <asvg:svgBlip xmlns:asvg="http://schemas.microsoft.com/office/drawing/2016/SVG/main" r:embed="rId6"/>
              </a:ext>
            </a:extLst>
          </a:blip>
          <a:stretch/>
        </p:blipFill>
        <p:spPr>
          <a:xfrm>
            <a:off x="6508686" y="2786128"/>
            <a:ext cx="228600" cy="228600"/>
          </a:xfrm>
          <a:prstGeom prst="rect">
            <a:avLst/>
          </a:prstGeom>
        </p:spPr>
      </p:pic>
      <p:sp>
        <p:nvSpPr>
          <p:cNvPr id="15" name="Rectangle 14">
            <a:extLst>
              <a:ext uri="{FF2B5EF4-FFF2-40B4-BE49-F238E27FC236}">
                <a16:creationId xmlns:a16="http://schemas.microsoft.com/office/drawing/2014/main" id="{41DAC80F-F257-49E5-BCDD-DDA807A52C00}"/>
              </a:ext>
            </a:extLst>
          </p:cNvPr>
          <p:cNvSpPr>
            <a:spLocks noGrp="1"/>
          </p:cNvSpPr>
          <p:nvPr/>
        </p:nvSpPr>
        <p:spPr>
          <a:xfrm>
            <a:off x="6812658" y="2729674"/>
            <a:ext cx="3219450" cy="247650"/>
          </a:xfrm>
          <a:prstGeom prst="rect">
            <a:avLst/>
          </a:prstGeom>
          <a:noFill/>
          <a:ln w="0">
            <a:noFill/>
            <a:prstDash val="solid"/>
          </a:ln>
        </p:spPr>
        <p:txBody>
          <a:bodyPr/>
          <a:lstStyle/>
          <a:p>
            <a:pPr algn="l">
              <a:buNone/>
              <a:defRPr sz="1275" b="1">
                <a:solidFill>
                  <a:srgbClr val="083344"/>
                </a:solidFill>
              </a:defRPr>
            </a:pPr>
            <a:r>
              <a:rPr sz="1400" b="1">
                <a:solidFill>
                  <a:srgbClr val="083344"/>
                </a:solidFill>
              </a:rPr>
              <a:t>References supported answer checking</a:t>
            </a:r>
          </a:p>
        </p:txBody>
      </p:sp>
      <p:sp>
        <p:nvSpPr>
          <p:cNvPr id="16" name="Rectangle: Rounded Corners 15">
            <a:extLst>
              <a:ext uri="{FF2B5EF4-FFF2-40B4-BE49-F238E27FC236}">
                <a16:creationId xmlns:a16="http://schemas.microsoft.com/office/drawing/2014/main" id="{EEC6CA41-1BD2-49A1-894C-FB339C37270B}"/>
              </a:ext>
            </a:extLst>
          </p:cNvPr>
          <p:cNvSpPr>
            <a:spLocks noGrp="1"/>
          </p:cNvSpPr>
          <p:nvPr/>
        </p:nvSpPr>
        <p:spPr>
          <a:xfrm>
            <a:off x="4111487" y="3613975"/>
            <a:ext cx="3810000" cy="552450"/>
          </a:xfrm>
          <a:prstGeom prst="roundRect">
            <a:avLst>
              <a:gd name="adj" fmla="val 50000"/>
            </a:avLst>
          </a:prstGeom>
          <a:solidFill>
            <a:srgbClr val="FFFFFF"/>
          </a:solidFill>
          <a:ln w="9525">
            <a:solidFill>
              <a:srgbClr val="CBE4EC"/>
            </a:solidFill>
            <a:prstDash val="solid"/>
          </a:ln>
        </p:spPr>
        <p:txBody>
          <a:bodyPr/>
          <a:lstStyle/>
          <a:p>
            <a:endParaRPr/>
          </a:p>
        </p:txBody>
      </p:sp>
      <p:pic>
        <p:nvPicPr>
          <p:cNvPr id="44" name="Graphic 37"/>
          <p:cNvPicPr>
            <a:picLocks noChangeAspect="1"/>
          </p:cNvPicPr>
          <p:nvPr/>
        </p:nvPicPr>
        <p:blipFill>
          <a:blip>
            <a:extLst>
              <a:ext uri="{96DAC541-7B7A-43D3-8B79-37D633B846F1}">
                <asvg:svgBlip xmlns:asvg="http://schemas.microsoft.com/office/drawing/2016/SVG/main" r:embed="rId7"/>
              </a:ext>
            </a:extLst>
          </a:blip>
          <a:stretch/>
        </p:blipFill>
        <p:spPr>
          <a:xfrm>
            <a:off x="4468697" y="3785064"/>
            <a:ext cx="228600" cy="228600"/>
          </a:xfrm>
          <a:prstGeom prst="rect">
            <a:avLst/>
          </a:prstGeom>
        </p:spPr>
      </p:pic>
      <p:sp>
        <p:nvSpPr>
          <p:cNvPr id="18" name="Rectangle 17">
            <a:extLst>
              <a:ext uri="{FF2B5EF4-FFF2-40B4-BE49-F238E27FC236}">
                <a16:creationId xmlns:a16="http://schemas.microsoft.com/office/drawing/2014/main" id="{B7698AED-3ABA-42B9-ABBB-E2606E284416}"/>
              </a:ext>
            </a:extLst>
          </p:cNvPr>
          <p:cNvSpPr>
            <a:spLocks noGrp="1"/>
          </p:cNvSpPr>
          <p:nvPr/>
        </p:nvSpPr>
        <p:spPr>
          <a:xfrm>
            <a:off x="4772669" y="3738549"/>
            <a:ext cx="3219450" cy="247650"/>
          </a:xfrm>
          <a:prstGeom prst="rect">
            <a:avLst/>
          </a:prstGeom>
          <a:noFill/>
          <a:ln w="0">
            <a:noFill/>
            <a:prstDash val="solid"/>
          </a:ln>
        </p:spPr>
        <p:txBody>
          <a:bodyPr/>
          <a:lstStyle/>
          <a:p>
            <a:pPr algn="l">
              <a:buNone/>
              <a:defRPr sz="1275" b="1">
                <a:solidFill>
                  <a:srgbClr val="083344"/>
                </a:solidFill>
              </a:defRPr>
            </a:pPr>
            <a:r>
              <a:rPr sz="1400" b="1" dirty="0">
                <a:solidFill>
                  <a:srgbClr val="083344"/>
                </a:solidFill>
              </a:rPr>
              <a:t>System remained stable concurrently</a:t>
            </a:r>
          </a:p>
        </p:txBody>
      </p:sp>
      <p:sp>
        <p:nvSpPr>
          <p:cNvPr id="19" name="Rectangle 18">
            <a:extLst>
              <a:ext uri="{FF2B5EF4-FFF2-40B4-BE49-F238E27FC236}">
                <a16:creationId xmlns:a16="http://schemas.microsoft.com/office/drawing/2014/main" id="{ECE9E0A6-6B31-4EB9-94EF-854B5F2116D7}"/>
              </a:ext>
            </a:extLst>
          </p:cNvPr>
          <p:cNvSpPr>
            <a:spLocks noGrp="1"/>
          </p:cNvSpPr>
          <p:nvPr/>
        </p:nvSpPr>
        <p:spPr>
          <a:xfrm>
            <a:off x="1809750" y="4819650"/>
            <a:ext cx="8572500" cy="704850"/>
          </a:xfrm>
          <a:prstGeom prst="rect">
            <a:avLst/>
          </a:prstGeom>
          <a:noFill/>
          <a:ln w="0">
            <a:noFill/>
            <a:prstDash val="solid"/>
          </a:ln>
        </p:spPr>
        <p:txBody>
          <a:bodyPr/>
          <a:lstStyle/>
          <a:p>
            <a:pPr algn="ctr">
              <a:buNone/>
              <a:defRPr sz="2325" b="1">
                <a:solidFill>
                  <a:srgbClr val="083344"/>
                </a:solidFill>
              </a:defRPr>
            </a:pPr>
            <a:r>
              <a:rPr sz="2325" b="1">
                <a:solidFill>
                  <a:srgbClr val="083344"/>
                </a:solidFill>
              </a:rPr>
              <a:t>Verification and validation increased confidence</a:t>
            </a:r>
          </a:p>
          <a:p>
            <a:pPr algn="ctr">
              <a:buNone/>
              <a:defRPr sz="2325" b="1">
                <a:solidFill>
                  <a:srgbClr val="083344"/>
                </a:solidFill>
              </a:defRPr>
            </a:pPr>
            <a:r>
              <a:rPr sz="2325" b="1">
                <a:solidFill>
                  <a:srgbClr val="083344"/>
                </a:solidFill>
              </a:rPr>
              <a:t>in the Enterprise RAG system.</a:t>
            </a:r>
          </a:p>
        </p:txBody>
      </p:sp>
      <p:sp>
        <p:nvSpPr>
          <p:cNvPr id="20" name="Rectangle 19">
            <a:extLst>
              <a:ext uri="{FF2B5EF4-FFF2-40B4-BE49-F238E27FC236}">
                <a16:creationId xmlns:a16="http://schemas.microsoft.com/office/drawing/2014/main" id="{F9C90403-F945-4DBB-836F-7C38DDC3969F}"/>
              </a:ext>
            </a:extLst>
          </p:cNvPr>
          <p:cNvSpPr>
            <a:spLocks noGrp="1"/>
          </p:cNvSpPr>
          <p:nvPr/>
        </p:nvSpPr>
        <p:spPr>
          <a:xfrm>
            <a:off x="685800" y="6419850"/>
            <a:ext cx="5905500" cy="228600"/>
          </a:xfrm>
          <a:prstGeom prst="rect">
            <a:avLst/>
          </a:prstGeom>
          <a:noFill/>
          <a:ln w="0">
            <a:noFill/>
            <a:prstDash val="solid"/>
          </a:ln>
        </p:spPr>
        <p:txBody>
          <a:bodyPr/>
          <a:lstStyle/>
          <a:p>
            <a:pPr>
              <a:buNone/>
              <a:defRPr sz="900" b="0">
                <a:solidFill>
                  <a:srgbClr val="5B6B78"/>
                </a:solidFill>
              </a:defRPr>
            </a:pPr>
            <a:r>
              <a:rPr lang="en-US" sz="900" dirty="0">
                <a:solidFill>
                  <a:srgbClr val="5B6B78"/>
                </a:solidFill>
              </a:rPr>
              <a:t>AI-powered enterprise document retrieval system | Md Fahim Hossain | July 2026</a:t>
            </a:r>
          </a:p>
        </p:txBody>
      </p:sp>
      <p:sp>
        <p:nvSpPr>
          <p:cNvPr id="21" name="Rectangle 20">
            <a:extLst>
              <a:ext uri="{FF2B5EF4-FFF2-40B4-BE49-F238E27FC236}">
                <a16:creationId xmlns:a16="http://schemas.microsoft.com/office/drawing/2014/main" id="{4F5F509E-BB67-475C-B801-32B16373DF1A}"/>
              </a:ext>
            </a:extLst>
          </p:cNvPr>
          <p:cNvSpPr>
            <a:spLocks noGrp="1"/>
          </p:cNvSpPr>
          <p:nvPr/>
        </p:nvSpPr>
        <p:spPr>
          <a:xfrm>
            <a:off x="10820400" y="6419850"/>
            <a:ext cx="685800" cy="228600"/>
          </a:xfrm>
          <a:prstGeom prst="rect">
            <a:avLst/>
          </a:prstGeom>
          <a:noFill/>
          <a:ln w="0">
            <a:noFill/>
            <a:prstDash val="solid"/>
          </a:ln>
        </p:spPr>
        <p:txBody>
          <a:bodyPr/>
          <a:lstStyle/>
          <a:p>
            <a:pPr algn="r">
              <a:buNone/>
              <a:defRPr sz="900" b="1">
                <a:solidFill>
                  <a:srgbClr val="0077B6"/>
                </a:solidFill>
              </a:defRPr>
            </a:pPr>
            <a:r>
              <a:rPr sz="900" b="1">
                <a:solidFill>
                  <a:srgbClr val="0077B6"/>
                </a:solidFill>
              </a:rPr>
              <a:t>10 / 11</a:t>
            </a:r>
          </a:p>
        </p:txBody>
      </p:sp>
      <p:pic>
        <p:nvPicPr>
          <p:cNvPr id="49" name="Picture 10"/>
          <p:cNvPicPr>
            <a:picLocks noChangeAspect="1"/>
          </p:cNvPicPr>
          <p:nvPr/>
        </p:nvPicPr>
        <p:blipFill>
          <a:blip r:embed="rId8"/>
          <a:stretch>
            <a:fillRect/>
          </a:stretch>
        </p:blipFill>
        <p:spPr>
          <a:xfrm>
            <a:off x="10820400" y="326316"/>
            <a:ext cx="1156607" cy="397584"/>
          </a:xfrm>
          <a:prstGeom prst="rect">
            <a:avLst/>
          </a:prstGeom>
        </p:spPr>
      </p:pic>
    </p:spTree>
    <p:extLst>
      <p:ext uri="{BB962C8B-B14F-4D97-AF65-F5344CB8AC3E}">
        <p14:creationId xmlns:p14="http://schemas.microsoft.com/office/powerpoint/2010/main" val="5439912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90622AC-99C7-41AC-B7E0-39F51FB2AB5E}"/>
              </a:ext>
            </a:extLst>
          </p:cNvPr>
          <p:cNvSpPr>
            <a:spLocks noGrp="1"/>
          </p:cNvSpPr>
          <p:nvPr/>
        </p:nvSpPr>
        <p:spPr>
          <a:xfrm>
            <a:off x="0" y="0"/>
            <a:ext cx="12192000" cy="114300"/>
          </a:xfrm>
          <a:prstGeom prst="rect">
            <a:avLst/>
          </a:prstGeom>
          <a:solidFill>
            <a:srgbClr val="00A3AD"/>
          </a:solidFill>
          <a:ln w="0">
            <a:solidFill>
              <a:srgbClr val="00A3AD"/>
            </a:solidFill>
            <a:prstDash val="solid"/>
          </a:ln>
        </p:spPr>
        <p:txBody>
          <a:bodyPr/>
          <a:lstStyle/>
          <a:p>
            <a:endParaRPr/>
          </a:p>
        </p:txBody>
      </p:sp>
      <p:pic>
        <p:nvPicPr>
          <p:cNvPr id="10" name="Graphic 8"/>
          <p:cNvPicPr>
            <a:picLocks noChangeAspect="1"/>
          </p:cNvPicPr>
          <p:nvPr/>
        </p:nvPicPr>
        <p:blipFill>
          <a:blip>
            <a:extLst>
              <a:ext uri="{96DAC541-7B7A-43D3-8B79-37D633B846F1}">
                <asvg:svgBlip xmlns:asvg="http://schemas.microsoft.com/office/drawing/2016/SVG/main" r:embed="rId3"/>
              </a:ext>
            </a:extLst>
          </a:blip>
          <a:stretch/>
        </p:blipFill>
        <p:spPr>
          <a:xfrm>
            <a:off x="5372100" y="1276350"/>
            <a:ext cx="1447800" cy="1447800"/>
          </a:xfrm>
          <a:prstGeom prst="rect">
            <a:avLst/>
          </a:prstGeom>
        </p:spPr>
      </p:pic>
      <p:sp>
        <p:nvSpPr>
          <p:cNvPr id="3" name="Rectangle 2">
            <a:extLst>
              <a:ext uri="{FF2B5EF4-FFF2-40B4-BE49-F238E27FC236}">
                <a16:creationId xmlns:a16="http://schemas.microsoft.com/office/drawing/2014/main" id="{0B82B446-B0B6-4A78-B568-52EEAE34EEDA}"/>
              </a:ext>
            </a:extLst>
          </p:cNvPr>
          <p:cNvSpPr>
            <a:spLocks noGrp="1"/>
          </p:cNvSpPr>
          <p:nvPr/>
        </p:nvSpPr>
        <p:spPr>
          <a:xfrm>
            <a:off x="2571750" y="3333750"/>
            <a:ext cx="7048500" cy="685800"/>
          </a:xfrm>
          <a:prstGeom prst="rect">
            <a:avLst/>
          </a:prstGeom>
          <a:noFill/>
          <a:ln w="0">
            <a:noFill/>
            <a:prstDash val="solid"/>
          </a:ln>
        </p:spPr>
        <p:txBody>
          <a:bodyPr/>
          <a:lstStyle/>
          <a:p>
            <a:pPr algn="ctr">
              <a:buNone/>
              <a:defRPr sz="4350" b="1">
                <a:solidFill>
                  <a:srgbClr val="083344"/>
                </a:solidFill>
              </a:defRPr>
            </a:pPr>
            <a:r>
              <a:rPr sz="4350" b="1">
                <a:solidFill>
                  <a:srgbClr val="083344"/>
                </a:solidFill>
              </a:rPr>
              <a:t>Questions?</a:t>
            </a:r>
          </a:p>
        </p:txBody>
      </p:sp>
      <p:sp>
        <p:nvSpPr>
          <p:cNvPr id="4" name="Rectangle 3">
            <a:extLst>
              <a:ext uri="{FF2B5EF4-FFF2-40B4-BE49-F238E27FC236}">
                <a16:creationId xmlns:a16="http://schemas.microsoft.com/office/drawing/2014/main" id="{0ECF2335-BFA8-4A15-83CE-C3ABD3B4C6C4}"/>
              </a:ext>
            </a:extLst>
          </p:cNvPr>
          <p:cNvSpPr>
            <a:spLocks noGrp="1"/>
          </p:cNvSpPr>
          <p:nvPr/>
        </p:nvSpPr>
        <p:spPr>
          <a:xfrm>
            <a:off x="3143250" y="2990850"/>
            <a:ext cx="5905500" cy="342900"/>
          </a:xfrm>
          <a:prstGeom prst="rect">
            <a:avLst/>
          </a:prstGeom>
          <a:noFill/>
          <a:ln w="0">
            <a:noFill/>
            <a:prstDash val="solid"/>
          </a:ln>
        </p:spPr>
        <p:txBody>
          <a:bodyPr/>
          <a:lstStyle/>
          <a:p>
            <a:pPr algn="ctr">
              <a:buNone/>
              <a:defRPr sz="1950" b="0">
                <a:solidFill>
                  <a:srgbClr val="5B6B78"/>
                </a:solidFill>
              </a:defRPr>
            </a:pPr>
            <a:r>
              <a:rPr sz="1950" b="0">
                <a:solidFill>
                  <a:srgbClr val="5B6B78"/>
                </a:solidFill>
              </a:rPr>
              <a:t>Thank you for your attention</a:t>
            </a:r>
          </a:p>
        </p:txBody>
      </p:sp>
      <p:sp>
        <p:nvSpPr>
          <p:cNvPr id="5" name="Rectangle 4">
            <a:extLst>
              <a:ext uri="{FF2B5EF4-FFF2-40B4-BE49-F238E27FC236}">
                <a16:creationId xmlns:a16="http://schemas.microsoft.com/office/drawing/2014/main" id="{CC226F91-37F0-4849-941C-B59A6E4BB065}"/>
              </a:ext>
            </a:extLst>
          </p:cNvPr>
          <p:cNvSpPr>
            <a:spLocks noGrp="1"/>
          </p:cNvSpPr>
          <p:nvPr/>
        </p:nvSpPr>
        <p:spPr>
          <a:xfrm>
            <a:off x="2381250" y="4895850"/>
            <a:ext cx="7429500" cy="304800"/>
          </a:xfrm>
          <a:prstGeom prst="rect">
            <a:avLst/>
          </a:prstGeom>
          <a:noFill/>
          <a:ln w="0">
            <a:noFill/>
            <a:prstDash val="solid"/>
          </a:ln>
        </p:spPr>
        <p:txBody>
          <a:bodyPr/>
          <a:lstStyle/>
          <a:p>
            <a:pPr algn="ctr">
              <a:buNone/>
              <a:defRPr sz="1500" b="1">
                <a:solidFill>
                  <a:srgbClr val="009999"/>
                </a:solidFill>
              </a:defRPr>
            </a:pPr>
            <a:r>
              <a:rPr sz="1500" b="1">
                <a:solidFill>
                  <a:srgbClr val="009999"/>
                </a:solidFill>
              </a:rPr>
              <a:t>Enterprise RAG system | Internship presentation</a:t>
            </a:r>
          </a:p>
        </p:txBody>
      </p:sp>
      <p:sp>
        <p:nvSpPr>
          <p:cNvPr id="6" name="Rectangle 5">
            <a:extLst>
              <a:ext uri="{FF2B5EF4-FFF2-40B4-BE49-F238E27FC236}">
                <a16:creationId xmlns:a16="http://schemas.microsoft.com/office/drawing/2014/main" id="{6B782F88-E526-4346-A96A-1F1A8ABDAA19}"/>
              </a:ext>
            </a:extLst>
          </p:cNvPr>
          <p:cNvSpPr>
            <a:spLocks noGrp="1"/>
          </p:cNvSpPr>
          <p:nvPr/>
        </p:nvSpPr>
        <p:spPr>
          <a:xfrm>
            <a:off x="685800" y="6419850"/>
            <a:ext cx="5905500" cy="228600"/>
          </a:xfrm>
          <a:prstGeom prst="rect">
            <a:avLst/>
          </a:prstGeom>
          <a:noFill/>
          <a:ln w="0">
            <a:noFill/>
            <a:prstDash val="solid"/>
          </a:ln>
        </p:spPr>
        <p:txBody>
          <a:bodyPr/>
          <a:lstStyle/>
          <a:p>
            <a:pPr>
              <a:buNone/>
              <a:defRPr sz="900" b="0">
                <a:solidFill>
                  <a:srgbClr val="5B6B78"/>
                </a:solidFill>
              </a:defRPr>
            </a:pPr>
            <a:r>
              <a:rPr lang="en-US" sz="900" dirty="0">
                <a:solidFill>
                  <a:srgbClr val="5B6B78"/>
                </a:solidFill>
              </a:rPr>
              <a:t>AI-powered enterprise document retrieval system | Md Fahim Hossain | July 2026</a:t>
            </a:r>
          </a:p>
        </p:txBody>
      </p:sp>
      <p:sp>
        <p:nvSpPr>
          <p:cNvPr id="7" name="Rectangle 6">
            <a:extLst>
              <a:ext uri="{FF2B5EF4-FFF2-40B4-BE49-F238E27FC236}">
                <a16:creationId xmlns:a16="http://schemas.microsoft.com/office/drawing/2014/main" id="{7143FD8A-7577-44EE-867E-9069A381222A}"/>
              </a:ext>
            </a:extLst>
          </p:cNvPr>
          <p:cNvSpPr>
            <a:spLocks noGrp="1"/>
          </p:cNvSpPr>
          <p:nvPr/>
        </p:nvSpPr>
        <p:spPr>
          <a:xfrm>
            <a:off x="10820400" y="6419850"/>
            <a:ext cx="685800" cy="228600"/>
          </a:xfrm>
          <a:prstGeom prst="rect">
            <a:avLst/>
          </a:prstGeom>
          <a:noFill/>
          <a:ln w="0">
            <a:noFill/>
            <a:prstDash val="solid"/>
          </a:ln>
        </p:spPr>
        <p:txBody>
          <a:bodyPr/>
          <a:lstStyle/>
          <a:p>
            <a:pPr algn="r">
              <a:buNone/>
              <a:defRPr sz="900" b="1">
                <a:solidFill>
                  <a:srgbClr val="0077B6"/>
                </a:solidFill>
              </a:defRPr>
            </a:pPr>
            <a:r>
              <a:rPr sz="900" b="1">
                <a:solidFill>
                  <a:srgbClr val="0077B6"/>
                </a:solidFill>
              </a:rPr>
              <a:t>11 / 11</a:t>
            </a:r>
          </a:p>
        </p:txBody>
      </p:sp>
    </p:spTree>
    <p:extLst>
      <p:ext uri="{BB962C8B-B14F-4D97-AF65-F5344CB8AC3E}">
        <p14:creationId xmlns:p14="http://schemas.microsoft.com/office/powerpoint/2010/main" val="428664023"/>
      </p:ext>
    </p:extLst>
  </p:cSld>
  <p:clrMapOvr>
    <a:masterClrMapping/>
  </p:clrMapOvr>
</p:sld>
</file>

<file path=ppt/theme/theme1.xml><?xml version="1.0" encoding="utf-8"?>
<a:theme xmlns:a="http://schemas.openxmlformats.org/drawingml/2006/main" name="Enterprise Theme">
  <a:themeElements>
    <a:clrScheme name="Enterpris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Enterprise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Enterprise Theme">
  <a:themeElements>
    <a:clrScheme name="Enterpris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Enterprise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372</TotalTime>
  <Words>2219</Words>
  <Application>Microsoft Office PowerPoint</Application>
  <DocSecurity>0</DocSecurity>
  <PresentationFormat>Widescreen</PresentationFormat>
  <Paragraphs>296</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Arial</vt:lpstr>
      <vt:lpstr>Calibri</vt:lpstr>
      <vt:lpstr>Segoe UI Symbol</vt:lpstr>
      <vt:lpstr>Enterprise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Md Fahim Hossain</cp:lastModifiedBy>
  <cp:revision>72</cp:revision>
  <dcterms:created xsi:type="dcterms:W3CDTF">2026-07-19T11:13:59Z</dcterms:created>
  <dcterms:modified xsi:type="dcterms:W3CDTF">2026-07-20T00:07:13Z</dcterms:modified>
</cp:coreProperties>
</file>