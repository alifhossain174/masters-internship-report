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9" autoAdjust="0"/>
  </p:normalViewPr>
  <p:slideViewPr>
    <p:cSldViewPr snapToGrid="0">
      <p:cViewPr varScale="1">
        <p:scale>
          <a:sx n="102" d="100"/>
          <a:sy n="102" d="100"/>
        </p:scale>
        <p:origin x="91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Introduce the second internship presentation and its verification and validation focus.</a:t>
            </a:r>
          </a:p>
          <a:p>
            <a:r>
              <a:t>Explain that the system retrieves enterprise knowledge with traceable source 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Preview the path from internship context to requirements, test evidence, and conclusions.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Place the work within Siemens Energy and the SE GT DG OE department.</a:t>
            </a:r>
          </a:p>
          <a:p>
            <a:r>
              <a:t>Connect the software engineering internship role with the department’s digitalization environment.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the epic as one continuous flow: upload, process, retrieve, then validate answers with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Summarize the functional coverage: upload, processing, retrieval, references, and history.</a:t>
            </a:r>
          </a:p>
          <a:p>
            <a:r>
              <a:t>Emphasize the three measurable quality targets used during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FR1 upload and management; FR2 processing and status; FR3 retrieval and answers; FR4 references; FR5 history.</a:t>
            </a:r>
          </a:p>
          <a:p>
            <a:r>
              <a:t>NFR1 upload timing; NFR2 query timing; NFR3 concurrency; NFR4 security and reliability.</a:t>
            </a:r>
          </a:p>
          <a:p>
            <a:r>
              <a:t>The report combines unit, API, load, and functional testing across these workflows.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complete workflow from upload to readiness and grounded question answering.</a:t>
            </a:r>
          </a:p>
          <a:p>
            <a:r>
              <a:t>Close with history continuity, which validates an ongoing realistic user journey.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these six gates to explain when a feature was considered complete and acceptable.</a:t>
            </a:r>
          </a:p>
          <a:p>
            <a:r>
              <a:t>The gates connect engineering review with user-facing acceptance.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State only the measured report results: upload timing, query timing, retrieval timing, and concurrency.</a:t>
            </a:r>
          </a:p>
          <a:p>
            <a:r>
              <a:t>Explain that manual testing checked relevance, references, interface behaviour, and realistic workflows.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Conclude that the requirements, realistic workflows, and measured targets were verified and validated.</a:t>
            </a:r>
          </a:p>
          <a:p>
            <a:r>
              <a:t>Stress that references and stable concurrent operation support confidence in intended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Invite questions about traceability, test design, measured results, or validation workflows.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4.sv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6.svg"/><Relationship Id="rId10" Type="http://schemas.openxmlformats.org/officeDocument/2006/relationships/image" Target="../media/image19.svg"/><Relationship Id="rId4" Type="http://schemas.openxmlformats.org/officeDocument/2006/relationships/image" Target="../media/image15.svg"/><Relationship Id="rId9" Type="http://schemas.openxmlformats.org/officeDocument/2006/relationships/image" Target="../media/image10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2.svg"/><Relationship Id="rId7" Type="http://schemas.openxmlformats.org/officeDocument/2006/relationships/image" Target="../media/image7.png"/><Relationship Id="rId12" Type="http://schemas.openxmlformats.org/officeDocument/2006/relationships/image" Target="../media/image27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svg"/><Relationship Id="rId11" Type="http://schemas.openxmlformats.org/officeDocument/2006/relationships/image" Target="../media/image2.svg"/><Relationship Id="rId5" Type="http://schemas.openxmlformats.org/officeDocument/2006/relationships/image" Target="../media/image23.svg"/><Relationship Id="rId10" Type="http://schemas.openxmlformats.org/officeDocument/2006/relationships/image" Target="../media/image26.svg"/><Relationship Id="rId4" Type="http://schemas.openxmlformats.org/officeDocument/2006/relationships/image" Target="../media/image1.svg"/><Relationship Id="rId9" Type="http://schemas.openxmlformats.org/officeDocument/2006/relationships/image" Target="../media/image13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8.svg"/><Relationship Id="rId7" Type="http://schemas.openxmlformats.org/officeDocument/2006/relationships/image" Target="../media/image3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svg"/><Relationship Id="rId5" Type="http://schemas.openxmlformats.org/officeDocument/2006/relationships/image" Target="../media/image20.svg"/><Relationship Id="rId10" Type="http://schemas.openxmlformats.org/officeDocument/2006/relationships/image" Target="../media/image33.svg"/><Relationship Id="rId4" Type="http://schemas.openxmlformats.org/officeDocument/2006/relationships/image" Target="../media/image29.svg"/><Relationship Id="rId9" Type="http://schemas.openxmlformats.org/officeDocument/2006/relationships/image" Target="../media/image3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18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34.sv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svg"/><Relationship Id="rId5" Type="http://schemas.openxmlformats.org/officeDocument/2006/relationships/image" Target="../media/image1.svg"/><Relationship Id="rId4" Type="http://schemas.openxmlformats.org/officeDocument/2006/relationships/image" Target="../media/image22.svg"/><Relationship Id="rId9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3" Type="http://schemas.openxmlformats.org/officeDocument/2006/relationships/image" Target="../media/image34.svg"/><Relationship Id="rId7" Type="http://schemas.openxmlformats.org/officeDocument/2006/relationships/image" Target="../media/image24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svg"/><Relationship Id="rId5" Type="http://schemas.openxmlformats.org/officeDocument/2006/relationships/image" Target="../media/image1.svg"/><Relationship Id="rId10" Type="http://schemas.openxmlformats.org/officeDocument/2006/relationships/image" Target="../media/image7.png"/><Relationship Id="rId4" Type="http://schemas.openxmlformats.org/officeDocument/2006/relationships/image" Target="../media/image22.svg"/><Relationship Id="rId9" Type="http://schemas.openxmlformats.org/officeDocument/2006/relationships/image" Target="../media/image25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5.svg"/><Relationship Id="rId7" Type="http://schemas.openxmlformats.org/officeDocument/2006/relationships/image" Target="../media/image38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svg"/><Relationship Id="rId5" Type="http://schemas.openxmlformats.org/officeDocument/2006/relationships/image" Target="../media/image37.svg"/><Relationship Id="rId4" Type="http://schemas.openxmlformats.org/officeDocument/2006/relationships/image" Target="../media/image36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B89F18-6475-489F-BA00-07CC8B6CFF3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811ECE6-F12B-4325-8635-25C1473A2F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66700" cy="6858000"/>
          </a:xfrm>
          <a:prstGeom prst="rect">
            <a:avLst/>
          </a:prstGeom>
          <a:solidFill>
            <a:srgbClr val="00A3AD"/>
          </a:solidFill>
          <a:ln w="0">
            <a:solidFill>
              <a:srgbClr val="00A3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930A18-717A-447B-A71B-F210FEB1290E}"/>
              </a:ext>
            </a:extLst>
          </p:cNvPr>
          <p:cNvSpPr>
            <a:spLocks noGrp="1"/>
          </p:cNvSpPr>
          <p:nvPr/>
        </p:nvSpPr>
        <p:spPr>
          <a:xfrm>
            <a:off x="266700" y="0"/>
            <a:ext cx="114300" cy="6858000"/>
          </a:xfrm>
          <a:prstGeom prst="rect">
            <a:avLst/>
          </a:prstGeom>
          <a:solidFill>
            <a:srgbClr val="0077B6"/>
          </a:solidFill>
          <a:ln w="0">
            <a:solidFill>
              <a:srgbClr val="0077B6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9" name="Graphic 16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9906000" y="838200"/>
            <a:ext cx="685800" cy="685800"/>
          </a:xfrm>
          <a:prstGeom prst="rect">
            <a:avLst/>
          </a:prstGeom>
        </p:spPr>
      </p:pic>
      <p:pic>
        <p:nvPicPr>
          <p:cNvPr id="30" name="Graphic 1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68000" y="1695450"/>
            <a:ext cx="685800" cy="685800"/>
          </a:xfrm>
          <a:prstGeom prst="rect">
            <a:avLst/>
          </a:prstGeom>
        </p:spPr>
      </p:pic>
      <p:pic>
        <p:nvPicPr>
          <p:cNvPr id="31" name="Graphic 1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9791700" y="2590800"/>
            <a:ext cx="685800" cy="6858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B0F581E-6997-4907-9F30-7653AE4AF570}"/>
              </a:ext>
            </a:extLst>
          </p:cNvPr>
          <p:cNvSpPr>
            <a:spLocks noGrp="1"/>
          </p:cNvSpPr>
          <p:nvPr/>
        </p:nvSpPr>
        <p:spPr>
          <a:xfrm>
            <a:off x="876300" y="87630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009999"/>
                </a:solidFill>
              </a:defRPr>
            </a:pPr>
            <a:r>
              <a:rPr sz="1350" b="1">
                <a:solidFill>
                  <a:srgbClr val="009999"/>
                </a:solidFill>
              </a:rPr>
              <a:t>Software Verification and Validation Presentation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574BF4-C352-46AF-986C-F7827C44E3CD}"/>
              </a:ext>
            </a:extLst>
          </p:cNvPr>
          <p:cNvSpPr>
            <a:spLocks noGrp="1"/>
          </p:cNvSpPr>
          <p:nvPr/>
        </p:nvSpPr>
        <p:spPr>
          <a:xfrm>
            <a:off x="876300" y="1485900"/>
            <a:ext cx="7239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4050" b="1">
                <a:solidFill>
                  <a:srgbClr val="083344"/>
                </a:solidFill>
              </a:defRPr>
            </a:pPr>
            <a:r>
              <a:rPr sz="4050" b="1">
                <a:solidFill>
                  <a:srgbClr val="083344"/>
                </a:solidFill>
              </a:rPr>
              <a:t>AI-Powered Document</a:t>
            </a:r>
          </a:p>
          <a:p>
            <a:pPr algn="l">
              <a:buNone/>
              <a:defRPr sz="4050" b="1">
                <a:solidFill>
                  <a:srgbClr val="083344"/>
                </a:solidFill>
              </a:defRPr>
            </a:pPr>
            <a:r>
              <a:rPr sz="4050" b="1">
                <a:solidFill>
                  <a:srgbClr val="083344"/>
                </a:solidFill>
              </a:rPr>
              <a:t>Retrieval System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49B815-38BA-40BF-8318-899AC1499561}"/>
              </a:ext>
            </a:extLst>
          </p:cNvPr>
          <p:cNvSpPr>
            <a:spLocks noGrp="1"/>
          </p:cNvSpPr>
          <p:nvPr/>
        </p:nvSpPr>
        <p:spPr>
          <a:xfrm>
            <a:off x="914400" y="3076575"/>
            <a:ext cx="685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5B6B78"/>
                </a:solidFill>
              </a:defRPr>
            </a:pPr>
            <a:r>
              <a:rPr sz="1800" b="0">
                <a:solidFill>
                  <a:srgbClr val="5B6B78"/>
                </a:solidFill>
              </a:rPr>
              <a:t>Enterprise RAG system verification and validation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2C1759-94F0-4F97-9723-AF739D814D74}"/>
              </a:ext>
            </a:extLst>
          </p:cNvPr>
          <p:cNvSpPr>
            <a:spLocks noGrp="1"/>
          </p:cNvSpPr>
          <p:nvPr/>
        </p:nvSpPr>
        <p:spPr>
          <a:xfrm>
            <a:off x="914400" y="41148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102A3A"/>
                </a:solidFill>
              </a:defRPr>
            </a:pPr>
            <a:r>
              <a:rPr sz="1650" b="1">
                <a:solidFill>
                  <a:srgbClr val="102A3A"/>
                </a:solidFill>
              </a:rPr>
              <a:t>Hof University of Applied Sciences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4442D9-FE67-4C16-851B-766827362503}"/>
              </a:ext>
            </a:extLst>
          </p:cNvPr>
          <p:cNvSpPr>
            <a:spLocks noGrp="1"/>
          </p:cNvSpPr>
          <p:nvPr/>
        </p:nvSpPr>
        <p:spPr>
          <a:xfrm>
            <a:off x="914400" y="4391025"/>
            <a:ext cx="533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5B6B78"/>
                </a:solidFill>
              </a:defRPr>
            </a:pPr>
            <a:r>
              <a:rPr sz="1350" b="0">
                <a:solidFill>
                  <a:srgbClr val="5B6B78"/>
                </a:solidFill>
              </a:rPr>
              <a:t>Software Engineering for Industrial Applications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E696EF-8D7D-4BD9-8555-D6CF74FBAECB}"/>
              </a:ext>
            </a:extLst>
          </p:cNvPr>
          <p:cNvSpPr>
            <a:spLocks noGrp="1"/>
          </p:cNvSpPr>
          <p:nvPr/>
        </p:nvSpPr>
        <p:spPr>
          <a:xfrm>
            <a:off x="914400" y="6430274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0">
                <a:solidFill>
                  <a:srgbClr val="5B6B78"/>
                </a:solidFill>
              </a:defRPr>
            </a:pPr>
            <a:r>
              <a:rPr sz="900" b="0">
                <a:solidFill>
                  <a:srgbClr val="5B6B78"/>
                </a:solidFill>
              </a:rPr>
              <a:t>AI-powered document retrieval system | July 2026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CCAFDFA-93A3-472D-B406-A60EE64338EA}"/>
              </a:ext>
            </a:extLst>
          </p:cNvPr>
          <p:cNvSpPr>
            <a:spLocks noGrp="1"/>
          </p:cNvSpPr>
          <p:nvPr/>
        </p:nvSpPr>
        <p:spPr>
          <a:xfrm>
            <a:off x="10820400" y="641985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0077B6"/>
                </a:solidFill>
              </a:defRPr>
            </a:pPr>
            <a:r>
              <a:rPr sz="900" b="1">
                <a:solidFill>
                  <a:srgbClr val="0077B6"/>
                </a:solidFill>
              </a:rPr>
              <a:t>01 / 11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EEE4452-BA94-A2A2-62C6-94C2827BB41E}"/>
              </a:ext>
            </a:extLst>
          </p:cNvPr>
          <p:cNvSpPr>
            <a:spLocks noGrp="1"/>
          </p:cNvSpPr>
          <p:nvPr/>
        </p:nvSpPr>
        <p:spPr>
          <a:xfrm>
            <a:off x="914400" y="4991100"/>
            <a:ext cx="383032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102A3A"/>
                </a:solidFill>
              </a:defRPr>
            </a:pPr>
            <a:r>
              <a:rPr sz="1650" b="1">
                <a:solidFill>
                  <a:srgbClr val="102A3A"/>
                </a:solidFill>
              </a:rPr>
              <a:t>Prepared By</a:t>
            </a:r>
          </a:p>
          <a:p>
            <a:pPr>
              <a:buNone/>
              <a:defRPr sz="1650" b="1">
                <a:solidFill>
                  <a:srgbClr val="102A3A"/>
                </a:solidFill>
              </a:defRPr>
            </a:pPr>
            <a:r>
              <a:rPr sz="1400">
                <a:solidFill>
                  <a:schemeClr val="tx1">
                    <a:lumMod val="65000"/>
                    <a:lumOff val="35000"/>
                  </a:schemeClr>
                </a:solidFill>
              </a:rPr>
              <a:t>Md Fahim Hossain</a:t>
            </a:r>
            <a:br/>
            <a:r>
              <a:rPr sz="1400">
                <a:solidFill>
                  <a:schemeClr val="tx1">
                    <a:lumMod val="65000"/>
                    <a:lumOff val="35000"/>
                  </a:schemeClr>
                </a:solidFill>
              </a:rPr>
              <a:t>Email: md.hossain.4@hof-university.de</a:t>
            </a:r>
          </a:p>
        </p:txBody>
      </p:sp>
      <p:pic>
        <p:nvPicPr>
          <p:cNvPr id="40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6450" y="4000817"/>
            <a:ext cx="3644900" cy="2132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0494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BEAF30A-99FC-468E-A782-4EBC624EA04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0A3AD"/>
          </a:solidFill>
          <a:ln w="0">
            <a:solidFill>
              <a:srgbClr val="00A3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E6B712-C6EA-4F9E-93CD-FFCC8C678B1D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009999"/>
                </a:solidFill>
              </a:defRPr>
            </a:pPr>
            <a:r>
              <a:rPr sz="900" b="1">
                <a:solidFill>
                  <a:srgbClr val="009999"/>
                </a:solidFill>
              </a:rPr>
              <a:t>PRESENTATION OVERVIEW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6C1282-BA18-4C1F-94EA-67A30A41321C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7810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083344"/>
                </a:solidFill>
              </a:defRPr>
            </a:pPr>
            <a:r>
              <a:rPr sz="2850" b="1">
                <a:solidFill>
                  <a:srgbClr val="083344"/>
                </a:solidFill>
              </a:rPr>
              <a:t>Agenda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8780189-FB8B-4EA9-B625-C373640D06AA}"/>
              </a:ext>
            </a:extLst>
          </p:cNvPr>
          <p:cNvSpPr>
            <a:spLocks noGrp="1"/>
          </p:cNvSpPr>
          <p:nvPr/>
        </p:nvSpPr>
        <p:spPr>
          <a:xfrm>
            <a:off x="780330" y="1364861"/>
            <a:ext cx="4286969" cy="53097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pic>
        <p:nvPicPr>
          <p:cNvPr id="45" name="Graphic 30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989881" y="1505401"/>
            <a:ext cx="304800" cy="3048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2BAC1B1-99ED-492A-B403-D835DDEFBC63}"/>
              </a:ext>
            </a:extLst>
          </p:cNvPr>
          <p:cNvSpPr>
            <a:spLocks noGrp="1"/>
          </p:cNvSpPr>
          <p:nvPr/>
        </p:nvSpPr>
        <p:spPr>
          <a:xfrm>
            <a:off x="1447080" y="1468199"/>
            <a:ext cx="264028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083344"/>
                </a:solidFill>
              </a:defRPr>
            </a:pPr>
            <a:r>
              <a:rPr sz="1650" b="1" dirty="0">
                <a:solidFill>
                  <a:srgbClr val="083344"/>
                </a:solidFill>
              </a:rPr>
              <a:t>1. Company and </a:t>
            </a:r>
            <a:r>
              <a:rPr lang="de-DE" sz="1650" b="1" dirty="0">
                <a:solidFill>
                  <a:srgbClr val="083344"/>
                </a:solidFill>
              </a:rPr>
              <a:t>Internship</a:t>
            </a:r>
            <a:endParaRPr sz="1650" b="1" dirty="0">
              <a:solidFill>
                <a:srgbClr val="083344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781295E-8899-44CD-9E7C-33A54B252008}"/>
              </a:ext>
            </a:extLst>
          </p:cNvPr>
          <p:cNvSpPr>
            <a:spLocks noGrp="1"/>
          </p:cNvSpPr>
          <p:nvPr/>
        </p:nvSpPr>
        <p:spPr>
          <a:xfrm>
            <a:off x="775338" y="2696818"/>
            <a:ext cx="4286969" cy="53097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94A74B-0B93-420B-A90D-F08480166747}"/>
              </a:ext>
            </a:extLst>
          </p:cNvPr>
          <p:cNvSpPr>
            <a:spLocks noGrp="1"/>
          </p:cNvSpPr>
          <p:nvPr/>
        </p:nvSpPr>
        <p:spPr>
          <a:xfrm>
            <a:off x="1442089" y="279153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083344"/>
                </a:solidFill>
              </a:defRPr>
            </a:pPr>
            <a:r>
              <a:rPr lang="de-DE" sz="1650" b="1" dirty="0">
                <a:solidFill>
                  <a:srgbClr val="083344"/>
                </a:solidFill>
              </a:rPr>
              <a:t>3</a:t>
            </a:r>
            <a:r>
              <a:rPr sz="1650" b="1" dirty="0">
                <a:solidFill>
                  <a:srgbClr val="083344"/>
                </a:solidFill>
              </a:rPr>
              <a:t>. Requirements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88B885C-64E0-4AF8-B709-02339E7F04C4}"/>
              </a:ext>
            </a:extLst>
          </p:cNvPr>
          <p:cNvSpPr>
            <a:spLocks noGrp="1"/>
          </p:cNvSpPr>
          <p:nvPr/>
        </p:nvSpPr>
        <p:spPr>
          <a:xfrm>
            <a:off x="775339" y="3359702"/>
            <a:ext cx="4286968" cy="530608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B389BE-168A-4404-B410-242BECE39D5B}"/>
              </a:ext>
            </a:extLst>
          </p:cNvPr>
          <p:cNvSpPr>
            <a:spLocks noGrp="1"/>
          </p:cNvSpPr>
          <p:nvPr/>
        </p:nvSpPr>
        <p:spPr>
          <a:xfrm>
            <a:off x="1442089" y="3463042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083344"/>
                </a:solidFill>
              </a:defRPr>
            </a:pPr>
            <a:r>
              <a:rPr lang="de-DE" sz="1650" b="1" dirty="0">
                <a:solidFill>
                  <a:srgbClr val="083344"/>
                </a:solidFill>
              </a:rPr>
              <a:t>4</a:t>
            </a:r>
            <a:r>
              <a:rPr sz="1650" b="1" dirty="0">
                <a:solidFill>
                  <a:srgbClr val="083344"/>
                </a:solidFill>
              </a:rPr>
              <a:t>. </a:t>
            </a:r>
            <a:r>
              <a:rPr lang="de-DE" sz="1650" b="1" dirty="0">
                <a:solidFill>
                  <a:srgbClr val="083344"/>
                </a:solidFill>
              </a:rPr>
              <a:t>Test Cases</a:t>
            </a:r>
            <a:endParaRPr sz="1650" b="1" dirty="0">
              <a:solidFill>
                <a:srgbClr val="083344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C108288-01B3-4969-A709-EBE5A1FF958E}"/>
              </a:ext>
            </a:extLst>
          </p:cNvPr>
          <p:cNvSpPr>
            <a:spLocks noGrp="1"/>
          </p:cNvSpPr>
          <p:nvPr/>
        </p:nvSpPr>
        <p:spPr>
          <a:xfrm>
            <a:off x="785002" y="4013599"/>
            <a:ext cx="4277305" cy="536009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pic>
        <p:nvPicPr>
          <p:cNvPr id="52" name="Graphic 39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994553" y="4145513"/>
            <a:ext cx="304800" cy="3048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DF49BEB0-7F1A-40BF-A824-554444699A84}"/>
              </a:ext>
            </a:extLst>
          </p:cNvPr>
          <p:cNvSpPr>
            <a:spLocks noGrp="1"/>
          </p:cNvSpPr>
          <p:nvPr/>
        </p:nvSpPr>
        <p:spPr>
          <a:xfrm>
            <a:off x="1451753" y="411694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083344"/>
                </a:solidFill>
              </a:defRPr>
            </a:pPr>
            <a:r>
              <a:rPr lang="de-DE" sz="1650" b="1" dirty="0">
                <a:solidFill>
                  <a:srgbClr val="083344"/>
                </a:solidFill>
              </a:rPr>
              <a:t>5</a:t>
            </a:r>
            <a:r>
              <a:rPr sz="1650" b="1" dirty="0">
                <a:solidFill>
                  <a:srgbClr val="083344"/>
                </a:solidFill>
              </a:rPr>
              <a:t>. Validation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6ED8C6C-77F8-4348-8959-EF5A74280C20}"/>
              </a:ext>
            </a:extLst>
          </p:cNvPr>
          <p:cNvSpPr>
            <a:spLocks noGrp="1"/>
          </p:cNvSpPr>
          <p:nvPr/>
        </p:nvSpPr>
        <p:spPr>
          <a:xfrm>
            <a:off x="785001" y="4690597"/>
            <a:ext cx="4277303" cy="526199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C94F09-942E-46D6-A924-222FBC494924}"/>
              </a:ext>
            </a:extLst>
          </p:cNvPr>
          <p:cNvSpPr>
            <a:spLocks noGrp="1"/>
          </p:cNvSpPr>
          <p:nvPr/>
        </p:nvSpPr>
        <p:spPr>
          <a:xfrm>
            <a:off x="1451754" y="4799055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083344"/>
                </a:solidFill>
              </a:defRPr>
            </a:pPr>
            <a:r>
              <a:rPr lang="de-DE" sz="1650" b="1" dirty="0">
                <a:solidFill>
                  <a:srgbClr val="083344"/>
                </a:solidFill>
              </a:rPr>
              <a:t>6</a:t>
            </a:r>
            <a:r>
              <a:rPr sz="1650" b="1" dirty="0">
                <a:solidFill>
                  <a:srgbClr val="083344"/>
                </a:solidFill>
              </a:rPr>
              <a:t>. Results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C6FDBF2-BA93-4535-ADF0-DC8CAE191BE0}"/>
              </a:ext>
            </a:extLst>
          </p:cNvPr>
          <p:cNvSpPr>
            <a:spLocks noGrp="1"/>
          </p:cNvSpPr>
          <p:nvPr/>
        </p:nvSpPr>
        <p:spPr>
          <a:xfrm>
            <a:off x="780013" y="5345203"/>
            <a:ext cx="4277302" cy="524863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885E05-177C-4E7C-8BD6-12312FBE9DAB}"/>
              </a:ext>
            </a:extLst>
          </p:cNvPr>
          <p:cNvSpPr>
            <a:spLocks noGrp="1"/>
          </p:cNvSpPr>
          <p:nvPr/>
        </p:nvSpPr>
        <p:spPr>
          <a:xfrm>
            <a:off x="1451752" y="5436243"/>
            <a:ext cx="2343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083344"/>
                </a:solidFill>
              </a:defRPr>
            </a:pPr>
            <a:r>
              <a:rPr lang="de-DE" sz="1650" b="1" dirty="0">
                <a:solidFill>
                  <a:srgbClr val="083344"/>
                </a:solidFill>
              </a:rPr>
              <a:t>7</a:t>
            </a:r>
            <a:r>
              <a:rPr sz="1650" b="1" dirty="0">
                <a:solidFill>
                  <a:srgbClr val="083344"/>
                </a:solidFill>
              </a:rPr>
              <a:t>. Conclusion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DCB45B-6512-4756-B4E6-65FED3FE4F55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0">
                <a:solidFill>
                  <a:srgbClr val="5B6B78"/>
                </a:solidFill>
              </a:defRPr>
            </a:pPr>
            <a:r>
              <a:rPr sz="900" b="0">
                <a:solidFill>
                  <a:srgbClr val="5B6B78"/>
                </a:solidFill>
              </a:rPr>
              <a:t>AI-powered document retrieval system | July 2026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EAC977B-F0D6-4ECE-B141-EE9005A4C878}"/>
              </a:ext>
            </a:extLst>
          </p:cNvPr>
          <p:cNvSpPr>
            <a:spLocks noGrp="1"/>
          </p:cNvSpPr>
          <p:nvPr/>
        </p:nvSpPr>
        <p:spPr>
          <a:xfrm>
            <a:off x="10820400" y="641985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0077B6"/>
                </a:solidFill>
              </a:defRPr>
            </a:pPr>
            <a:r>
              <a:rPr sz="900" b="1">
                <a:solidFill>
                  <a:srgbClr val="0077B6"/>
                </a:solidFill>
              </a:rPr>
              <a:t>02 / 11</a:t>
            </a:r>
          </a:p>
        </p:txBody>
      </p:sp>
      <p:pic>
        <p:nvPicPr>
          <p:cNvPr id="62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20400" y="326316"/>
            <a:ext cx="1156607" cy="397584"/>
          </a:xfrm>
          <a:prstGeom prst="rect">
            <a:avLst/>
          </a:prstGeom>
        </p:spPr>
      </p:pic>
      <p:pic>
        <p:nvPicPr>
          <p:cNvPr id="63" name="Picture 2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7831" y="1650483"/>
            <a:ext cx="5016937" cy="3889125"/>
          </a:xfrm>
          <a:prstGeom prst="rect">
            <a:avLst/>
          </a:prstGeom>
        </p:spPr>
      </p:pic>
      <p:pic>
        <p:nvPicPr>
          <p:cNvPr id="64" name="Graphic 6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984889" y="2828732"/>
            <a:ext cx="304800" cy="304800"/>
          </a:xfrm>
          <a:prstGeom prst="rect">
            <a:avLst/>
          </a:prstGeom>
        </p:spPr>
      </p:pic>
      <p:pic>
        <p:nvPicPr>
          <p:cNvPr id="65" name="Graphic 6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984889" y="3482991"/>
            <a:ext cx="304800" cy="304800"/>
          </a:xfrm>
          <a:prstGeom prst="rect">
            <a:avLst/>
          </a:prstGeom>
        </p:spPr>
      </p:pic>
      <p:pic>
        <p:nvPicPr>
          <p:cNvPr id="66" name="Graphic 65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994554" y="4819004"/>
            <a:ext cx="304800" cy="304800"/>
          </a:xfrm>
          <a:prstGeom prst="rect">
            <a:avLst/>
          </a:prstGeom>
        </p:spPr>
      </p:pic>
      <p:pic>
        <p:nvPicPr>
          <p:cNvPr id="67" name="Graphic 66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994552" y="5475242"/>
            <a:ext cx="304800" cy="30480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693F1BB-3E13-C211-1464-AEC1F45DA972}"/>
              </a:ext>
            </a:extLst>
          </p:cNvPr>
          <p:cNvSpPr>
            <a:spLocks noGrp="1"/>
          </p:cNvSpPr>
          <p:nvPr/>
        </p:nvSpPr>
        <p:spPr>
          <a:xfrm>
            <a:off x="775338" y="2033934"/>
            <a:ext cx="4286969" cy="53097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00E41CEC-80C0-3D04-94B5-624EC16087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984889" y="2165848"/>
            <a:ext cx="304800" cy="30480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2987593A-CECF-4F84-9CFB-F05E744D4209}"/>
              </a:ext>
            </a:extLst>
          </p:cNvPr>
          <p:cNvSpPr>
            <a:spLocks noGrp="1"/>
          </p:cNvSpPr>
          <p:nvPr/>
        </p:nvSpPr>
        <p:spPr>
          <a:xfrm>
            <a:off x="1442089" y="2128646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83344"/>
                </a:solidFill>
              </a:defRPr>
            </a:pPr>
            <a:r>
              <a:rPr lang="de-DE" sz="1650" b="1" dirty="0">
                <a:solidFill>
                  <a:srgbClr val="083344"/>
                </a:solidFill>
              </a:rPr>
              <a:t>2. </a:t>
            </a:r>
            <a:r>
              <a:rPr sz="1650" b="1" dirty="0">
                <a:solidFill>
                  <a:srgbClr val="083344"/>
                </a:solidFill>
              </a:rPr>
              <a:t>Project </a:t>
            </a:r>
            <a:r>
              <a:rPr lang="de-DE" sz="1650" b="1" dirty="0">
                <a:solidFill>
                  <a:srgbClr val="083344"/>
                </a:solidFill>
              </a:rPr>
              <a:t>Epic</a:t>
            </a:r>
            <a:endParaRPr sz="1650" b="1" dirty="0">
              <a:solidFill>
                <a:srgbClr val="0833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1032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7F3B846-E6B0-4320-A1CA-D5267E2EF27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0A3AD"/>
          </a:solidFill>
          <a:ln w="0">
            <a:solidFill>
              <a:srgbClr val="00A3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2C5CF62-AE2C-41C7-B0C2-6624F38D3B60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009999"/>
                </a:solidFill>
              </a:defRPr>
            </a:pPr>
            <a:r>
              <a:rPr sz="900" b="1">
                <a:solidFill>
                  <a:srgbClr val="009999"/>
                </a:solidFill>
              </a:rPr>
              <a:t>INTRODUCTION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CD0994-AAC3-4AEF-B815-30845958A97A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7810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083344"/>
                </a:solidFill>
              </a:defRPr>
            </a:pPr>
            <a:r>
              <a:rPr sz="2850" b="1">
                <a:solidFill>
                  <a:srgbClr val="083344"/>
                </a:solidFill>
              </a:rPr>
              <a:t>Company and Internship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56FC5E5-6BB4-485A-B7BC-EFBC720EF4C7}"/>
              </a:ext>
            </a:extLst>
          </p:cNvPr>
          <p:cNvSpPr>
            <a:spLocks noGrp="1"/>
          </p:cNvSpPr>
          <p:nvPr/>
        </p:nvSpPr>
        <p:spPr>
          <a:xfrm>
            <a:off x="781050" y="1504950"/>
            <a:ext cx="4762500" cy="116205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BBD302E-5607-402C-ABA0-412EC6CAC0BB}"/>
              </a:ext>
            </a:extLst>
          </p:cNvPr>
          <p:cNvSpPr>
            <a:spLocks noGrp="1"/>
          </p:cNvSpPr>
          <p:nvPr/>
        </p:nvSpPr>
        <p:spPr>
          <a:xfrm>
            <a:off x="990600" y="1771650"/>
            <a:ext cx="495300" cy="495300"/>
          </a:xfrm>
          <a:prstGeom prst="ellipse">
            <a:avLst/>
          </a:prstGeom>
          <a:solidFill>
            <a:srgbClr val="EAF7FB"/>
          </a:solidFill>
          <a:ln w="0">
            <a:solidFill>
              <a:srgbClr val="EAF7F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7" name="Graphic 39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114425" y="1895475"/>
            <a:ext cx="247650" cy="24765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0DE9D14-3B19-4063-98E1-7717EE799FC2}"/>
              </a:ext>
            </a:extLst>
          </p:cNvPr>
          <p:cNvSpPr>
            <a:spLocks noGrp="1"/>
          </p:cNvSpPr>
          <p:nvPr/>
        </p:nvSpPr>
        <p:spPr>
          <a:xfrm>
            <a:off x="1676400" y="1733550"/>
            <a:ext cx="3657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083344"/>
                </a:solidFill>
              </a:defRPr>
            </a:pPr>
            <a:r>
              <a:rPr sz="1575" b="1" dirty="0">
                <a:solidFill>
                  <a:srgbClr val="083344"/>
                </a:solidFill>
              </a:rPr>
              <a:t>Siemens Energy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C8C1010-94A6-41EC-8335-A2EDFA45BC41}"/>
              </a:ext>
            </a:extLst>
          </p:cNvPr>
          <p:cNvSpPr>
            <a:spLocks noGrp="1"/>
          </p:cNvSpPr>
          <p:nvPr/>
        </p:nvSpPr>
        <p:spPr>
          <a:xfrm>
            <a:off x="781050" y="2914650"/>
            <a:ext cx="4762500" cy="116205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1EB08F1-97E1-4DAE-99B0-F1E4FA5D90A6}"/>
              </a:ext>
            </a:extLst>
          </p:cNvPr>
          <p:cNvSpPr>
            <a:spLocks noGrp="1"/>
          </p:cNvSpPr>
          <p:nvPr/>
        </p:nvSpPr>
        <p:spPr>
          <a:xfrm>
            <a:off x="990600" y="3181350"/>
            <a:ext cx="495300" cy="495300"/>
          </a:xfrm>
          <a:prstGeom prst="ellipse">
            <a:avLst/>
          </a:prstGeom>
          <a:solidFill>
            <a:srgbClr val="EAF7FB"/>
          </a:solidFill>
          <a:ln w="0">
            <a:solidFill>
              <a:srgbClr val="EAF7F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1" name="Graphic 4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114425" y="3305175"/>
            <a:ext cx="247650" cy="2476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6A9A74A-F6A9-4FA7-A503-056C9E59A05E}"/>
              </a:ext>
            </a:extLst>
          </p:cNvPr>
          <p:cNvSpPr>
            <a:spLocks noGrp="1"/>
          </p:cNvSpPr>
          <p:nvPr/>
        </p:nvSpPr>
        <p:spPr>
          <a:xfrm>
            <a:off x="1676400" y="3143250"/>
            <a:ext cx="3657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083344"/>
                </a:solidFill>
              </a:defRPr>
            </a:pPr>
            <a:r>
              <a:rPr sz="1575" b="1">
                <a:solidFill>
                  <a:srgbClr val="083344"/>
                </a:solidFill>
              </a:rPr>
              <a:t>SE GT DG OE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F4BAB79-314E-437E-B013-DBE3E5DA5324}"/>
              </a:ext>
            </a:extLst>
          </p:cNvPr>
          <p:cNvSpPr>
            <a:spLocks noGrp="1"/>
          </p:cNvSpPr>
          <p:nvPr/>
        </p:nvSpPr>
        <p:spPr>
          <a:xfrm>
            <a:off x="781050" y="4324350"/>
            <a:ext cx="4762500" cy="116205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72625BF-C263-4522-9038-4CCDA5D94F24}"/>
              </a:ext>
            </a:extLst>
          </p:cNvPr>
          <p:cNvSpPr>
            <a:spLocks noGrp="1"/>
          </p:cNvSpPr>
          <p:nvPr/>
        </p:nvSpPr>
        <p:spPr>
          <a:xfrm>
            <a:off x="990600" y="4591050"/>
            <a:ext cx="495300" cy="495300"/>
          </a:xfrm>
          <a:prstGeom prst="ellipse">
            <a:avLst/>
          </a:prstGeom>
          <a:solidFill>
            <a:srgbClr val="EAF7FB"/>
          </a:solidFill>
          <a:ln w="0">
            <a:solidFill>
              <a:srgbClr val="EAF7FB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5" name="Graphic 49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114425" y="4714875"/>
            <a:ext cx="247650" cy="24765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D8E1757-8661-4244-9E4F-965CECB551E0}"/>
              </a:ext>
            </a:extLst>
          </p:cNvPr>
          <p:cNvSpPr>
            <a:spLocks noGrp="1"/>
          </p:cNvSpPr>
          <p:nvPr/>
        </p:nvSpPr>
        <p:spPr>
          <a:xfrm>
            <a:off x="1676400" y="4552950"/>
            <a:ext cx="3657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1">
                <a:solidFill>
                  <a:srgbClr val="083344"/>
                </a:solidFill>
              </a:defRPr>
            </a:pPr>
            <a:r>
              <a:rPr lang="en-US" sz="1575" b="1" dirty="0">
                <a:solidFill>
                  <a:srgbClr val="083344"/>
                </a:solidFill>
              </a:rPr>
              <a:t>Internship</a:t>
            </a:r>
            <a:r>
              <a:rPr lang="de-DE" sz="1575" b="1" dirty="0">
                <a:solidFill>
                  <a:srgbClr val="083344"/>
                </a:solidFill>
              </a:rPr>
              <a:t> Role</a:t>
            </a:r>
            <a:endParaRPr sz="1575" b="1" dirty="0">
              <a:solidFill>
                <a:srgbClr val="083344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E940C52-4AE6-45E5-8267-AC3AC3FCC3E1}"/>
              </a:ext>
            </a:extLst>
          </p:cNvPr>
          <p:cNvSpPr>
            <a:spLocks noGrp="1"/>
          </p:cNvSpPr>
          <p:nvPr/>
        </p:nvSpPr>
        <p:spPr>
          <a:xfrm>
            <a:off x="6191250" y="1619250"/>
            <a:ext cx="4762500" cy="358140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04724A3-59DB-4210-B555-20670FA0CD68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0">
                <a:solidFill>
                  <a:srgbClr val="5B6B78"/>
                </a:solidFill>
              </a:defRPr>
            </a:pPr>
            <a:r>
              <a:rPr sz="900" b="0">
                <a:solidFill>
                  <a:srgbClr val="5B6B78"/>
                </a:solidFill>
              </a:rPr>
              <a:t>AI-powered document retrieval system | July 2026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EB14128-2A21-4A0D-8AFC-AAE7BFF36615}"/>
              </a:ext>
            </a:extLst>
          </p:cNvPr>
          <p:cNvSpPr>
            <a:spLocks noGrp="1"/>
          </p:cNvSpPr>
          <p:nvPr/>
        </p:nvSpPr>
        <p:spPr>
          <a:xfrm>
            <a:off x="10820400" y="641985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0077B6"/>
                </a:solidFill>
              </a:defRPr>
            </a:pPr>
            <a:r>
              <a:rPr sz="900" b="1">
                <a:solidFill>
                  <a:srgbClr val="0077B6"/>
                </a:solidFill>
              </a:rPr>
              <a:t>03 / 11</a:t>
            </a:r>
          </a:p>
        </p:txBody>
      </p:sp>
      <p:pic>
        <p:nvPicPr>
          <p:cNvPr id="70" name="Picture 1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0400" y="326316"/>
            <a:ext cx="1156607" cy="397584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F3485B2-220C-4037-4CCB-EA4100ADD9CC}"/>
              </a:ext>
            </a:extLst>
          </p:cNvPr>
          <p:cNvSpPr>
            <a:spLocks noGrp="1"/>
          </p:cNvSpPr>
          <p:nvPr/>
        </p:nvSpPr>
        <p:spPr>
          <a:xfrm>
            <a:off x="1676400" y="2066925"/>
            <a:ext cx="3657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B6B78"/>
                </a:solidFill>
              </a:defRPr>
            </a:pPr>
            <a:r>
              <a:rPr sz="1400" b="0" dirty="0">
                <a:solidFill>
                  <a:srgbClr val="5B6B78"/>
                </a:solidFill>
              </a:rPr>
              <a:t>Industrial digitalization environment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AF20212-F515-3303-2C85-3B0B2EC898CB}"/>
              </a:ext>
            </a:extLst>
          </p:cNvPr>
          <p:cNvSpPr>
            <a:spLocks noGrp="1"/>
          </p:cNvSpPr>
          <p:nvPr/>
        </p:nvSpPr>
        <p:spPr>
          <a:xfrm>
            <a:off x="1676400" y="3448050"/>
            <a:ext cx="3657600" cy="390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B6B78"/>
                </a:solidFill>
              </a:defRPr>
            </a:pPr>
            <a:r>
              <a:rPr sz="1400" b="0" dirty="0">
                <a:solidFill>
                  <a:srgbClr val="5B6B78"/>
                </a:solidFill>
              </a:rPr>
              <a:t>Department supporting digital solutions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A1B26C4-DB85-D6C1-9973-7FDAE9619BCC}"/>
              </a:ext>
            </a:extLst>
          </p:cNvPr>
          <p:cNvSpPr>
            <a:spLocks noGrp="1"/>
          </p:cNvSpPr>
          <p:nvPr/>
        </p:nvSpPr>
        <p:spPr>
          <a:xfrm>
            <a:off x="1676400" y="4886325"/>
            <a:ext cx="3657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B6B78"/>
                </a:solidFill>
              </a:defRPr>
            </a:pPr>
            <a:r>
              <a:rPr sz="1400" b="0" dirty="0">
                <a:solidFill>
                  <a:srgbClr val="5B6B78"/>
                </a:solidFill>
              </a:rPr>
              <a:t>Software engineering and</a:t>
            </a:r>
            <a:r>
              <a:rPr lang="de-DE" sz="1400" b="0" dirty="0">
                <a:solidFill>
                  <a:srgbClr val="5B6B78"/>
                </a:solidFill>
              </a:rPr>
              <a:t> digitalization</a:t>
            </a:r>
            <a:endParaRPr sz="1400" b="0" dirty="0">
              <a:solidFill>
                <a:srgbClr val="5B6B78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AAF41F-04CD-E7FD-12D8-D0B538ECBADD}"/>
              </a:ext>
            </a:extLst>
          </p:cNvPr>
          <p:cNvSpPr>
            <a:spLocks noGrp="1"/>
          </p:cNvSpPr>
          <p:nvPr/>
        </p:nvSpPr>
        <p:spPr>
          <a:xfrm>
            <a:off x="6629400" y="20193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83344"/>
                </a:solidFill>
              </a:defRPr>
            </a:pPr>
            <a:r>
              <a:rPr sz="2100" b="1" dirty="0">
                <a:solidFill>
                  <a:srgbClr val="083344"/>
                </a:solidFill>
              </a:rPr>
              <a:t>Project </a:t>
            </a:r>
            <a:r>
              <a:rPr lang="de-DE" sz="2100" b="1" dirty="0">
                <a:solidFill>
                  <a:srgbClr val="083344"/>
                </a:solidFill>
              </a:rPr>
              <a:t>Scope</a:t>
            </a:r>
            <a:endParaRPr sz="2100" b="1" dirty="0">
              <a:solidFill>
                <a:srgbClr val="083344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CE9A57C-D1AA-80EF-4B0F-6E10583B543B}"/>
              </a:ext>
            </a:extLst>
          </p:cNvPr>
          <p:cNvSpPr>
            <a:spLocks noGrp="1"/>
          </p:cNvSpPr>
          <p:nvPr/>
        </p:nvSpPr>
        <p:spPr>
          <a:xfrm>
            <a:off x="6667500" y="2609850"/>
            <a:ext cx="352425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Graphic 34">
            <a:extLst>
              <a:ext uri="{FF2B5EF4-FFF2-40B4-BE49-F238E27FC236}">
                <a16:creationId xmlns:a16="http://schemas.microsoft.com/office/drawing/2014/main" id="{094BCC26-40D5-55D0-E235-143BCD7073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6819900" y="2724150"/>
            <a:ext cx="228600" cy="228600"/>
          </a:xfrm>
          <a:prstGeom prst="rect">
            <a:avLst/>
          </a:prstGeom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A3C23124-D86F-4D28-6A86-82527E88F08D}"/>
              </a:ext>
            </a:extLst>
          </p:cNvPr>
          <p:cNvSpPr>
            <a:spLocks noGrp="1"/>
          </p:cNvSpPr>
          <p:nvPr/>
        </p:nvSpPr>
        <p:spPr>
          <a:xfrm>
            <a:off x="7143750" y="2695575"/>
            <a:ext cx="2933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083344"/>
                </a:solidFill>
              </a:defRPr>
            </a:pPr>
            <a:r>
              <a:rPr sz="1275" b="1" dirty="0">
                <a:solidFill>
                  <a:srgbClr val="083344"/>
                </a:solidFill>
              </a:rPr>
              <a:t>Enterprise documents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1CA578BD-8CA2-F7C1-40F5-4AA25905AF58}"/>
              </a:ext>
            </a:extLst>
          </p:cNvPr>
          <p:cNvSpPr>
            <a:spLocks noGrp="1"/>
          </p:cNvSpPr>
          <p:nvPr/>
        </p:nvSpPr>
        <p:spPr>
          <a:xfrm>
            <a:off x="6667500" y="3162300"/>
            <a:ext cx="352425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Graphic 40">
            <a:extLst>
              <a:ext uri="{FF2B5EF4-FFF2-40B4-BE49-F238E27FC236}">
                <a16:creationId xmlns:a16="http://schemas.microsoft.com/office/drawing/2014/main" id="{19EC4584-4C7C-1F55-3500-C241430C8A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6819900" y="3276600"/>
            <a:ext cx="228600" cy="228600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31EA44F6-6838-7CD3-B8E5-1EA67FAB309E}"/>
              </a:ext>
            </a:extLst>
          </p:cNvPr>
          <p:cNvSpPr>
            <a:spLocks noGrp="1"/>
          </p:cNvSpPr>
          <p:nvPr/>
        </p:nvSpPr>
        <p:spPr>
          <a:xfrm>
            <a:off x="7143750" y="3248025"/>
            <a:ext cx="2933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083344"/>
                </a:solidFill>
              </a:defRPr>
            </a:pPr>
            <a:r>
              <a:rPr sz="1275" b="1" dirty="0">
                <a:solidFill>
                  <a:srgbClr val="083344"/>
                </a:solidFill>
              </a:rPr>
              <a:t>Knowledge retrieval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9EC7F673-12B8-C993-5534-A617CAA2FBB0}"/>
              </a:ext>
            </a:extLst>
          </p:cNvPr>
          <p:cNvSpPr>
            <a:spLocks noGrp="1"/>
          </p:cNvSpPr>
          <p:nvPr/>
        </p:nvSpPr>
        <p:spPr>
          <a:xfrm>
            <a:off x="6667500" y="3714750"/>
            <a:ext cx="352425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8" name="Graphic 47">
            <a:extLst>
              <a:ext uri="{FF2B5EF4-FFF2-40B4-BE49-F238E27FC236}">
                <a16:creationId xmlns:a16="http://schemas.microsoft.com/office/drawing/2014/main" id="{C4989D02-1BCF-951F-0C4B-A86AF2A28E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6819900" y="3829050"/>
            <a:ext cx="228600" cy="2286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63DB8A3-B2B9-E482-FB1F-D7930399DA0D}"/>
              </a:ext>
            </a:extLst>
          </p:cNvPr>
          <p:cNvSpPr>
            <a:spLocks noGrp="1"/>
          </p:cNvSpPr>
          <p:nvPr/>
        </p:nvSpPr>
        <p:spPr>
          <a:xfrm>
            <a:off x="7143750" y="3800475"/>
            <a:ext cx="2933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083344"/>
                </a:solidFill>
              </a:defRPr>
            </a:pPr>
            <a:r>
              <a:rPr sz="1275" b="1" dirty="0">
                <a:solidFill>
                  <a:srgbClr val="083344"/>
                </a:solidFill>
              </a:rPr>
              <a:t>Secure access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7BFA1C5-D4CB-A403-7C7A-E03C967D12B4}"/>
              </a:ext>
            </a:extLst>
          </p:cNvPr>
          <p:cNvSpPr>
            <a:spLocks noGrp="1"/>
          </p:cNvSpPr>
          <p:nvPr/>
        </p:nvSpPr>
        <p:spPr>
          <a:xfrm>
            <a:off x="6667500" y="4267200"/>
            <a:ext cx="352425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6" name="Graphic 55">
            <a:extLst>
              <a:ext uri="{FF2B5EF4-FFF2-40B4-BE49-F238E27FC236}">
                <a16:creationId xmlns:a16="http://schemas.microsoft.com/office/drawing/2014/main" id="{325CAF26-2563-18D7-19E3-EDF90FFC94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6819900" y="4381500"/>
            <a:ext cx="228600" cy="228600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ADACFB3D-D10E-02C1-BE30-A3806585F284}"/>
              </a:ext>
            </a:extLst>
          </p:cNvPr>
          <p:cNvSpPr>
            <a:spLocks noGrp="1"/>
          </p:cNvSpPr>
          <p:nvPr/>
        </p:nvSpPr>
        <p:spPr>
          <a:xfrm>
            <a:off x="7143750" y="4352925"/>
            <a:ext cx="2933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083344"/>
                </a:solidFill>
              </a:defRPr>
            </a:pPr>
            <a:r>
              <a:rPr sz="1275" b="1" dirty="0">
                <a:solidFill>
                  <a:srgbClr val="083344"/>
                </a:solidFill>
              </a:rPr>
              <a:t>Academic reporting</a:t>
            </a:r>
          </a:p>
        </p:txBody>
      </p:sp>
    </p:spTree>
    <p:extLst>
      <p:ext uri="{BB962C8B-B14F-4D97-AF65-F5344CB8AC3E}">
        <p14:creationId xmlns:p14="http://schemas.microsoft.com/office/powerpoint/2010/main" val="17921058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4F38CCF-2C6B-4E40-A2EA-CF31480B7D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0A3AD"/>
          </a:solidFill>
          <a:ln w="0">
            <a:solidFill>
              <a:srgbClr val="00A3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65ACFD4-2D90-40D4-85EB-D2CFB8D9797F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009999"/>
                </a:solidFill>
              </a:defRPr>
            </a:pPr>
            <a:r>
              <a:rPr sz="900" b="1">
                <a:solidFill>
                  <a:srgbClr val="009999"/>
                </a:solidFill>
              </a:rPr>
              <a:t>INTRODUCTION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172EA8-1486-40F7-A286-F3E3DF992B3B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7810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083344"/>
                </a:solidFill>
              </a:defRPr>
            </a:pPr>
            <a:r>
              <a:rPr sz="2850" b="1">
                <a:solidFill>
                  <a:srgbClr val="083344"/>
                </a:solidFill>
              </a:rPr>
              <a:t>Project Epic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A175B47-92A8-411A-BC39-8148DF52B3BD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0">
                <a:solidFill>
                  <a:srgbClr val="5B6B78"/>
                </a:solidFill>
              </a:defRPr>
            </a:pPr>
            <a:r>
              <a:rPr sz="900" b="0">
                <a:solidFill>
                  <a:srgbClr val="5B6B78"/>
                </a:solidFill>
              </a:rPr>
              <a:t>AI-powered document retrieval system | July 2026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A2E2571-65AA-44C8-AEF7-DB7C4B02B5BB}"/>
              </a:ext>
            </a:extLst>
          </p:cNvPr>
          <p:cNvSpPr>
            <a:spLocks noGrp="1"/>
          </p:cNvSpPr>
          <p:nvPr/>
        </p:nvSpPr>
        <p:spPr>
          <a:xfrm>
            <a:off x="10820400" y="641985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0077B6"/>
                </a:solidFill>
              </a:defRPr>
            </a:pPr>
            <a:r>
              <a:rPr sz="900" b="1">
                <a:solidFill>
                  <a:srgbClr val="0077B6"/>
                </a:solidFill>
              </a:rPr>
              <a:t>04 / 11</a:t>
            </a:r>
          </a:p>
        </p:txBody>
      </p:sp>
      <p:pic>
        <p:nvPicPr>
          <p:cNvPr id="70" name="Picture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0400" y="326316"/>
            <a:ext cx="1156607" cy="397584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D71B8E9-A6CB-0AFD-6DE5-992FDD073529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238125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C383837-7333-9BF7-8B0E-75D416190ABD}"/>
              </a:ext>
            </a:extLst>
          </p:cNvPr>
          <p:cNvSpPr>
            <a:spLocks noGrp="1"/>
          </p:cNvSpPr>
          <p:nvPr/>
        </p:nvSpPr>
        <p:spPr>
          <a:xfrm>
            <a:off x="857250" y="2095500"/>
            <a:ext cx="400050" cy="400050"/>
          </a:xfrm>
          <a:prstGeom prst="ellipse">
            <a:avLst/>
          </a:prstGeom>
          <a:solidFill>
            <a:srgbClr val="0077B6"/>
          </a:solidFill>
          <a:ln w="0">
            <a:solidFill>
              <a:srgbClr val="0077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DF75C85-63DB-6301-DE98-B7FC3D6DBA78}"/>
              </a:ext>
            </a:extLst>
          </p:cNvPr>
          <p:cNvSpPr>
            <a:spLocks noGrp="1"/>
          </p:cNvSpPr>
          <p:nvPr/>
        </p:nvSpPr>
        <p:spPr>
          <a:xfrm>
            <a:off x="857250" y="21526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 dirty="0">
                <a:solidFill>
                  <a:srgbClr val="FFFFFF"/>
                </a:solidFill>
              </a:rPr>
              <a:t>1</a:t>
            </a:r>
          </a:p>
        </p:txBody>
      </p:sp>
      <p:pic>
        <p:nvPicPr>
          <p:cNvPr id="35" name="Graphic 34">
            <a:extLst>
              <a:ext uri="{FF2B5EF4-FFF2-40B4-BE49-F238E27FC236}">
                <a16:creationId xmlns:a16="http://schemas.microsoft.com/office/drawing/2014/main" id="{7BEAB4B5-D981-EF99-DF55-7FFB94CBCB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2476500" y="2133600"/>
            <a:ext cx="323850" cy="323850"/>
          </a:xfrm>
          <a:prstGeom prst="rect">
            <a:avLst/>
          </a:prstGeom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15A83759-4B2A-CC2C-BF73-33A222118333}"/>
              </a:ext>
            </a:extLst>
          </p:cNvPr>
          <p:cNvSpPr>
            <a:spLocks noGrp="1"/>
          </p:cNvSpPr>
          <p:nvPr/>
        </p:nvSpPr>
        <p:spPr>
          <a:xfrm>
            <a:off x="914400" y="2705100"/>
            <a:ext cx="1924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83344"/>
                </a:solidFill>
              </a:defRPr>
            </a:pPr>
            <a:r>
              <a:rPr sz="1650" b="1">
                <a:solidFill>
                  <a:srgbClr val="083344"/>
                </a:solidFill>
              </a:rPr>
              <a:t>Documents grew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90E0D30-9CAC-398F-418D-D3657F575566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924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B6B78"/>
                </a:solidFill>
              </a:defRPr>
            </a:pPr>
            <a:r>
              <a:rPr sz="1400" b="0" dirty="0">
                <a:solidFill>
                  <a:srgbClr val="5B6B78"/>
                </a:solidFill>
              </a:rPr>
              <a:t>Knowledge became hard to locate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7006370A-68E4-D5CA-BDCD-877DBDD14295}"/>
              </a:ext>
            </a:extLst>
          </p:cNvPr>
          <p:cNvSpPr>
            <a:spLocks noGrp="1"/>
          </p:cNvSpPr>
          <p:nvPr/>
        </p:nvSpPr>
        <p:spPr>
          <a:xfrm>
            <a:off x="3067050" y="2743200"/>
            <a:ext cx="390524" cy="266700"/>
          </a:xfrm>
          <a:prstGeom prst="rightArrow">
            <a:avLst/>
          </a:prstGeom>
          <a:solidFill>
            <a:srgbClr val="00A3AD"/>
          </a:solidFill>
          <a:ln w="0">
            <a:solidFill>
              <a:srgbClr val="00A3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E5BB4EB4-3540-B4A1-9F2E-BEF42B5435C5}"/>
              </a:ext>
            </a:extLst>
          </p:cNvPr>
          <p:cNvSpPr>
            <a:spLocks noGrp="1"/>
          </p:cNvSpPr>
          <p:nvPr/>
        </p:nvSpPr>
        <p:spPr>
          <a:xfrm>
            <a:off x="3467100" y="1924050"/>
            <a:ext cx="238125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947BFCC-FAB2-EC4A-A2D2-1818FBABE500}"/>
              </a:ext>
            </a:extLst>
          </p:cNvPr>
          <p:cNvSpPr>
            <a:spLocks noGrp="1"/>
          </p:cNvSpPr>
          <p:nvPr/>
        </p:nvSpPr>
        <p:spPr>
          <a:xfrm>
            <a:off x="3638550" y="2095500"/>
            <a:ext cx="400050" cy="400050"/>
          </a:xfrm>
          <a:prstGeom prst="ellipse">
            <a:avLst/>
          </a:prstGeom>
          <a:solidFill>
            <a:srgbClr val="009999"/>
          </a:solidFill>
          <a:ln w="0">
            <a:solidFill>
              <a:srgbClr val="0099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D3C517C-4EEF-6E88-8296-1228E4AA44D3}"/>
              </a:ext>
            </a:extLst>
          </p:cNvPr>
          <p:cNvSpPr>
            <a:spLocks noGrp="1"/>
          </p:cNvSpPr>
          <p:nvPr/>
        </p:nvSpPr>
        <p:spPr>
          <a:xfrm>
            <a:off x="3638550" y="21526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 dirty="0">
                <a:solidFill>
                  <a:srgbClr val="FFFFFF"/>
                </a:solidFill>
              </a:rPr>
              <a:t>2</a:t>
            </a:r>
          </a:p>
        </p:txBody>
      </p:sp>
      <p:pic>
        <p:nvPicPr>
          <p:cNvPr id="50" name="Graphic 49">
            <a:extLst>
              <a:ext uri="{FF2B5EF4-FFF2-40B4-BE49-F238E27FC236}">
                <a16:creationId xmlns:a16="http://schemas.microsoft.com/office/drawing/2014/main" id="{175D6A6D-6481-8609-3EAF-EEEF8426F1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5257800" y="2133600"/>
            <a:ext cx="323850" cy="323850"/>
          </a:xfrm>
          <a:prstGeom prst="rect">
            <a:avLst/>
          </a:prstGeom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63C722F6-2727-6B51-CCBE-F03731C5441F}"/>
              </a:ext>
            </a:extLst>
          </p:cNvPr>
          <p:cNvSpPr>
            <a:spLocks noGrp="1"/>
          </p:cNvSpPr>
          <p:nvPr/>
        </p:nvSpPr>
        <p:spPr>
          <a:xfrm>
            <a:off x="3695700" y="2705100"/>
            <a:ext cx="1924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83344"/>
                </a:solidFill>
              </a:defRPr>
            </a:pPr>
            <a:r>
              <a:rPr sz="1650" b="1">
                <a:solidFill>
                  <a:srgbClr val="083344"/>
                </a:solidFill>
              </a:rPr>
              <a:t>Users asked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D23C61F-4FF8-8131-F64F-373803639CB1}"/>
              </a:ext>
            </a:extLst>
          </p:cNvPr>
          <p:cNvSpPr>
            <a:spLocks noGrp="1"/>
          </p:cNvSpPr>
          <p:nvPr/>
        </p:nvSpPr>
        <p:spPr>
          <a:xfrm>
            <a:off x="3695699" y="3067050"/>
            <a:ext cx="1924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B6B78"/>
                </a:solidFill>
              </a:defRPr>
            </a:pPr>
            <a:r>
              <a:rPr sz="1400" b="0" dirty="0">
                <a:solidFill>
                  <a:srgbClr val="5B6B78"/>
                </a:solidFill>
              </a:rPr>
              <a:t>Natural questions needed answers</a:t>
            </a:r>
          </a:p>
        </p:txBody>
      </p:sp>
      <p:sp>
        <p:nvSpPr>
          <p:cNvPr id="57" name="Arrow: Right 56">
            <a:extLst>
              <a:ext uri="{FF2B5EF4-FFF2-40B4-BE49-F238E27FC236}">
                <a16:creationId xmlns:a16="http://schemas.microsoft.com/office/drawing/2014/main" id="{917A6781-243C-B3E4-7AFE-D3D3D8F9A9D1}"/>
              </a:ext>
            </a:extLst>
          </p:cNvPr>
          <p:cNvSpPr>
            <a:spLocks noGrp="1"/>
          </p:cNvSpPr>
          <p:nvPr/>
        </p:nvSpPr>
        <p:spPr>
          <a:xfrm>
            <a:off x="5848350" y="2743200"/>
            <a:ext cx="381000" cy="266700"/>
          </a:xfrm>
          <a:prstGeom prst="rightArrow">
            <a:avLst/>
          </a:prstGeom>
          <a:solidFill>
            <a:srgbClr val="00A3AD"/>
          </a:solidFill>
          <a:ln w="0">
            <a:solidFill>
              <a:srgbClr val="00A3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0EEA36D9-1672-1FEE-6A75-CA403C413F07}"/>
              </a:ext>
            </a:extLst>
          </p:cNvPr>
          <p:cNvSpPr>
            <a:spLocks noGrp="1"/>
          </p:cNvSpPr>
          <p:nvPr/>
        </p:nvSpPr>
        <p:spPr>
          <a:xfrm>
            <a:off x="6248400" y="1924050"/>
            <a:ext cx="238125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CC7CBBB-A184-4E85-35F5-C6C5F2CF1D42}"/>
              </a:ext>
            </a:extLst>
          </p:cNvPr>
          <p:cNvSpPr>
            <a:spLocks noGrp="1"/>
          </p:cNvSpPr>
          <p:nvPr/>
        </p:nvSpPr>
        <p:spPr>
          <a:xfrm>
            <a:off x="6419850" y="2095500"/>
            <a:ext cx="400050" cy="400050"/>
          </a:xfrm>
          <a:prstGeom prst="ellipse">
            <a:avLst/>
          </a:prstGeom>
          <a:solidFill>
            <a:srgbClr val="2CA58D"/>
          </a:solidFill>
          <a:ln w="0">
            <a:solidFill>
              <a:srgbClr val="2CA5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AFA3270-07FE-72E0-32D6-8BF019F82C67}"/>
              </a:ext>
            </a:extLst>
          </p:cNvPr>
          <p:cNvSpPr>
            <a:spLocks noGrp="1"/>
          </p:cNvSpPr>
          <p:nvPr/>
        </p:nvSpPr>
        <p:spPr>
          <a:xfrm>
            <a:off x="6419850" y="21526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 dirty="0">
                <a:solidFill>
                  <a:srgbClr val="FFFFFF"/>
                </a:solidFill>
              </a:rPr>
              <a:t>3</a:t>
            </a:r>
          </a:p>
        </p:txBody>
      </p:sp>
      <p:pic>
        <p:nvPicPr>
          <p:cNvPr id="67" name="Graphic 66">
            <a:extLst>
              <a:ext uri="{FF2B5EF4-FFF2-40B4-BE49-F238E27FC236}">
                <a16:creationId xmlns:a16="http://schemas.microsoft.com/office/drawing/2014/main" id="{C1779CB9-E9E7-916F-2AF9-B0B144EA3B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039100" y="2133600"/>
            <a:ext cx="323850" cy="323850"/>
          </a:xfrm>
          <a:prstGeom prst="rect">
            <a:avLst/>
          </a:prstGeom>
        </p:spPr>
      </p:pic>
      <p:sp>
        <p:nvSpPr>
          <p:cNvPr id="69" name="Rectangle 68">
            <a:extLst>
              <a:ext uri="{FF2B5EF4-FFF2-40B4-BE49-F238E27FC236}">
                <a16:creationId xmlns:a16="http://schemas.microsoft.com/office/drawing/2014/main" id="{E2AFB9E8-5351-BA10-B015-BEB4696B82DC}"/>
              </a:ext>
            </a:extLst>
          </p:cNvPr>
          <p:cNvSpPr>
            <a:spLocks noGrp="1"/>
          </p:cNvSpPr>
          <p:nvPr/>
        </p:nvSpPr>
        <p:spPr>
          <a:xfrm>
            <a:off x="6477000" y="2705100"/>
            <a:ext cx="1924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83344"/>
                </a:solidFill>
              </a:defRPr>
            </a:pPr>
            <a:r>
              <a:rPr sz="1650" b="1">
                <a:solidFill>
                  <a:srgbClr val="083344"/>
                </a:solidFill>
              </a:rPr>
              <a:t>System retrieved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4ED5758-173F-B8BC-C14B-8824E329D84F}"/>
              </a:ext>
            </a:extLst>
          </p:cNvPr>
          <p:cNvSpPr>
            <a:spLocks noGrp="1"/>
          </p:cNvSpPr>
          <p:nvPr/>
        </p:nvSpPr>
        <p:spPr>
          <a:xfrm>
            <a:off x="6477000" y="30670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B6B78"/>
                </a:solidFill>
              </a:defRPr>
            </a:pPr>
            <a:r>
              <a:rPr sz="1400" b="0" dirty="0">
                <a:solidFill>
                  <a:srgbClr val="5B6B78"/>
                </a:solidFill>
              </a:rPr>
              <a:t>Relevant chunks provided context</a:t>
            </a:r>
          </a:p>
        </p:txBody>
      </p:sp>
      <p:sp>
        <p:nvSpPr>
          <p:cNvPr id="74" name="Arrow: Right 73">
            <a:extLst>
              <a:ext uri="{FF2B5EF4-FFF2-40B4-BE49-F238E27FC236}">
                <a16:creationId xmlns:a16="http://schemas.microsoft.com/office/drawing/2014/main" id="{5CC1DED5-E32E-3916-446D-40D1FC152CF5}"/>
              </a:ext>
            </a:extLst>
          </p:cNvPr>
          <p:cNvSpPr>
            <a:spLocks noGrp="1"/>
          </p:cNvSpPr>
          <p:nvPr/>
        </p:nvSpPr>
        <p:spPr>
          <a:xfrm>
            <a:off x="8629650" y="2743200"/>
            <a:ext cx="390524" cy="266700"/>
          </a:xfrm>
          <a:prstGeom prst="rightArrow">
            <a:avLst/>
          </a:prstGeom>
          <a:solidFill>
            <a:srgbClr val="00A3AD"/>
          </a:solidFill>
          <a:ln w="0">
            <a:solidFill>
              <a:srgbClr val="00A3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8343E723-3F02-B2D2-399C-330A0AC21442}"/>
              </a:ext>
            </a:extLst>
          </p:cNvPr>
          <p:cNvSpPr>
            <a:spLocks noGrp="1"/>
          </p:cNvSpPr>
          <p:nvPr/>
        </p:nvSpPr>
        <p:spPr>
          <a:xfrm>
            <a:off x="9029700" y="1924050"/>
            <a:ext cx="238125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9D0A914B-5F46-FDA3-0317-B00E12F42D98}"/>
              </a:ext>
            </a:extLst>
          </p:cNvPr>
          <p:cNvSpPr>
            <a:spLocks noGrp="1"/>
          </p:cNvSpPr>
          <p:nvPr/>
        </p:nvSpPr>
        <p:spPr>
          <a:xfrm>
            <a:off x="9201150" y="2095500"/>
            <a:ext cx="400050" cy="400050"/>
          </a:xfrm>
          <a:prstGeom prst="ellipse">
            <a:avLst/>
          </a:prstGeom>
          <a:solidFill>
            <a:srgbClr val="F28C28"/>
          </a:solidFill>
          <a:ln w="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1730795-A860-98DB-C05B-0026FCFE7996}"/>
              </a:ext>
            </a:extLst>
          </p:cNvPr>
          <p:cNvSpPr>
            <a:spLocks noGrp="1"/>
          </p:cNvSpPr>
          <p:nvPr/>
        </p:nvSpPr>
        <p:spPr>
          <a:xfrm>
            <a:off x="9201150" y="21526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 dirty="0">
                <a:solidFill>
                  <a:srgbClr val="FFFFFF"/>
                </a:solidFill>
              </a:rPr>
              <a:t>4</a:t>
            </a:r>
          </a:p>
        </p:txBody>
      </p:sp>
      <p:pic>
        <p:nvPicPr>
          <p:cNvPr id="82" name="Graphic 81">
            <a:extLst>
              <a:ext uri="{FF2B5EF4-FFF2-40B4-BE49-F238E27FC236}">
                <a16:creationId xmlns:a16="http://schemas.microsoft.com/office/drawing/2014/main" id="{63D143C1-9400-1CCE-4465-05C7085460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10820400" y="2133600"/>
            <a:ext cx="323850" cy="323850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553EFFF5-340E-114C-7A2A-031D262F6AAB}"/>
              </a:ext>
            </a:extLst>
          </p:cNvPr>
          <p:cNvSpPr>
            <a:spLocks noGrp="1"/>
          </p:cNvSpPr>
          <p:nvPr/>
        </p:nvSpPr>
        <p:spPr>
          <a:xfrm>
            <a:off x="9258300" y="2705100"/>
            <a:ext cx="2019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83344"/>
                </a:solidFill>
              </a:defRPr>
            </a:pPr>
            <a:r>
              <a:rPr sz="1650" b="1" dirty="0">
                <a:solidFill>
                  <a:srgbClr val="083344"/>
                </a:solidFill>
              </a:rPr>
              <a:t>Responses grounded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A4EB4CD-CF67-BA04-AEC5-35B00A2D4611}"/>
              </a:ext>
            </a:extLst>
          </p:cNvPr>
          <p:cNvSpPr>
            <a:spLocks noGrp="1"/>
          </p:cNvSpPr>
          <p:nvPr/>
        </p:nvSpPr>
        <p:spPr>
          <a:xfrm>
            <a:off x="9258300" y="30670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5B6B78"/>
                </a:solidFill>
              </a:defRPr>
            </a:pPr>
            <a:r>
              <a:rPr sz="1400" b="0" dirty="0">
                <a:solidFill>
                  <a:srgbClr val="5B6B78"/>
                </a:solidFill>
              </a:rPr>
              <a:t>Answers referenced document sources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6D9DB2C-A240-8E8E-4D74-43720BD851AF}"/>
              </a:ext>
            </a:extLst>
          </p:cNvPr>
          <p:cNvSpPr>
            <a:spLocks noGrp="1"/>
          </p:cNvSpPr>
          <p:nvPr/>
        </p:nvSpPr>
        <p:spPr>
          <a:xfrm>
            <a:off x="1466850" y="4476750"/>
            <a:ext cx="9258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400" b="1">
                <a:solidFill>
                  <a:srgbClr val="083344"/>
                </a:solidFill>
              </a:defRPr>
            </a:pPr>
            <a:r>
              <a:rPr sz="2400" b="1">
                <a:solidFill>
                  <a:srgbClr val="083344"/>
                </a:solidFill>
              </a:rPr>
              <a:t>From document overload to guided retrieval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29D2C6A3-E2CD-7F47-85B5-950301DD9717}"/>
              </a:ext>
            </a:extLst>
          </p:cNvPr>
          <p:cNvSpPr>
            <a:spLocks noGrp="1"/>
          </p:cNvSpPr>
          <p:nvPr/>
        </p:nvSpPr>
        <p:spPr>
          <a:xfrm>
            <a:off x="1962150" y="5010150"/>
            <a:ext cx="8267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75" b="0">
                <a:solidFill>
                  <a:srgbClr val="5B6B78"/>
                </a:solidFill>
              </a:defRPr>
            </a:pPr>
            <a:r>
              <a:rPr sz="1575" b="0">
                <a:solidFill>
                  <a:srgbClr val="5B6B78"/>
                </a:solidFill>
              </a:rPr>
              <a:t>The system turns enterprise documents into searchable knowledge.</a:t>
            </a:r>
          </a:p>
        </p:txBody>
      </p:sp>
    </p:spTree>
    <p:extLst>
      <p:ext uri="{BB962C8B-B14F-4D97-AF65-F5344CB8AC3E}">
        <p14:creationId xmlns:p14="http://schemas.microsoft.com/office/powerpoint/2010/main" val="1477649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C0C3861-1F49-4FC9-BE8A-9DC49AA178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0A3AD"/>
          </a:solidFill>
          <a:ln w="0">
            <a:solidFill>
              <a:srgbClr val="00A3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8F3D13-21B0-4D00-B8A0-76F7B1674049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009999"/>
                </a:solidFill>
              </a:defRPr>
            </a:pPr>
            <a:r>
              <a:rPr lang="en-US" sz="900" b="1" dirty="0">
                <a:solidFill>
                  <a:srgbClr val="009999"/>
                </a:solidFill>
              </a:rPr>
              <a:t>Verification</a:t>
            </a:r>
            <a:endParaRPr sz="900" b="1" dirty="0">
              <a:solidFill>
                <a:srgbClr val="009999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583CA0-0E71-42E7-9CE1-DD7CED507296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7810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083344"/>
                </a:solidFill>
              </a:defRPr>
            </a:pPr>
            <a:r>
              <a:rPr sz="2850" b="1">
                <a:solidFill>
                  <a:srgbClr val="083344"/>
                </a:solidFill>
              </a:rPr>
              <a:t>Requirements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1D70934-87C0-40F7-B97E-F1AE16DF15ED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4189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8A4DF39-FD07-454A-9964-7D20CA386D0A}"/>
              </a:ext>
            </a:extLst>
          </p:cNvPr>
          <p:cNvSpPr>
            <a:spLocks noGrp="1"/>
          </p:cNvSpPr>
          <p:nvPr/>
        </p:nvSpPr>
        <p:spPr>
          <a:xfrm>
            <a:off x="6190422" y="1466850"/>
            <a:ext cx="4953000" cy="4189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E9D034-9493-430D-A3F2-E24E434BF5E4}"/>
              </a:ext>
            </a:extLst>
          </p:cNvPr>
          <p:cNvSpPr>
            <a:spLocks noGrp="1"/>
          </p:cNvSpPr>
          <p:nvPr/>
        </p:nvSpPr>
        <p:spPr>
          <a:xfrm>
            <a:off x="1219200" y="1905000"/>
            <a:ext cx="266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250" b="1">
                <a:solidFill>
                  <a:srgbClr val="083344"/>
                </a:solidFill>
              </a:defRPr>
            </a:pPr>
            <a:r>
              <a:rPr sz="2250" b="1">
                <a:solidFill>
                  <a:srgbClr val="083344"/>
                </a:solidFill>
              </a:rPr>
              <a:t>Functional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2F92EA1-F0E0-40AC-8A49-FADC15C481EA}"/>
              </a:ext>
            </a:extLst>
          </p:cNvPr>
          <p:cNvSpPr>
            <a:spLocks noGrp="1"/>
          </p:cNvSpPr>
          <p:nvPr/>
        </p:nvSpPr>
        <p:spPr>
          <a:xfrm>
            <a:off x="6600291" y="1905000"/>
            <a:ext cx="285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250" b="1">
                <a:solidFill>
                  <a:srgbClr val="083344"/>
                </a:solidFill>
              </a:defRPr>
            </a:pPr>
            <a:r>
              <a:rPr sz="2250" b="1">
                <a:solidFill>
                  <a:srgbClr val="083344"/>
                </a:solidFill>
              </a:rPr>
              <a:t>Non-functional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C8E0F43-4778-4BAB-8AC8-8D0C34FB02AD}"/>
              </a:ext>
            </a:extLst>
          </p:cNvPr>
          <p:cNvSpPr>
            <a:spLocks noGrp="1"/>
          </p:cNvSpPr>
          <p:nvPr/>
        </p:nvSpPr>
        <p:spPr>
          <a:xfrm>
            <a:off x="1219199" y="2533650"/>
            <a:ext cx="3663885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B9A52B-D158-4B32-A19B-DC909875BFD8}"/>
              </a:ext>
            </a:extLst>
          </p:cNvPr>
          <p:cNvSpPr>
            <a:spLocks noGrp="1"/>
          </p:cNvSpPr>
          <p:nvPr/>
        </p:nvSpPr>
        <p:spPr>
          <a:xfrm>
            <a:off x="1675572" y="2609022"/>
            <a:ext cx="2990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lang="de-DE" sz="1400" b="1" dirty="0">
                <a:solidFill>
                  <a:srgbClr val="083344"/>
                </a:solidFill>
              </a:rPr>
              <a:t>FR-1: </a:t>
            </a:r>
            <a:r>
              <a:rPr sz="1400" b="1" dirty="0">
                <a:solidFill>
                  <a:srgbClr val="083344"/>
                </a:solidFill>
              </a:rPr>
              <a:t>Upload and manage documents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F54D458-11EF-436B-A955-2DD37AB2DBFB}"/>
              </a:ext>
            </a:extLst>
          </p:cNvPr>
          <p:cNvSpPr>
            <a:spLocks noGrp="1"/>
          </p:cNvSpPr>
          <p:nvPr/>
        </p:nvSpPr>
        <p:spPr>
          <a:xfrm>
            <a:off x="1219200" y="3086100"/>
            <a:ext cx="3663884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3" name="Graphic 4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385895" y="2663367"/>
            <a:ext cx="228600" cy="2286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E9FA30F-5CBA-4748-9010-0DA5866C2E30}"/>
              </a:ext>
            </a:extLst>
          </p:cNvPr>
          <p:cNvSpPr>
            <a:spLocks noGrp="1"/>
          </p:cNvSpPr>
          <p:nvPr/>
        </p:nvSpPr>
        <p:spPr>
          <a:xfrm>
            <a:off x="1675572" y="3161472"/>
            <a:ext cx="2990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lang="de-DE" sz="1400" b="1" dirty="0">
                <a:solidFill>
                  <a:srgbClr val="083344"/>
                </a:solidFill>
              </a:rPr>
              <a:t>FR-2: </a:t>
            </a:r>
            <a:r>
              <a:rPr sz="1400" b="1" dirty="0">
                <a:solidFill>
                  <a:srgbClr val="083344"/>
                </a:solidFill>
              </a:rPr>
              <a:t>Process content; track readiness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7F45175-A985-461D-A78D-36B1366A0D6A}"/>
              </a:ext>
            </a:extLst>
          </p:cNvPr>
          <p:cNvSpPr>
            <a:spLocks noGrp="1"/>
          </p:cNvSpPr>
          <p:nvPr/>
        </p:nvSpPr>
        <p:spPr>
          <a:xfrm>
            <a:off x="1219200" y="3638550"/>
            <a:ext cx="3663884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6" name="Graphic 4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371600" y="3752850"/>
            <a:ext cx="228600" cy="2286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34F6A1BD-7443-4A5A-AC3B-83A3E3679CB7}"/>
              </a:ext>
            </a:extLst>
          </p:cNvPr>
          <p:cNvSpPr>
            <a:spLocks noGrp="1"/>
          </p:cNvSpPr>
          <p:nvPr/>
        </p:nvSpPr>
        <p:spPr>
          <a:xfrm>
            <a:off x="1675572" y="3713922"/>
            <a:ext cx="322739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 b="1">
                <a:solidFill>
                  <a:srgbClr val="083344"/>
                </a:solidFill>
              </a:defRPr>
            </a:pPr>
            <a:r>
              <a:rPr lang="de-DE" sz="1400" b="1" dirty="0">
                <a:solidFill>
                  <a:srgbClr val="083344"/>
                </a:solidFill>
              </a:rPr>
              <a:t>FR-3: </a:t>
            </a:r>
            <a:r>
              <a:rPr lang="en-US" sz="1400" b="1" dirty="0"/>
              <a:t>Answer from selected documents</a:t>
            </a:r>
            <a:endParaRPr sz="1400" b="1" dirty="0">
              <a:solidFill>
                <a:srgbClr val="083344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CF5D0F7-8F0B-4234-860F-29647AB49C24}"/>
              </a:ext>
            </a:extLst>
          </p:cNvPr>
          <p:cNvSpPr>
            <a:spLocks noGrp="1"/>
          </p:cNvSpPr>
          <p:nvPr/>
        </p:nvSpPr>
        <p:spPr>
          <a:xfrm>
            <a:off x="1219200" y="4191000"/>
            <a:ext cx="3663884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9" name="Graphic 50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371600" y="4305300"/>
            <a:ext cx="228600" cy="2286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123804CE-42EA-43CF-BAB9-943ADD009373}"/>
              </a:ext>
            </a:extLst>
          </p:cNvPr>
          <p:cNvSpPr>
            <a:spLocks noGrp="1"/>
          </p:cNvSpPr>
          <p:nvPr/>
        </p:nvSpPr>
        <p:spPr>
          <a:xfrm>
            <a:off x="1675572" y="4266372"/>
            <a:ext cx="2990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 b="1">
                <a:solidFill>
                  <a:srgbClr val="083344"/>
                </a:solidFill>
              </a:defRPr>
            </a:pPr>
            <a:r>
              <a:rPr lang="de-DE" sz="1400" b="1" dirty="0">
                <a:solidFill>
                  <a:srgbClr val="083344"/>
                </a:solidFill>
              </a:rPr>
              <a:t>FR-4: </a:t>
            </a:r>
            <a:r>
              <a:rPr lang="en-US" sz="1400" b="1" dirty="0"/>
              <a:t>Show source references</a:t>
            </a:r>
            <a:endParaRPr sz="1400" b="1" dirty="0">
              <a:solidFill>
                <a:srgbClr val="083344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FF443F0-64A8-4678-837C-8E6A760DE8F4}"/>
              </a:ext>
            </a:extLst>
          </p:cNvPr>
          <p:cNvSpPr>
            <a:spLocks noGrp="1"/>
          </p:cNvSpPr>
          <p:nvPr/>
        </p:nvSpPr>
        <p:spPr>
          <a:xfrm>
            <a:off x="6600290" y="2533650"/>
            <a:ext cx="4117986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2" name="Graphic 5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6752691" y="2647950"/>
            <a:ext cx="228600" cy="2286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6199A91B-EA3A-4C59-9CDE-712EC5A52640}"/>
              </a:ext>
            </a:extLst>
          </p:cNvPr>
          <p:cNvSpPr>
            <a:spLocks noGrp="1"/>
          </p:cNvSpPr>
          <p:nvPr/>
        </p:nvSpPr>
        <p:spPr>
          <a:xfrm>
            <a:off x="7038833" y="2609022"/>
            <a:ext cx="3715578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 b="1">
                <a:solidFill>
                  <a:srgbClr val="083344"/>
                </a:solidFill>
              </a:defRPr>
            </a:pPr>
            <a:r>
              <a:rPr lang="de-DE" sz="1400" b="1" dirty="0">
                <a:solidFill>
                  <a:srgbClr val="083344"/>
                </a:solidFill>
              </a:rPr>
              <a:t>NFR-1: </a:t>
            </a:r>
            <a:r>
              <a:rPr sz="1400" b="1" dirty="0">
                <a:solidFill>
                  <a:srgbClr val="083344"/>
                </a:solidFill>
              </a:rPr>
              <a:t>Upload </a:t>
            </a:r>
            <a:r>
              <a:rPr lang="en-US" sz="1400" b="1" dirty="0"/>
              <a:t>acknowledgement</a:t>
            </a:r>
            <a:r>
              <a:rPr sz="1400" b="1" dirty="0">
                <a:solidFill>
                  <a:srgbClr val="083344"/>
                </a:solidFill>
              </a:rPr>
              <a:t> &lt;=</a:t>
            </a:r>
            <a:r>
              <a:rPr lang="de-DE" sz="1400" b="1" dirty="0">
                <a:solidFill>
                  <a:srgbClr val="083344"/>
                </a:solidFill>
              </a:rPr>
              <a:t> </a:t>
            </a:r>
            <a:r>
              <a:rPr sz="1400" b="1" dirty="0">
                <a:solidFill>
                  <a:srgbClr val="083344"/>
                </a:solidFill>
              </a:rPr>
              <a:t>3 seconds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80EDBDC-FA1E-4A8B-A5F7-B459544D7A34}"/>
              </a:ext>
            </a:extLst>
          </p:cNvPr>
          <p:cNvSpPr>
            <a:spLocks noGrp="1"/>
          </p:cNvSpPr>
          <p:nvPr/>
        </p:nvSpPr>
        <p:spPr>
          <a:xfrm>
            <a:off x="6600290" y="3086100"/>
            <a:ext cx="4117985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1429158-6657-4913-92B6-B7431289927C}"/>
              </a:ext>
            </a:extLst>
          </p:cNvPr>
          <p:cNvSpPr>
            <a:spLocks noGrp="1"/>
          </p:cNvSpPr>
          <p:nvPr/>
        </p:nvSpPr>
        <p:spPr>
          <a:xfrm>
            <a:off x="7038833" y="3161472"/>
            <a:ext cx="3490906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 b="1">
                <a:solidFill>
                  <a:srgbClr val="083344"/>
                </a:solidFill>
              </a:defRPr>
            </a:pPr>
            <a:r>
              <a:rPr lang="de-DE" sz="1400" b="1" dirty="0">
                <a:solidFill>
                  <a:srgbClr val="083344"/>
                </a:solidFill>
              </a:rPr>
              <a:t>NFR-2: </a:t>
            </a:r>
            <a:r>
              <a:rPr sz="1400" b="1" dirty="0">
                <a:solidFill>
                  <a:srgbClr val="083344"/>
                </a:solidFill>
              </a:rPr>
              <a:t>&gt;=90% queries</a:t>
            </a:r>
            <a:r>
              <a:rPr lang="de-DE" sz="1400" b="1" dirty="0">
                <a:solidFill>
                  <a:srgbClr val="083344"/>
                </a:solidFill>
              </a:rPr>
              <a:t> within</a:t>
            </a:r>
            <a:r>
              <a:rPr sz="1400" b="1" dirty="0">
                <a:solidFill>
                  <a:srgbClr val="083344"/>
                </a:solidFill>
              </a:rPr>
              <a:t> &lt;=20 seconds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DED2F81-CF6A-45C2-A693-6311D51829D1}"/>
              </a:ext>
            </a:extLst>
          </p:cNvPr>
          <p:cNvSpPr>
            <a:spLocks noGrp="1"/>
          </p:cNvSpPr>
          <p:nvPr/>
        </p:nvSpPr>
        <p:spPr>
          <a:xfrm>
            <a:off x="6600290" y="3638550"/>
            <a:ext cx="4117985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49D1D83-4703-4DB2-89BB-9BDB6B372F75}"/>
              </a:ext>
            </a:extLst>
          </p:cNvPr>
          <p:cNvSpPr>
            <a:spLocks noGrp="1"/>
          </p:cNvSpPr>
          <p:nvPr/>
        </p:nvSpPr>
        <p:spPr>
          <a:xfrm>
            <a:off x="7038833" y="3713922"/>
            <a:ext cx="304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lang="de-DE" sz="1400" b="1" dirty="0">
                <a:solidFill>
                  <a:srgbClr val="083344"/>
                </a:solidFill>
              </a:rPr>
              <a:t>NFR-3: </a:t>
            </a:r>
            <a:r>
              <a:rPr lang="en-US" sz="1400" b="1" dirty="0">
                <a:solidFill>
                  <a:srgbClr val="083344"/>
                </a:solidFill>
              </a:rPr>
              <a:t>Support ≥ 10 concurrent users</a:t>
            </a:r>
            <a:endParaRPr sz="1400" b="1" dirty="0">
              <a:solidFill>
                <a:srgbClr val="083344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84FDB43-7AA5-4000-9B37-45239601D72F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0">
                <a:solidFill>
                  <a:srgbClr val="5B6B78"/>
                </a:solidFill>
              </a:defRPr>
            </a:pPr>
            <a:r>
              <a:rPr sz="900" b="0">
                <a:solidFill>
                  <a:srgbClr val="5B6B78"/>
                </a:solidFill>
              </a:rPr>
              <a:t>AI-powered document retrieval system | July 2026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5992B2C-722F-46D8-94B4-705311379FBD}"/>
              </a:ext>
            </a:extLst>
          </p:cNvPr>
          <p:cNvSpPr>
            <a:spLocks noGrp="1"/>
          </p:cNvSpPr>
          <p:nvPr/>
        </p:nvSpPr>
        <p:spPr>
          <a:xfrm>
            <a:off x="10820400" y="641985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0077B6"/>
                </a:solidFill>
              </a:defRPr>
            </a:pPr>
            <a:r>
              <a:rPr sz="900" b="1">
                <a:solidFill>
                  <a:srgbClr val="0077B6"/>
                </a:solidFill>
              </a:rPr>
              <a:t>05 / 11</a:t>
            </a:r>
          </a:p>
        </p:txBody>
      </p:sp>
      <p:pic>
        <p:nvPicPr>
          <p:cNvPr id="72" name="Picture 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400" y="326316"/>
            <a:ext cx="1156607" cy="397584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5F0B9C9-E28F-C2A4-B183-97D895525841}"/>
              </a:ext>
            </a:extLst>
          </p:cNvPr>
          <p:cNvSpPr>
            <a:spLocks noGrp="1"/>
          </p:cNvSpPr>
          <p:nvPr/>
        </p:nvSpPr>
        <p:spPr>
          <a:xfrm>
            <a:off x="1239078" y="4743450"/>
            <a:ext cx="3663884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9C6A6EB-3DFF-33D2-9920-9E6F89E937F7}"/>
              </a:ext>
            </a:extLst>
          </p:cNvPr>
          <p:cNvSpPr>
            <a:spLocks noGrp="1"/>
          </p:cNvSpPr>
          <p:nvPr/>
        </p:nvSpPr>
        <p:spPr>
          <a:xfrm>
            <a:off x="1695450" y="4818822"/>
            <a:ext cx="2990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 b="1">
                <a:solidFill>
                  <a:srgbClr val="083344"/>
                </a:solidFill>
              </a:defRPr>
            </a:pPr>
            <a:r>
              <a:rPr lang="de-DE" sz="1400" b="1" dirty="0">
                <a:solidFill>
                  <a:srgbClr val="083344"/>
                </a:solidFill>
              </a:rPr>
              <a:t>FR-5: </a:t>
            </a:r>
            <a:r>
              <a:rPr lang="en-US" sz="1400" b="1" dirty="0"/>
              <a:t>Preserve conversation history</a:t>
            </a:r>
            <a:endParaRPr sz="1400" b="1" dirty="0">
              <a:solidFill>
                <a:srgbClr val="083344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B22E517-C1E6-13F8-638F-B6CFC4D44A89}"/>
              </a:ext>
            </a:extLst>
          </p:cNvPr>
          <p:cNvSpPr>
            <a:spLocks noGrp="1"/>
          </p:cNvSpPr>
          <p:nvPr/>
        </p:nvSpPr>
        <p:spPr>
          <a:xfrm>
            <a:off x="6600290" y="4202882"/>
            <a:ext cx="4117985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4" name="Graphic 59">
            <a:extLst>
              <a:ext uri="{FF2B5EF4-FFF2-40B4-BE49-F238E27FC236}">
                <a16:creationId xmlns:a16="http://schemas.microsoft.com/office/drawing/2014/main" id="{986F7BD1-BC95-8A00-0348-B94F91CCA2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6752691" y="4317182"/>
            <a:ext cx="228600" cy="228600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183F84BC-A2B5-C391-67BC-EC93BD7E740A}"/>
              </a:ext>
            </a:extLst>
          </p:cNvPr>
          <p:cNvSpPr>
            <a:spLocks noGrp="1"/>
          </p:cNvSpPr>
          <p:nvPr/>
        </p:nvSpPr>
        <p:spPr>
          <a:xfrm>
            <a:off x="7038832" y="4278254"/>
            <a:ext cx="3933967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lang="de-DE" sz="1400" b="1" dirty="0">
                <a:solidFill>
                  <a:srgbClr val="083344"/>
                </a:solidFill>
              </a:rPr>
              <a:t>NFR-4: </a:t>
            </a:r>
            <a:r>
              <a:rPr lang="en-US" sz="1400" b="1" dirty="0">
                <a:solidFill>
                  <a:srgbClr val="083344"/>
                </a:solidFill>
              </a:rPr>
              <a:t>Isolate user data; enforce RBAC</a:t>
            </a:r>
            <a:endParaRPr sz="1400" b="1" dirty="0">
              <a:solidFill>
                <a:srgbClr val="083344"/>
              </a:solidFill>
            </a:endParaRPr>
          </a:p>
        </p:txBody>
      </p:sp>
      <p:pic>
        <p:nvPicPr>
          <p:cNvPr id="38" name="Graphic 37">
            <a:extLst>
              <a:ext uri="{FF2B5EF4-FFF2-40B4-BE49-F238E27FC236}">
                <a16:creationId xmlns:a16="http://schemas.microsoft.com/office/drawing/2014/main" id="{251CD1E8-995C-B521-07B9-5BA440A8F4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385895" y="3219450"/>
            <a:ext cx="228600" cy="228600"/>
          </a:xfrm>
          <a:prstGeom prst="rect">
            <a:avLst/>
          </a:prstGeom>
        </p:spPr>
      </p:pic>
      <p:pic>
        <p:nvPicPr>
          <p:cNvPr id="40" name="Graphic 39">
            <a:extLst>
              <a:ext uri="{FF2B5EF4-FFF2-40B4-BE49-F238E27FC236}">
                <a16:creationId xmlns:a16="http://schemas.microsoft.com/office/drawing/2014/main" id="{5E6246FD-E0F9-13AA-269E-A488999A35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6749254" y="3755010"/>
            <a:ext cx="228600" cy="228600"/>
          </a:xfrm>
          <a:prstGeom prst="rect">
            <a:avLst/>
          </a:prstGeom>
        </p:spPr>
      </p:pic>
      <p:pic>
        <p:nvPicPr>
          <p:cNvPr id="42" name="Graphic 41">
            <a:extLst>
              <a:ext uri="{FF2B5EF4-FFF2-40B4-BE49-F238E27FC236}">
                <a16:creationId xmlns:a16="http://schemas.microsoft.com/office/drawing/2014/main" id="{2CBAD9F0-C1AD-FAB1-3A00-9F0F53D655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6749254" y="3206882"/>
            <a:ext cx="228600" cy="228600"/>
          </a:xfrm>
          <a:prstGeom prst="rect">
            <a:avLst/>
          </a:prstGeom>
        </p:spPr>
      </p:pic>
      <p:pic>
        <p:nvPicPr>
          <p:cNvPr id="65" name="Graphic 56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1367455" y="4859518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9625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FF6F53B-8F8F-4EDF-917B-5444BA2CE9D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0A3AD"/>
          </a:solidFill>
          <a:ln w="0">
            <a:solidFill>
              <a:srgbClr val="00A3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61593D-1228-4539-8877-4FB3DE40F6CF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009999"/>
                </a:solidFill>
              </a:defRPr>
            </a:pPr>
            <a:r>
              <a:rPr sz="900" b="1">
                <a:solidFill>
                  <a:srgbClr val="009999"/>
                </a:solidFill>
              </a:rPr>
              <a:t>VERIFICATION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2CAA50-9266-46C8-9E62-08487D9A6C1A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7810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083344"/>
                </a:solidFill>
              </a:defRPr>
            </a:pPr>
            <a:r>
              <a:rPr sz="2850" b="1">
                <a:solidFill>
                  <a:srgbClr val="083344"/>
                </a:solidFill>
              </a:rPr>
              <a:t>Test Cases and Traceability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5D078D6-6948-468A-823F-75DC3A0EDBF5}"/>
              </a:ext>
            </a:extLst>
          </p:cNvPr>
          <p:cNvSpPr>
            <a:spLocks noGrp="1"/>
          </p:cNvSpPr>
          <p:nvPr/>
        </p:nvSpPr>
        <p:spPr>
          <a:xfrm>
            <a:off x="785564" y="1199316"/>
            <a:ext cx="4920830" cy="3762792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8E8E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AE589E3-A2DB-4AD0-8F7A-0F2A7C3D44CA}"/>
              </a:ext>
            </a:extLst>
          </p:cNvPr>
          <p:cNvSpPr>
            <a:spLocks noGrp="1"/>
          </p:cNvSpPr>
          <p:nvPr/>
        </p:nvSpPr>
        <p:spPr>
          <a:xfrm>
            <a:off x="6150210" y="1219200"/>
            <a:ext cx="4879739" cy="3762792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8E8EE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A8E3787-6FF8-4D55-BE1F-6AF5549D955B}"/>
              </a:ext>
            </a:extLst>
          </p:cNvPr>
          <p:cNvSpPr>
            <a:spLocks noGrp="1"/>
          </p:cNvSpPr>
          <p:nvPr/>
        </p:nvSpPr>
        <p:spPr>
          <a:xfrm>
            <a:off x="809625" y="5535264"/>
            <a:ext cx="1809750" cy="4381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Graphic 36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197663" y="5649564"/>
            <a:ext cx="228600" cy="2286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30C8F86-9F41-4D0D-B7A6-E3DE95B1F3CB}"/>
              </a:ext>
            </a:extLst>
          </p:cNvPr>
          <p:cNvSpPr>
            <a:spLocks noGrp="1"/>
          </p:cNvSpPr>
          <p:nvPr/>
        </p:nvSpPr>
        <p:spPr>
          <a:xfrm>
            <a:off x="1521513" y="5612988"/>
            <a:ext cx="1219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sz="1275" b="1">
                <a:solidFill>
                  <a:srgbClr val="083344"/>
                </a:solidFill>
              </a:rPr>
              <a:t>Unit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BDE01D7-F9D1-416A-97B2-02D0EC388924}"/>
              </a:ext>
            </a:extLst>
          </p:cNvPr>
          <p:cNvSpPr>
            <a:spLocks noGrp="1"/>
          </p:cNvSpPr>
          <p:nvPr/>
        </p:nvSpPr>
        <p:spPr>
          <a:xfrm>
            <a:off x="2970972" y="5535264"/>
            <a:ext cx="1809750" cy="4381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4" name="Graphic 39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302274" y="5649564"/>
            <a:ext cx="228600" cy="2286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D6C33BAB-AE75-4A66-900A-2EDE4BC986A6}"/>
              </a:ext>
            </a:extLst>
          </p:cNvPr>
          <p:cNvSpPr>
            <a:spLocks noGrp="1"/>
          </p:cNvSpPr>
          <p:nvPr/>
        </p:nvSpPr>
        <p:spPr>
          <a:xfrm>
            <a:off x="3596307" y="5612988"/>
            <a:ext cx="1219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sz="1275" b="1">
                <a:solidFill>
                  <a:srgbClr val="083344"/>
                </a:solidFill>
              </a:rPr>
              <a:t>API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E1E8E03-326F-4629-8A32-FDF9577C7BCD}"/>
              </a:ext>
            </a:extLst>
          </p:cNvPr>
          <p:cNvSpPr>
            <a:spLocks noGrp="1"/>
          </p:cNvSpPr>
          <p:nvPr/>
        </p:nvSpPr>
        <p:spPr>
          <a:xfrm>
            <a:off x="5065644" y="5535264"/>
            <a:ext cx="1809750" cy="4381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7" name="Graphic 42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5297556" y="5649564"/>
            <a:ext cx="228600" cy="2286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2E310419-5D60-4E20-A1F8-71F7DEAB68DF}"/>
              </a:ext>
            </a:extLst>
          </p:cNvPr>
          <p:cNvSpPr>
            <a:spLocks noGrp="1"/>
          </p:cNvSpPr>
          <p:nvPr/>
        </p:nvSpPr>
        <p:spPr>
          <a:xfrm>
            <a:off x="5621406" y="5612988"/>
            <a:ext cx="1219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sz="1275" b="1">
                <a:solidFill>
                  <a:srgbClr val="083344"/>
                </a:solidFill>
              </a:rPr>
              <a:t>Load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556DD89-684A-404B-A11E-7E87FC4FFE1A}"/>
              </a:ext>
            </a:extLst>
          </p:cNvPr>
          <p:cNvSpPr>
            <a:spLocks noGrp="1"/>
          </p:cNvSpPr>
          <p:nvPr/>
        </p:nvSpPr>
        <p:spPr>
          <a:xfrm>
            <a:off x="7180194" y="5535264"/>
            <a:ext cx="1809750" cy="4381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0" name="Graphic 45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521435" y="5649564"/>
            <a:ext cx="228600" cy="2286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E042A703-CE3B-4368-B720-BD392E423794}"/>
              </a:ext>
            </a:extLst>
          </p:cNvPr>
          <p:cNvSpPr>
            <a:spLocks noGrp="1"/>
          </p:cNvSpPr>
          <p:nvPr/>
        </p:nvSpPr>
        <p:spPr>
          <a:xfrm>
            <a:off x="7865163" y="5612988"/>
            <a:ext cx="1219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sz="1275" b="1">
                <a:solidFill>
                  <a:srgbClr val="083344"/>
                </a:solidFill>
              </a:rPr>
              <a:t>Functional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41DCC36-6CF1-45E2-AD87-E054700BBEAF}"/>
              </a:ext>
            </a:extLst>
          </p:cNvPr>
          <p:cNvSpPr>
            <a:spLocks noGrp="1"/>
          </p:cNvSpPr>
          <p:nvPr/>
        </p:nvSpPr>
        <p:spPr>
          <a:xfrm>
            <a:off x="9220199" y="5535264"/>
            <a:ext cx="1809750" cy="4381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3" name="Graphic 4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9486900" y="5649564"/>
            <a:ext cx="228600" cy="22860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8221900A-9EFD-4DD2-8893-E2552481A1AF}"/>
              </a:ext>
            </a:extLst>
          </p:cNvPr>
          <p:cNvSpPr>
            <a:spLocks noGrp="1"/>
          </p:cNvSpPr>
          <p:nvPr/>
        </p:nvSpPr>
        <p:spPr>
          <a:xfrm>
            <a:off x="9790872" y="5612988"/>
            <a:ext cx="1219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sz="1275" b="1">
                <a:solidFill>
                  <a:srgbClr val="083344"/>
                </a:solidFill>
              </a:rPr>
              <a:t>TC01-TC06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B28DED5-816E-4D99-AC4E-9ED684D871E3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0">
                <a:solidFill>
                  <a:srgbClr val="5B6B78"/>
                </a:solidFill>
              </a:defRPr>
            </a:pPr>
            <a:r>
              <a:rPr sz="900" b="0">
                <a:solidFill>
                  <a:srgbClr val="5B6B78"/>
                </a:solidFill>
              </a:rPr>
              <a:t>AI-powered document retrieval system | July 2026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D53C423-3169-407F-A532-FA833B83038A}"/>
              </a:ext>
            </a:extLst>
          </p:cNvPr>
          <p:cNvSpPr>
            <a:spLocks noGrp="1"/>
          </p:cNvSpPr>
          <p:nvPr/>
        </p:nvSpPr>
        <p:spPr>
          <a:xfrm>
            <a:off x="10820400" y="641985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0077B6"/>
                </a:solidFill>
              </a:defRPr>
            </a:pPr>
            <a:r>
              <a:rPr sz="900" b="1">
                <a:solidFill>
                  <a:srgbClr val="0077B6"/>
                </a:solidFill>
              </a:rPr>
              <a:t>06 / 11</a:t>
            </a:r>
          </a:p>
        </p:txBody>
      </p:sp>
      <p:pic>
        <p:nvPicPr>
          <p:cNvPr id="57" name="Picture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20400" y="326316"/>
            <a:ext cx="1156607" cy="397584"/>
          </a:xfrm>
          <a:prstGeom prst="rect">
            <a:avLst/>
          </a:prstGeom>
        </p:spPr>
      </p:pic>
      <p:pic>
        <p:nvPicPr>
          <p:cNvPr id="58" name="Graphic 2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3347" t="2982" r="3135" b="14311"/>
          <a:stretch>
            <a:fillRect/>
          </a:stretch>
        </p:blipFill>
        <p:spPr>
          <a:xfrm>
            <a:off x="6591300" y="1349325"/>
            <a:ext cx="3994833" cy="3518367"/>
          </a:xfrm>
          <a:prstGeom prst="rect">
            <a:avLst/>
          </a:prstGeom>
        </p:spPr>
      </p:pic>
      <p:pic>
        <p:nvPicPr>
          <p:cNvPr id="59" name="Graphic 3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29804" y="1429571"/>
            <a:ext cx="5151504" cy="3311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559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4F38CCF-2C6B-4E40-A2EA-CF31480B7D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0A3AD"/>
          </a:solidFill>
          <a:ln w="0">
            <a:solidFill>
              <a:srgbClr val="00A3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65ACFD4-2D90-40D4-85EB-D2CFB8D9797F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009999"/>
                </a:solidFill>
              </a:defRPr>
            </a:pPr>
            <a:r>
              <a:rPr sz="900" b="1">
                <a:solidFill>
                  <a:srgbClr val="009999"/>
                </a:solidFill>
              </a:rPr>
              <a:t>VALIDATION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172EA8-1486-40F7-A286-F3E3DF992B3B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7810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083344"/>
                </a:solidFill>
              </a:defRPr>
            </a:pPr>
            <a:r>
              <a:rPr sz="2850" b="1">
                <a:solidFill>
                  <a:srgbClr val="083344"/>
                </a:solidFill>
              </a:rPr>
              <a:t>End-to-End Tests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B1175BE-4AD1-419F-8F60-A75D997B8A7D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238125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FE0B6FD-8EE7-408F-967C-175A703627F8}"/>
              </a:ext>
            </a:extLst>
          </p:cNvPr>
          <p:cNvSpPr>
            <a:spLocks noGrp="1"/>
          </p:cNvSpPr>
          <p:nvPr/>
        </p:nvSpPr>
        <p:spPr>
          <a:xfrm>
            <a:off x="857250" y="2095500"/>
            <a:ext cx="400050" cy="400050"/>
          </a:xfrm>
          <a:prstGeom prst="ellipse">
            <a:avLst/>
          </a:prstGeom>
          <a:solidFill>
            <a:srgbClr val="0077B6"/>
          </a:solidFill>
          <a:ln w="0">
            <a:solidFill>
              <a:srgbClr val="0077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E1054B-7864-4C2F-A636-884420F757A9}"/>
              </a:ext>
            </a:extLst>
          </p:cNvPr>
          <p:cNvSpPr>
            <a:spLocks noGrp="1"/>
          </p:cNvSpPr>
          <p:nvPr/>
        </p:nvSpPr>
        <p:spPr>
          <a:xfrm>
            <a:off x="857250" y="21526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pic>
        <p:nvPicPr>
          <p:cNvPr id="46" name="Graphic 40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2476500" y="2133600"/>
            <a:ext cx="323850" cy="32385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96EED51-0106-4D82-8C34-715CBB6EAFE5}"/>
              </a:ext>
            </a:extLst>
          </p:cNvPr>
          <p:cNvSpPr>
            <a:spLocks noGrp="1"/>
          </p:cNvSpPr>
          <p:nvPr/>
        </p:nvSpPr>
        <p:spPr>
          <a:xfrm>
            <a:off x="914400" y="2705100"/>
            <a:ext cx="1924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083344"/>
                </a:solidFill>
              </a:defRPr>
            </a:pPr>
            <a:r>
              <a:rPr sz="1650" b="1">
                <a:solidFill>
                  <a:srgbClr val="083344"/>
                </a:solidFill>
              </a:rPr>
              <a:t>Upload -&gt; processing -&gt; ready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E3900F90-1E00-4B44-A6F8-EE02D1BD1700}"/>
              </a:ext>
            </a:extLst>
          </p:cNvPr>
          <p:cNvSpPr>
            <a:spLocks noGrp="1"/>
          </p:cNvSpPr>
          <p:nvPr/>
        </p:nvSpPr>
        <p:spPr>
          <a:xfrm>
            <a:off x="3067050" y="2743200"/>
            <a:ext cx="390524" cy="266700"/>
          </a:xfrm>
          <a:prstGeom prst="rightArrow">
            <a:avLst/>
          </a:prstGeom>
          <a:solidFill>
            <a:srgbClr val="00A3AD"/>
          </a:solidFill>
          <a:ln w="0">
            <a:solidFill>
              <a:srgbClr val="00A3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226D409-25DA-4A9D-855E-518D408A323D}"/>
              </a:ext>
            </a:extLst>
          </p:cNvPr>
          <p:cNvSpPr>
            <a:spLocks noGrp="1"/>
          </p:cNvSpPr>
          <p:nvPr/>
        </p:nvSpPr>
        <p:spPr>
          <a:xfrm>
            <a:off x="3467100" y="1924050"/>
            <a:ext cx="238125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9B7464A-3D70-414F-BF95-8A9BD5EBE910}"/>
              </a:ext>
            </a:extLst>
          </p:cNvPr>
          <p:cNvSpPr>
            <a:spLocks noGrp="1"/>
          </p:cNvSpPr>
          <p:nvPr/>
        </p:nvSpPr>
        <p:spPr>
          <a:xfrm>
            <a:off x="3638550" y="2095500"/>
            <a:ext cx="400050" cy="400050"/>
          </a:xfrm>
          <a:prstGeom prst="ellipse">
            <a:avLst/>
          </a:prstGeom>
          <a:solidFill>
            <a:srgbClr val="009999"/>
          </a:solidFill>
          <a:ln w="0">
            <a:solidFill>
              <a:srgbClr val="00999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9D7104-1F80-496C-9062-5B577271E044}"/>
              </a:ext>
            </a:extLst>
          </p:cNvPr>
          <p:cNvSpPr>
            <a:spLocks noGrp="1"/>
          </p:cNvSpPr>
          <p:nvPr/>
        </p:nvSpPr>
        <p:spPr>
          <a:xfrm>
            <a:off x="3638550" y="21526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pic>
        <p:nvPicPr>
          <p:cNvPr id="52" name="Graphic 4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5257800" y="2133600"/>
            <a:ext cx="323850" cy="32385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E90AA83-7EAA-451E-BF73-8C4747B10C98}"/>
              </a:ext>
            </a:extLst>
          </p:cNvPr>
          <p:cNvSpPr>
            <a:spLocks noGrp="1"/>
          </p:cNvSpPr>
          <p:nvPr/>
        </p:nvSpPr>
        <p:spPr>
          <a:xfrm>
            <a:off x="3695700" y="2705100"/>
            <a:ext cx="1924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083344"/>
                </a:solidFill>
              </a:defRPr>
            </a:pPr>
            <a:r>
              <a:rPr sz="1650" b="1">
                <a:solidFill>
                  <a:srgbClr val="083344"/>
                </a:solidFill>
              </a:rPr>
              <a:t>Select documents -&gt; ask question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B7FE29AC-FD2C-4E2D-B822-B6326C7D0798}"/>
              </a:ext>
            </a:extLst>
          </p:cNvPr>
          <p:cNvSpPr>
            <a:spLocks noGrp="1"/>
          </p:cNvSpPr>
          <p:nvPr/>
        </p:nvSpPr>
        <p:spPr>
          <a:xfrm>
            <a:off x="5848350" y="2743200"/>
            <a:ext cx="381000" cy="266700"/>
          </a:xfrm>
          <a:prstGeom prst="rightArrow">
            <a:avLst/>
          </a:prstGeom>
          <a:solidFill>
            <a:srgbClr val="00A3AD"/>
          </a:solidFill>
          <a:ln w="0">
            <a:solidFill>
              <a:srgbClr val="00A3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F60FF19-DCC9-4F75-B86E-A0EA5F22B798}"/>
              </a:ext>
            </a:extLst>
          </p:cNvPr>
          <p:cNvSpPr>
            <a:spLocks noGrp="1"/>
          </p:cNvSpPr>
          <p:nvPr/>
        </p:nvSpPr>
        <p:spPr>
          <a:xfrm>
            <a:off x="6248400" y="1924050"/>
            <a:ext cx="238125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BCB3DCC-21BB-45E5-9AFF-CB121DD117F8}"/>
              </a:ext>
            </a:extLst>
          </p:cNvPr>
          <p:cNvSpPr>
            <a:spLocks noGrp="1"/>
          </p:cNvSpPr>
          <p:nvPr/>
        </p:nvSpPr>
        <p:spPr>
          <a:xfrm>
            <a:off x="6419850" y="2095500"/>
            <a:ext cx="400050" cy="400050"/>
          </a:xfrm>
          <a:prstGeom prst="ellipse">
            <a:avLst/>
          </a:prstGeom>
          <a:solidFill>
            <a:srgbClr val="2CA58D"/>
          </a:solidFill>
          <a:ln w="0">
            <a:solidFill>
              <a:srgbClr val="2CA58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BE8EF51-887C-4090-9502-89CBCB088A29}"/>
              </a:ext>
            </a:extLst>
          </p:cNvPr>
          <p:cNvSpPr>
            <a:spLocks noGrp="1"/>
          </p:cNvSpPr>
          <p:nvPr/>
        </p:nvSpPr>
        <p:spPr>
          <a:xfrm>
            <a:off x="6419850" y="21526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pic>
        <p:nvPicPr>
          <p:cNvPr id="58" name="Graphic 5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039100" y="2133600"/>
            <a:ext cx="323850" cy="3238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E01F9ACE-A7C6-48BE-869B-49EA82233949}"/>
              </a:ext>
            </a:extLst>
          </p:cNvPr>
          <p:cNvSpPr>
            <a:spLocks noGrp="1"/>
          </p:cNvSpPr>
          <p:nvPr/>
        </p:nvSpPr>
        <p:spPr>
          <a:xfrm>
            <a:off x="6477000" y="2705100"/>
            <a:ext cx="1924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083344"/>
                </a:solidFill>
              </a:defRPr>
            </a:pPr>
            <a:r>
              <a:rPr sz="1650" b="1">
                <a:solidFill>
                  <a:srgbClr val="083344"/>
                </a:solidFill>
              </a:rPr>
              <a:t>Retrieve answer -&gt; show references</a:t>
            </a: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A9B40163-4B58-4441-A5E6-277B0266E60B}"/>
              </a:ext>
            </a:extLst>
          </p:cNvPr>
          <p:cNvSpPr>
            <a:spLocks noGrp="1"/>
          </p:cNvSpPr>
          <p:nvPr/>
        </p:nvSpPr>
        <p:spPr>
          <a:xfrm>
            <a:off x="8629650" y="2743200"/>
            <a:ext cx="390524" cy="266700"/>
          </a:xfrm>
          <a:prstGeom prst="rightArrow">
            <a:avLst/>
          </a:prstGeom>
          <a:solidFill>
            <a:srgbClr val="00A3AD"/>
          </a:solidFill>
          <a:ln w="0">
            <a:solidFill>
              <a:srgbClr val="00A3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F2D865A-98BB-4C0B-A037-55127A6FB68C}"/>
              </a:ext>
            </a:extLst>
          </p:cNvPr>
          <p:cNvSpPr>
            <a:spLocks noGrp="1"/>
          </p:cNvSpPr>
          <p:nvPr/>
        </p:nvSpPr>
        <p:spPr>
          <a:xfrm>
            <a:off x="9029700" y="1924050"/>
            <a:ext cx="238125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68F00346-007C-41AF-9AEF-81CF16961F49}"/>
              </a:ext>
            </a:extLst>
          </p:cNvPr>
          <p:cNvSpPr>
            <a:spLocks noGrp="1"/>
          </p:cNvSpPr>
          <p:nvPr/>
        </p:nvSpPr>
        <p:spPr>
          <a:xfrm>
            <a:off x="9201150" y="2095500"/>
            <a:ext cx="400050" cy="400050"/>
          </a:xfrm>
          <a:prstGeom prst="ellipse">
            <a:avLst/>
          </a:prstGeom>
          <a:solidFill>
            <a:srgbClr val="F28C28"/>
          </a:solidFill>
          <a:ln w="0">
            <a:solidFill>
              <a:srgbClr val="F28C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AF0B496-42EA-4A33-91E7-C64E5ED3DAEE}"/>
              </a:ext>
            </a:extLst>
          </p:cNvPr>
          <p:cNvSpPr>
            <a:spLocks noGrp="1"/>
          </p:cNvSpPr>
          <p:nvPr/>
        </p:nvSpPr>
        <p:spPr>
          <a:xfrm>
            <a:off x="9201150" y="21526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pic>
        <p:nvPicPr>
          <p:cNvPr id="64" name="Graphic 61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10820400" y="2133600"/>
            <a:ext cx="323850" cy="32385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137AF8CF-FFBC-4AEE-B891-620235C31F1D}"/>
              </a:ext>
            </a:extLst>
          </p:cNvPr>
          <p:cNvSpPr>
            <a:spLocks noGrp="1"/>
          </p:cNvSpPr>
          <p:nvPr/>
        </p:nvSpPr>
        <p:spPr>
          <a:xfrm>
            <a:off x="9258300" y="2705100"/>
            <a:ext cx="2019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083344"/>
                </a:solidFill>
              </a:defRPr>
            </a:pPr>
            <a:r>
              <a:rPr sz="1650" b="1">
                <a:solidFill>
                  <a:srgbClr val="083344"/>
                </a:solidFill>
              </a:rPr>
              <a:t>Continue conversation history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A175B47-92A8-411A-BC39-8148DF52B3BD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0">
                <a:solidFill>
                  <a:srgbClr val="5B6B78"/>
                </a:solidFill>
              </a:defRPr>
            </a:pPr>
            <a:r>
              <a:rPr sz="900" b="0">
                <a:solidFill>
                  <a:srgbClr val="5B6B78"/>
                </a:solidFill>
              </a:rPr>
              <a:t>AI-powered document retrieval system | July 2026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A2E2571-65AA-44C8-AEF7-DB7C4B02B5BB}"/>
              </a:ext>
            </a:extLst>
          </p:cNvPr>
          <p:cNvSpPr>
            <a:spLocks noGrp="1"/>
          </p:cNvSpPr>
          <p:nvPr/>
        </p:nvSpPr>
        <p:spPr>
          <a:xfrm>
            <a:off x="10820400" y="641985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0077B6"/>
                </a:solidFill>
              </a:defRPr>
            </a:pPr>
            <a:r>
              <a:rPr sz="900" b="1">
                <a:solidFill>
                  <a:srgbClr val="0077B6"/>
                </a:solidFill>
              </a:rPr>
              <a:t>07 / 11</a:t>
            </a:r>
          </a:p>
        </p:txBody>
      </p:sp>
      <p:pic>
        <p:nvPicPr>
          <p:cNvPr id="68" name="Picture 2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400" y="326316"/>
            <a:ext cx="1156607" cy="397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6490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C0C3861-1F49-4FC9-BE8A-9DC49AA178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0A3AD"/>
          </a:solidFill>
          <a:ln w="0">
            <a:solidFill>
              <a:srgbClr val="00A3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8F3D13-21B0-4D00-B8A0-76F7B1674049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009999"/>
                </a:solidFill>
              </a:defRPr>
            </a:pPr>
            <a:r>
              <a:rPr sz="900" b="1">
                <a:solidFill>
                  <a:srgbClr val="009999"/>
                </a:solidFill>
              </a:rPr>
              <a:t>VALIDATION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583CA0-0E71-42E7-9CE1-DD7CED507296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7810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083344"/>
                </a:solidFill>
              </a:defRPr>
            </a:pPr>
            <a:r>
              <a:rPr sz="2850" b="1">
                <a:solidFill>
                  <a:srgbClr val="083344"/>
                </a:solidFill>
              </a:rPr>
              <a:t>Definition of Done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1D70934-87C0-40F7-B97E-F1AE16DF15ED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8A4DF39-FD07-454A-9964-7D20CA386D0A}"/>
              </a:ext>
            </a:extLst>
          </p:cNvPr>
          <p:cNvSpPr>
            <a:spLocks noGrp="1"/>
          </p:cNvSpPr>
          <p:nvPr/>
        </p:nvSpPr>
        <p:spPr>
          <a:xfrm>
            <a:off x="6457950" y="1466850"/>
            <a:ext cx="49530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E9D034-9493-430D-A3F2-E24E434BF5E4}"/>
              </a:ext>
            </a:extLst>
          </p:cNvPr>
          <p:cNvSpPr>
            <a:spLocks noGrp="1"/>
          </p:cNvSpPr>
          <p:nvPr/>
        </p:nvSpPr>
        <p:spPr>
          <a:xfrm>
            <a:off x="1219200" y="1905000"/>
            <a:ext cx="266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250" b="1">
                <a:solidFill>
                  <a:srgbClr val="083344"/>
                </a:solidFill>
              </a:defRPr>
            </a:pPr>
            <a:r>
              <a:rPr sz="2250" b="1">
                <a:solidFill>
                  <a:srgbClr val="083344"/>
                </a:solidFill>
              </a:rPr>
              <a:t>Engineering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2F92EA1-F0E0-40AC-8A49-FADC15C481EA}"/>
              </a:ext>
            </a:extLst>
          </p:cNvPr>
          <p:cNvSpPr>
            <a:spLocks noGrp="1"/>
          </p:cNvSpPr>
          <p:nvPr/>
        </p:nvSpPr>
        <p:spPr>
          <a:xfrm>
            <a:off x="6896100" y="1905000"/>
            <a:ext cx="285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250" b="1">
                <a:solidFill>
                  <a:srgbClr val="083344"/>
                </a:solidFill>
              </a:defRPr>
            </a:pPr>
            <a:r>
              <a:rPr sz="2250" b="1">
                <a:solidFill>
                  <a:srgbClr val="083344"/>
                </a:solidFill>
              </a:rPr>
              <a:t>Acceptance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C8E0F43-4778-4BAB-8AC8-8D0C34FB02AD}"/>
              </a:ext>
            </a:extLst>
          </p:cNvPr>
          <p:cNvSpPr>
            <a:spLocks noGrp="1"/>
          </p:cNvSpPr>
          <p:nvPr/>
        </p:nvSpPr>
        <p:spPr>
          <a:xfrm>
            <a:off x="1219200" y="2533650"/>
            <a:ext cx="34671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9" name="Graphic 41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371600" y="2647950"/>
            <a:ext cx="228600" cy="2286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EB9A52B-D158-4B32-A19B-DC909875BFD8}"/>
              </a:ext>
            </a:extLst>
          </p:cNvPr>
          <p:cNvSpPr>
            <a:spLocks noGrp="1"/>
          </p:cNvSpPr>
          <p:nvPr/>
        </p:nvSpPr>
        <p:spPr>
          <a:xfrm>
            <a:off x="1675572" y="2609022"/>
            <a:ext cx="2838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sz="1400" b="1">
                <a:solidFill>
                  <a:srgbClr val="083344"/>
                </a:solidFill>
              </a:rPr>
              <a:t>Feature implemented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F54D458-11EF-436B-A955-2DD37AB2DBFB}"/>
              </a:ext>
            </a:extLst>
          </p:cNvPr>
          <p:cNvSpPr>
            <a:spLocks noGrp="1"/>
          </p:cNvSpPr>
          <p:nvPr/>
        </p:nvSpPr>
        <p:spPr>
          <a:xfrm>
            <a:off x="1219200" y="3086100"/>
            <a:ext cx="34671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2" name="Graphic 4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371600" y="3200400"/>
            <a:ext cx="228600" cy="2286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E9FA30F-5CBA-4748-9010-0DA5866C2E30}"/>
              </a:ext>
            </a:extLst>
          </p:cNvPr>
          <p:cNvSpPr>
            <a:spLocks noGrp="1"/>
          </p:cNvSpPr>
          <p:nvPr/>
        </p:nvSpPr>
        <p:spPr>
          <a:xfrm>
            <a:off x="1675572" y="3161472"/>
            <a:ext cx="2838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sz="1400" b="1">
                <a:solidFill>
                  <a:srgbClr val="083344"/>
                </a:solidFill>
              </a:rPr>
              <a:t>Code reviewed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7F45175-A985-461D-A78D-36B1366A0D6A}"/>
              </a:ext>
            </a:extLst>
          </p:cNvPr>
          <p:cNvSpPr>
            <a:spLocks noGrp="1"/>
          </p:cNvSpPr>
          <p:nvPr/>
        </p:nvSpPr>
        <p:spPr>
          <a:xfrm>
            <a:off x="1219200" y="3638550"/>
            <a:ext cx="34671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5" name="Graphic 4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371600" y="3752850"/>
            <a:ext cx="228600" cy="2286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34F6A1BD-7443-4A5A-AC3B-83A3E3679CB7}"/>
              </a:ext>
            </a:extLst>
          </p:cNvPr>
          <p:cNvSpPr>
            <a:spLocks noGrp="1"/>
          </p:cNvSpPr>
          <p:nvPr/>
        </p:nvSpPr>
        <p:spPr>
          <a:xfrm>
            <a:off x="1675572" y="3713922"/>
            <a:ext cx="2838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sz="1400" b="1">
                <a:solidFill>
                  <a:srgbClr val="083344"/>
                </a:solidFill>
              </a:rPr>
              <a:t>Tests passed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FF443F0-64A8-4678-837C-8E6A760DE8F4}"/>
              </a:ext>
            </a:extLst>
          </p:cNvPr>
          <p:cNvSpPr>
            <a:spLocks noGrp="1"/>
          </p:cNvSpPr>
          <p:nvPr/>
        </p:nvSpPr>
        <p:spPr>
          <a:xfrm>
            <a:off x="6896100" y="2533650"/>
            <a:ext cx="363855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8" name="Graphic 5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048500" y="2647950"/>
            <a:ext cx="228600" cy="2286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6199A91B-EA3A-4C59-9CDE-712EC5A52640}"/>
              </a:ext>
            </a:extLst>
          </p:cNvPr>
          <p:cNvSpPr>
            <a:spLocks noGrp="1"/>
          </p:cNvSpPr>
          <p:nvPr/>
        </p:nvSpPr>
        <p:spPr>
          <a:xfrm>
            <a:off x="7372350" y="2609022"/>
            <a:ext cx="304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sz="1400" b="1">
                <a:solidFill>
                  <a:srgbClr val="083344"/>
                </a:solidFill>
              </a:rPr>
              <a:t>UI feedback verified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80EDBDC-FA1E-4A8B-A5F7-B459544D7A34}"/>
              </a:ext>
            </a:extLst>
          </p:cNvPr>
          <p:cNvSpPr>
            <a:spLocks noGrp="1"/>
          </p:cNvSpPr>
          <p:nvPr/>
        </p:nvSpPr>
        <p:spPr>
          <a:xfrm>
            <a:off x="6896100" y="3086100"/>
            <a:ext cx="363855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1" name="Graphic 56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7048500" y="3200400"/>
            <a:ext cx="228600" cy="22860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B1429158-6657-4913-92B6-B7431289927C}"/>
              </a:ext>
            </a:extLst>
          </p:cNvPr>
          <p:cNvSpPr>
            <a:spLocks noGrp="1"/>
          </p:cNvSpPr>
          <p:nvPr/>
        </p:nvSpPr>
        <p:spPr>
          <a:xfrm>
            <a:off x="7372350" y="3161472"/>
            <a:ext cx="304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sz="1400" b="1">
                <a:solidFill>
                  <a:srgbClr val="083344"/>
                </a:solidFill>
              </a:rPr>
              <a:t>Acceptance criteria satisfied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DED2F81-CF6A-45C2-A693-6311D51829D1}"/>
              </a:ext>
            </a:extLst>
          </p:cNvPr>
          <p:cNvSpPr>
            <a:spLocks noGrp="1"/>
          </p:cNvSpPr>
          <p:nvPr/>
        </p:nvSpPr>
        <p:spPr>
          <a:xfrm>
            <a:off x="6896100" y="3638550"/>
            <a:ext cx="363855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4" name="Graphic 59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7048500" y="3752850"/>
            <a:ext cx="228600" cy="228600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449D1D83-4703-4DB2-89BB-9BDB6B372F75}"/>
              </a:ext>
            </a:extLst>
          </p:cNvPr>
          <p:cNvSpPr>
            <a:spLocks noGrp="1"/>
          </p:cNvSpPr>
          <p:nvPr/>
        </p:nvSpPr>
        <p:spPr>
          <a:xfrm>
            <a:off x="7372350" y="3713922"/>
            <a:ext cx="304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sz="1400" b="1">
                <a:solidFill>
                  <a:srgbClr val="083344"/>
                </a:solidFill>
              </a:rPr>
              <a:t>No critical issue open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84FDB43-7AA5-4000-9B37-45239601D72F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0">
                <a:solidFill>
                  <a:srgbClr val="5B6B78"/>
                </a:solidFill>
              </a:defRPr>
            </a:pPr>
            <a:r>
              <a:rPr sz="900" b="0">
                <a:solidFill>
                  <a:srgbClr val="5B6B78"/>
                </a:solidFill>
              </a:rPr>
              <a:t>AI-powered document retrieval system | July 2026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5992B2C-722F-46D8-94B4-705311379FBD}"/>
              </a:ext>
            </a:extLst>
          </p:cNvPr>
          <p:cNvSpPr>
            <a:spLocks noGrp="1"/>
          </p:cNvSpPr>
          <p:nvPr/>
        </p:nvSpPr>
        <p:spPr>
          <a:xfrm>
            <a:off x="10820400" y="641985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0077B6"/>
                </a:solidFill>
              </a:defRPr>
            </a:pPr>
            <a:r>
              <a:rPr sz="900" b="1">
                <a:solidFill>
                  <a:srgbClr val="0077B6"/>
                </a:solidFill>
              </a:rPr>
              <a:t>08 / 11</a:t>
            </a:r>
          </a:p>
        </p:txBody>
      </p:sp>
      <p:pic>
        <p:nvPicPr>
          <p:cNvPr id="68" name="Picture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20400" y="326316"/>
            <a:ext cx="1156607" cy="397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962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C0C3861-1F49-4FC9-BE8A-9DC49AA178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0A3AD"/>
          </a:solidFill>
          <a:ln w="0">
            <a:solidFill>
              <a:srgbClr val="00A3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8F3D13-21B0-4D00-B8A0-76F7B1674049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009999"/>
                </a:solidFill>
              </a:defRPr>
            </a:pPr>
            <a:r>
              <a:rPr sz="900" b="1">
                <a:solidFill>
                  <a:srgbClr val="009999"/>
                </a:solidFill>
              </a:rPr>
              <a:t>EVIDENCE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583CA0-0E71-42E7-9CE1-DD7CED507296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7810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083344"/>
                </a:solidFill>
              </a:defRPr>
            </a:pPr>
            <a:r>
              <a:rPr sz="2850" b="1">
                <a:solidFill>
                  <a:srgbClr val="083344"/>
                </a:solidFill>
              </a:rPr>
              <a:t>Results and Manual Testing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1D70934-87C0-40F7-B97E-F1AE16DF15ED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8A4DF39-FD07-454A-9964-7D20CA386D0A}"/>
              </a:ext>
            </a:extLst>
          </p:cNvPr>
          <p:cNvSpPr>
            <a:spLocks noGrp="1"/>
          </p:cNvSpPr>
          <p:nvPr/>
        </p:nvSpPr>
        <p:spPr>
          <a:xfrm>
            <a:off x="6457950" y="1466850"/>
            <a:ext cx="49530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4E8E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E9D034-9493-430D-A3F2-E24E434BF5E4}"/>
              </a:ext>
            </a:extLst>
          </p:cNvPr>
          <p:cNvSpPr>
            <a:spLocks noGrp="1"/>
          </p:cNvSpPr>
          <p:nvPr/>
        </p:nvSpPr>
        <p:spPr>
          <a:xfrm>
            <a:off x="1219200" y="1905000"/>
            <a:ext cx="266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250" b="1">
                <a:solidFill>
                  <a:srgbClr val="083344"/>
                </a:solidFill>
              </a:defRPr>
            </a:pPr>
            <a:r>
              <a:rPr sz="2250" b="1">
                <a:solidFill>
                  <a:srgbClr val="083344"/>
                </a:solidFill>
              </a:rPr>
              <a:t>Measured results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2F92EA1-F0E0-40AC-8A49-FADC15C481EA}"/>
              </a:ext>
            </a:extLst>
          </p:cNvPr>
          <p:cNvSpPr>
            <a:spLocks noGrp="1"/>
          </p:cNvSpPr>
          <p:nvPr/>
        </p:nvSpPr>
        <p:spPr>
          <a:xfrm>
            <a:off x="6896100" y="1905000"/>
            <a:ext cx="285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250" b="1">
                <a:solidFill>
                  <a:srgbClr val="083344"/>
                </a:solidFill>
              </a:defRPr>
            </a:pPr>
            <a:r>
              <a:rPr sz="2250" b="1">
                <a:solidFill>
                  <a:srgbClr val="083344"/>
                </a:solidFill>
              </a:rPr>
              <a:t>Manual testing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C8E0F43-4778-4BAB-8AC8-8D0C34FB02AD}"/>
              </a:ext>
            </a:extLst>
          </p:cNvPr>
          <p:cNvSpPr>
            <a:spLocks noGrp="1"/>
          </p:cNvSpPr>
          <p:nvPr/>
        </p:nvSpPr>
        <p:spPr>
          <a:xfrm>
            <a:off x="1219200" y="2533650"/>
            <a:ext cx="34671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0" name="Graphic 41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371600" y="2647950"/>
            <a:ext cx="228600" cy="2286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EB9A52B-D158-4B32-A19B-DC909875BFD8}"/>
              </a:ext>
            </a:extLst>
          </p:cNvPr>
          <p:cNvSpPr>
            <a:spLocks noGrp="1"/>
          </p:cNvSpPr>
          <p:nvPr/>
        </p:nvSpPr>
        <p:spPr>
          <a:xfrm>
            <a:off x="1675572" y="2609022"/>
            <a:ext cx="2838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sz="1400" b="1">
                <a:solidFill>
                  <a:srgbClr val="083344"/>
                </a:solidFill>
              </a:rPr>
              <a:t>10 uploads: 0.8-2.4 s; average 1.5 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F54D458-11EF-436B-A955-2DD37AB2DBFB}"/>
              </a:ext>
            </a:extLst>
          </p:cNvPr>
          <p:cNvSpPr>
            <a:spLocks noGrp="1"/>
          </p:cNvSpPr>
          <p:nvPr/>
        </p:nvSpPr>
        <p:spPr>
          <a:xfrm>
            <a:off x="1219200" y="3086100"/>
            <a:ext cx="34671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3" name="Graphic 4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371600" y="3200400"/>
            <a:ext cx="228600" cy="2286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E9FA30F-5CBA-4748-9010-0DA5866C2E30}"/>
              </a:ext>
            </a:extLst>
          </p:cNvPr>
          <p:cNvSpPr>
            <a:spLocks noGrp="1"/>
          </p:cNvSpPr>
          <p:nvPr/>
        </p:nvSpPr>
        <p:spPr>
          <a:xfrm>
            <a:off x="1675572" y="3161472"/>
            <a:ext cx="2838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sz="1400" b="1">
                <a:solidFill>
                  <a:srgbClr val="083344"/>
                </a:solidFill>
              </a:rPr>
              <a:t>20 queries: 95% within 20 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7F45175-A985-461D-A78D-36B1366A0D6A}"/>
              </a:ext>
            </a:extLst>
          </p:cNvPr>
          <p:cNvSpPr>
            <a:spLocks noGrp="1"/>
          </p:cNvSpPr>
          <p:nvPr/>
        </p:nvSpPr>
        <p:spPr>
          <a:xfrm>
            <a:off x="1219200" y="3638550"/>
            <a:ext cx="34671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6" name="Graphic 4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371600" y="3752850"/>
            <a:ext cx="228600" cy="2286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34F6A1BD-7443-4A5A-AC3B-83A3E3679CB7}"/>
              </a:ext>
            </a:extLst>
          </p:cNvPr>
          <p:cNvSpPr>
            <a:spLocks noGrp="1"/>
          </p:cNvSpPr>
          <p:nvPr/>
        </p:nvSpPr>
        <p:spPr>
          <a:xfrm>
            <a:off x="1675572" y="3713922"/>
            <a:ext cx="2838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sz="1400" b="1">
                <a:solidFill>
                  <a:srgbClr val="083344"/>
                </a:solidFill>
              </a:rPr>
              <a:t>Retrieval average: 0.18 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CF5D0F7-8F0B-4234-860F-29647AB49C24}"/>
              </a:ext>
            </a:extLst>
          </p:cNvPr>
          <p:cNvSpPr>
            <a:spLocks noGrp="1"/>
          </p:cNvSpPr>
          <p:nvPr/>
        </p:nvSpPr>
        <p:spPr>
          <a:xfrm>
            <a:off x="1219200" y="4191000"/>
            <a:ext cx="34671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9" name="Graphic 50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1371600" y="4305300"/>
            <a:ext cx="228600" cy="2286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123804CE-42EA-43CF-BAB9-943ADD009373}"/>
              </a:ext>
            </a:extLst>
          </p:cNvPr>
          <p:cNvSpPr>
            <a:spLocks noGrp="1"/>
          </p:cNvSpPr>
          <p:nvPr/>
        </p:nvSpPr>
        <p:spPr>
          <a:xfrm>
            <a:off x="1675572" y="4266372"/>
            <a:ext cx="2990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sz="1400" b="1">
                <a:solidFill>
                  <a:srgbClr val="083344"/>
                </a:solidFill>
              </a:rPr>
              <a:t>10 concurrent users: passed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FF443F0-64A8-4678-837C-8E6A760DE8F4}"/>
              </a:ext>
            </a:extLst>
          </p:cNvPr>
          <p:cNvSpPr>
            <a:spLocks noGrp="1"/>
          </p:cNvSpPr>
          <p:nvPr/>
        </p:nvSpPr>
        <p:spPr>
          <a:xfrm>
            <a:off x="6896100" y="2533650"/>
            <a:ext cx="363855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2" name="Graphic 5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7048500" y="2647950"/>
            <a:ext cx="228600" cy="2286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6199A91B-EA3A-4C59-9CDE-712EC5A52640}"/>
              </a:ext>
            </a:extLst>
          </p:cNvPr>
          <p:cNvSpPr>
            <a:spLocks noGrp="1"/>
          </p:cNvSpPr>
          <p:nvPr/>
        </p:nvSpPr>
        <p:spPr>
          <a:xfrm>
            <a:off x="7372350" y="2609022"/>
            <a:ext cx="304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sz="1400" b="1">
                <a:solidFill>
                  <a:srgbClr val="083344"/>
                </a:solidFill>
              </a:rPr>
              <a:t>Relevant answers with references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80EDBDC-FA1E-4A8B-A5F7-B459544D7A34}"/>
              </a:ext>
            </a:extLst>
          </p:cNvPr>
          <p:cNvSpPr>
            <a:spLocks noGrp="1"/>
          </p:cNvSpPr>
          <p:nvPr/>
        </p:nvSpPr>
        <p:spPr>
          <a:xfrm>
            <a:off x="6896100" y="3086100"/>
            <a:ext cx="363855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5" name="Graphic 56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7048500" y="3200400"/>
            <a:ext cx="228600" cy="22860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B1429158-6657-4913-92B6-B7431289927C}"/>
              </a:ext>
            </a:extLst>
          </p:cNvPr>
          <p:cNvSpPr>
            <a:spLocks noGrp="1"/>
          </p:cNvSpPr>
          <p:nvPr/>
        </p:nvSpPr>
        <p:spPr>
          <a:xfrm>
            <a:off x="7372350" y="3161472"/>
            <a:ext cx="304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sz="1400" b="1">
                <a:solidFill>
                  <a:srgbClr val="083344"/>
                </a:solidFill>
              </a:rPr>
              <a:t>UI behaviour and feedback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DED2F81-CF6A-45C2-A693-6311D51829D1}"/>
              </a:ext>
            </a:extLst>
          </p:cNvPr>
          <p:cNvSpPr>
            <a:spLocks noGrp="1"/>
          </p:cNvSpPr>
          <p:nvPr/>
        </p:nvSpPr>
        <p:spPr>
          <a:xfrm>
            <a:off x="6896100" y="3638550"/>
            <a:ext cx="363855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8" name="Graphic 59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7048500" y="3752850"/>
            <a:ext cx="228600" cy="228600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449D1D83-4703-4DB2-89BB-9BDB6B372F75}"/>
              </a:ext>
            </a:extLst>
          </p:cNvPr>
          <p:cNvSpPr>
            <a:spLocks noGrp="1"/>
          </p:cNvSpPr>
          <p:nvPr/>
        </p:nvSpPr>
        <p:spPr>
          <a:xfrm>
            <a:off x="7372350" y="3713922"/>
            <a:ext cx="304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sz="1400" b="1">
                <a:solidFill>
                  <a:srgbClr val="083344"/>
                </a:solidFill>
              </a:rPr>
              <a:t>Realistic end-to-end workflows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84FDB43-7AA5-4000-9B37-45239601D72F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0">
                <a:solidFill>
                  <a:srgbClr val="5B6B78"/>
                </a:solidFill>
              </a:defRPr>
            </a:pPr>
            <a:r>
              <a:rPr sz="900" b="0">
                <a:solidFill>
                  <a:srgbClr val="5B6B78"/>
                </a:solidFill>
              </a:rPr>
              <a:t>AI-powered document retrieval system | July 2026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5992B2C-722F-46D8-94B4-705311379FBD}"/>
              </a:ext>
            </a:extLst>
          </p:cNvPr>
          <p:cNvSpPr>
            <a:spLocks noGrp="1"/>
          </p:cNvSpPr>
          <p:nvPr/>
        </p:nvSpPr>
        <p:spPr>
          <a:xfrm>
            <a:off x="10820400" y="641985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0077B6"/>
                </a:solidFill>
              </a:defRPr>
            </a:pPr>
            <a:r>
              <a:rPr sz="900" b="1">
                <a:solidFill>
                  <a:srgbClr val="0077B6"/>
                </a:solidFill>
              </a:rPr>
              <a:t>09 / 11</a:t>
            </a:r>
          </a:p>
        </p:txBody>
      </p:sp>
      <p:pic>
        <p:nvPicPr>
          <p:cNvPr id="72" name="Picture 1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20400" y="326316"/>
            <a:ext cx="1156607" cy="397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9625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0606B7-0AD7-4EE6-803A-2B47A0AAA9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0A3AD"/>
          </a:solidFill>
          <a:ln w="0">
            <a:solidFill>
              <a:srgbClr val="00A3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8C2021-80B1-4D95-977D-1E3523B75A9D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009999"/>
                </a:solidFill>
              </a:defRPr>
            </a:pPr>
            <a:r>
              <a:rPr sz="900" b="1">
                <a:solidFill>
                  <a:srgbClr val="009999"/>
                </a:solidFill>
              </a:rPr>
              <a:t>CLOSING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6C79EB-ACFB-463C-BB5E-3A0C367D998D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7810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083344"/>
                </a:solidFill>
              </a:defRPr>
            </a:pPr>
            <a:r>
              <a:rPr sz="2850" b="1">
                <a:solidFill>
                  <a:srgbClr val="083344"/>
                </a:solidFill>
              </a:rPr>
              <a:t>Conclusion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0F413A2-9496-42B7-B4F8-7BA558792E5F}"/>
              </a:ext>
            </a:extLst>
          </p:cNvPr>
          <p:cNvSpPr>
            <a:spLocks noGrp="1"/>
          </p:cNvSpPr>
          <p:nvPr/>
        </p:nvSpPr>
        <p:spPr>
          <a:xfrm>
            <a:off x="1726096" y="1700974"/>
            <a:ext cx="3810000" cy="5524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2" name="Graphic 25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888435" y="1861789"/>
            <a:ext cx="228600" cy="2286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9E9A281-CD65-468A-9726-228B6EF78227}"/>
              </a:ext>
            </a:extLst>
          </p:cNvPr>
          <p:cNvSpPr>
            <a:spLocks noGrp="1"/>
          </p:cNvSpPr>
          <p:nvPr/>
        </p:nvSpPr>
        <p:spPr>
          <a:xfrm>
            <a:off x="2202346" y="1815274"/>
            <a:ext cx="3219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sz="1400" b="1">
                <a:solidFill>
                  <a:srgbClr val="083344"/>
                </a:solidFill>
              </a:rPr>
              <a:t>Verified requirements and workflows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6AC86C3-AD1E-4302-A343-0826FCC58265}"/>
              </a:ext>
            </a:extLst>
          </p:cNvPr>
          <p:cNvSpPr>
            <a:spLocks noGrp="1"/>
          </p:cNvSpPr>
          <p:nvPr/>
        </p:nvSpPr>
        <p:spPr>
          <a:xfrm>
            <a:off x="6202846" y="1700974"/>
            <a:ext cx="3810000" cy="5524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5" name="Graphic 2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375124" y="1871728"/>
            <a:ext cx="228600" cy="2286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E00972E-5159-4403-892E-0CAB996A3604}"/>
              </a:ext>
            </a:extLst>
          </p:cNvPr>
          <p:cNvSpPr>
            <a:spLocks noGrp="1"/>
          </p:cNvSpPr>
          <p:nvPr/>
        </p:nvSpPr>
        <p:spPr>
          <a:xfrm>
            <a:off x="6679096" y="1815274"/>
            <a:ext cx="3219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sz="1400" b="1">
                <a:solidFill>
                  <a:srgbClr val="083344"/>
                </a:solidFill>
              </a:rPr>
              <a:t>Validated realistic user journeys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47FBBCC-FB51-457B-BA7E-16F7532D25DA}"/>
              </a:ext>
            </a:extLst>
          </p:cNvPr>
          <p:cNvSpPr>
            <a:spLocks noGrp="1"/>
          </p:cNvSpPr>
          <p:nvPr/>
        </p:nvSpPr>
        <p:spPr>
          <a:xfrm>
            <a:off x="1726096" y="2615374"/>
            <a:ext cx="3810000" cy="5524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8" name="Graphic 31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888435" y="2776189"/>
            <a:ext cx="228600" cy="2286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471C105-3B22-45EE-A2C1-2950235358F0}"/>
              </a:ext>
            </a:extLst>
          </p:cNvPr>
          <p:cNvSpPr>
            <a:spLocks noGrp="1"/>
          </p:cNvSpPr>
          <p:nvPr/>
        </p:nvSpPr>
        <p:spPr>
          <a:xfrm>
            <a:off x="2202346" y="2729674"/>
            <a:ext cx="3219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sz="1400" b="1">
                <a:solidFill>
                  <a:srgbClr val="083344"/>
                </a:solidFill>
              </a:rPr>
              <a:t>Measured performance targets passed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370BAD4-89E2-42BC-A554-00B54527CDC0}"/>
              </a:ext>
            </a:extLst>
          </p:cNvPr>
          <p:cNvSpPr>
            <a:spLocks noGrp="1"/>
          </p:cNvSpPr>
          <p:nvPr/>
        </p:nvSpPr>
        <p:spPr>
          <a:xfrm>
            <a:off x="6202846" y="2615374"/>
            <a:ext cx="3810000" cy="5524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Graphic 3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6375124" y="2786128"/>
            <a:ext cx="228600" cy="2286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41DAC80F-F257-49E5-BCDD-DDA807A52C00}"/>
              </a:ext>
            </a:extLst>
          </p:cNvPr>
          <p:cNvSpPr>
            <a:spLocks noGrp="1"/>
          </p:cNvSpPr>
          <p:nvPr/>
        </p:nvSpPr>
        <p:spPr>
          <a:xfrm>
            <a:off x="6679096" y="2729674"/>
            <a:ext cx="3219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sz="1400" b="1">
                <a:solidFill>
                  <a:srgbClr val="083344"/>
                </a:solidFill>
              </a:rPr>
              <a:t>References supported answer checking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EC6CA41-1BD2-49A1-894C-FB339C37270B}"/>
              </a:ext>
            </a:extLst>
          </p:cNvPr>
          <p:cNvSpPr>
            <a:spLocks noGrp="1"/>
          </p:cNvSpPr>
          <p:nvPr/>
        </p:nvSpPr>
        <p:spPr>
          <a:xfrm>
            <a:off x="4111487" y="3613975"/>
            <a:ext cx="3810000" cy="5524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E4EC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4" name="Graphic 3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4283765" y="3774790"/>
            <a:ext cx="228600" cy="2286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7698AED-3ABA-42B9-ABBB-E2606E284416}"/>
              </a:ext>
            </a:extLst>
          </p:cNvPr>
          <p:cNvSpPr>
            <a:spLocks noGrp="1"/>
          </p:cNvSpPr>
          <p:nvPr/>
        </p:nvSpPr>
        <p:spPr>
          <a:xfrm>
            <a:off x="4587737" y="3728275"/>
            <a:ext cx="3219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083344"/>
                </a:solidFill>
              </a:defRPr>
            </a:pPr>
            <a:r>
              <a:rPr sz="1400" b="1">
                <a:solidFill>
                  <a:srgbClr val="083344"/>
                </a:solidFill>
              </a:rPr>
              <a:t>System remained stable concurrently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CE9E0A6-6B31-4EB9-94EF-854B5F2116D7}"/>
              </a:ext>
            </a:extLst>
          </p:cNvPr>
          <p:cNvSpPr>
            <a:spLocks noGrp="1"/>
          </p:cNvSpPr>
          <p:nvPr/>
        </p:nvSpPr>
        <p:spPr>
          <a:xfrm>
            <a:off x="1809750" y="4819650"/>
            <a:ext cx="8572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325" b="1">
                <a:solidFill>
                  <a:srgbClr val="083344"/>
                </a:solidFill>
              </a:defRPr>
            </a:pPr>
            <a:r>
              <a:rPr sz="2325" b="1">
                <a:solidFill>
                  <a:srgbClr val="083344"/>
                </a:solidFill>
              </a:rPr>
              <a:t>Verification and validation increased confidence</a:t>
            </a:r>
          </a:p>
          <a:p>
            <a:pPr algn="ctr">
              <a:buNone/>
              <a:defRPr sz="2325" b="1">
                <a:solidFill>
                  <a:srgbClr val="083344"/>
                </a:solidFill>
              </a:defRPr>
            </a:pPr>
            <a:r>
              <a:rPr sz="2325" b="1">
                <a:solidFill>
                  <a:srgbClr val="083344"/>
                </a:solidFill>
              </a:rPr>
              <a:t>in the Enterprise RAG system.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9C90403-F945-4DBB-836F-7C38DDC3969F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0">
                <a:solidFill>
                  <a:srgbClr val="5B6B78"/>
                </a:solidFill>
              </a:defRPr>
            </a:pPr>
            <a:r>
              <a:rPr sz="900" b="0">
                <a:solidFill>
                  <a:srgbClr val="5B6B78"/>
                </a:solidFill>
              </a:rPr>
              <a:t>AI-powered document retrieval system | July 2026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5F509E-BB67-475C-B801-32B16373DF1A}"/>
              </a:ext>
            </a:extLst>
          </p:cNvPr>
          <p:cNvSpPr>
            <a:spLocks noGrp="1"/>
          </p:cNvSpPr>
          <p:nvPr/>
        </p:nvSpPr>
        <p:spPr>
          <a:xfrm>
            <a:off x="10820400" y="641985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0077B6"/>
                </a:solidFill>
              </a:defRPr>
            </a:pPr>
            <a:r>
              <a:rPr sz="900" b="1">
                <a:solidFill>
                  <a:srgbClr val="0077B6"/>
                </a:solidFill>
              </a:rPr>
              <a:t>10 / 11</a:t>
            </a:r>
          </a:p>
        </p:txBody>
      </p:sp>
      <p:pic>
        <p:nvPicPr>
          <p:cNvPr id="49" name="Picture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20400" y="326316"/>
            <a:ext cx="1156607" cy="397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9912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90622AC-99C7-41AC-B7E0-39F51FB2AB5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0A3AD"/>
          </a:solidFill>
          <a:ln w="0">
            <a:solidFill>
              <a:srgbClr val="00A3AD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0" name="Graphic 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5372100" y="1276350"/>
            <a:ext cx="1447800" cy="14478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B82B446-B0B6-4A78-B568-52EEAE34EEDA}"/>
              </a:ext>
            </a:extLst>
          </p:cNvPr>
          <p:cNvSpPr>
            <a:spLocks noGrp="1"/>
          </p:cNvSpPr>
          <p:nvPr/>
        </p:nvSpPr>
        <p:spPr>
          <a:xfrm>
            <a:off x="2571750" y="3333750"/>
            <a:ext cx="7048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4350" b="1">
                <a:solidFill>
                  <a:srgbClr val="083344"/>
                </a:solidFill>
              </a:defRPr>
            </a:pPr>
            <a:r>
              <a:rPr sz="4350" b="1">
                <a:solidFill>
                  <a:srgbClr val="083344"/>
                </a:solidFill>
              </a:rPr>
              <a:t>Questions?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CF2335-BFA8-4A15-83CE-C3ABD3B4C6C4}"/>
              </a:ext>
            </a:extLst>
          </p:cNvPr>
          <p:cNvSpPr>
            <a:spLocks noGrp="1"/>
          </p:cNvSpPr>
          <p:nvPr/>
        </p:nvSpPr>
        <p:spPr>
          <a:xfrm>
            <a:off x="3143250" y="2990850"/>
            <a:ext cx="590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950" b="0">
                <a:solidFill>
                  <a:srgbClr val="5B6B78"/>
                </a:solidFill>
              </a:defRPr>
            </a:pPr>
            <a:r>
              <a:rPr sz="1950" b="0">
                <a:solidFill>
                  <a:srgbClr val="5B6B78"/>
                </a:solidFill>
              </a:rPr>
              <a:t>Thank you for your attention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226F91-37F0-4849-941C-B59A6E4BB065}"/>
              </a:ext>
            </a:extLst>
          </p:cNvPr>
          <p:cNvSpPr>
            <a:spLocks noGrp="1"/>
          </p:cNvSpPr>
          <p:nvPr/>
        </p:nvSpPr>
        <p:spPr>
          <a:xfrm>
            <a:off x="2381250" y="4895850"/>
            <a:ext cx="742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500" b="1">
                <a:solidFill>
                  <a:srgbClr val="009999"/>
                </a:solidFill>
              </a:defRPr>
            </a:pPr>
            <a:r>
              <a:rPr sz="1500" b="1">
                <a:solidFill>
                  <a:srgbClr val="009999"/>
                </a:solidFill>
              </a:rPr>
              <a:t>Enterprise RAG system | Internship presentation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B782F88-E526-4346-A96A-1F1A8ABDAA19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0">
                <a:solidFill>
                  <a:srgbClr val="5B6B78"/>
                </a:solidFill>
              </a:defRPr>
            </a:pPr>
            <a:r>
              <a:rPr sz="900" b="0">
                <a:solidFill>
                  <a:srgbClr val="5B6B78"/>
                </a:solidFill>
              </a:rPr>
              <a:t>AI-powered document retrieval system | July 2026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43FD8A-7577-44EE-867E-9069A381222A}"/>
              </a:ext>
            </a:extLst>
          </p:cNvPr>
          <p:cNvSpPr>
            <a:spLocks noGrp="1"/>
          </p:cNvSpPr>
          <p:nvPr/>
        </p:nvSpPr>
        <p:spPr>
          <a:xfrm>
            <a:off x="10820400" y="641985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0077B6"/>
                </a:solidFill>
              </a:defRPr>
            </a:pPr>
            <a:r>
              <a:rPr sz="900" b="1">
                <a:solidFill>
                  <a:srgbClr val="0077B6"/>
                </a:solidFill>
              </a:rPr>
              <a:t>11 / 11</a:t>
            </a:r>
          </a:p>
        </p:txBody>
      </p:sp>
    </p:spTree>
    <p:extLst>
      <p:ext uri="{BB962C8B-B14F-4D97-AF65-F5344CB8AC3E}">
        <p14:creationId xmlns:p14="http://schemas.microsoft.com/office/powerpoint/2010/main" val="428664023"/>
      </p:ext>
    </p:extLst>
  </p:cSld>
  <p:clrMapOvr>
    <a:masterClrMapping/>
  </p:clrMapOvr>
</p:sld>
</file>

<file path=ppt/theme/theme1.xml><?xml version="1.0" encoding="utf-8"?>
<a:theme xmlns:a="http://schemas.openxmlformats.org/drawingml/2006/main" name="Enterprise Theme">
  <a:themeElements>
    <a:clrScheme name="Enterpris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Enterprise Them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Enterprise Theme">
  <a:themeElements>
    <a:clrScheme name="Enterpris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Enterprise Them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769</Words>
  <Application>Microsoft Office PowerPoint</Application>
  <DocSecurity>0</DocSecurity>
  <PresentationFormat>Widescreen</PresentationFormat>
  <Paragraphs>151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3" baseType="lpstr">
      <vt:lpstr>Calibri</vt:lpstr>
      <vt:lpstr>Enterprise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Md Fahim Hossain</cp:lastModifiedBy>
  <cp:revision>7</cp:revision>
  <dcterms:created xsi:type="dcterms:W3CDTF">2026-07-19T11:13:59Z</dcterms:created>
  <dcterms:modified xsi:type="dcterms:W3CDTF">2026-07-19T11:59:43Z</dcterms:modified>
</cp:coreProperties>
</file>