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092" autoAdjust="0"/>
  </p:normalViewPr>
  <p:slideViewPr>
    <p:cSldViewPr snapToGrid="0">
      <p:cViewPr varScale="1">
        <p:scale>
          <a:sx n="82" d="100"/>
          <a:sy n="82" d="100"/>
        </p:scale>
        <p:origin x="16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a:t>
            </a:r>
          </a:p>
          <a:p>
            <a:r>
              <a:rPr lang="en-US" dirty="0"/>
              <a:t>My name is Md Fahim Hossain, and today I will present the software specification and design of the project I developed during my internship at Siemens Energy.</a:t>
            </a:r>
          </a:p>
          <a:p>
            <a:r>
              <a:rPr lang="en-US" dirty="0"/>
              <a:t>The project is an AI-powered enterprise document retrieval system. Its purpose is to help users access information from large collections of organizational documents more efficiently.</a:t>
            </a:r>
          </a:p>
          <a:p>
            <a:r>
              <a:rPr lang="en-US"/>
              <a:t>In </a:t>
            </a:r>
            <a:r>
              <a:rPr lang="en-US" dirty="0"/>
              <a:t>this presentation, I will focus on the software engineering aspects of the project, especially the requirements, architecture, data model, and important design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begin with the company context and my internship role.</a:t>
            </a:r>
          </a:p>
          <a:p>
            <a:r>
              <a:rPr lang="en-US" dirty="0"/>
              <a:t>After that, I will explain the project epic, which describes the main problem and the overall goal of the system.</a:t>
            </a:r>
          </a:p>
          <a:p>
            <a:r>
              <a:rPr lang="en-US" dirty="0"/>
              <a:t>Then I will discuss the user stories and the main functional and non-functional requirements.</a:t>
            </a:r>
          </a:p>
          <a:p>
            <a:r>
              <a:rPr lang="en-US" dirty="0"/>
              <a:t>The second half of the presentation focuses on the system architecture, the use-case and database models, and the architectural decisions used during implementation.</a:t>
            </a:r>
          </a:p>
          <a:p>
            <a:r>
              <a:rPr lang="en-US" dirty="0"/>
              <a:t>Finally, I will summarize the main outcomes of the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was completed at Siemens Energy within the SE GT DG OE department.</a:t>
            </a:r>
          </a:p>
          <a:p>
            <a:r>
              <a:rPr lang="en-US" dirty="0"/>
              <a:t>The department supports digitalization activities and develops solutions that improve internal processes, data accessibility, and operational efficiency.</a:t>
            </a:r>
          </a:p>
          <a:p>
            <a:r>
              <a:rPr lang="en-US" dirty="0"/>
              <a:t>During my internship, I worked in a software engineering and digitalization role. My work covered the main software-development activities, including requirement analysis, system design, backend development, interface implementation, and technical documentation.</a:t>
            </a:r>
          </a:p>
          <a:p>
            <a:r>
              <a:rPr lang="en-US" dirty="0"/>
              <a:t>The project focused on enterprise documents and knowledge retrieval. Organizations often store important information in technical reports, manuals, process descriptions, and operational guidelines.</a:t>
            </a:r>
          </a:p>
          <a:p>
            <a:r>
              <a:rPr lang="en-US" dirty="0"/>
              <a:t>Although this information already exists, finding one specific detail can require significant manual effort. The project therefore aimed to provide a more structured and secure way of accessing this knowledge.</a:t>
            </a:r>
          </a:p>
          <a:p>
            <a:r>
              <a:rPr lang="en-US" dirty="0"/>
              <a:t>Security was also important because users should only be able to access their own documents and conversations, while administrative functionality should remain restricted to authorized roles.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epic, or the main story behind the project.</a:t>
            </a:r>
          </a:p>
          <a:p>
            <a:r>
              <a:rPr lang="en-US" dirty="0"/>
              <a:t>The starting problem was the growing number of organizational documents. As the number of files increased, useful knowledge became more difficult to locate through manual browsing or basic keyword search.</a:t>
            </a:r>
          </a:p>
          <a:p>
            <a:r>
              <a:rPr lang="en-US" dirty="0"/>
              <a:t>The next step was to consider how users naturally search for information. Instead of opening several documents and reading them individually, users should be able to ask questions in natural language.</a:t>
            </a:r>
          </a:p>
          <a:p>
            <a:r>
              <a:rPr lang="en-US" dirty="0"/>
              <a:t>The system then retrieves the most relevant parts of the selected documents and uses them as context for generating a response.</a:t>
            </a:r>
          </a:p>
          <a:p>
            <a:r>
              <a:rPr lang="en-US" dirty="0"/>
              <a:t>Finally, the answer is presented together with references to the original document sources, so the user can verify where the information came from.</a:t>
            </a:r>
          </a:p>
          <a:p>
            <a:r>
              <a:rPr lang="en-US" dirty="0"/>
              <a:t>Therefore, the project epic describes the transition from document overload to guided knowledge retrieval. The main objective was to make existing enterprise knowledge easier to find, understand, and verify.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stakeholder needs were translated into user stories using the common format:</a:t>
            </a:r>
          </a:p>
          <a:p>
            <a:r>
              <a:rPr lang="en-US" dirty="0"/>
              <a:t>“As a role, I want a capability, so that a particular value can be achieved.”</a:t>
            </a:r>
          </a:p>
          <a:p>
            <a:r>
              <a:rPr lang="en-US" dirty="0"/>
              <a:t>This structure helped transform general expectations into clear and implementable software features.</a:t>
            </a:r>
          </a:p>
          <a:p>
            <a:r>
              <a:rPr lang="en-US" dirty="0"/>
              <a:t>For users and knowledge workers, the main need was to ask questions across selected documents and receive responses supported by references.</a:t>
            </a:r>
          </a:p>
          <a:p>
            <a:r>
              <a:rPr lang="en-US" dirty="0"/>
              <a:t>For example, a user wants to select one or more processed documents and ask a natural-language question so that relevant information can be obtained without manually searching every file.</a:t>
            </a:r>
          </a:p>
          <a:p>
            <a:r>
              <a:rPr lang="en-US" dirty="0"/>
              <a:t>Administrators have a different responsibility. They need access to management and monitoring functions so that the system remains secure and reliable.</a:t>
            </a:r>
          </a:p>
          <a:p>
            <a:r>
              <a:rPr lang="en-US" dirty="0"/>
              <a:t>Document-related workflows were also important. Users need to upload documents, monitor their processing status, and know when the documents are ready for use.</a:t>
            </a:r>
          </a:p>
          <a:p>
            <a:r>
              <a:rPr lang="en-US" dirty="0"/>
              <a:t>Each user story included acceptance criteria, which later provided a basis for implementation, testing, and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requirements were divided into functional and non-functional requirements.</a:t>
            </a:r>
          </a:p>
          <a:p>
            <a:r>
              <a:rPr lang="en-US" dirty="0"/>
              <a:t>The functional requirements describe what the system must do.</a:t>
            </a:r>
          </a:p>
          <a:p>
            <a:r>
              <a:rPr lang="en-US" dirty="0"/>
              <a:t>They include secure authentication, role-based access, document upload and management, automated document processing, conversational retrieval, source references, and conversation history.</a:t>
            </a:r>
          </a:p>
          <a:p>
            <a:r>
              <a:rPr lang="en-US" dirty="0"/>
              <a:t>After a document is uploaded, the system processes it automatically and prepares it for semantic retrieval. Once processing is complete, the document can be selected as a knowledge source in a conversation.</a:t>
            </a:r>
          </a:p>
          <a:p>
            <a:r>
              <a:rPr lang="en-US" dirty="0"/>
              <a:t>The non-functional requirements describe how the system should operate.</a:t>
            </a:r>
          </a:p>
          <a:p>
            <a:r>
              <a:rPr lang="en-US" dirty="0"/>
              <a:t>Long-running processing must run asynchronously so that the interface remains responsive. User data must remain isolated, failed documents must not become available for retrieval, and the application structure should remain maintainable.</a:t>
            </a:r>
          </a:p>
          <a:p>
            <a:r>
              <a:rPr lang="en-US" dirty="0"/>
              <a:t>Some requirements were also measurable.</a:t>
            </a:r>
          </a:p>
          <a:p>
            <a:r>
              <a:rPr lang="en-US" dirty="0"/>
              <a:t>Successful uploads should be acknowledged within three seconds. At least ninety percent of questions should receive a response within twenty seconds under normal conditions. The application should also support at least ten concurrent authenticated users without failure or inconsistent data.</a:t>
            </a:r>
          </a:p>
          <a:p>
            <a:r>
              <a:rPr lang="en-US" dirty="0"/>
              <a:t>These measurable requirements later provided clear targets for verification and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high-level architecture of the system.</a:t>
            </a:r>
          </a:p>
          <a:p>
            <a:r>
              <a:rPr lang="en-US" dirty="0"/>
              <a:t>Users interact with the application through the web interface. From there, they can authenticate, upload documents, monitor processing, manage conversations, and submit questions.</a:t>
            </a:r>
          </a:p>
          <a:p>
            <a:r>
              <a:rPr lang="en-US" dirty="0"/>
              <a:t>When a document is uploaded, the application first validates and stores the file. The remaining processing stages are then dispatched to background jobs.</a:t>
            </a:r>
          </a:p>
          <a:p>
            <a:r>
              <a:rPr lang="en-US" dirty="0"/>
              <a:t>Text is extracted directly from digital documents. For scanned PDF files, optical character recognition is used.</a:t>
            </a:r>
          </a:p>
          <a:p>
            <a:r>
              <a:rPr lang="en-US" dirty="0"/>
              <a:t>The extracted content is cleaned and divided into smaller semantic chunks. Each chunk is then converted into a vector representation using an embedding model.</a:t>
            </a:r>
          </a:p>
          <a:p>
            <a:r>
              <a:rPr lang="en-US" dirty="0"/>
              <a:t>These vectors are stored together with the document information in PostgreSQL, using vector-search capabilities.</a:t>
            </a:r>
          </a:p>
          <a:p>
            <a:r>
              <a:rPr lang="en-US" dirty="0"/>
              <a:t>When a user asks a question, the retrieval component searches only the selected documents and identifies the most relevant chunks.</a:t>
            </a:r>
          </a:p>
          <a:p>
            <a:r>
              <a:rPr lang="en-US" dirty="0"/>
              <a:t>These chunks are provided as context for response generation. The final response is returned to the user with source references and stored in the conversation history.</a:t>
            </a:r>
          </a:p>
          <a:p>
            <a:r>
              <a:rPr lang="en-US" dirty="0"/>
              <a:t>The main design benefit of this architecture is separation of responsibilities. The web interface, document processing, semantic retrieval, data storage, and response generation remain independent from one another.</a:t>
            </a:r>
          </a:p>
          <a:p>
            <a:r>
              <a:rPr lang="en-US" dirty="0"/>
              <a:t>This makes the system easier to maintain, test, and extend.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a:t>
            </a:r>
            <a:r>
              <a:rPr lang="en-US" dirty="0" err="1"/>
              <a:t>behavioural</a:t>
            </a:r>
            <a:r>
              <a:rPr lang="en-US" dirty="0"/>
              <a:t> and structural views of the system.</a:t>
            </a:r>
          </a:p>
          <a:p>
            <a:r>
              <a:rPr lang="en-US" dirty="0"/>
              <a:t>On the left, the use-case diagram shows how users and administrators interact with the application.</a:t>
            </a:r>
          </a:p>
          <a:p>
            <a:r>
              <a:rPr lang="en-US" dirty="0"/>
              <a:t>The main user interactions include logging in, uploading and managing documents, monitoring document processing, starting conversations, asking questions, querying multiple documents, viewing references, and reopening previous conversations.</a:t>
            </a:r>
          </a:p>
          <a:p>
            <a:r>
              <a:rPr lang="en-US" dirty="0"/>
              <a:t>Administrators have additional access to system-management and monitoring functions.</a:t>
            </a:r>
          </a:p>
          <a:p>
            <a:r>
              <a:rPr lang="en-US" dirty="0"/>
              <a:t>On the right, the database model shows how the required information is stored.</a:t>
            </a:r>
          </a:p>
          <a:p>
            <a:r>
              <a:rPr lang="en-US" dirty="0"/>
              <a:t>Users are connected to their documents and conversations. Documents contain metadata and processing status. The extracted content is stored as document chunks, together with the information required for retrieval and references.</a:t>
            </a:r>
          </a:p>
          <a:p>
            <a:r>
              <a:rPr lang="en-US" dirty="0"/>
              <a:t>Conversations are connected to one or more selected documents, while messages store the questions and generated responses.</a:t>
            </a:r>
          </a:p>
          <a:p>
            <a:r>
              <a:rPr lang="en-US" dirty="0"/>
              <a:t>The implementation environment includes PHP 8.4, Laravel 12, PostgreSQL, JavaScript, and an OCR-enabled document-processing pipeline.</a:t>
            </a:r>
          </a:p>
          <a:p>
            <a:r>
              <a:rPr lang="en-US" dirty="0"/>
              <a:t>Together, these models show how user requirements were translated into software structure and persistent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architectural principles guided the implementation.</a:t>
            </a:r>
          </a:p>
          <a:p>
            <a:r>
              <a:rPr lang="en-US" dirty="0"/>
              <a:t>First, the web application follows the Model–View–Controller pattern.</a:t>
            </a:r>
          </a:p>
          <a:p>
            <a:r>
              <a:rPr lang="en-US" dirty="0"/>
              <a:t>Controllers handle incoming requests, validation, and authorization. Models represent the persistent data, while views are responsible for presenting information to the user.</a:t>
            </a:r>
          </a:p>
          <a:p>
            <a:r>
              <a:rPr lang="en-US" dirty="0"/>
              <a:t>Complex business logic was not placed directly inside controllers. Tasks such as document extraction, chunking, embedding generation, semantic retrieval, and response generation were implemented through dedicated services.</a:t>
            </a:r>
          </a:p>
          <a:p>
            <a:r>
              <a:rPr lang="en-US" dirty="0"/>
              <a:t>The design also follows hexagonal architectural principles around external components.</a:t>
            </a:r>
          </a:p>
          <a:p>
            <a:r>
              <a:rPr lang="en-US" dirty="0"/>
              <a:t>The core application coordinates the workflow but does not depend directly on the internal details of document-processing tools, embedding models, or response-generation services.</a:t>
            </a:r>
          </a:p>
          <a:p>
            <a:r>
              <a:rPr lang="en-US" dirty="0"/>
              <a:t>These components are accessed through dedicated service boundaries. This reduces tight coupling and makes them easier to replace or extend.</a:t>
            </a:r>
          </a:p>
          <a:p>
            <a:r>
              <a:rPr lang="en-US" dirty="0"/>
              <a:t>Background queues were used to isolate long-running tasks, allowing document processing to continue without blocking the user interface.</a:t>
            </a:r>
          </a:p>
          <a:p>
            <a:r>
              <a:rPr lang="en-US" dirty="0"/>
              <a:t>Role-based access control was also applied to protect documents, conversations, and administrative functions.</a:t>
            </a:r>
          </a:p>
          <a:p>
            <a:r>
              <a:rPr lang="en-US" dirty="0"/>
              <a:t>Together, these decisions improved maintainability, testability, and separation of responsibilities.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project produced a clear specification and a maintainable design for an enterprise document retrieval system.</a:t>
            </a:r>
          </a:p>
          <a:p>
            <a:r>
              <a:rPr lang="en-US" dirty="0"/>
              <a:t>The requirements, user stories, architectural models, and database design provided a structured foundation for implementation.</a:t>
            </a:r>
          </a:p>
          <a:p>
            <a:r>
              <a:rPr lang="en-US" dirty="0"/>
              <a:t>The system supports secure document management, asynchronous processing, semantic retrieval, conversational question answering, and grounded responses with source references.</a:t>
            </a:r>
          </a:p>
          <a:p>
            <a:r>
              <a:rPr lang="en-US" dirty="0"/>
              <a:t>From a software engineering perspective, the most important outcome was the modular structure of the application.</a:t>
            </a:r>
          </a:p>
          <a:p>
            <a:r>
              <a:rPr lang="en-US" dirty="0"/>
              <a:t>The individual responsibilities are clearly separated, external components are accessed through service boundaries, and long-running tasks are handled in the background.</a:t>
            </a:r>
          </a:p>
          <a:p>
            <a:r>
              <a:rPr lang="en-US" dirty="0"/>
              <a:t>Overall, the project demonstrated how an enterprise knowledge-access problem can be translated into a practical and extensible software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my presentation on the software specification and design of the AI-powered enterprise document retrieval system.</a:t>
            </a:r>
          </a:p>
          <a:p>
            <a:r>
              <a:rPr lang="en-US" dirty="0"/>
              <a:t>Thank you very much for your attention.</a:t>
            </a:r>
          </a:p>
          <a:p>
            <a:r>
              <a:rPr lang="en-US" dirty="0"/>
              <a:t>I am happy to answer any questions regarding the requirements, architecture, data model, document-processing workflow, or the design decisions used in the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svg"/><Relationship Id="rId11" Type="http://schemas.openxmlformats.org/officeDocument/2006/relationships/image" Target="../media/image12.png"/><Relationship Id="rId5" Type="http://schemas.openxmlformats.org/officeDocument/2006/relationships/image" Target="../media/image7.svg"/><Relationship Id="rId10" Type="http://schemas.openxmlformats.org/officeDocument/2006/relationships/image" Target="../media/image11.png"/><Relationship Id="rId4" Type="http://schemas.openxmlformats.org/officeDocument/2006/relationships/image" Target="../media/image6.sv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svg"/><Relationship Id="rId10" Type="http://schemas.openxmlformats.org/officeDocument/2006/relationships/image" Target="../media/image11.png"/><Relationship Id="rId4" Type="http://schemas.openxmlformats.org/officeDocument/2006/relationships/image" Target="../media/image14.svg"/><Relationship Id="rId9"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7.svg"/></Relationships>
</file>

<file path=ppt/slides/_rels/slide5.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2.svg"/><Relationship Id="rId7" Type="http://schemas.openxmlformats.org/officeDocument/2006/relationships/image" Target="../media/image25.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svg"/><Relationship Id="rId5" Type="http://schemas.openxmlformats.org/officeDocument/2006/relationships/image" Target="../media/image24.svg"/><Relationship Id="rId4" Type="http://schemas.openxmlformats.org/officeDocument/2006/relationships/image" Target="../media/image23.sv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7.svg"/><Relationship Id="rId7" Type="http://schemas.openxmlformats.org/officeDocument/2006/relationships/image" Target="../media/image30.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9.svg"/><Relationship Id="rId11" Type="http://schemas.openxmlformats.org/officeDocument/2006/relationships/image" Target="../media/image11.png"/><Relationship Id="rId5" Type="http://schemas.openxmlformats.org/officeDocument/2006/relationships/image" Target="../media/image1.svg"/><Relationship Id="rId10" Type="http://schemas.openxmlformats.org/officeDocument/2006/relationships/image" Target="../media/image24.svg"/><Relationship Id="rId4" Type="http://schemas.openxmlformats.org/officeDocument/2006/relationships/image" Target="../media/image28.svg"/><Relationship Id="rId9" Type="http://schemas.openxmlformats.org/officeDocument/2006/relationships/image" Target="../media/image32.svg"/></Relationships>
</file>

<file path=ppt/slides/_rels/slide7.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3.sv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34.sv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6.svg"/><Relationship Id="rId7" Type="http://schemas.openxmlformats.org/officeDocument/2006/relationships/image" Target="../media/image39.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8.svg"/><Relationship Id="rId5" Type="http://schemas.openxmlformats.org/officeDocument/2006/relationships/image" Target="../media/image20.svg"/><Relationship Id="rId10" Type="http://schemas.openxmlformats.org/officeDocument/2006/relationships/image" Target="../media/image41.svg"/><Relationship Id="rId4" Type="http://schemas.openxmlformats.org/officeDocument/2006/relationships/image" Target="../media/image37.svg"/><Relationship Id="rId9" Type="http://schemas.openxmlformats.org/officeDocument/2006/relationships/image" Target="../media/image40.svg"/></Relationships>
</file>

<file path=ppt/slides/_rels/slide9.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2.sv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2.svg"/><Relationship Id="rId5" Type="http://schemas.openxmlformats.org/officeDocument/2006/relationships/image" Target="../media/image44.svg"/><Relationship Id="rId4" Type="http://schemas.openxmlformats.org/officeDocument/2006/relationships/image" Target="../media/image43.sv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6.svg"/><Relationship Id="rId7" Type="http://schemas.openxmlformats.org/officeDocument/2006/relationships/image" Target="../media/image10.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47.svg"/><Relationship Id="rId4" Type="http://schemas.openxmlformats.org/officeDocument/2006/relationships/image" Target="../media/image34.svg"/></Relationships>
</file>

<file path=ppt/slides/_rels/slide11.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B89F18-6475-489F-BA00-07CC8B6CFF3D}"/>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en-US" dirty="0"/>
          </a:p>
        </p:txBody>
      </p:sp>
      <p:sp>
        <p:nvSpPr>
          <p:cNvPr id="2" name="Rectangle 1">
            <a:extLst>
              <a:ext uri="{FF2B5EF4-FFF2-40B4-BE49-F238E27FC236}">
                <a16:creationId xmlns:a16="http://schemas.microsoft.com/office/drawing/2014/main" id="{D811ECE6-F12B-4325-8635-25C1473A2F06}"/>
              </a:ext>
            </a:extLst>
          </p:cNvPr>
          <p:cNvSpPr>
            <a:spLocks noGrp="1"/>
          </p:cNvSpPr>
          <p:nvPr/>
        </p:nvSpPr>
        <p:spPr>
          <a:xfrm>
            <a:off x="0" y="0"/>
            <a:ext cx="266700" cy="6858000"/>
          </a:xfrm>
          <a:prstGeom prst="rect">
            <a:avLst/>
          </a:prstGeom>
          <a:solidFill>
            <a:srgbClr val="00A3AD"/>
          </a:solidFill>
          <a:ln w="0">
            <a:solidFill>
              <a:srgbClr val="00A3AD"/>
            </a:solidFill>
            <a:prstDash val="solid"/>
          </a:ln>
        </p:spPr>
        <p:txBody>
          <a:bodyPr/>
          <a:lstStyle/>
          <a:p>
            <a:endParaRPr lang="en-US"/>
          </a:p>
        </p:txBody>
      </p:sp>
      <p:sp>
        <p:nvSpPr>
          <p:cNvPr id="3" name="Rectangle 2">
            <a:extLst>
              <a:ext uri="{FF2B5EF4-FFF2-40B4-BE49-F238E27FC236}">
                <a16:creationId xmlns:a16="http://schemas.microsoft.com/office/drawing/2014/main" id="{79930A18-717A-447B-A71B-F210FEB1290E}"/>
              </a:ext>
            </a:extLst>
          </p:cNvPr>
          <p:cNvSpPr>
            <a:spLocks noGrp="1"/>
          </p:cNvSpPr>
          <p:nvPr/>
        </p:nvSpPr>
        <p:spPr>
          <a:xfrm>
            <a:off x="266700" y="0"/>
            <a:ext cx="114300" cy="6858000"/>
          </a:xfrm>
          <a:prstGeom prst="rect">
            <a:avLst/>
          </a:prstGeom>
          <a:solidFill>
            <a:srgbClr val="0077B6"/>
          </a:solidFill>
          <a:ln w="0">
            <a:solidFill>
              <a:srgbClr val="0077B6"/>
            </a:solidFill>
            <a:prstDash val="solid"/>
          </a:ln>
        </p:spPr>
        <p:txBody>
          <a:bodyPr/>
          <a:lstStyle/>
          <a:p>
            <a:endParaRPr lang="en-US"/>
          </a:p>
        </p:txBody>
      </p:sp>
      <p:pic>
        <p:nvPicPr>
          <p:cNvPr id="17" name="Graphic 16"/>
          <p:cNvPicPr>
            <a:picLocks noChangeAspect="1"/>
          </p:cNvPicPr>
          <p:nvPr/>
        </p:nvPicPr>
        <p:blipFill>
          <a:blip>
            <a:extLst>
              <a:ext uri="{96DAC541-7B7A-43D3-8B79-37D633B846F1}">
                <asvg:svgBlip xmlns:asvg="http://schemas.microsoft.com/office/drawing/2016/SVG/main" r:embed="rId3"/>
              </a:ext>
            </a:extLst>
          </a:blip>
          <a:stretch/>
        </p:blipFill>
        <p:spPr>
          <a:xfrm>
            <a:off x="9906000" y="838200"/>
            <a:ext cx="685800" cy="685800"/>
          </a:xfrm>
          <a:prstGeom prst="rect">
            <a:avLst/>
          </a:prstGeom>
        </p:spPr>
      </p:pic>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668000" y="1695450"/>
            <a:ext cx="685800" cy="685800"/>
          </a:xfrm>
          <a:prstGeom prst="rect">
            <a:avLst/>
          </a:prstGeom>
        </p:spPr>
      </p:pic>
      <p:pic>
        <p:nvPicPr>
          <p:cNvPr id="19" name="Graphic 18"/>
          <p:cNvPicPr>
            <a:picLocks noChangeAspect="1"/>
          </p:cNvPicPr>
          <p:nvPr/>
        </p:nvPicPr>
        <p:blipFill>
          <a:blip>
            <a:extLst>
              <a:ext uri="{96DAC541-7B7A-43D3-8B79-37D633B846F1}">
                <asvg:svgBlip xmlns:asvg="http://schemas.microsoft.com/office/drawing/2016/SVG/main" r:embed="rId5"/>
              </a:ext>
            </a:extLst>
          </a:blip>
          <a:stretch/>
        </p:blipFill>
        <p:spPr>
          <a:xfrm>
            <a:off x="9791700" y="2590800"/>
            <a:ext cx="685800" cy="685800"/>
          </a:xfrm>
          <a:prstGeom prst="rect">
            <a:avLst/>
          </a:prstGeom>
        </p:spPr>
      </p:pic>
      <p:sp>
        <p:nvSpPr>
          <p:cNvPr id="7" name="Rectangle 6">
            <a:extLst>
              <a:ext uri="{FF2B5EF4-FFF2-40B4-BE49-F238E27FC236}">
                <a16:creationId xmlns:a16="http://schemas.microsoft.com/office/drawing/2014/main" id="{2B0F581E-6997-4907-9F30-7653AE4AF570}"/>
              </a:ext>
            </a:extLst>
          </p:cNvPr>
          <p:cNvSpPr>
            <a:spLocks noGrp="1"/>
          </p:cNvSpPr>
          <p:nvPr/>
        </p:nvSpPr>
        <p:spPr>
          <a:xfrm>
            <a:off x="876300" y="876300"/>
            <a:ext cx="4953000" cy="285750"/>
          </a:xfrm>
          <a:prstGeom prst="rect">
            <a:avLst/>
          </a:prstGeom>
          <a:noFill/>
          <a:ln w="0">
            <a:noFill/>
            <a:prstDash val="solid"/>
          </a:ln>
        </p:spPr>
        <p:txBody>
          <a:bodyPr/>
          <a:lstStyle/>
          <a:p>
            <a:pPr algn="l">
              <a:defRPr sz="1350" b="1">
                <a:solidFill>
                  <a:srgbClr val="009999"/>
                </a:solidFill>
              </a:defRPr>
            </a:pPr>
            <a:r>
              <a:rPr lang="de-DE" sz="1350" b="1" dirty="0">
                <a:solidFill>
                  <a:srgbClr val="009999"/>
                </a:solidFill>
              </a:rPr>
              <a:t>Software Specification and Design</a:t>
            </a:r>
            <a:r>
              <a:rPr sz="1350" b="1" dirty="0">
                <a:solidFill>
                  <a:srgbClr val="009999"/>
                </a:solidFill>
              </a:rPr>
              <a:t> Presentation</a:t>
            </a:r>
          </a:p>
        </p:txBody>
      </p:sp>
      <p:sp>
        <p:nvSpPr>
          <p:cNvPr id="8" name="Rectangle 7">
            <a:extLst>
              <a:ext uri="{FF2B5EF4-FFF2-40B4-BE49-F238E27FC236}">
                <a16:creationId xmlns:a16="http://schemas.microsoft.com/office/drawing/2014/main" id="{74574BF4-C352-46AF-986C-F7827C44E3CD}"/>
              </a:ext>
            </a:extLst>
          </p:cNvPr>
          <p:cNvSpPr>
            <a:spLocks noGrp="1"/>
          </p:cNvSpPr>
          <p:nvPr/>
        </p:nvSpPr>
        <p:spPr>
          <a:xfrm>
            <a:off x="876300" y="1485900"/>
            <a:ext cx="7239000" cy="1428750"/>
          </a:xfrm>
          <a:prstGeom prst="rect">
            <a:avLst/>
          </a:prstGeom>
          <a:noFill/>
          <a:ln w="0">
            <a:noFill/>
            <a:prstDash val="solid"/>
          </a:ln>
        </p:spPr>
        <p:txBody>
          <a:bodyPr/>
          <a:lstStyle/>
          <a:p>
            <a:pPr algn="l">
              <a:defRPr sz="4050" b="1">
                <a:solidFill>
                  <a:srgbClr val="083344"/>
                </a:solidFill>
              </a:defRPr>
            </a:pPr>
            <a:r>
              <a:rPr sz="4050" b="1" dirty="0">
                <a:solidFill>
                  <a:srgbClr val="083344"/>
                </a:solidFill>
              </a:rPr>
              <a:t>AI-Powered Enterprise</a:t>
            </a:r>
          </a:p>
          <a:p>
            <a:pPr algn="l">
              <a:defRPr sz="4050" b="1">
                <a:solidFill>
                  <a:srgbClr val="083344"/>
                </a:solidFill>
              </a:defRPr>
            </a:pPr>
            <a:r>
              <a:rPr sz="4050" b="1" dirty="0">
                <a:solidFill>
                  <a:srgbClr val="083344"/>
                </a:solidFill>
              </a:rPr>
              <a:t>Document Retrieval System</a:t>
            </a:r>
          </a:p>
        </p:txBody>
      </p:sp>
      <p:sp>
        <p:nvSpPr>
          <p:cNvPr id="9" name="Rectangle 8">
            <a:extLst>
              <a:ext uri="{FF2B5EF4-FFF2-40B4-BE49-F238E27FC236}">
                <a16:creationId xmlns:a16="http://schemas.microsoft.com/office/drawing/2014/main" id="{5049B815-38BA-40BF-8318-899AC1499561}"/>
              </a:ext>
            </a:extLst>
          </p:cNvPr>
          <p:cNvSpPr>
            <a:spLocks noGrp="1"/>
          </p:cNvSpPr>
          <p:nvPr/>
        </p:nvSpPr>
        <p:spPr>
          <a:xfrm>
            <a:off x="914400" y="3076575"/>
            <a:ext cx="6858000" cy="323850"/>
          </a:xfrm>
          <a:prstGeom prst="rect">
            <a:avLst/>
          </a:prstGeom>
          <a:noFill/>
          <a:ln w="0">
            <a:noFill/>
            <a:prstDash val="solid"/>
          </a:ln>
        </p:spPr>
        <p:txBody>
          <a:bodyPr/>
          <a:lstStyle/>
          <a:p>
            <a:pPr algn="l">
              <a:defRPr sz="1800" b="0">
                <a:solidFill>
                  <a:srgbClr val="5B6B78"/>
                </a:solidFill>
              </a:defRPr>
            </a:pPr>
            <a:r>
              <a:rPr sz="1800" b="0" dirty="0">
                <a:solidFill>
                  <a:srgbClr val="5B6B78"/>
                </a:solidFill>
              </a:rPr>
              <a:t>Enterprise RAG system for secure knowledge access</a:t>
            </a:r>
          </a:p>
        </p:txBody>
      </p:sp>
      <p:sp>
        <p:nvSpPr>
          <p:cNvPr id="10" name="Rectangle 9">
            <a:extLst>
              <a:ext uri="{FF2B5EF4-FFF2-40B4-BE49-F238E27FC236}">
                <a16:creationId xmlns:a16="http://schemas.microsoft.com/office/drawing/2014/main" id="{CC2C1759-94F0-4F97-9723-AF739D814D74}"/>
              </a:ext>
            </a:extLst>
          </p:cNvPr>
          <p:cNvSpPr>
            <a:spLocks noGrp="1"/>
          </p:cNvSpPr>
          <p:nvPr/>
        </p:nvSpPr>
        <p:spPr>
          <a:xfrm>
            <a:off x="914400" y="4114800"/>
            <a:ext cx="4762500" cy="304800"/>
          </a:xfrm>
          <a:prstGeom prst="rect">
            <a:avLst/>
          </a:prstGeom>
          <a:noFill/>
          <a:ln w="0">
            <a:noFill/>
            <a:prstDash val="solid"/>
          </a:ln>
        </p:spPr>
        <p:txBody>
          <a:bodyPr/>
          <a:lstStyle/>
          <a:p>
            <a:pPr algn="l">
              <a:defRPr sz="1650" b="1">
                <a:solidFill>
                  <a:srgbClr val="102A3A"/>
                </a:solidFill>
              </a:defRPr>
            </a:pPr>
            <a:r>
              <a:rPr sz="1650" b="1" dirty="0">
                <a:solidFill>
                  <a:srgbClr val="102A3A"/>
                </a:solidFill>
              </a:rPr>
              <a:t>Hof University of Applied Sciences</a:t>
            </a:r>
          </a:p>
        </p:txBody>
      </p:sp>
      <p:sp>
        <p:nvSpPr>
          <p:cNvPr id="11" name="Rectangle 10">
            <a:extLst>
              <a:ext uri="{FF2B5EF4-FFF2-40B4-BE49-F238E27FC236}">
                <a16:creationId xmlns:a16="http://schemas.microsoft.com/office/drawing/2014/main" id="{8D4442D9-FE67-4C16-851B-766827362503}"/>
              </a:ext>
            </a:extLst>
          </p:cNvPr>
          <p:cNvSpPr>
            <a:spLocks noGrp="1"/>
          </p:cNvSpPr>
          <p:nvPr/>
        </p:nvSpPr>
        <p:spPr>
          <a:xfrm>
            <a:off x="914400" y="4391025"/>
            <a:ext cx="5334000" cy="266700"/>
          </a:xfrm>
          <a:prstGeom prst="rect">
            <a:avLst/>
          </a:prstGeom>
          <a:noFill/>
          <a:ln w="0">
            <a:noFill/>
            <a:prstDash val="solid"/>
          </a:ln>
        </p:spPr>
        <p:txBody>
          <a:bodyPr/>
          <a:lstStyle/>
          <a:p>
            <a:pPr algn="l">
              <a:defRPr sz="1350" b="0">
                <a:solidFill>
                  <a:srgbClr val="5B6B78"/>
                </a:solidFill>
              </a:defRPr>
            </a:pPr>
            <a:r>
              <a:rPr sz="1350" b="0" dirty="0">
                <a:solidFill>
                  <a:srgbClr val="5B6B78"/>
                </a:solidFill>
              </a:rPr>
              <a:t>Software Engineering for Industrial Applications</a:t>
            </a:r>
          </a:p>
        </p:txBody>
      </p:sp>
      <p:sp>
        <p:nvSpPr>
          <p:cNvPr id="12" name="Rectangle 11">
            <a:extLst>
              <a:ext uri="{FF2B5EF4-FFF2-40B4-BE49-F238E27FC236}">
                <a16:creationId xmlns:a16="http://schemas.microsoft.com/office/drawing/2014/main" id="{3CE696EF-8D7D-4BD9-8555-D6CF74FBAECB}"/>
              </a:ext>
            </a:extLst>
          </p:cNvPr>
          <p:cNvSpPr>
            <a:spLocks noGrp="1"/>
          </p:cNvSpPr>
          <p:nvPr/>
        </p:nvSpPr>
        <p:spPr>
          <a:xfrm>
            <a:off x="914400" y="6430274"/>
            <a:ext cx="5905500" cy="228600"/>
          </a:xfrm>
          <a:prstGeom prst="rect">
            <a:avLst/>
          </a:prstGeom>
          <a:noFill/>
          <a:ln w="0">
            <a:noFill/>
            <a:prstDash val="solid"/>
          </a:ln>
        </p:spPr>
        <p:txBody>
          <a:bodyPr/>
          <a:lstStyle/>
          <a:p>
            <a:pPr>
              <a:defRPr sz="900" b="0">
                <a:solidFill>
                  <a:srgbClr val="5B6B78"/>
                </a:solidFill>
              </a:defRPr>
            </a:pPr>
            <a:r>
              <a:rPr sz="900" b="0" dirty="0">
                <a:solidFill>
                  <a:srgbClr val="5B6B78"/>
                </a:solidFill>
              </a:rPr>
              <a:t>AI-powered enterprise document retrieval system</a:t>
            </a:r>
            <a:r>
              <a:rPr lang="de-DE" sz="900" b="0" dirty="0">
                <a:solidFill>
                  <a:srgbClr val="5B6B78"/>
                </a:solidFill>
              </a:rPr>
              <a:t> </a:t>
            </a:r>
            <a:r>
              <a:rPr lang="en-US" sz="900" b="0" dirty="0">
                <a:solidFill>
                  <a:srgbClr val="5B6B78"/>
                </a:solidFill>
              </a:rPr>
              <a:t>|</a:t>
            </a:r>
            <a:r>
              <a:rPr lang="de-DE" sz="900" b="0" dirty="0">
                <a:solidFill>
                  <a:srgbClr val="5B6B78"/>
                </a:solidFill>
              </a:rPr>
              <a:t> Md Fahim Hossain </a:t>
            </a:r>
            <a:r>
              <a:rPr lang="en-US" sz="900" dirty="0">
                <a:solidFill>
                  <a:srgbClr val="5B6B78"/>
                </a:solidFill>
              </a:rPr>
              <a:t>| July 2026</a:t>
            </a:r>
            <a:r>
              <a:rPr lang="de-DE" sz="900" b="0" dirty="0">
                <a:solidFill>
                  <a:srgbClr val="5B6B78"/>
                </a:solidFill>
              </a:rPr>
              <a:t> </a:t>
            </a:r>
            <a:endParaRPr sz="900" b="0" dirty="0">
              <a:solidFill>
                <a:srgbClr val="5B6B78"/>
              </a:solidFill>
            </a:endParaRPr>
          </a:p>
        </p:txBody>
      </p:sp>
      <p:sp>
        <p:nvSpPr>
          <p:cNvPr id="13" name="Rectangle 12">
            <a:extLst>
              <a:ext uri="{FF2B5EF4-FFF2-40B4-BE49-F238E27FC236}">
                <a16:creationId xmlns:a16="http://schemas.microsoft.com/office/drawing/2014/main" id="{3CCAFDFA-93A3-472D-B406-A60EE64338EA}"/>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01 / 11</a:t>
            </a:r>
          </a:p>
        </p:txBody>
      </p:sp>
      <p:sp>
        <p:nvSpPr>
          <p:cNvPr id="21" name="Rectangle 20">
            <a:extLst>
              <a:ext uri="{FF2B5EF4-FFF2-40B4-BE49-F238E27FC236}">
                <a16:creationId xmlns:a16="http://schemas.microsoft.com/office/drawing/2014/main" id="{4EEE4452-BA94-A2A2-62C6-94C2827BB41E}"/>
              </a:ext>
            </a:extLst>
          </p:cNvPr>
          <p:cNvSpPr>
            <a:spLocks noGrp="1"/>
          </p:cNvSpPr>
          <p:nvPr/>
        </p:nvSpPr>
        <p:spPr>
          <a:xfrm>
            <a:off x="914400" y="4991100"/>
            <a:ext cx="3830320" cy="1162050"/>
          </a:xfrm>
          <a:prstGeom prst="rect">
            <a:avLst/>
          </a:prstGeom>
          <a:noFill/>
          <a:ln w="0">
            <a:noFill/>
            <a:prstDash val="solid"/>
          </a:ln>
        </p:spPr>
        <p:txBody>
          <a:bodyPr/>
          <a:lstStyle/>
          <a:p>
            <a:pPr algn="l">
              <a:defRPr sz="1650" b="1">
                <a:solidFill>
                  <a:srgbClr val="102A3A"/>
                </a:solidFill>
              </a:defRPr>
            </a:pPr>
            <a:r>
              <a:rPr lang="de-DE" sz="1650" b="1" dirty="0">
                <a:solidFill>
                  <a:srgbClr val="102A3A"/>
                </a:solidFill>
              </a:rPr>
              <a:t>Prepared By</a:t>
            </a:r>
          </a:p>
          <a:p>
            <a:pPr>
              <a:defRPr sz="1650" b="1">
                <a:solidFill>
                  <a:srgbClr val="102A3A"/>
                </a:solidFill>
              </a:defRPr>
            </a:pPr>
            <a:r>
              <a:rPr lang="de-DE" sz="1400" dirty="0">
                <a:solidFill>
                  <a:schemeClr val="tx1">
                    <a:lumMod val="65000"/>
                    <a:lumOff val="35000"/>
                  </a:schemeClr>
                </a:solidFill>
              </a:rPr>
              <a:t>Md Fahim Hossain</a:t>
            </a:r>
            <a:br>
              <a:rPr lang="de-DE" sz="1400" dirty="0">
                <a:solidFill>
                  <a:schemeClr val="tx1">
                    <a:lumMod val="65000"/>
                    <a:lumOff val="35000"/>
                  </a:schemeClr>
                </a:solidFill>
              </a:rPr>
            </a:br>
            <a:r>
              <a:rPr lang="de-DE" sz="1400" dirty="0">
                <a:solidFill>
                  <a:schemeClr val="tx1">
                    <a:lumMod val="65000"/>
                    <a:lumOff val="35000"/>
                  </a:schemeClr>
                </a:solidFill>
              </a:rPr>
              <a:t>Email: </a:t>
            </a:r>
            <a:r>
              <a:rPr lang="en-US" sz="1400" dirty="0">
                <a:solidFill>
                  <a:schemeClr val="tx1">
                    <a:lumMod val="65000"/>
                    <a:lumOff val="35000"/>
                  </a:schemeClr>
                </a:solidFill>
              </a:rPr>
              <a:t>md.hossain.4@hof-university.de</a:t>
            </a:r>
            <a:endParaRPr sz="1400" dirty="0">
              <a:solidFill>
                <a:schemeClr val="tx1">
                  <a:lumMod val="65000"/>
                  <a:lumOff val="35000"/>
                </a:schemeClr>
              </a:solidFill>
            </a:endParaRPr>
          </a:p>
        </p:txBody>
      </p:sp>
      <p:pic>
        <p:nvPicPr>
          <p:cNvPr id="5" name="Image 3" descr="A screen shot of a computer  AI-generated content may be incorrect.">
            <a:extLst>
              <a:ext uri="{FF2B5EF4-FFF2-40B4-BE49-F238E27FC236}">
                <a16:creationId xmlns:a16="http://schemas.microsoft.com/office/drawing/2014/main" id="{FF035ADA-1908-8C11-95EE-3A68EE1F4B7A}"/>
              </a:ext>
            </a:extLst>
          </p:cNvPr>
          <p:cNvPicPr/>
          <p:nvPr/>
        </p:nvPicPr>
        <p:blipFill>
          <a:blip r:embed="rId6" cstate="print"/>
          <a:stretch>
            <a:fillRect/>
          </a:stretch>
        </p:blipFill>
        <p:spPr>
          <a:xfrm>
            <a:off x="8426450" y="4000817"/>
            <a:ext cx="3644900" cy="2132965"/>
          </a:xfrm>
          <a:prstGeom prst="rect">
            <a:avLst/>
          </a:prstGeom>
        </p:spPr>
      </p:pic>
    </p:spTree>
    <p:extLst>
      <p:ext uri="{BB962C8B-B14F-4D97-AF65-F5344CB8AC3E}">
        <p14:creationId xmlns:p14="http://schemas.microsoft.com/office/powerpoint/2010/main" val="87704947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EAF30A-99FC-468E-A782-4EBC624EA044}"/>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73E6B712-C6EA-4F9E-93CD-FFCC8C678B1D}"/>
              </a:ext>
            </a:extLst>
          </p:cNvPr>
          <p:cNvSpPr>
            <a:spLocks noGrp="1"/>
          </p:cNvSpPr>
          <p:nvPr/>
        </p:nvSpPr>
        <p:spPr>
          <a:xfrm>
            <a:off x="685800" y="342900"/>
            <a:ext cx="4000500" cy="209550"/>
          </a:xfrm>
          <a:prstGeom prst="rect">
            <a:avLst/>
          </a:prstGeom>
          <a:noFill/>
          <a:ln w="0">
            <a:noFill/>
            <a:prstDash val="solid"/>
          </a:ln>
        </p:spPr>
        <p:txBody>
          <a:bodyPr/>
          <a:lstStyle/>
          <a:p>
            <a:pPr algn="l">
              <a:defRPr sz="900" b="1">
                <a:solidFill>
                  <a:srgbClr val="009999"/>
                </a:solidFill>
              </a:defRPr>
            </a:pPr>
            <a:r>
              <a:rPr sz="900" b="1">
                <a:solidFill>
                  <a:srgbClr val="009999"/>
                </a:solidFill>
              </a:rPr>
              <a:t>PRESENTATION CONTEXT</a:t>
            </a:r>
          </a:p>
        </p:txBody>
      </p:sp>
      <p:sp>
        <p:nvSpPr>
          <p:cNvPr id="3" name="Rectangle 2">
            <a:extLst>
              <a:ext uri="{FF2B5EF4-FFF2-40B4-BE49-F238E27FC236}">
                <a16:creationId xmlns:a16="http://schemas.microsoft.com/office/drawing/2014/main" id="{656C1282-BA18-4C1F-94EA-67A30A41321C}"/>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Agenda</a:t>
            </a:r>
          </a:p>
        </p:txBody>
      </p:sp>
      <p:sp>
        <p:nvSpPr>
          <p:cNvPr id="4" name="Rectangle: Rounded Corners 3">
            <a:extLst>
              <a:ext uri="{FF2B5EF4-FFF2-40B4-BE49-F238E27FC236}">
                <a16:creationId xmlns:a16="http://schemas.microsoft.com/office/drawing/2014/main" id="{08780189-FB8B-4EA9-B625-C373640D06AA}"/>
              </a:ext>
            </a:extLst>
          </p:cNvPr>
          <p:cNvSpPr>
            <a:spLocks noGrp="1"/>
          </p:cNvSpPr>
          <p:nvPr/>
        </p:nvSpPr>
        <p:spPr>
          <a:xfrm>
            <a:off x="780330" y="1364861"/>
            <a:ext cx="4286969" cy="530970"/>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1" name="Graphic 30"/>
          <p:cNvPicPr>
            <a:picLocks noChangeAspect="1"/>
          </p:cNvPicPr>
          <p:nvPr/>
        </p:nvPicPr>
        <p:blipFill>
          <a:blip>
            <a:extLst>
              <a:ext uri="{96DAC541-7B7A-43D3-8B79-37D633B846F1}">
                <asvg:svgBlip xmlns:asvg="http://schemas.microsoft.com/office/drawing/2016/SVG/main" r:embed="rId3"/>
              </a:ext>
            </a:extLst>
          </a:blip>
          <a:stretch/>
        </p:blipFill>
        <p:spPr>
          <a:xfrm>
            <a:off x="989881" y="1505401"/>
            <a:ext cx="304800" cy="304800"/>
          </a:xfrm>
          <a:prstGeom prst="rect">
            <a:avLst/>
          </a:prstGeom>
        </p:spPr>
      </p:pic>
      <p:sp>
        <p:nvSpPr>
          <p:cNvPr id="6" name="Rectangle 5">
            <a:extLst>
              <a:ext uri="{FF2B5EF4-FFF2-40B4-BE49-F238E27FC236}">
                <a16:creationId xmlns:a16="http://schemas.microsoft.com/office/drawing/2014/main" id="{42BAC1B1-99ED-492A-B403-D835DDEFBC63}"/>
              </a:ext>
            </a:extLst>
          </p:cNvPr>
          <p:cNvSpPr>
            <a:spLocks noGrp="1"/>
          </p:cNvSpPr>
          <p:nvPr/>
        </p:nvSpPr>
        <p:spPr>
          <a:xfrm>
            <a:off x="1447081" y="1468199"/>
            <a:ext cx="20002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1. </a:t>
            </a:r>
            <a:r>
              <a:rPr sz="1650" b="1" dirty="0">
                <a:solidFill>
                  <a:srgbClr val="083344"/>
                </a:solidFill>
              </a:rPr>
              <a:t>Company context</a:t>
            </a:r>
          </a:p>
        </p:txBody>
      </p:sp>
      <p:sp>
        <p:nvSpPr>
          <p:cNvPr id="7" name="Rectangle: Rounded Corners 6">
            <a:extLst>
              <a:ext uri="{FF2B5EF4-FFF2-40B4-BE49-F238E27FC236}">
                <a16:creationId xmlns:a16="http://schemas.microsoft.com/office/drawing/2014/main" id="{7781295E-8899-44CD-9E7C-33A54B252008}"/>
              </a:ext>
            </a:extLst>
          </p:cNvPr>
          <p:cNvSpPr>
            <a:spLocks noGrp="1"/>
          </p:cNvSpPr>
          <p:nvPr/>
        </p:nvSpPr>
        <p:spPr>
          <a:xfrm>
            <a:off x="789991" y="2032049"/>
            <a:ext cx="4286969" cy="530970"/>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4" name="Graphic 33"/>
          <p:cNvPicPr>
            <a:picLocks noChangeAspect="1"/>
          </p:cNvPicPr>
          <p:nvPr/>
        </p:nvPicPr>
        <p:blipFill>
          <a:blip>
            <a:extLst>
              <a:ext uri="{96DAC541-7B7A-43D3-8B79-37D633B846F1}">
                <asvg:svgBlip xmlns:asvg="http://schemas.microsoft.com/office/drawing/2016/SVG/main" r:embed="rId4"/>
              </a:ext>
            </a:extLst>
          </a:blip>
          <a:stretch/>
        </p:blipFill>
        <p:spPr>
          <a:xfrm>
            <a:off x="999542" y="2163963"/>
            <a:ext cx="304800" cy="304800"/>
          </a:xfrm>
          <a:prstGeom prst="rect">
            <a:avLst/>
          </a:prstGeom>
        </p:spPr>
      </p:pic>
      <p:sp>
        <p:nvSpPr>
          <p:cNvPr id="9" name="Rectangle 8">
            <a:extLst>
              <a:ext uri="{FF2B5EF4-FFF2-40B4-BE49-F238E27FC236}">
                <a16:creationId xmlns:a16="http://schemas.microsoft.com/office/drawing/2014/main" id="{9194A74B-0B93-420B-A90D-F08480166747}"/>
              </a:ext>
            </a:extLst>
          </p:cNvPr>
          <p:cNvSpPr>
            <a:spLocks noGrp="1"/>
          </p:cNvSpPr>
          <p:nvPr/>
        </p:nvSpPr>
        <p:spPr>
          <a:xfrm>
            <a:off x="1456742" y="2126761"/>
            <a:ext cx="20002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2. </a:t>
            </a:r>
            <a:r>
              <a:rPr sz="1650" b="1" dirty="0">
                <a:solidFill>
                  <a:srgbClr val="083344"/>
                </a:solidFill>
              </a:rPr>
              <a:t>Project story</a:t>
            </a:r>
          </a:p>
        </p:txBody>
      </p:sp>
      <p:sp>
        <p:nvSpPr>
          <p:cNvPr id="10" name="Rectangle: Rounded Corners 9">
            <a:extLst>
              <a:ext uri="{FF2B5EF4-FFF2-40B4-BE49-F238E27FC236}">
                <a16:creationId xmlns:a16="http://schemas.microsoft.com/office/drawing/2014/main" id="{F88B885C-64E0-4AF8-B709-02339E7F04C4}"/>
              </a:ext>
            </a:extLst>
          </p:cNvPr>
          <p:cNvSpPr>
            <a:spLocks noGrp="1"/>
          </p:cNvSpPr>
          <p:nvPr/>
        </p:nvSpPr>
        <p:spPr>
          <a:xfrm>
            <a:off x="789992" y="2694933"/>
            <a:ext cx="4286968" cy="530608"/>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7" name="Graphic 36"/>
          <p:cNvPicPr>
            <a:picLocks noChangeAspect="1"/>
          </p:cNvPicPr>
          <p:nvPr/>
        </p:nvPicPr>
        <p:blipFill>
          <a:blip>
            <a:extLst>
              <a:ext uri="{96DAC541-7B7A-43D3-8B79-37D633B846F1}">
                <asvg:svgBlip xmlns:asvg="http://schemas.microsoft.com/office/drawing/2016/SVG/main" r:embed="rId5"/>
              </a:ext>
            </a:extLst>
          </a:blip>
          <a:stretch/>
        </p:blipFill>
        <p:spPr>
          <a:xfrm>
            <a:off x="999542" y="2818222"/>
            <a:ext cx="304800" cy="304800"/>
          </a:xfrm>
          <a:prstGeom prst="rect">
            <a:avLst/>
          </a:prstGeom>
        </p:spPr>
      </p:pic>
      <p:sp>
        <p:nvSpPr>
          <p:cNvPr id="12" name="Rectangle 11">
            <a:extLst>
              <a:ext uri="{FF2B5EF4-FFF2-40B4-BE49-F238E27FC236}">
                <a16:creationId xmlns:a16="http://schemas.microsoft.com/office/drawing/2014/main" id="{F2B389BE-168A-4404-B410-242BECE39D5B}"/>
              </a:ext>
            </a:extLst>
          </p:cNvPr>
          <p:cNvSpPr>
            <a:spLocks noGrp="1"/>
          </p:cNvSpPr>
          <p:nvPr/>
        </p:nvSpPr>
        <p:spPr>
          <a:xfrm>
            <a:off x="1456742" y="2798273"/>
            <a:ext cx="20002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3. </a:t>
            </a:r>
            <a:r>
              <a:rPr sz="1650" b="1" dirty="0">
                <a:solidFill>
                  <a:srgbClr val="083344"/>
                </a:solidFill>
              </a:rPr>
              <a:t>User stories</a:t>
            </a:r>
          </a:p>
        </p:txBody>
      </p:sp>
      <p:sp>
        <p:nvSpPr>
          <p:cNvPr id="13" name="Rectangle: Rounded Corners 12">
            <a:extLst>
              <a:ext uri="{FF2B5EF4-FFF2-40B4-BE49-F238E27FC236}">
                <a16:creationId xmlns:a16="http://schemas.microsoft.com/office/drawing/2014/main" id="{6C108288-01B3-4969-A709-EBE5A1FF958E}"/>
              </a:ext>
            </a:extLst>
          </p:cNvPr>
          <p:cNvSpPr>
            <a:spLocks noGrp="1"/>
          </p:cNvSpPr>
          <p:nvPr/>
        </p:nvSpPr>
        <p:spPr>
          <a:xfrm>
            <a:off x="799655" y="3348830"/>
            <a:ext cx="4277305" cy="536009"/>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40" name="Graphic 39"/>
          <p:cNvPicPr>
            <a:picLocks noChangeAspect="1"/>
          </p:cNvPicPr>
          <p:nvPr/>
        </p:nvPicPr>
        <p:blipFill>
          <a:blip>
            <a:extLst>
              <a:ext uri="{96DAC541-7B7A-43D3-8B79-37D633B846F1}">
                <asvg:svgBlip xmlns:asvg="http://schemas.microsoft.com/office/drawing/2016/SVG/main" r:embed="rId6"/>
              </a:ext>
            </a:extLst>
          </a:blip>
          <a:stretch/>
        </p:blipFill>
        <p:spPr>
          <a:xfrm>
            <a:off x="1009206" y="3480744"/>
            <a:ext cx="304800" cy="304800"/>
          </a:xfrm>
          <a:prstGeom prst="rect">
            <a:avLst/>
          </a:prstGeom>
        </p:spPr>
      </p:pic>
      <p:sp>
        <p:nvSpPr>
          <p:cNvPr id="15" name="Rectangle 14">
            <a:extLst>
              <a:ext uri="{FF2B5EF4-FFF2-40B4-BE49-F238E27FC236}">
                <a16:creationId xmlns:a16="http://schemas.microsoft.com/office/drawing/2014/main" id="{DF49BEB0-7F1A-40BF-A824-554444699A84}"/>
              </a:ext>
            </a:extLst>
          </p:cNvPr>
          <p:cNvSpPr>
            <a:spLocks noGrp="1"/>
          </p:cNvSpPr>
          <p:nvPr/>
        </p:nvSpPr>
        <p:spPr>
          <a:xfrm>
            <a:off x="1466406" y="3452171"/>
            <a:ext cx="20002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4. </a:t>
            </a:r>
            <a:r>
              <a:rPr sz="1650" b="1" dirty="0">
                <a:solidFill>
                  <a:srgbClr val="083344"/>
                </a:solidFill>
              </a:rPr>
              <a:t>Requirements</a:t>
            </a:r>
          </a:p>
        </p:txBody>
      </p:sp>
      <p:sp>
        <p:nvSpPr>
          <p:cNvPr id="16" name="Rectangle: Rounded Corners 15">
            <a:extLst>
              <a:ext uri="{FF2B5EF4-FFF2-40B4-BE49-F238E27FC236}">
                <a16:creationId xmlns:a16="http://schemas.microsoft.com/office/drawing/2014/main" id="{36ED8C6C-77F8-4348-8959-EF5A74280C20}"/>
              </a:ext>
            </a:extLst>
          </p:cNvPr>
          <p:cNvSpPr>
            <a:spLocks noGrp="1"/>
          </p:cNvSpPr>
          <p:nvPr/>
        </p:nvSpPr>
        <p:spPr>
          <a:xfrm>
            <a:off x="799654" y="4025828"/>
            <a:ext cx="4277303" cy="526199"/>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43" name="Graphic 42"/>
          <p:cNvPicPr>
            <a:picLocks noChangeAspect="1"/>
          </p:cNvPicPr>
          <p:nvPr/>
        </p:nvPicPr>
        <p:blipFill>
          <a:blip>
            <a:extLst>
              <a:ext uri="{96DAC541-7B7A-43D3-8B79-37D633B846F1}">
                <asvg:svgBlip xmlns:asvg="http://schemas.microsoft.com/office/drawing/2016/SVG/main" r:embed="rId7"/>
              </a:ext>
            </a:extLst>
          </a:blip>
          <a:stretch/>
        </p:blipFill>
        <p:spPr>
          <a:xfrm>
            <a:off x="1009207" y="4154235"/>
            <a:ext cx="304800" cy="304800"/>
          </a:xfrm>
          <a:prstGeom prst="rect">
            <a:avLst/>
          </a:prstGeom>
        </p:spPr>
      </p:pic>
      <p:sp>
        <p:nvSpPr>
          <p:cNvPr id="18" name="Rectangle 17">
            <a:extLst>
              <a:ext uri="{FF2B5EF4-FFF2-40B4-BE49-F238E27FC236}">
                <a16:creationId xmlns:a16="http://schemas.microsoft.com/office/drawing/2014/main" id="{81C94F09-942E-46D6-A924-222FBC494924}"/>
              </a:ext>
            </a:extLst>
          </p:cNvPr>
          <p:cNvSpPr>
            <a:spLocks noGrp="1"/>
          </p:cNvSpPr>
          <p:nvPr/>
        </p:nvSpPr>
        <p:spPr>
          <a:xfrm>
            <a:off x="1466407" y="4134286"/>
            <a:ext cx="279748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5. System </a:t>
            </a:r>
            <a:r>
              <a:rPr sz="1650" b="1" dirty="0">
                <a:solidFill>
                  <a:srgbClr val="083344"/>
                </a:solidFill>
              </a:rPr>
              <a:t>architecture</a:t>
            </a:r>
          </a:p>
        </p:txBody>
      </p:sp>
      <p:sp>
        <p:nvSpPr>
          <p:cNvPr id="19" name="Rectangle: Rounded Corners 18">
            <a:extLst>
              <a:ext uri="{FF2B5EF4-FFF2-40B4-BE49-F238E27FC236}">
                <a16:creationId xmlns:a16="http://schemas.microsoft.com/office/drawing/2014/main" id="{AC6FDBF2-BA93-4535-ADF0-DC8CAE191BE0}"/>
              </a:ext>
            </a:extLst>
          </p:cNvPr>
          <p:cNvSpPr>
            <a:spLocks noGrp="1"/>
          </p:cNvSpPr>
          <p:nvPr/>
        </p:nvSpPr>
        <p:spPr>
          <a:xfrm>
            <a:off x="794666" y="4680434"/>
            <a:ext cx="4277302" cy="524863"/>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46" name="Graphic 45"/>
          <p:cNvPicPr>
            <a:picLocks noChangeAspect="1"/>
          </p:cNvPicPr>
          <p:nvPr/>
        </p:nvPicPr>
        <p:blipFill>
          <a:blip>
            <a:extLst>
              <a:ext uri="{96DAC541-7B7A-43D3-8B79-37D633B846F1}">
                <asvg:svgBlip xmlns:asvg="http://schemas.microsoft.com/office/drawing/2016/SVG/main" r:embed="rId8"/>
              </a:ext>
            </a:extLst>
          </a:blip>
          <a:stretch/>
        </p:blipFill>
        <p:spPr>
          <a:xfrm>
            <a:off x="1009205" y="4810473"/>
            <a:ext cx="304800" cy="304800"/>
          </a:xfrm>
          <a:prstGeom prst="rect">
            <a:avLst/>
          </a:prstGeom>
        </p:spPr>
      </p:pic>
      <p:sp>
        <p:nvSpPr>
          <p:cNvPr id="21" name="Rectangle 20">
            <a:extLst>
              <a:ext uri="{FF2B5EF4-FFF2-40B4-BE49-F238E27FC236}">
                <a16:creationId xmlns:a16="http://schemas.microsoft.com/office/drawing/2014/main" id="{C8885E05-177C-4E7C-8BD6-12312FBE9DAB}"/>
              </a:ext>
            </a:extLst>
          </p:cNvPr>
          <p:cNvSpPr>
            <a:spLocks noGrp="1"/>
          </p:cNvSpPr>
          <p:nvPr/>
        </p:nvSpPr>
        <p:spPr>
          <a:xfrm>
            <a:off x="1466405" y="4771474"/>
            <a:ext cx="23431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6. </a:t>
            </a:r>
            <a:r>
              <a:rPr sz="1650" b="1" dirty="0">
                <a:solidFill>
                  <a:srgbClr val="083344"/>
                </a:solidFill>
              </a:rPr>
              <a:t>Structure and</a:t>
            </a:r>
            <a:r>
              <a:rPr lang="de-DE" sz="1650" b="1" dirty="0">
                <a:solidFill>
                  <a:srgbClr val="083344"/>
                </a:solidFill>
              </a:rPr>
              <a:t> model</a:t>
            </a:r>
            <a:endParaRPr sz="1650" b="1" dirty="0">
              <a:solidFill>
                <a:srgbClr val="083344"/>
              </a:solidFill>
            </a:endParaRPr>
          </a:p>
        </p:txBody>
      </p:sp>
      <p:sp>
        <p:nvSpPr>
          <p:cNvPr id="22" name="Rectangle: Rounded Corners 21">
            <a:extLst>
              <a:ext uri="{FF2B5EF4-FFF2-40B4-BE49-F238E27FC236}">
                <a16:creationId xmlns:a16="http://schemas.microsoft.com/office/drawing/2014/main" id="{0AC4838B-D99D-48EC-8590-8816CA0A2DC5}"/>
              </a:ext>
            </a:extLst>
          </p:cNvPr>
          <p:cNvSpPr>
            <a:spLocks noGrp="1"/>
          </p:cNvSpPr>
          <p:nvPr/>
        </p:nvSpPr>
        <p:spPr>
          <a:xfrm>
            <a:off x="799653" y="5343312"/>
            <a:ext cx="4277302" cy="524863"/>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49" name="Graphic 48"/>
          <p:cNvPicPr>
            <a:picLocks noChangeAspect="1"/>
          </p:cNvPicPr>
          <p:nvPr/>
        </p:nvPicPr>
        <p:blipFill>
          <a:blip>
            <a:extLst>
              <a:ext uri="{96DAC541-7B7A-43D3-8B79-37D633B846F1}">
                <asvg:svgBlip xmlns:asvg="http://schemas.microsoft.com/office/drawing/2016/SVG/main" r:embed="rId9"/>
              </a:ext>
            </a:extLst>
          </a:blip>
          <a:stretch/>
        </p:blipFill>
        <p:spPr>
          <a:xfrm>
            <a:off x="1009204" y="5449346"/>
            <a:ext cx="304800" cy="304800"/>
          </a:xfrm>
          <a:prstGeom prst="rect">
            <a:avLst/>
          </a:prstGeom>
        </p:spPr>
      </p:pic>
      <p:sp>
        <p:nvSpPr>
          <p:cNvPr id="24" name="Rectangle 23">
            <a:extLst>
              <a:ext uri="{FF2B5EF4-FFF2-40B4-BE49-F238E27FC236}">
                <a16:creationId xmlns:a16="http://schemas.microsoft.com/office/drawing/2014/main" id="{2C4AFCC9-B5F4-4BA0-9D5B-F6A1BAAEA19F}"/>
              </a:ext>
            </a:extLst>
          </p:cNvPr>
          <p:cNvSpPr>
            <a:spLocks noGrp="1"/>
          </p:cNvSpPr>
          <p:nvPr/>
        </p:nvSpPr>
        <p:spPr>
          <a:xfrm>
            <a:off x="1466404" y="5429399"/>
            <a:ext cx="20002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7. </a:t>
            </a:r>
            <a:r>
              <a:rPr sz="1650" b="1" dirty="0">
                <a:solidFill>
                  <a:srgbClr val="083344"/>
                </a:solidFill>
              </a:rPr>
              <a:t>Design decisions</a:t>
            </a:r>
          </a:p>
        </p:txBody>
      </p:sp>
      <p:sp>
        <p:nvSpPr>
          <p:cNvPr id="25" name="Rectangle 24">
            <a:extLst>
              <a:ext uri="{FF2B5EF4-FFF2-40B4-BE49-F238E27FC236}">
                <a16:creationId xmlns:a16="http://schemas.microsoft.com/office/drawing/2014/main" id="{7ADCB45B-6512-4756-B4E6-65FED3FE4F55}"/>
              </a:ext>
            </a:extLst>
          </p:cNvPr>
          <p:cNvSpPr>
            <a:spLocks noGrp="1"/>
          </p:cNvSpPr>
          <p:nvPr/>
        </p:nvSpPr>
        <p:spPr>
          <a:xfrm>
            <a:off x="685800" y="6419850"/>
            <a:ext cx="5905500" cy="228600"/>
          </a:xfrm>
          <a:prstGeom prst="rect">
            <a:avLst/>
          </a:prstGeom>
          <a:noFill/>
          <a:ln w="0">
            <a:noFill/>
            <a:prstDash val="solid"/>
          </a:ln>
        </p:spPr>
        <p:txBody>
          <a:bodyPr/>
          <a:lstStyle/>
          <a:p>
            <a:pPr>
              <a:defRPr sz="900" b="0">
                <a:solidFill>
                  <a:srgbClr val="5B6B78"/>
                </a:solidFill>
              </a:defRPr>
            </a:pPr>
            <a:r>
              <a:rPr sz="900" b="0" dirty="0">
                <a:solidFill>
                  <a:srgbClr val="5B6B78"/>
                </a:solidFill>
              </a:rPr>
              <a:t>AI-powered enterprise document retrieval system</a:t>
            </a:r>
            <a:r>
              <a:rPr lang="de-DE" sz="900" b="0" dirty="0">
                <a:solidFill>
                  <a:srgbClr val="5B6B78"/>
                </a:solidFill>
              </a:rPr>
              <a:t> </a:t>
            </a:r>
            <a:r>
              <a:rPr lang="en-US" sz="900" dirty="0">
                <a:solidFill>
                  <a:srgbClr val="5B6B78"/>
                </a:solidFill>
              </a:rPr>
              <a:t>|</a:t>
            </a:r>
            <a:r>
              <a:rPr lang="de-DE" sz="900" dirty="0">
                <a:solidFill>
                  <a:srgbClr val="5B6B78"/>
                </a:solidFill>
              </a:rPr>
              <a:t> Md Fahim Hossain </a:t>
            </a:r>
            <a:r>
              <a:rPr lang="en-US" sz="900" dirty="0">
                <a:solidFill>
                  <a:srgbClr val="5B6B78"/>
                </a:solidFill>
              </a:rPr>
              <a:t>| July 2026</a:t>
            </a:r>
            <a:r>
              <a:rPr lang="de-DE" sz="900" dirty="0">
                <a:solidFill>
                  <a:srgbClr val="5B6B78"/>
                </a:solidFill>
              </a:rPr>
              <a:t> </a:t>
            </a:r>
            <a:endParaRPr sz="900" b="0" dirty="0">
              <a:solidFill>
                <a:srgbClr val="5B6B78"/>
              </a:solidFill>
            </a:endParaRPr>
          </a:p>
        </p:txBody>
      </p:sp>
      <p:sp>
        <p:nvSpPr>
          <p:cNvPr id="26" name="Rectangle 25">
            <a:extLst>
              <a:ext uri="{FF2B5EF4-FFF2-40B4-BE49-F238E27FC236}">
                <a16:creationId xmlns:a16="http://schemas.microsoft.com/office/drawing/2014/main" id="{2EAC977B-F0D6-4ECE-B141-EE9005A4C878}"/>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02 / 11</a:t>
            </a:r>
          </a:p>
        </p:txBody>
      </p:sp>
      <p:pic>
        <p:nvPicPr>
          <p:cNvPr id="11" name="Picture 10">
            <a:extLst>
              <a:ext uri="{FF2B5EF4-FFF2-40B4-BE49-F238E27FC236}">
                <a16:creationId xmlns:a16="http://schemas.microsoft.com/office/drawing/2014/main" id="{AD064697-FAB0-2827-97B7-3C4ABB8DCA5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pic>
        <p:nvPicPr>
          <p:cNvPr id="27" name="Picture 26">
            <a:extLst>
              <a:ext uri="{FF2B5EF4-FFF2-40B4-BE49-F238E27FC236}">
                <a16:creationId xmlns:a16="http://schemas.microsoft.com/office/drawing/2014/main" id="{663942CE-5B71-1538-8700-BEA60C5B1E4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987831" y="1650483"/>
            <a:ext cx="5016937" cy="3889125"/>
          </a:xfrm>
          <a:prstGeom prst="rect">
            <a:avLst/>
          </a:prstGeom>
        </p:spPr>
      </p:pic>
    </p:spTree>
    <p:extLst>
      <p:ext uri="{BB962C8B-B14F-4D97-AF65-F5344CB8AC3E}">
        <p14:creationId xmlns:p14="http://schemas.microsoft.com/office/powerpoint/2010/main" val="176103262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7F3B846-E6B0-4320-A1CA-D5267E2EF278}"/>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42C5CF62-AE2C-41C7-B0C2-6624F38D3B60}"/>
              </a:ext>
            </a:extLst>
          </p:cNvPr>
          <p:cNvSpPr>
            <a:spLocks noGrp="1"/>
          </p:cNvSpPr>
          <p:nvPr/>
        </p:nvSpPr>
        <p:spPr>
          <a:xfrm>
            <a:off x="685800" y="342900"/>
            <a:ext cx="4000500" cy="209550"/>
          </a:xfrm>
          <a:prstGeom prst="rect">
            <a:avLst/>
          </a:prstGeom>
          <a:noFill/>
          <a:ln w="0">
            <a:noFill/>
            <a:prstDash val="solid"/>
          </a:ln>
        </p:spPr>
        <p:txBody>
          <a:bodyPr/>
          <a:lstStyle/>
          <a:p>
            <a:pPr algn="l">
              <a:defRPr sz="900" b="1">
                <a:solidFill>
                  <a:srgbClr val="009999"/>
                </a:solidFill>
              </a:defRPr>
            </a:pPr>
            <a:r>
              <a:rPr lang="de-DE" sz="900" b="1" dirty="0">
                <a:solidFill>
                  <a:srgbClr val="009999"/>
                </a:solidFill>
              </a:rPr>
              <a:t>INTRODUCTION</a:t>
            </a:r>
            <a:endParaRPr sz="900" b="1" dirty="0">
              <a:solidFill>
                <a:srgbClr val="009999"/>
              </a:solidFill>
            </a:endParaRPr>
          </a:p>
        </p:txBody>
      </p:sp>
      <p:sp>
        <p:nvSpPr>
          <p:cNvPr id="3" name="Rectangle 2">
            <a:extLst>
              <a:ext uri="{FF2B5EF4-FFF2-40B4-BE49-F238E27FC236}">
                <a16:creationId xmlns:a16="http://schemas.microsoft.com/office/drawing/2014/main" id="{54CD0994-AAC3-4AEF-B815-30845958A97A}"/>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Company Context</a:t>
            </a:r>
          </a:p>
        </p:txBody>
      </p:sp>
      <p:sp>
        <p:nvSpPr>
          <p:cNvPr id="4" name="Rectangle: Rounded Corners 3">
            <a:extLst>
              <a:ext uri="{FF2B5EF4-FFF2-40B4-BE49-F238E27FC236}">
                <a16:creationId xmlns:a16="http://schemas.microsoft.com/office/drawing/2014/main" id="{B56FC5E5-6BB4-485A-B7BC-EFBC720EF4C7}"/>
              </a:ext>
            </a:extLst>
          </p:cNvPr>
          <p:cNvSpPr>
            <a:spLocks noGrp="1"/>
          </p:cNvSpPr>
          <p:nvPr/>
        </p:nvSpPr>
        <p:spPr>
          <a:xfrm>
            <a:off x="781050" y="1504950"/>
            <a:ext cx="4762500" cy="1162050"/>
          </a:xfrm>
          <a:prstGeom prst="roundRect">
            <a:avLst>
              <a:gd name="adj" fmla="val 98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5" name="Oval 4">
            <a:extLst>
              <a:ext uri="{FF2B5EF4-FFF2-40B4-BE49-F238E27FC236}">
                <a16:creationId xmlns:a16="http://schemas.microsoft.com/office/drawing/2014/main" id="{FBBD302E-5607-402C-ABA0-412EC6CAC0BB}"/>
              </a:ext>
            </a:extLst>
          </p:cNvPr>
          <p:cNvSpPr>
            <a:spLocks noGrp="1"/>
          </p:cNvSpPr>
          <p:nvPr/>
        </p:nvSpPr>
        <p:spPr>
          <a:xfrm>
            <a:off x="990600" y="1771650"/>
            <a:ext cx="495300" cy="495300"/>
          </a:xfrm>
          <a:prstGeom prst="ellipse">
            <a:avLst/>
          </a:prstGeom>
          <a:solidFill>
            <a:srgbClr val="EAF7FB"/>
          </a:solidFill>
          <a:ln w="0">
            <a:solidFill>
              <a:srgbClr val="EAF7FB"/>
            </a:solidFill>
            <a:prstDash val="solid"/>
          </a:ln>
        </p:spPr>
        <p:txBody>
          <a:bodyPr/>
          <a:lstStyle/>
          <a:p>
            <a:endParaRPr lang="en-US"/>
          </a:p>
        </p:txBody>
      </p:sp>
      <p:pic>
        <p:nvPicPr>
          <p:cNvPr id="40" name="Graphic 39"/>
          <p:cNvPicPr>
            <a:picLocks noChangeAspect="1"/>
          </p:cNvPicPr>
          <p:nvPr/>
        </p:nvPicPr>
        <p:blipFill>
          <a:blip>
            <a:extLst>
              <a:ext uri="{96DAC541-7B7A-43D3-8B79-37D633B846F1}">
                <asvg:svgBlip xmlns:asvg="http://schemas.microsoft.com/office/drawing/2016/SVG/main" r:embed="rId3"/>
              </a:ext>
            </a:extLst>
          </a:blip>
          <a:stretch/>
        </p:blipFill>
        <p:spPr>
          <a:xfrm>
            <a:off x="1114425" y="1895475"/>
            <a:ext cx="247650" cy="247650"/>
          </a:xfrm>
          <a:prstGeom prst="rect">
            <a:avLst/>
          </a:prstGeom>
        </p:spPr>
      </p:pic>
      <p:sp>
        <p:nvSpPr>
          <p:cNvPr id="7" name="Rectangle 6">
            <a:extLst>
              <a:ext uri="{FF2B5EF4-FFF2-40B4-BE49-F238E27FC236}">
                <a16:creationId xmlns:a16="http://schemas.microsoft.com/office/drawing/2014/main" id="{50DE9D14-3B19-4063-98E1-7717EE799FC2}"/>
              </a:ext>
            </a:extLst>
          </p:cNvPr>
          <p:cNvSpPr>
            <a:spLocks noGrp="1"/>
          </p:cNvSpPr>
          <p:nvPr/>
        </p:nvSpPr>
        <p:spPr>
          <a:xfrm>
            <a:off x="1676400" y="1733550"/>
            <a:ext cx="3657600" cy="285750"/>
          </a:xfrm>
          <a:prstGeom prst="rect">
            <a:avLst/>
          </a:prstGeom>
          <a:noFill/>
          <a:ln w="0">
            <a:noFill/>
            <a:prstDash val="solid"/>
          </a:ln>
        </p:spPr>
        <p:txBody>
          <a:bodyPr/>
          <a:lstStyle/>
          <a:p>
            <a:pPr algn="l">
              <a:defRPr sz="1575" b="1">
                <a:solidFill>
                  <a:srgbClr val="083344"/>
                </a:solidFill>
              </a:defRPr>
            </a:pPr>
            <a:r>
              <a:rPr sz="1575" b="1">
                <a:solidFill>
                  <a:srgbClr val="083344"/>
                </a:solidFill>
              </a:rPr>
              <a:t>Siemens Energy</a:t>
            </a:r>
          </a:p>
        </p:txBody>
      </p:sp>
      <p:sp>
        <p:nvSpPr>
          <p:cNvPr id="8" name="Rectangle 7">
            <a:extLst>
              <a:ext uri="{FF2B5EF4-FFF2-40B4-BE49-F238E27FC236}">
                <a16:creationId xmlns:a16="http://schemas.microsoft.com/office/drawing/2014/main" id="{EF21B9B1-97D0-4D33-9C96-1A82C79B9492}"/>
              </a:ext>
            </a:extLst>
          </p:cNvPr>
          <p:cNvSpPr>
            <a:spLocks noGrp="1"/>
          </p:cNvSpPr>
          <p:nvPr/>
        </p:nvSpPr>
        <p:spPr>
          <a:xfrm>
            <a:off x="1676400" y="2066925"/>
            <a:ext cx="3657600" cy="514350"/>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Industrial digitalization environment</a:t>
            </a:r>
          </a:p>
        </p:txBody>
      </p:sp>
      <p:sp>
        <p:nvSpPr>
          <p:cNvPr id="9" name="Rectangle: Rounded Corners 8">
            <a:extLst>
              <a:ext uri="{FF2B5EF4-FFF2-40B4-BE49-F238E27FC236}">
                <a16:creationId xmlns:a16="http://schemas.microsoft.com/office/drawing/2014/main" id="{EC8C1010-94A6-41EC-8335-A2EDFA45BC41}"/>
              </a:ext>
            </a:extLst>
          </p:cNvPr>
          <p:cNvSpPr>
            <a:spLocks noGrp="1"/>
          </p:cNvSpPr>
          <p:nvPr/>
        </p:nvSpPr>
        <p:spPr>
          <a:xfrm>
            <a:off x="781050" y="2914650"/>
            <a:ext cx="4762500" cy="1162050"/>
          </a:xfrm>
          <a:prstGeom prst="roundRect">
            <a:avLst>
              <a:gd name="adj" fmla="val 98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0" name="Oval 9">
            <a:extLst>
              <a:ext uri="{FF2B5EF4-FFF2-40B4-BE49-F238E27FC236}">
                <a16:creationId xmlns:a16="http://schemas.microsoft.com/office/drawing/2014/main" id="{71EB08F1-97E1-4DAE-99B0-F1E4FA5D90A6}"/>
              </a:ext>
            </a:extLst>
          </p:cNvPr>
          <p:cNvSpPr>
            <a:spLocks noGrp="1"/>
          </p:cNvSpPr>
          <p:nvPr/>
        </p:nvSpPr>
        <p:spPr>
          <a:xfrm>
            <a:off x="990600" y="3181350"/>
            <a:ext cx="495300" cy="495300"/>
          </a:xfrm>
          <a:prstGeom prst="ellipse">
            <a:avLst/>
          </a:prstGeom>
          <a:solidFill>
            <a:srgbClr val="EAF7FB"/>
          </a:solidFill>
          <a:ln w="0">
            <a:solidFill>
              <a:srgbClr val="EAF7FB"/>
            </a:solidFill>
            <a:prstDash val="solid"/>
          </a:ln>
        </p:spPr>
        <p:txBody>
          <a:bodyPr/>
          <a:lstStyle/>
          <a:p>
            <a:endParaRPr lang="en-US"/>
          </a:p>
        </p:txBody>
      </p:sp>
      <p:pic>
        <p:nvPicPr>
          <p:cNvPr id="45" name="Graphic 44"/>
          <p:cNvPicPr>
            <a:picLocks noChangeAspect="1"/>
          </p:cNvPicPr>
          <p:nvPr/>
        </p:nvPicPr>
        <p:blipFill>
          <a:blip>
            <a:extLst>
              <a:ext uri="{96DAC541-7B7A-43D3-8B79-37D633B846F1}">
                <asvg:svgBlip xmlns:asvg="http://schemas.microsoft.com/office/drawing/2016/SVG/main" r:embed="rId4"/>
              </a:ext>
            </a:extLst>
          </a:blip>
          <a:stretch/>
        </p:blipFill>
        <p:spPr>
          <a:xfrm>
            <a:off x="1114425" y="3305175"/>
            <a:ext cx="247650" cy="247650"/>
          </a:xfrm>
          <a:prstGeom prst="rect">
            <a:avLst/>
          </a:prstGeom>
        </p:spPr>
      </p:pic>
      <p:sp>
        <p:nvSpPr>
          <p:cNvPr id="12" name="Rectangle 11">
            <a:extLst>
              <a:ext uri="{FF2B5EF4-FFF2-40B4-BE49-F238E27FC236}">
                <a16:creationId xmlns:a16="http://schemas.microsoft.com/office/drawing/2014/main" id="{C6A9A74A-F6A9-4FA7-A503-056C9E59A05E}"/>
              </a:ext>
            </a:extLst>
          </p:cNvPr>
          <p:cNvSpPr>
            <a:spLocks noGrp="1"/>
          </p:cNvSpPr>
          <p:nvPr/>
        </p:nvSpPr>
        <p:spPr>
          <a:xfrm>
            <a:off x="1676400" y="3143250"/>
            <a:ext cx="3657600" cy="285750"/>
          </a:xfrm>
          <a:prstGeom prst="rect">
            <a:avLst/>
          </a:prstGeom>
          <a:noFill/>
          <a:ln w="0">
            <a:noFill/>
            <a:prstDash val="solid"/>
          </a:ln>
        </p:spPr>
        <p:txBody>
          <a:bodyPr/>
          <a:lstStyle/>
          <a:p>
            <a:pPr algn="l">
              <a:defRPr sz="1575" b="1">
                <a:solidFill>
                  <a:srgbClr val="083344"/>
                </a:solidFill>
              </a:defRPr>
            </a:pPr>
            <a:r>
              <a:rPr sz="1575" b="1">
                <a:solidFill>
                  <a:srgbClr val="083344"/>
                </a:solidFill>
              </a:rPr>
              <a:t>SE GT DG OE</a:t>
            </a:r>
          </a:p>
        </p:txBody>
      </p:sp>
      <p:sp>
        <p:nvSpPr>
          <p:cNvPr id="13" name="Rectangle 12">
            <a:extLst>
              <a:ext uri="{FF2B5EF4-FFF2-40B4-BE49-F238E27FC236}">
                <a16:creationId xmlns:a16="http://schemas.microsoft.com/office/drawing/2014/main" id="{151B0213-D106-4012-813D-7BCE1A45438C}"/>
              </a:ext>
            </a:extLst>
          </p:cNvPr>
          <p:cNvSpPr>
            <a:spLocks noGrp="1"/>
          </p:cNvSpPr>
          <p:nvPr/>
        </p:nvSpPr>
        <p:spPr>
          <a:xfrm>
            <a:off x="1676400" y="3476625"/>
            <a:ext cx="3657600" cy="514350"/>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Department supporting digital solutions</a:t>
            </a:r>
          </a:p>
        </p:txBody>
      </p:sp>
      <p:sp>
        <p:nvSpPr>
          <p:cNvPr id="14" name="Rectangle: Rounded Corners 13">
            <a:extLst>
              <a:ext uri="{FF2B5EF4-FFF2-40B4-BE49-F238E27FC236}">
                <a16:creationId xmlns:a16="http://schemas.microsoft.com/office/drawing/2014/main" id="{CF4BAB79-314E-437E-B013-DBE3E5DA5324}"/>
              </a:ext>
            </a:extLst>
          </p:cNvPr>
          <p:cNvSpPr>
            <a:spLocks noGrp="1"/>
          </p:cNvSpPr>
          <p:nvPr/>
        </p:nvSpPr>
        <p:spPr>
          <a:xfrm>
            <a:off x="781050" y="4324350"/>
            <a:ext cx="4762500" cy="1162050"/>
          </a:xfrm>
          <a:prstGeom prst="roundRect">
            <a:avLst>
              <a:gd name="adj" fmla="val 98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5" name="Oval 14">
            <a:extLst>
              <a:ext uri="{FF2B5EF4-FFF2-40B4-BE49-F238E27FC236}">
                <a16:creationId xmlns:a16="http://schemas.microsoft.com/office/drawing/2014/main" id="{172625BF-C263-4522-9038-4CCDA5D94F24}"/>
              </a:ext>
            </a:extLst>
          </p:cNvPr>
          <p:cNvSpPr>
            <a:spLocks noGrp="1"/>
          </p:cNvSpPr>
          <p:nvPr/>
        </p:nvSpPr>
        <p:spPr>
          <a:xfrm>
            <a:off x="990600" y="4591050"/>
            <a:ext cx="495300" cy="495300"/>
          </a:xfrm>
          <a:prstGeom prst="ellipse">
            <a:avLst/>
          </a:prstGeom>
          <a:solidFill>
            <a:srgbClr val="EAF7FB"/>
          </a:solidFill>
          <a:ln w="0">
            <a:solidFill>
              <a:srgbClr val="EAF7FB"/>
            </a:solidFill>
            <a:prstDash val="solid"/>
          </a:ln>
        </p:spPr>
        <p:txBody>
          <a:bodyPr/>
          <a:lstStyle/>
          <a:p>
            <a:endParaRPr lang="en-US"/>
          </a:p>
        </p:txBody>
      </p:sp>
      <p:pic>
        <p:nvPicPr>
          <p:cNvPr id="50" name="Graphic 49"/>
          <p:cNvPicPr>
            <a:picLocks noChangeAspect="1"/>
          </p:cNvPicPr>
          <p:nvPr/>
        </p:nvPicPr>
        <p:blipFill>
          <a:blip>
            <a:extLst>
              <a:ext uri="{96DAC541-7B7A-43D3-8B79-37D633B846F1}">
                <asvg:svgBlip xmlns:asvg="http://schemas.microsoft.com/office/drawing/2016/SVG/main" r:embed="rId5"/>
              </a:ext>
            </a:extLst>
          </a:blip>
          <a:stretch/>
        </p:blipFill>
        <p:spPr>
          <a:xfrm>
            <a:off x="1114425" y="4714875"/>
            <a:ext cx="247650" cy="247650"/>
          </a:xfrm>
          <a:prstGeom prst="rect">
            <a:avLst/>
          </a:prstGeom>
        </p:spPr>
      </p:pic>
      <p:sp>
        <p:nvSpPr>
          <p:cNvPr id="17" name="Rectangle 16">
            <a:extLst>
              <a:ext uri="{FF2B5EF4-FFF2-40B4-BE49-F238E27FC236}">
                <a16:creationId xmlns:a16="http://schemas.microsoft.com/office/drawing/2014/main" id="{1D8E1757-8661-4244-9E4F-965CECB551E0}"/>
              </a:ext>
            </a:extLst>
          </p:cNvPr>
          <p:cNvSpPr>
            <a:spLocks noGrp="1"/>
          </p:cNvSpPr>
          <p:nvPr/>
        </p:nvSpPr>
        <p:spPr>
          <a:xfrm>
            <a:off x="1676400" y="4552950"/>
            <a:ext cx="36576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Internship Role</a:t>
            </a:r>
          </a:p>
        </p:txBody>
      </p:sp>
      <p:sp>
        <p:nvSpPr>
          <p:cNvPr id="18" name="Rectangle 17">
            <a:extLst>
              <a:ext uri="{FF2B5EF4-FFF2-40B4-BE49-F238E27FC236}">
                <a16:creationId xmlns:a16="http://schemas.microsoft.com/office/drawing/2014/main" id="{73F0CACA-8BCF-42C3-B6F0-2791D8A0E559}"/>
              </a:ext>
            </a:extLst>
          </p:cNvPr>
          <p:cNvSpPr>
            <a:spLocks noGrp="1"/>
          </p:cNvSpPr>
          <p:nvPr/>
        </p:nvSpPr>
        <p:spPr>
          <a:xfrm>
            <a:off x="1676400" y="4886325"/>
            <a:ext cx="3657600" cy="514350"/>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Software engineering and</a:t>
            </a:r>
            <a:r>
              <a:rPr lang="de-DE" sz="1400" b="0" dirty="0">
                <a:solidFill>
                  <a:srgbClr val="5B6B78"/>
                </a:solidFill>
              </a:rPr>
              <a:t> digitalization</a:t>
            </a:r>
            <a:endParaRPr sz="1400" b="0" dirty="0">
              <a:solidFill>
                <a:srgbClr val="5B6B78"/>
              </a:solidFill>
            </a:endParaRPr>
          </a:p>
        </p:txBody>
      </p:sp>
      <p:sp>
        <p:nvSpPr>
          <p:cNvPr id="19" name="Rectangle: Rounded Corners 18">
            <a:extLst>
              <a:ext uri="{FF2B5EF4-FFF2-40B4-BE49-F238E27FC236}">
                <a16:creationId xmlns:a16="http://schemas.microsoft.com/office/drawing/2014/main" id="{CE940C52-4AE6-45E5-8267-AC3AC3FCC3E1}"/>
              </a:ext>
            </a:extLst>
          </p:cNvPr>
          <p:cNvSpPr>
            <a:spLocks noGrp="1"/>
          </p:cNvSpPr>
          <p:nvPr/>
        </p:nvSpPr>
        <p:spPr>
          <a:xfrm>
            <a:off x="6191250" y="1619250"/>
            <a:ext cx="4762500" cy="3581400"/>
          </a:xfrm>
          <a:prstGeom prst="roundRect">
            <a:avLst>
              <a:gd name="adj" fmla="val 3191"/>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0" name="Rectangle 19">
            <a:extLst>
              <a:ext uri="{FF2B5EF4-FFF2-40B4-BE49-F238E27FC236}">
                <a16:creationId xmlns:a16="http://schemas.microsoft.com/office/drawing/2014/main" id="{8B8F13A1-8EED-4EF6-8504-73AF4F957410}"/>
              </a:ext>
            </a:extLst>
          </p:cNvPr>
          <p:cNvSpPr>
            <a:spLocks noGrp="1"/>
          </p:cNvSpPr>
          <p:nvPr/>
        </p:nvSpPr>
        <p:spPr>
          <a:xfrm>
            <a:off x="6629400" y="2019300"/>
            <a:ext cx="3429000" cy="304800"/>
          </a:xfrm>
          <a:prstGeom prst="rect">
            <a:avLst/>
          </a:prstGeom>
          <a:noFill/>
          <a:ln w="0">
            <a:noFill/>
            <a:prstDash val="solid"/>
          </a:ln>
        </p:spPr>
        <p:txBody>
          <a:bodyPr/>
          <a:lstStyle/>
          <a:p>
            <a:pPr algn="l">
              <a:defRPr sz="2100" b="1">
                <a:solidFill>
                  <a:srgbClr val="083344"/>
                </a:solidFill>
              </a:defRPr>
            </a:pPr>
            <a:r>
              <a:rPr sz="2100" b="1" dirty="0">
                <a:solidFill>
                  <a:srgbClr val="083344"/>
                </a:solidFill>
              </a:rPr>
              <a:t>Project </a:t>
            </a:r>
            <a:r>
              <a:rPr lang="de-DE" sz="2100" b="1" dirty="0">
                <a:solidFill>
                  <a:srgbClr val="083344"/>
                </a:solidFill>
              </a:rPr>
              <a:t>Scope</a:t>
            </a:r>
            <a:endParaRPr sz="2100" b="1" dirty="0">
              <a:solidFill>
                <a:srgbClr val="083344"/>
              </a:solidFill>
            </a:endParaRPr>
          </a:p>
        </p:txBody>
      </p:sp>
      <p:sp>
        <p:nvSpPr>
          <p:cNvPr id="21" name="Rectangle: Rounded Corners 20">
            <a:extLst>
              <a:ext uri="{FF2B5EF4-FFF2-40B4-BE49-F238E27FC236}">
                <a16:creationId xmlns:a16="http://schemas.microsoft.com/office/drawing/2014/main" id="{87C400D3-2AF3-4023-85F5-EA748DD77F3A}"/>
              </a:ext>
            </a:extLst>
          </p:cNvPr>
          <p:cNvSpPr>
            <a:spLocks noGrp="1"/>
          </p:cNvSpPr>
          <p:nvPr/>
        </p:nvSpPr>
        <p:spPr>
          <a:xfrm>
            <a:off x="6667500" y="2609850"/>
            <a:ext cx="35242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56" name="Graphic 55"/>
          <p:cNvPicPr>
            <a:picLocks noChangeAspect="1"/>
          </p:cNvPicPr>
          <p:nvPr/>
        </p:nvPicPr>
        <p:blipFill>
          <a:blip>
            <a:extLst>
              <a:ext uri="{96DAC541-7B7A-43D3-8B79-37D633B846F1}">
                <asvg:svgBlip xmlns:asvg="http://schemas.microsoft.com/office/drawing/2016/SVG/main" r:embed="rId6"/>
              </a:ext>
            </a:extLst>
          </a:blip>
          <a:stretch/>
        </p:blipFill>
        <p:spPr>
          <a:xfrm>
            <a:off x="6819900" y="2724150"/>
            <a:ext cx="228600" cy="228600"/>
          </a:xfrm>
          <a:prstGeom prst="rect">
            <a:avLst/>
          </a:prstGeom>
        </p:spPr>
      </p:pic>
      <p:sp>
        <p:nvSpPr>
          <p:cNvPr id="23" name="Rectangle 22">
            <a:extLst>
              <a:ext uri="{FF2B5EF4-FFF2-40B4-BE49-F238E27FC236}">
                <a16:creationId xmlns:a16="http://schemas.microsoft.com/office/drawing/2014/main" id="{16C40B16-21B3-4F10-AC3E-08AE68F6EC69}"/>
              </a:ext>
            </a:extLst>
          </p:cNvPr>
          <p:cNvSpPr>
            <a:spLocks noGrp="1"/>
          </p:cNvSpPr>
          <p:nvPr/>
        </p:nvSpPr>
        <p:spPr>
          <a:xfrm>
            <a:off x="7143750" y="2695575"/>
            <a:ext cx="29337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Enterprise documents</a:t>
            </a:r>
          </a:p>
        </p:txBody>
      </p:sp>
      <p:sp>
        <p:nvSpPr>
          <p:cNvPr id="24" name="Rectangle: Rounded Corners 23">
            <a:extLst>
              <a:ext uri="{FF2B5EF4-FFF2-40B4-BE49-F238E27FC236}">
                <a16:creationId xmlns:a16="http://schemas.microsoft.com/office/drawing/2014/main" id="{58B4ED0F-94E4-4188-9B43-B904FFDA057E}"/>
              </a:ext>
            </a:extLst>
          </p:cNvPr>
          <p:cNvSpPr>
            <a:spLocks noGrp="1"/>
          </p:cNvSpPr>
          <p:nvPr/>
        </p:nvSpPr>
        <p:spPr>
          <a:xfrm>
            <a:off x="6667500" y="3162300"/>
            <a:ext cx="35242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59" name="Graphic 58"/>
          <p:cNvPicPr>
            <a:picLocks noChangeAspect="1"/>
          </p:cNvPicPr>
          <p:nvPr/>
        </p:nvPicPr>
        <p:blipFill>
          <a:blip>
            <a:extLst>
              <a:ext uri="{96DAC541-7B7A-43D3-8B79-37D633B846F1}">
                <asvg:svgBlip xmlns:asvg="http://schemas.microsoft.com/office/drawing/2016/SVG/main" r:embed="rId7"/>
              </a:ext>
            </a:extLst>
          </a:blip>
          <a:stretch/>
        </p:blipFill>
        <p:spPr>
          <a:xfrm>
            <a:off x="6819900" y="3276600"/>
            <a:ext cx="228600" cy="228600"/>
          </a:xfrm>
          <a:prstGeom prst="rect">
            <a:avLst/>
          </a:prstGeom>
        </p:spPr>
      </p:pic>
      <p:sp>
        <p:nvSpPr>
          <p:cNvPr id="26" name="Rectangle 25">
            <a:extLst>
              <a:ext uri="{FF2B5EF4-FFF2-40B4-BE49-F238E27FC236}">
                <a16:creationId xmlns:a16="http://schemas.microsoft.com/office/drawing/2014/main" id="{9C56536A-D501-4AD3-904E-5CCBDB773867}"/>
              </a:ext>
            </a:extLst>
          </p:cNvPr>
          <p:cNvSpPr>
            <a:spLocks noGrp="1"/>
          </p:cNvSpPr>
          <p:nvPr/>
        </p:nvSpPr>
        <p:spPr>
          <a:xfrm>
            <a:off x="7143750" y="3248025"/>
            <a:ext cx="29337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Knowledge retrieval</a:t>
            </a:r>
          </a:p>
        </p:txBody>
      </p:sp>
      <p:sp>
        <p:nvSpPr>
          <p:cNvPr id="27" name="Rectangle: Rounded Corners 26">
            <a:extLst>
              <a:ext uri="{FF2B5EF4-FFF2-40B4-BE49-F238E27FC236}">
                <a16:creationId xmlns:a16="http://schemas.microsoft.com/office/drawing/2014/main" id="{303ABE9C-431B-49A3-B397-88EA9189DF14}"/>
              </a:ext>
            </a:extLst>
          </p:cNvPr>
          <p:cNvSpPr>
            <a:spLocks noGrp="1"/>
          </p:cNvSpPr>
          <p:nvPr/>
        </p:nvSpPr>
        <p:spPr>
          <a:xfrm>
            <a:off x="6667500" y="3714750"/>
            <a:ext cx="35242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62" name="Graphic 61"/>
          <p:cNvPicPr>
            <a:picLocks noChangeAspect="1"/>
          </p:cNvPicPr>
          <p:nvPr/>
        </p:nvPicPr>
        <p:blipFill>
          <a:blip>
            <a:extLst>
              <a:ext uri="{96DAC541-7B7A-43D3-8B79-37D633B846F1}">
                <asvg:svgBlip xmlns:asvg="http://schemas.microsoft.com/office/drawing/2016/SVG/main" r:embed="rId8"/>
              </a:ext>
            </a:extLst>
          </a:blip>
          <a:stretch/>
        </p:blipFill>
        <p:spPr>
          <a:xfrm>
            <a:off x="6819900" y="3829050"/>
            <a:ext cx="228600" cy="228600"/>
          </a:xfrm>
          <a:prstGeom prst="rect">
            <a:avLst/>
          </a:prstGeom>
        </p:spPr>
      </p:pic>
      <p:sp>
        <p:nvSpPr>
          <p:cNvPr id="29" name="Rectangle 28">
            <a:extLst>
              <a:ext uri="{FF2B5EF4-FFF2-40B4-BE49-F238E27FC236}">
                <a16:creationId xmlns:a16="http://schemas.microsoft.com/office/drawing/2014/main" id="{5F422940-2E28-4FFD-946C-8B7310A89086}"/>
              </a:ext>
            </a:extLst>
          </p:cNvPr>
          <p:cNvSpPr>
            <a:spLocks noGrp="1"/>
          </p:cNvSpPr>
          <p:nvPr/>
        </p:nvSpPr>
        <p:spPr>
          <a:xfrm>
            <a:off x="7143750" y="3800475"/>
            <a:ext cx="29337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Secure access</a:t>
            </a:r>
          </a:p>
        </p:txBody>
      </p:sp>
      <p:sp>
        <p:nvSpPr>
          <p:cNvPr id="30" name="Rectangle: Rounded Corners 29">
            <a:extLst>
              <a:ext uri="{FF2B5EF4-FFF2-40B4-BE49-F238E27FC236}">
                <a16:creationId xmlns:a16="http://schemas.microsoft.com/office/drawing/2014/main" id="{36F5C15A-6F16-475B-9F9D-A455ADE66547}"/>
              </a:ext>
            </a:extLst>
          </p:cNvPr>
          <p:cNvSpPr>
            <a:spLocks noGrp="1"/>
          </p:cNvSpPr>
          <p:nvPr/>
        </p:nvSpPr>
        <p:spPr>
          <a:xfrm>
            <a:off x="6667500" y="4267200"/>
            <a:ext cx="35242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65" name="Graphic 64"/>
          <p:cNvPicPr>
            <a:picLocks noChangeAspect="1"/>
          </p:cNvPicPr>
          <p:nvPr/>
        </p:nvPicPr>
        <p:blipFill>
          <a:blip>
            <a:extLst>
              <a:ext uri="{96DAC541-7B7A-43D3-8B79-37D633B846F1}">
                <asvg:svgBlip xmlns:asvg="http://schemas.microsoft.com/office/drawing/2016/SVG/main" r:embed="rId9"/>
              </a:ext>
            </a:extLst>
          </a:blip>
          <a:stretch/>
        </p:blipFill>
        <p:spPr>
          <a:xfrm>
            <a:off x="6819900" y="4381500"/>
            <a:ext cx="228600" cy="228600"/>
          </a:xfrm>
          <a:prstGeom prst="rect">
            <a:avLst/>
          </a:prstGeom>
        </p:spPr>
      </p:pic>
      <p:sp>
        <p:nvSpPr>
          <p:cNvPr id="32" name="Rectangle 31">
            <a:extLst>
              <a:ext uri="{FF2B5EF4-FFF2-40B4-BE49-F238E27FC236}">
                <a16:creationId xmlns:a16="http://schemas.microsoft.com/office/drawing/2014/main" id="{E547ECE9-E96F-4802-95EA-7CBA32179D8D}"/>
              </a:ext>
            </a:extLst>
          </p:cNvPr>
          <p:cNvSpPr>
            <a:spLocks noGrp="1"/>
          </p:cNvSpPr>
          <p:nvPr/>
        </p:nvSpPr>
        <p:spPr>
          <a:xfrm>
            <a:off x="7143750" y="4352925"/>
            <a:ext cx="29337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Academic reporting</a:t>
            </a:r>
          </a:p>
        </p:txBody>
      </p:sp>
      <p:sp>
        <p:nvSpPr>
          <p:cNvPr id="33" name="Rectangle 32">
            <a:extLst>
              <a:ext uri="{FF2B5EF4-FFF2-40B4-BE49-F238E27FC236}">
                <a16:creationId xmlns:a16="http://schemas.microsoft.com/office/drawing/2014/main" id="{C04724A3-59DB-4210-B555-20670FA0CD68}"/>
              </a:ext>
            </a:extLst>
          </p:cNvPr>
          <p:cNvSpPr>
            <a:spLocks noGrp="1"/>
          </p:cNvSpPr>
          <p:nvPr/>
        </p:nvSpPr>
        <p:spPr>
          <a:xfrm>
            <a:off x="685800" y="6419850"/>
            <a:ext cx="5905500" cy="228600"/>
          </a:xfrm>
          <a:prstGeom prst="rect">
            <a:avLst/>
          </a:prstGeom>
          <a:noFill/>
          <a:ln w="0">
            <a:noFill/>
            <a:prstDash val="solid"/>
          </a:ln>
        </p:spPr>
        <p:txBody>
          <a:bodyPr/>
          <a:lstStyle/>
          <a:p>
            <a:pPr>
              <a:defRPr sz="900" b="0">
                <a:solidFill>
                  <a:srgbClr val="5B6B78"/>
                </a:solidFill>
              </a:defRPr>
            </a:pPr>
            <a:r>
              <a:rPr sz="900" b="0" dirty="0">
                <a:solidFill>
                  <a:srgbClr val="5B6B78"/>
                </a:solidFill>
              </a:rPr>
              <a:t>AI-powered enterprise document retrieval system</a:t>
            </a:r>
            <a:r>
              <a:rPr lang="de-DE" sz="900" b="0" dirty="0">
                <a:solidFill>
                  <a:srgbClr val="5B6B78"/>
                </a:solidFill>
              </a:rPr>
              <a:t> </a:t>
            </a:r>
            <a:r>
              <a:rPr lang="en-US" sz="900" dirty="0">
                <a:solidFill>
                  <a:srgbClr val="5B6B78"/>
                </a:solidFill>
              </a:rPr>
              <a:t>|</a:t>
            </a:r>
            <a:r>
              <a:rPr lang="de-DE" sz="900" dirty="0">
                <a:solidFill>
                  <a:srgbClr val="5B6B78"/>
                </a:solidFill>
              </a:rPr>
              <a:t> Md Fahim Hossain </a:t>
            </a:r>
            <a:r>
              <a:rPr lang="en-US" sz="900" dirty="0">
                <a:solidFill>
                  <a:srgbClr val="5B6B78"/>
                </a:solidFill>
              </a:rPr>
              <a:t>| July 2026</a:t>
            </a:r>
            <a:r>
              <a:rPr lang="de-DE" sz="900" dirty="0">
                <a:solidFill>
                  <a:srgbClr val="5B6B78"/>
                </a:solidFill>
              </a:rPr>
              <a:t> </a:t>
            </a:r>
            <a:endParaRPr sz="900" b="0" dirty="0">
              <a:solidFill>
                <a:srgbClr val="5B6B78"/>
              </a:solidFill>
            </a:endParaRPr>
          </a:p>
        </p:txBody>
      </p:sp>
      <p:sp>
        <p:nvSpPr>
          <p:cNvPr id="34" name="Rectangle 33">
            <a:extLst>
              <a:ext uri="{FF2B5EF4-FFF2-40B4-BE49-F238E27FC236}">
                <a16:creationId xmlns:a16="http://schemas.microsoft.com/office/drawing/2014/main" id="{AEB14128-2A21-4A0D-8AFC-AAE7BFF36615}"/>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03 / 11</a:t>
            </a:r>
          </a:p>
        </p:txBody>
      </p:sp>
      <p:pic>
        <p:nvPicPr>
          <p:cNvPr id="16" name="Picture 15">
            <a:extLst>
              <a:ext uri="{FF2B5EF4-FFF2-40B4-BE49-F238E27FC236}">
                <a16:creationId xmlns:a16="http://schemas.microsoft.com/office/drawing/2014/main" id="{EE356E3A-5427-8C93-AA01-A5FE2C91C6E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179210583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F38CCF-2C6B-4E40-A2EA-CF31480B7D94}"/>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365ACFD4-2D90-40D4-85EB-D2CFB8D9797F}"/>
              </a:ext>
            </a:extLst>
          </p:cNvPr>
          <p:cNvSpPr>
            <a:spLocks noGrp="1"/>
          </p:cNvSpPr>
          <p:nvPr/>
        </p:nvSpPr>
        <p:spPr>
          <a:xfrm>
            <a:off x="685800" y="342900"/>
            <a:ext cx="4000500" cy="209550"/>
          </a:xfrm>
          <a:prstGeom prst="rect">
            <a:avLst/>
          </a:prstGeom>
          <a:noFill/>
          <a:ln w="0">
            <a:noFill/>
            <a:prstDash val="solid"/>
          </a:ln>
        </p:spPr>
        <p:txBody>
          <a:bodyPr/>
          <a:lstStyle/>
          <a:p>
            <a:pPr>
              <a:defRPr sz="900" b="1">
                <a:solidFill>
                  <a:srgbClr val="009999"/>
                </a:solidFill>
              </a:defRPr>
            </a:pPr>
            <a:r>
              <a:rPr lang="de-DE" sz="900" b="1" dirty="0">
                <a:solidFill>
                  <a:srgbClr val="009999"/>
                </a:solidFill>
              </a:rPr>
              <a:t>INTRODUCTION</a:t>
            </a:r>
            <a:endParaRPr sz="900" b="1" dirty="0">
              <a:solidFill>
                <a:srgbClr val="009999"/>
              </a:solidFill>
            </a:endParaRPr>
          </a:p>
        </p:txBody>
      </p:sp>
      <p:sp>
        <p:nvSpPr>
          <p:cNvPr id="3" name="Rectangle 2">
            <a:extLst>
              <a:ext uri="{FF2B5EF4-FFF2-40B4-BE49-F238E27FC236}">
                <a16:creationId xmlns:a16="http://schemas.microsoft.com/office/drawing/2014/main" id="{0B172EA8-1486-40F7-A286-F3E3DF992B3B}"/>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Project Epic</a:t>
            </a:r>
          </a:p>
        </p:txBody>
      </p:sp>
      <p:sp>
        <p:nvSpPr>
          <p:cNvPr id="4" name="Rectangle: Rounded Corners 3">
            <a:extLst>
              <a:ext uri="{FF2B5EF4-FFF2-40B4-BE49-F238E27FC236}">
                <a16:creationId xmlns:a16="http://schemas.microsoft.com/office/drawing/2014/main" id="{6B1175BE-4AD1-419F-8F60-A75D997B8A7D}"/>
              </a:ext>
            </a:extLst>
          </p:cNvPr>
          <p:cNvSpPr>
            <a:spLocks noGrp="1"/>
          </p:cNvSpPr>
          <p:nvPr/>
        </p:nvSpPr>
        <p:spPr>
          <a:xfrm>
            <a:off x="685800" y="1924050"/>
            <a:ext cx="2381250" cy="20002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5" name="Oval 4">
            <a:extLst>
              <a:ext uri="{FF2B5EF4-FFF2-40B4-BE49-F238E27FC236}">
                <a16:creationId xmlns:a16="http://schemas.microsoft.com/office/drawing/2014/main" id="{0FE0B6FD-8EE7-408F-967C-175A703627F8}"/>
              </a:ext>
            </a:extLst>
          </p:cNvPr>
          <p:cNvSpPr>
            <a:spLocks noGrp="1"/>
          </p:cNvSpPr>
          <p:nvPr/>
        </p:nvSpPr>
        <p:spPr>
          <a:xfrm>
            <a:off x="857250" y="2095500"/>
            <a:ext cx="400050" cy="400050"/>
          </a:xfrm>
          <a:prstGeom prst="ellipse">
            <a:avLst/>
          </a:prstGeom>
          <a:solidFill>
            <a:srgbClr val="0077B6"/>
          </a:solidFill>
          <a:ln w="0">
            <a:solidFill>
              <a:srgbClr val="0077B6"/>
            </a:solidFill>
            <a:prstDash val="solid"/>
          </a:ln>
        </p:spPr>
        <p:txBody>
          <a:bodyPr/>
          <a:lstStyle/>
          <a:p>
            <a:endParaRPr lang="en-US"/>
          </a:p>
        </p:txBody>
      </p:sp>
      <p:sp>
        <p:nvSpPr>
          <p:cNvPr id="6" name="Rectangle 5">
            <a:extLst>
              <a:ext uri="{FF2B5EF4-FFF2-40B4-BE49-F238E27FC236}">
                <a16:creationId xmlns:a16="http://schemas.microsoft.com/office/drawing/2014/main" id="{2FE1054B-7864-4C2F-A636-884420F757A9}"/>
              </a:ext>
            </a:extLst>
          </p:cNvPr>
          <p:cNvSpPr>
            <a:spLocks noGrp="1"/>
          </p:cNvSpPr>
          <p:nvPr/>
        </p:nvSpPr>
        <p:spPr>
          <a:xfrm>
            <a:off x="857250" y="2152650"/>
            <a:ext cx="400050" cy="228600"/>
          </a:xfrm>
          <a:prstGeom prst="rect">
            <a:avLst/>
          </a:prstGeom>
          <a:noFill/>
          <a:ln w="0">
            <a:noFill/>
            <a:prstDash val="solid"/>
          </a:ln>
        </p:spPr>
        <p:txBody>
          <a:bodyPr/>
          <a:lstStyle/>
          <a:p>
            <a:pPr algn="ctr">
              <a:defRPr sz="1350" b="1">
                <a:solidFill>
                  <a:srgbClr val="FFFFFF"/>
                </a:solidFill>
              </a:defRPr>
            </a:pPr>
            <a:r>
              <a:rPr sz="1350" b="1" dirty="0">
                <a:solidFill>
                  <a:srgbClr val="FFFFFF"/>
                </a:solidFill>
              </a:rPr>
              <a:t>1</a:t>
            </a:r>
          </a:p>
        </p:txBody>
      </p:sp>
      <p:pic>
        <p:nvPicPr>
          <p:cNvPr id="41" name="Graphic 40"/>
          <p:cNvPicPr>
            <a:picLocks noChangeAspect="1"/>
          </p:cNvPicPr>
          <p:nvPr/>
        </p:nvPicPr>
        <p:blipFill>
          <a:blip>
            <a:extLst>
              <a:ext uri="{96DAC541-7B7A-43D3-8B79-37D633B846F1}">
                <asvg:svgBlip xmlns:asvg="http://schemas.microsoft.com/office/drawing/2016/SVG/main" r:embed="rId3"/>
              </a:ext>
            </a:extLst>
          </a:blip>
          <a:stretch/>
        </p:blipFill>
        <p:spPr>
          <a:xfrm>
            <a:off x="2476500" y="2133600"/>
            <a:ext cx="323850" cy="323850"/>
          </a:xfrm>
          <a:prstGeom prst="rect">
            <a:avLst/>
          </a:prstGeom>
        </p:spPr>
      </p:pic>
      <p:sp>
        <p:nvSpPr>
          <p:cNvPr id="8" name="Rectangle 7">
            <a:extLst>
              <a:ext uri="{FF2B5EF4-FFF2-40B4-BE49-F238E27FC236}">
                <a16:creationId xmlns:a16="http://schemas.microsoft.com/office/drawing/2014/main" id="{F96EED51-0106-4D82-8C34-715CBB6EAFE5}"/>
              </a:ext>
            </a:extLst>
          </p:cNvPr>
          <p:cNvSpPr>
            <a:spLocks noGrp="1"/>
          </p:cNvSpPr>
          <p:nvPr/>
        </p:nvSpPr>
        <p:spPr>
          <a:xfrm>
            <a:off x="914400" y="2705100"/>
            <a:ext cx="1924050" cy="285750"/>
          </a:xfrm>
          <a:prstGeom prst="rect">
            <a:avLst/>
          </a:prstGeom>
          <a:noFill/>
          <a:ln w="0">
            <a:noFill/>
            <a:prstDash val="solid"/>
          </a:ln>
        </p:spPr>
        <p:txBody>
          <a:bodyPr/>
          <a:lstStyle/>
          <a:p>
            <a:pPr algn="l">
              <a:defRPr sz="1650" b="1">
                <a:solidFill>
                  <a:srgbClr val="083344"/>
                </a:solidFill>
              </a:defRPr>
            </a:pPr>
            <a:r>
              <a:rPr sz="1650" b="1">
                <a:solidFill>
                  <a:srgbClr val="083344"/>
                </a:solidFill>
              </a:rPr>
              <a:t>Documents grew</a:t>
            </a:r>
          </a:p>
        </p:txBody>
      </p:sp>
      <p:sp>
        <p:nvSpPr>
          <p:cNvPr id="9" name="Rectangle 8">
            <a:extLst>
              <a:ext uri="{FF2B5EF4-FFF2-40B4-BE49-F238E27FC236}">
                <a16:creationId xmlns:a16="http://schemas.microsoft.com/office/drawing/2014/main" id="{46BCCB0B-CC78-42D3-806E-F0B0E027214F}"/>
              </a:ext>
            </a:extLst>
          </p:cNvPr>
          <p:cNvSpPr>
            <a:spLocks noGrp="1"/>
          </p:cNvSpPr>
          <p:nvPr/>
        </p:nvSpPr>
        <p:spPr>
          <a:xfrm>
            <a:off x="914400" y="3067050"/>
            <a:ext cx="1924050" cy="457200"/>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Knowledge became hard to locate</a:t>
            </a:r>
          </a:p>
        </p:txBody>
      </p:sp>
      <p:sp>
        <p:nvSpPr>
          <p:cNvPr id="10" name="Arrow: Right 9">
            <a:extLst>
              <a:ext uri="{FF2B5EF4-FFF2-40B4-BE49-F238E27FC236}">
                <a16:creationId xmlns:a16="http://schemas.microsoft.com/office/drawing/2014/main" id="{E3900F90-1E00-4B44-A6F8-EE02D1BD1700}"/>
              </a:ext>
            </a:extLst>
          </p:cNvPr>
          <p:cNvSpPr>
            <a:spLocks noGrp="1"/>
          </p:cNvSpPr>
          <p:nvPr/>
        </p:nvSpPr>
        <p:spPr>
          <a:xfrm>
            <a:off x="3067050" y="2743200"/>
            <a:ext cx="390524" cy="266700"/>
          </a:xfrm>
          <a:prstGeom prst="rightArrow">
            <a:avLst/>
          </a:prstGeom>
          <a:solidFill>
            <a:srgbClr val="00A3AD"/>
          </a:solidFill>
          <a:ln w="0">
            <a:solidFill>
              <a:srgbClr val="00A3AD"/>
            </a:solidFill>
            <a:prstDash val="solid"/>
          </a:ln>
        </p:spPr>
        <p:txBody>
          <a:bodyPr/>
          <a:lstStyle/>
          <a:p>
            <a:endParaRPr lang="en-US"/>
          </a:p>
        </p:txBody>
      </p:sp>
      <p:sp>
        <p:nvSpPr>
          <p:cNvPr id="11" name="Rectangle: Rounded Corners 10">
            <a:extLst>
              <a:ext uri="{FF2B5EF4-FFF2-40B4-BE49-F238E27FC236}">
                <a16:creationId xmlns:a16="http://schemas.microsoft.com/office/drawing/2014/main" id="{B226D409-25DA-4A9D-855E-518D408A323D}"/>
              </a:ext>
            </a:extLst>
          </p:cNvPr>
          <p:cNvSpPr>
            <a:spLocks noGrp="1"/>
          </p:cNvSpPr>
          <p:nvPr/>
        </p:nvSpPr>
        <p:spPr>
          <a:xfrm>
            <a:off x="3467100" y="1924050"/>
            <a:ext cx="2381250" cy="20002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2" name="Oval 11">
            <a:extLst>
              <a:ext uri="{FF2B5EF4-FFF2-40B4-BE49-F238E27FC236}">
                <a16:creationId xmlns:a16="http://schemas.microsoft.com/office/drawing/2014/main" id="{D9B7464A-3D70-414F-BF95-8A9BD5EBE910}"/>
              </a:ext>
            </a:extLst>
          </p:cNvPr>
          <p:cNvSpPr>
            <a:spLocks noGrp="1"/>
          </p:cNvSpPr>
          <p:nvPr/>
        </p:nvSpPr>
        <p:spPr>
          <a:xfrm>
            <a:off x="3638550" y="2095500"/>
            <a:ext cx="400050" cy="400050"/>
          </a:xfrm>
          <a:prstGeom prst="ellipse">
            <a:avLst/>
          </a:prstGeom>
          <a:solidFill>
            <a:srgbClr val="009999"/>
          </a:solidFill>
          <a:ln w="0">
            <a:solidFill>
              <a:srgbClr val="009999"/>
            </a:solidFill>
            <a:prstDash val="solid"/>
          </a:ln>
        </p:spPr>
        <p:txBody>
          <a:bodyPr/>
          <a:lstStyle/>
          <a:p>
            <a:endParaRPr lang="en-US"/>
          </a:p>
        </p:txBody>
      </p:sp>
      <p:sp>
        <p:nvSpPr>
          <p:cNvPr id="13" name="Rectangle 12">
            <a:extLst>
              <a:ext uri="{FF2B5EF4-FFF2-40B4-BE49-F238E27FC236}">
                <a16:creationId xmlns:a16="http://schemas.microsoft.com/office/drawing/2014/main" id="{B19D7104-1F80-496C-9062-5B577271E044}"/>
              </a:ext>
            </a:extLst>
          </p:cNvPr>
          <p:cNvSpPr>
            <a:spLocks noGrp="1"/>
          </p:cNvSpPr>
          <p:nvPr/>
        </p:nvSpPr>
        <p:spPr>
          <a:xfrm>
            <a:off x="3638550" y="2152650"/>
            <a:ext cx="400050" cy="228600"/>
          </a:xfrm>
          <a:prstGeom prst="rect">
            <a:avLst/>
          </a:prstGeom>
          <a:noFill/>
          <a:ln w="0">
            <a:noFill/>
            <a:prstDash val="solid"/>
          </a:ln>
        </p:spPr>
        <p:txBody>
          <a:bodyPr/>
          <a:lstStyle/>
          <a:p>
            <a:pPr algn="ctr">
              <a:defRPr sz="1350" b="1">
                <a:solidFill>
                  <a:srgbClr val="FFFFFF"/>
                </a:solidFill>
              </a:defRPr>
            </a:pPr>
            <a:r>
              <a:rPr sz="1350" b="1" dirty="0">
                <a:solidFill>
                  <a:srgbClr val="FFFFFF"/>
                </a:solidFill>
              </a:rPr>
              <a:t>2</a:t>
            </a:r>
          </a:p>
        </p:txBody>
      </p:sp>
      <p:pic>
        <p:nvPicPr>
          <p:cNvPr id="48" name="Graphic 47"/>
          <p:cNvPicPr>
            <a:picLocks noChangeAspect="1"/>
          </p:cNvPicPr>
          <p:nvPr/>
        </p:nvPicPr>
        <p:blipFill>
          <a:blip>
            <a:extLst>
              <a:ext uri="{96DAC541-7B7A-43D3-8B79-37D633B846F1}">
                <asvg:svgBlip xmlns:asvg="http://schemas.microsoft.com/office/drawing/2016/SVG/main" r:embed="rId4"/>
              </a:ext>
            </a:extLst>
          </a:blip>
          <a:stretch/>
        </p:blipFill>
        <p:spPr>
          <a:xfrm>
            <a:off x="5257800" y="2133600"/>
            <a:ext cx="323850" cy="323850"/>
          </a:xfrm>
          <a:prstGeom prst="rect">
            <a:avLst/>
          </a:prstGeom>
        </p:spPr>
      </p:pic>
      <p:sp>
        <p:nvSpPr>
          <p:cNvPr id="15" name="Rectangle 14">
            <a:extLst>
              <a:ext uri="{FF2B5EF4-FFF2-40B4-BE49-F238E27FC236}">
                <a16:creationId xmlns:a16="http://schemas.microsoft.com/office/drawing/2014/main" id="{6E90AA83-7EAA-451E-BF73-8C4747B10C98}"/>
              </a:ext>
            </a:extLst>
          </p:cNvPr>
          <p:cNvSpPr>
            <a:spLocks noGrp="1"/>
          </p:cNvSpPr>
          <p:nvPr/>
        </p:nvSpPr>
        <p:spPr>
          <a:xfrm>
            <a:off x="3695700" y="2705100"/>
            <a:ext cx="1924050" cy="285750"/>
          </a:xfrm>
          <a:prstGeom prst="rect">
            <a:avLst/>
          </a:prstGeom>
          <a:noFill/>
          <a:ln w="0">
            <a:noFill/>
            <a:prstDash val="solid"/>
          </a:ln>
        </p:spPr>
        <p:txBody>
          <a:bodyPr/>
          <a:lstStyle/>
          <a:p>
            <a:pPr algn="l">
              <a:defRPr sz="1650" b="1">
                <a:solidFill>
                  <a:srgbClr val="083344"/>
                </a:solidFill>
              </a:defRPr>
            </a:pPr>
            <a:r>
              <a:rPr sz="1650" b="1">
                <a:solidFill>
                  <a:srgbClr val="083344"/>
                </a:solidFill>
              </a:rPr>
              <a:t>Users asked</a:t>
            </a:r>
          </a:p>
        </p:txBody>
      </p:sp>
      <p:sp>
        <p:nvSpPr>
          <p:cNvPr id="16" name="Rectangle 15">
            <a:extLst>
              <a:ext uri="{FF2B5EF4-FFF2-40B4-BE49-F238E27FC236}">
                <a16:creationId xmlns:a16="http://schemas.microsoft.com/office/drawing/2014/main" id="{87A49B07-9C79-44F0-97DF-4109D587519C}"/>
              </a:ext>
            </a:extLst>
          </p:cNvPr>
          <p:cNvSpPr>
            <a:spLocks noGrp="1"/>
          </p:cNvSpPr>
          <p:nvPr/>
        </p:nvSpPr>
        <p:spPr>
          <a:xfrm>
            <a:off x="3695699" y="3067050"/>
            <a:ext cx="1924050" cy="457200"/>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Natural questions needed answers</a:t>
            </a:r>
          </a:p>
        </p:txBody>
      </p:sp>
      <p:sp>
        <p:nvSpPr>
          <p:cNvPr id="17" name="Arrow: Right 16">
            <a:extLst>
              <a:ext uri="{FF2B5EF4-FFF2-40B4-BE49-F238E27FC236}">
                <a16:creationId xmlns:a16="http://schemas.microsoft.com/office/drawing/2014/main" id="{B7FE29AC-FD2C-4E2D-B822-B6326C7D0798}"/>
              </a:ext>
            </a:extLst>
          </p:cNvPr>
          <p:cNvSpPr>
            <a:spLocks noGrp="1"/>
          </p:cNvSpPr>
          <p:nvPr/>
        </p:nvSpPr>
        <p:spPr>
          <a:xfrm>
            <a:off x="5848350" y="2743200"/>
            <a:ext cx="381000" cy="266700"/>
          </a:xfrm>
          <a:prstGeom prst="rightArrow">
            <a:avLst/>
          </a:prstGeom>
          <a:solidFill>
            <a:srgbClr val="00A3AD"/>
          </a:solidFill>
          <a:ln w="0">
            <a:solidFill>
              <a:srgbClr val="00A3AD"/>
            </a:solidFill>
            <a:prstDash val="solid"/>
          </a:ln>
        </p:spPr>
        <p:txBody>
          <a:bodyPr/>
          <a:lstStyle/>
          <a:p>
            <a:endParaRPr lang="en-US"/>
          </a:p>
        </p:txBody>
      </p:sp>
      <p:sp>
        <p:nvSpPr>
          <p:cNvPr id="18" name="Rectangle: Rounded Corners 17">
            <a:extLst>
              <a:ext uri="{FF2B5EF4-FFF2-40B4-BE49-F238E27FC236}">
                <a16:creationId xmlns:a16="http://schemas.microsoft.com/office/drawing/2014/main" id="{EF60FF19-DCC9-4F75-B86E-A0EA5F22B798}"/>
              </a:ext>
            </a:extLst>
          </p:cNvPr>
          <p:cNvSpPr>
            <a:spLocks noGrp="1"/>
          </p:cNvSpPr>
          <p:nvPr/>
        </p:nvSpPr>
        <p:spPr>
          <a:xfrm>
            <a:off x="6248400" y="1924050"/>
            <a:ext cx="2381250" cy="20002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9" name="Oval 18">
            <a:extLst>
              <a:ext uri="{FF2B5EF4-FFF2-40B4-BE49-F238E27FC236}">
                <a16:creationId xmlns:a16="http://schemas.microsoft.com/office/drawing/2014/main" id="{BBCB3DCC-21BB-45E5-9AFF-CB121DD117F8}"/>
              </a:ext>
            </a:extLst>
          </p:cNvPr>
          <p:cNvSpPr>
            <a:spLocks noGrp="1"/>
          </p:cNvSpPr>
          <p:nvPr/>
        </p:nvSpPr>
        <p:spPr>
          <a:xfrm>
            <a:off x="6419850" y="2095500"/>
            <a:ext cx="400050" cy="400050"/>
          </a:xfrm>
          <a:prstGeom prst="ellipse">
            <a:avLst/>
          </a:prstGeom>
          <a:solidFill>
            <a:srgbClr val="2CA58D"/>
          </a:solidFill>
          <a:ln w="0">
            <a:solidFill>
              <a:srgbClr val="2CA58D"/>
            </a:solidFill>
            <a:prstDash val="solid"/>
          </a:ln>
        </p:spPr>
        <p:txBody>
          <a:bodyPr/>
          <a:lstStyle/>
          <a:p>
            <a:endParaRPr lang="en-US"/>
          </a:p>
        </p:txBody>
      </p:sp>
      <p:sp>
        <p:nvSpPr>
          <p:cNvPr id="20" name="Rectangle 19">
            <a:extLst>
              <a:ext uri="{FF2B5EF4-FFF2-40B4-BE49-F238E27FC236}">
                <a16:creationId xmlns:a16="http://schemas.microsoft.com/office/drawing/2014/main" id="{1BE8EF51-887C-4090-9502-89CBCB088A29}"/>
              </a:ext>
            </a:extLst>
          </p:cNvPr>
          <p:cNvSpPr>
            <a:spLocks noGrp="1"/>
          </p:cNvSpPr>
          <p:nvPr/>
        </p:nvSpPr>
        <p:spPr>
          <a:xfrm>
            <a:off x="6419850" y="2152650"/>
            <a:ext cx="400050" cy="228600"/>
          </a:xfrm>
          <a:prstGeom prst="rect">
            <a:avLst/>
          </a:prstGeom>
          <a:noFill/>
          <a:ln w="0">
            <a:noFill/>
            <a:prstDash val="solid"/>
          </a:ln>
        </p:spPr>
        <p:txBody>
          <a:bodyPr/>
          <a:lstStyle/>
          <a:p>
            <a:pPr algn="ctr">
              <a:defRPr sz="1350" b="1">
                <a:solidFill>
                  <a:srgbClr val="FFFFFF"/>
                </a:solidFill>
              </a:defRPr>
            </a:pPr>
            <a:r>
              <a:rPr sz="1350" b="1" dirty="0">
                <a:solidFill>
                  <a:srgbClr val="FFFFFF"/>
                </a:solidFill>
              </a:rPr>
              <a:t>3</a:t>
            </a:r>
          </a:p>
        </p:txBody>
      </p:sp>
      <p:pic>
        <p:nvPicPr>
          <p:cNvPr id="55" name="Graphic 54"/>
          <p:cNvPicPr>
            <a:picLocks noChangeAspect="1"/>
          </p:cNvPicPr>
          <p:nvPr/>
        </p:nvPicPr>
        <p:blipFill>
          <a:blip>
            <a:extLst>
              <a:ext uri="{96DAC541-7B7A-43D3-8B79-37D633B846F1}">
                <asvg:svgBlip xmlns:asvg="http://schemas.microsoft.com/office/drawing/2016/SVG/main" r:embed="rId5"/>
              </a:ext>
            </a:extLst>
          </a:blip>
          <a:stretch/>
        </p:blipFill>
        <p:spPr>
          <a:xfrm>
            <a:off x="8039100" y="2133600"/>
            <a:ext cx="323850" cy="323850"/>
          </a:xfrm>
          <a:prstGeom prst="rect">
            <a:avLst/>
          </a:prstGeom>
        </p:spPr>
      </p:pic>
      <p:sp>
        <p:nvSpPr>
          <p:cNvPr id="22" name="Rectangle 21">
            <a:extLst>
              <a:ext uri="{FF2B5EF4-FFF2-40B4-BE49-F238E27FC236}">
                <a16:creationId xmlns:a16="http://schemas.microsoft.com/office/drawing/2014/main" id="{E01F9ACE-A7C6-48BE-869B-49EA82233949}"/>
              </a:ext>
            </a:extLst>
          </p:cNvPr>
          <p:cNvSpPr>
            <a:spLocks noGrp="1"/>
          </p:cNvSpPr>
          <p:nvPr/>
        </p:nvSpPr>
        <p:spPr>
          <a:xfrm>
            <a:off x="6477000" y="2705100"/>
            <a:ext cx="1924050" cy="285750"/>
          </a:xfrm>
          <a:prstGeom prst="rect">
            <a:avLst/>
          </a:prstGeom>
          <a:noFill/>
          <a:ln w="0">
            <a:noFill/>
            <a:prstDash val="solid"/>
          </a:ln>
        </p:spPr>
        <p:txBody>
          <a:bodyPr/>
          <a:lstStyle/>
          <a:p>
            <a:pPr algn="l">
              <a:defRPr sz="1650" b="1">
                <a:solidFill>
                  <a:srgbClr val="083344"/>
                </a:solidFill>
              </a:defRPr>
            </a:pPr>
            <a:r>
              <a:rPr sz="1650" b="1">
                <a:solidFill>
                  <a:srgbClr val="083344"/>
                </a:solidFill>
              </a:rPr>
              <a:t>System retrieved</a:t>
            </a:r>
          </a:p>
        </p:txBody>
      </p:sp>
      <p:sp>
        <p:nvSpPr>
          <p:cNvPr id="23" name="Rectangle 22">
            <a:extLst>
              <a:ext uri="{FF2B5EF4-FFF2-40B4-BE49-F238E27FC236}">
                <a16:creationId xmlns:a16="http://schemas.microsoft.com/office/drawing/2014/main" id="{B0531957-0024-4B1A-9BD7-8C605A9CEC72}"/>
              </a:ext>
            </a:extLst>
          </p:cNvPr>
          <p:cNvSpPr>
            <a:spLocks noGrp="1"/>
          </p:cNvSpPr>
          <p:nvPr/>
        </p:nvSpPr>
        <p:spPr>
          <a:xfrm>
            <a:off x="6477000" y="3067050"/>
            <a:ext cx="2019300" cy="457200"/>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Relevant chunks provided context</a:t>
            </a:r>
          </a:p>
        </p:txBody>
      </p:sp>
      <p:sp>
        <p:nvSpPr>
          <p:cNvPr id="24" name="Arrow: Right 23">
            <a:extLst>
              <a:ext uri="{FF2B5EF4-FFF2-40B4-BE49-F238E27FC236}">
                <a16:creationId xmlns:a16="http://schemas.microsoft.com/office/drawing/2014/main" id="{A9B40163-4B58-4441-A5E6-277B0266E60B}"/>
              </a:ext>
            </a:extLst>
          </p:cNvPr>
          <p:cNvSpPr>
            <a:spLocks noGrp="1"/>
          </p:cNvSpPr>
          <p:nvPr/>
        </p:nvSpPr>
        <p:spPr>
          <a:xfrm>
            <a:off x="8629650" y="2743200"/>
            <a:ext cx="390524" cy="266700"/>
          </a:xfrm>
          <a:prstGeom prst="rightArrow">
            <a:avLst/>
          </a:prstGeom>
          <a:solidFill>
            <a:srgbClr val="00A3AD"/>
          </a:solidFill>
          <a:ln w="0">
            <a:solidFill>
              <a:srgbClr val="00A3AD"/>
            </a:solidFill>
            <a:prstDash val="solid"/>
          </a:ln>
        </p:spPr>
        <p:txBody>
          <a:bodyPr/>
          <a:lstStyle/>
          <a:p>
            <a:endParaRPr lang="en-US"/>
          </a:p>
        </p:txBody>
      </p:sp>
      <p:sp>
        <p:nvSpPr>
          <p:cNvPr id="25" name="Rectangle: Rounded Corners 24">
            <a:extLst>
              <a:ext uri="{FF2B5EF4-FFF2-40B4-BE49-F238E27FC236}">
                <a16:creationId xmlns:a16="http://schemas.microsoft.com/office/drawing/2014/main" id="{3F2D865A-98BB-4C0B-A037-55127A6FB68C}"/>
              </a:ext>
            </a:extLst>
          </p:cNvPr>
          <p:cNvSpPr>
            <a:spLocks noGrp="1"/>
          </p:cNvSpPr>
          <p:nvPr/>
        </p:nvSpPr>
        <p:spPr>
          <a:xfrm>
            <a:off x="9029700" y="1924050"/>
            <a:ext cx="2381250" cy="20002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6" name="Oval 25">
            <a:extLst>
              <a:ext uri="{FF2B5EF4-FFF2-40B4-BE49-F238E27FC236}">
                <a16:creationId xmlns:a16="http://schemas.microsoft.com/office/drawing/2014/main" id="{68F00346-007C-41AF-9AEF-81CF16961F49}"/>
              </a:ext>
            </a:extLst>
          </p:cNvPr>
          <p:cNvSpPr>
            <a:spLocks noGrp="1"/>
          </p:cNvSpPr>
          <p:nvPr/>
        </p:nvSpPr>
        <p:spPr>
          <a:xfrm>
            <a:off x="9201150" y="2095500"/>
            <a:ext cx="400050" cy="400050"/>
          </a:xfrm>
          <a:prstGeom prst="ellipse">
            <a:avLst/>
          </a:prstGeom>
          <a:solidFill>
            <a:srgbClr val="F28C28"/>
          </a:solidFill>
          <a:ln w="0">
            <a:solidFill>
              <a:srgbClr val="F28C28"/>
            </a:solidFill>
            <a:prstDash val="solid"/>
          </a:ln>
        </p:spPr>
        <p:txBody>
          <a:bodyPr/>
          <a:lstStyle/>
          <a:p>
            <a:endParaRPr lang="en-US"/>
          </a:p>
        </p:txBody>
      </p:sp>
      <p:sp>
        <p:nvSpPr>
          <p:cNvPr id="27" name="Rectangle 26">
            <a:extLst>
              <a:ext uri="{FF2B5EF4-FFF2-40B4-BE49-F238E27FC236}">
                <a16:creationId xmlns:a16="http://schemas.microsoft.com/office/drawing/2014/main" id="{2AF0B496-42EA-4A33-91E7-C64E5ED3DAEE}"/>
              </a:ext>
            </a:extLst>
          </p:cNvPr>
          <p:cNvSpPr>
            <a:spLocks noGrp="1"/>
          </p:cNvSpPr>
          <p:nvPr/>
        </p:nvSpPr>
        <p:spPr>
          <a:xfrm>
            <a:off x="9201150" y="2152650"/>
            <a:ext cx="400050" cy="228600"/>
          </a:xfrm>
          <a:prstGeom prst="rect">
            <a:avLst/>
          </a:prstGeom>
          <a:noFill/>
          <a:ln w="0">
            <a:noFill/>
            <a:prstDash val="solid"/>
          </a:ln>
        </p:spPr>
        <p:txBody>
          <a:bodyPr/>
          <a:lstStyle/>
          <a:p>
            <a:pPr algn="ctr">
              <a:defRPr sz="1350" b="1">
                <a:solidFill>
                  <a:srgbClr val="FFFFFF"/>
                </a:solidFill>
              </a:defRPr>
            </a:pPr>
            <a:r>
              <a:rPr sz="1350" b="1" dirty="0">
                <a:solidFill>
                  <a:srgbClr val="FFFFFF"/>
                </a:solidFill>
              </a:rPr>
              <a:t>4</a:t>
            </a:r>
          </a:p>
        </p:txBody>
      </p:sp>
      <p:pic>
        <p:nvPicPr>
          <p:cNvPr id="62" name="Graphic 61"/>
          <p:cNvPicPr>
            <a:picLocks noChangeAspect="1"/>
          </p:cNvPicPr>
          <p:nvPr/>
        </p:nvPicPr>
        <p:blipFill>
          <a:blip>
            <a:extLst>
              <a:ext uri="{96DAC541-7B7A-43D3-8B79-37D633B846F1}">
                <asvg:svgBlip xmlns:asvg="http://schemas.microsoft.com/office/drawing/2016/SVG/main" r:embed="rId6"/>
              </a:ext>
            </a:extLst>
          </a:blip>
          <a:stretch/>
        </p:blipFill>
        <p:spPr>
          <a:xfrm>
            <a:off x="10820400" y="2133600"/>
            <a:ext cx="323850" cy="323850"/>
          </a:xfrm>
          <a:prstGeom prst="rect">
            <a:avLst/>
          </a:prstGeom>
        </p:spPr>
      </p:pic>
      <p:sp>
        <p:nvSpPr>
          <p:cNvPr id="29" name="Rectangle 28">
            <a:extLst>
              <a:ext uri="{FF2B5EF4-FFF2-40B4-BE49-F238E27FC236}">
                <a16:creationId xmlns:a16="http://schemas.microsoft.com/office/drawing/2014/main" id="{137AF8CF-FFBC-4AEE-B891-620235C31F1D}"/>
              </a:ext>
            </a:extLst>
          </p:cNvPr>
          <p:cNvSpPr>
            <a:spLocks noGrp="1"/>
          </p:cNvSpPr>
          <p:nvPr/>
        </p:nvSpPr>
        <p:spPr>
          <a:xfrm>
            <a:off x="9258300" y="2705100"/>
            <a:ext cx="2019300" cy="285750"/>
          </a:xfrm>
          <a:prstGeom prst="rect">
            <a:avLst/>
          </a:prstGeom>
          <a:noFill/>
          <a:ln w="0">
            <a:noFill/>
            <a:prstDash val="solid"/>
          </a:ln>
        </p:spPr>
        <p:txBody>
          <a:bodyPr/>
          <a:lstStyle/>
          <a:p>
            <a:pPr algn="l">
              <a:defRPr sz="1650" b="1">
                <a:solidFill>
                  <a:srgbClr val="083344"/>
                </a:solidFill>
              </a:defRPr>
            </a:pPr>
            <a:r>
              <a:rPr sz="1650" b="1" dirty="0">
                <a:solidFill>
                  <a:srgbClr val="083344"/>
                </a:solidFill>
              </a:rPr>
              <a:t>Responses grounded</a:t>
            </a:r>
          </a:p>
        </p:txBody>
      </p:sp>
      <p:sp>
        <p:nvSpPr>
          <p:cNvPr id="30" name="Rectangle 29">
            <a:extLst>
              <a:ext uri="{FF2B5EF4-FFF2-40B4-BE49-F238E27FC236}">
                <a16:creationId xmlns:a16="http://schemas.microsoft.com/office/drawing/2014/main" id="{9BEEF977-B0C1-4432-A28C-614C716C5874}"/>
              </a:ext>
            </a:extLst>
          </p:cNvPr>
          <p:cNvSpPr>
            <a:spLocks noGrp="1"/>
          </p:cNvSpPr>
          <p:nvPr/>
        </p:nvSpPr>
        <p:spPr>
          <a:xfrm>
            <a:off x="9258300" y="3067050"/>
            <a:ext cx="2019300" cy="457200"/>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Answers referenced document sources</a:t>
            </a:r>
          </a:p>
        </p:txBody>
      </p:sp>
      <p:sp>
        <p:nvSpPr>
          <p:cNvPr id="31" name="Rectangle 30">
            <a:extLst>
              <a:ext uri="{FF2B5EF4-FFF2-40B4-BE49-F238E27FC236}">
                <a16:creationId xmlns:a16="http://schemas.microsoft.com/office/drawing/2014/main" id="{511533FE-E66B-4139-850D-0FF520DA6D16}"/>
              </a:ext>
            </a:extLst>
          </p:cNvPr>
          <p:cNvSpPr>
            <a:spLocks noGrp="1"/>
          </p:cNvSpPr>
          <p:nvPr/>
        </p:nvSpPr>
        <p:spPr>
          <a:xfrm>
            <a:off x="1466850" y="4476750"/>
            <a:ext cx="9258300" cy="419100"/>
          </a:xfrm>
          <a:prstGeom prst="rect">
            <a:avLst/>
          </a:prstGeom>
          <a:noFill/>
          <a:ln w="0">
            <a:noFill/>
            <a:prstDash val="solid"/>
          </a:ln>
        </p:spPr>
        <p:txBody>
          <a:bodyPr/>
          <a:lstStyle/>
          <a:p>
            <a:pPr algn="ctr">
              <a:defRPr sz="2400" b="1">
                <a:solidFill>
                  <a:srgbClr val="083344"/>
                </a:solidFill>
              </a:defRPr>
            </a:pPr>
            <a:r>
              <a:rPr sz="2400" b="1">
                <a:solidFill>
                  <a:srgbClr val="083344"/>
                </a:solidFill>
              </a:rPr>
              <a:t>From document overload to guided retrieval</a:t>
            </a:r>
          </a:p>
        </p:txBody>
      </p:sp>
      <p:sp>
        <p:nvSpPr>
          <p:cNvPr id="32" name="Rectangle 31">
            <a:extLst>
              <a:ext uri="{FF2B5EF4-FFF2-40B4-BE49-F238E27FC236}">
                <a16:creationId xmlns:a16="http://schemas.microsoft.com/office/drawing/2014/main" id="{71626A23-5BCD-4A97-9B96-72E6CC795393}"/>
              </a:ext>
            </a:extLst>
          </p:cNvPr>
          <p:cNvSpPr>
            <a:spLocks noGrp="1"/>
          </p:cNvSpPr>
          <p:nvPr/>
        </p:nvSpPr>
        <p:spPr>
          <a:xfrm>
            <a:off x="1962150" y="5010150"/>
            <a:ext cx="8267700" cy="285750"/>
          </a:xfrm>
          <a:prstGeom prst="rect">
            <a:avLst/>
          </a:prstGeom>
          <a:noFill/>
          <a:ln w="0">
            <a:noFill/>
            <a:prstDash val="solid"/>
          </a:ln>
        </p:spPr>
        <p:txBody>
          <a:bodyPr/>
          <a:lstStyle/>
          <a:p>
            <a:pPr algn="ctr">
              <a:defRPr sz="1575" b="0">
                <a:solidFill>
                  <a:srgbClr val="5B6B78"/>
                </a:solidFill>
              </a:defRPr>
            </a:pPr>
            <a:r>
              <a:rPr sz="1575" b="0">
                <a:solidFill>
                  <a:srgbClr val="5B6B78"/>
                </a:solidFill>
              </a:rPr>
              <a:t>The system turns enterprise documents into searchable knowledge.</a:t>
            </a:r>
          </a:p>
        </p:txBody>
      </p:sp>
      <p:sp>
        <p:nvSpPr>
          <p:cNvPr id="33" name="Rectangle 32">
            <a:extLst>
              <a:ext uri="{FF2B5EF4-FFF2-40B4-BE49-F238E27FC236}">
                <a16:creationId xmlns:a16="http://schemas.microsoft.com/office/drawing/2014/main" id="{AA175B47-92A8-411A-BC39-8148DF52B3BD}"/>
              </a:ext>
            </a:extLst>
          </p:cNvPr>
          <p:cNvSpPr>
            <a:spLocks noGrp="1"/>
          </p:cNvSpPr>
          <p:nvPr/>
        </p:nvSpPr>
        <p:spPr>
          <a:xfrm>
            <a:off x="685800" y="6419850"/>
            <a:ext cx="5905500" cy="228600"/>
          </a:xfrm>
          <a:prstGeom prst="rect">
            <a:avLst/>
          </a:prstGeom>
          <a:noFill/>
          <a:ln w="0">
            <a:noFill/>
            <a:prstDash val="solid"/>
          </a:ln>
        </p:spPr>
        <p:txBody>
          <a:bodyPr/>
          <a:lstStyle/>
          <a:p>
            <a:pPr>
              <a:defRPr sz="900" b="0">
                <a:solidFill>
                  <a:srgbClr val="5B6B78"/>
                </a:solidFill>
              </a:defRPr>
            </a:pPr>
            <a:r>
              <a:rPr sz="900" b="0" dirty="0">
                <a:solidFill>
                  <a:srgbClr val="5B6B78"/>
                </a:solidFill>
              </a:rPr>
              <a:t>AI-powered enterprise document retrieval system</a:t>
            </a:r>
            <a:r>
              <a:rPr lang="de-DE" sz="900" b="0" dirty="0">
                <a:solidFill>
                  <a:srgbClr val="5B6B78"/>
                </a:solidFill>
              </a:rPr>
              <a:t> </a:t>
            </a:r>
            <a:r>
              <a:rPr lang="en-US" sz="900" dirty="0">
                <a:solidFill>
                  <a:srgbClr val="5B6B78"/>
                </a:solidFill>
              </a:rPr>
              <a:t>|</a:t>
            </a:r>
            <a:r>
              <a:rPr lang="de-DE" sz="900" dirty="0">
                <a:solidFill>
                  <a:srgbClr val="5B6B78"/>
                </a:solidFill>
              </a:rPr>
              <a:t> Md Fahim Hossain </a:t>
            </a:r>
            <a:r>
              <a:rPr lang="en-US" sz="900" dirty="0">
                <a:solidFill>
                  <a:srgbClr val="5B6B78"/>
                </a:solidFill>
              </a:rPr>
              <a:t>| July 2026</a:t>
            </a:r>
            <a:r>
              <a:rPr lang="de-DE" sz="900" dirty="0">
                <a:solidFill>
                  <a:srgbClr val="5B6B78"/>
                </a:solidFill>
              </a:rPr>
              <a:t> </a:t>
            </a:r>
            <a:endParaRPr sz="900" b="0" dirty="0">
              <a:solidFill>
                <a:srgbClr val="5B6B78"/>
              </a:solidFill>
            </a:endParaRPr>
          </a:p>
        </p:txBody>
      </p:sp>
      <p:sp>
        <p:nvSpPr>
          <p:cNvPr id="34" name="Rectangle 33">
            <a:extLst>
              <a:ext uri="{FF2B5EF4-FFF2-40B4-BE49-F238E27FC236}">
                <a16:creationId xmlns:a16="http://schemas.microsoft.com/office/drawing/2014/main" id="{1A2E2571-65AA-44C8-AEF7-DB7C4B02B5BB}"/>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04 / 11</a:t>
            </a:r>
          </a:p>
        </p:txBody>
      </p:sp>
      <p:pic>
        <p:nvPicPr>
          <p:cNvPr id="21" name="Picture 20">
            <a:extLst>
              <a:ext uri="{FF2B5EF4-FFF2-40B4-BE49-F238E27FC236}">
                <a16:creationId xmlns:a16="http://schemas.microsoft.com/office/drawing/2014/main" id="{90A36EA1-D9F9-942B-243A-B64AE0A8BD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147764907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F3BE474-8343-44E1-B6F4-9FAB76477366}"/>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515F9E58-7E39-4703-841E-14A40BDFFB77}"/>
              </a:ext>
            </a:extLst>
          </p:cNvPr>
          <p:cNvSpPr>
            <a:spLocks noGrp="1"/>
          </p:cNvSpPr>
          <p:nvPr/>
        </p:nvSpPr>
        <p:spPr>
          <a:xfrm>
            <a:off x="685800" y="342900"/>
            <a:ext cx="4000500" cy="209550"/>
          </a:xfrm>
          <a:prstGeom prst="rect">
            <a:avLst/>
          </a:prstGeom>
          <a:noFill/>
          <a:ln w="0">
            <a:noFill/>
            <a:prstDash val="solid"/>
          </a:ln>
        </p:spPr>
        <p:txBody>
          <a:bodyPr/>
          <a:lstStyle/>
          <a:p>
            <a:pPr>
              <a:defRPr sz="900" b="1">
                <a:solidFill>
                  <a:srgbClr val="009999"/>
                </a:solidFill>
              </a:defRPr>
            </a:pPr>
            <a:r>
              <a:rPr lang="en-US" sz="900" b="1" dirty="0">
                <a:solidFill>
                  <a:srgbClr val="009999"/>
                </a:solidFill>
              </a:rPr>
              <a:t>SPECIFICATION</a:t>
            </a:r>
            <a:endParaRPr sz="900" b="1" dirty="0">
              <a:solidFill>
                <a:srgbClr val="009999"/>
              </a:solidFill>
            </a:endParaRPr>
          </a:p>
        </p:txBody>
      </p:sp>
      <p:sp>
        <p:nvSpPr>
          <p:cNvPr id="3" name="Rectangle 2">
            <a:extLst>
              <a:ext uri="{FF2B5EF4-FFF2-40B4-BE49-F238E27FC236}">
                <a16:creationId xmlns:a16="http://schemas.microsoft.com/office/drawing/2014/main" id="{9314D284-CC76-4542-8200-2ADF8D5CDD2A}"/>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dirty="0">
                <a:solidFill>
                  <a:srgbClr val="083344"/>
                </a:solidFill>
              </a:rPr>
              <a:t>User Stories</a:t>
            </a:r>
          </a:p>
        </p:txBody>
      </p:sp>
      <p:sp>
        <p:nvSpPr>
          <p:cNvPr id="4" name="Rectangle: Rounded Corners 3">
            <a:extLst>
              <a:ext uri="{FF2B5EF4-FFF2-40B4-BE49-F238E27FC236}">
                <a16:creationId xmlns:a16="http://schemas.microsoft.com/office/drawing/2014/main" id="{1209B250-8FFE-482B-AD05-FCAA63EB6531}"/>
              </a:ext>
            </a:extLst>
          </p:cNvPr>
          <p:cNvSpPr>
            <a:spLocks noGrp="1"/>
          </p:cNvSpPr>
          <p:nvPr/>
        </p:nvSpPr>
        <p:spPr>
          <a:xfrm>
            <a:off x="781050" y="1524000"/>
            <a:ext cx="3905250" cy="3505200"/>
          </a:xfrm>
          <a:prstGeom prst="roundRect">
            <a:avLst>
              <a:gd name="adj" fmla="val 3261"/>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5" name="Rectangle 4">
            <a:extLst>
              <a:ext uri="{FF2B5EF4-FFF2-40B4-BE49-F238E27FC236}">
                <a16:creationId xmlns:a16="http://schemas.microsoft.com/office/drawing/2014/main" id="{053F2EA2-33AA-4566-A860-D213BA8BEC32}"/>
              </a:ext>
            </a:extLst>
          </p:cNvPr>
          <p:cNvSpPr>
            <a:spLocks noGrp="1"/>
          </p:cNvSpPr>
          <p:nvPr/>
        </p:nvSpPr>
        <p:spPr>
          <a:xfrm>
            <a:off x="1162050" y="1943100"/>
            <a:ext cx="2476500" cy="304800"/>
          </a:xfrm>
          <a:prstGeom prst="rect">
            <a:avLst/>
          </a:prstGeom>
          <a:noFill/>
          <a:ln w="0">
            <a:noFill/>
            <a:prstDash val="solid"/>
          </a:ln>
        </p:spPr>
        <p:txBody>
          <a:bodyPr/>
          <a:lstStyle/>
          <a:p>
            <a:pPr algn="l">
              <a:defRPr sz="2100" b="1">
                <a:solidFill>
                  <a:srgbClr val="083344"/>
                </a:solidFill>
              </a:defRPr>
            </a:pPr>
            <a:r>
              <a:rPr sz="2100" b="1">
                <a:solidFill>
                  <a:srgbClr val="083344"/>
                </a:solidFill>
              </a:rPr>
              <a:t>Template Format</a:t>
            </a:r>
          </a:p>
        </p:txBody>
      </p:sp>
      <p:sp>
        <p:nvSpPr>
          <p:cNvPr id="6" name="Rectangle: Rounded Corners 5">
            <a:extLst>
              <a:ext uri="{FF2B5EF4-FFF2-40B4-BE49-F238E27FC236}">
                <a16:creationId xmlns:a16="http://schemas.microsoft.com/office/drawing/2014/main" id="{11BC3611-9B9B-44AE-850F-C434D000135F}"/>
              </a:ext>
            </a:extLst>
          </p:cNvPr>
          <p:cNvSpPr>
            <a:spLocks noGrp="1"/>
          </p:cNvSpPr>
          <p:nvPr/>
        </p:nvSpPr>
        <p:spPr>
          <a:xfrm>
            <a:off x="1162050" y="2571750"/>
            <a:ext cx="2667000" cy="4762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38" name="Graphic 37"/>
          <p:cNvPicPr>
            <a:picLocks noChangeAspect="1"/>
          </p:cNvPicPr>
          <p:nvPr/>
        </p:nvPicPr>
        <p:blipFill>
          <a:blip>
            <a:extLst>
              <a:ext uri="{96DAC541-7B7A-43D3-8B79-37D633B846F1}">
                <asvg:svgBlip xmlns:asvg="http://schemas.microsoft.com/office/drawing/2016/SVG/main" r:embed="rId3"/>
              </a:ext>
            </a:extLst>
          </a:blip>
          <a:stretch/>
        </p:blipFill>
        <p:spPr>
          <a:xfrm>
            <a:off x="1334328" y="2705928"/>
            <a:ext cx="228600" cy="228600"/>
          </a:xfrm>
          <a:prstGeom prst="rect">
            <a:avLst/>
          </a:prstGeom>
        </p:spPr>
      </p:pic>
      <p:sp>
        <p:nvSpPr>
          <p:cNvPr id="8" name="Rectangle 7">
            <a:extLst>
              <a:ext uri="{FF2B5EF4-FFF2-40B4-BE49-F238E27FC236}">
                <a16:creationId xmlns:a16="http://schemas.microsoft.com/office/drawing/2014/main" id="{1325F530-973F-4F98-B43D-1F206FCB7EE9}"/>
              </a:ext>
            </a:extLst>
          </p:cNvPr>
          <p:cNvSpPr>
            <a:spLocks noGrp="1"/>
          </p:cNvSpPr>
          <p:nvPr/>
        </p:nvSpPr>
        <p:spPr>
          <a:xfrm>
            <a:off x="1638300" y="2667000"/>
            <a:ext cx="207645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As a role</a:t>
            </a:r>
          </a:p>
        </p:txBody>
      </p:sp>
      <p:sp>
        <p:nvSpPr>
          <p:cNvPr id="9" name="Rectangle: Rounded Corners 8">
            <a:extLst>
              <a:ext uri="{FF2B5EF4-FFF2-40B4-BE49-F238E27FC236}">
                <a16:creationId xmlns:a16="http://schemas.microsoft.com/office/drawing/2014/main" id="{12193414-E8CC-4E17-BB52-86D46B1BF1E0}"/>
              </a:ext>
            </a:extLst>
          </p:cNvPr>
          <p:cNvSpPr>
            <a:spLocks noGrp="1"/>
          </p:cNvSpPr>
          <p:nvPr/>
        </p:nvSpPr>
        <p:spPr>
          <a:xfrm>
            <a:off x="1162050" y="3276600"/>
            <a:ext cx="2667000" cy="4762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1" name="Graphic 40"/>
          <p:cNvPicPr>
            <a:picLocks noChangeAspect="1"/>
          </p:cNvPicPr>
          <p:nvPr/>
        </p:nvPicPr>
        <p:blipFill>
          <a:blip>
            <a:extLst>
              <a:ext uri="{96DAC541-7B7A-43D3-8B79-37D633B846F1}">
                <asvg:svgBlip xmlns:asvg="http://schemas.microsoft.com/office/drawing/2016/SVG/main" r:embed="rId4"/>
              </a:ext>
            </a:extLst>
          </a:blip>
          <a:stretch/>
        </p:blipFill>
        <p:spPr>
          <a:xfrm>
            <a:off x="1314450" y="3410778"/>
            <a:ext cx="228600" cy="228600"/>
          </a:xfrm>
          <a:prstGeom prst="rect">
            <a:avLst/>
          </a:prstGeom>
        </p:spPr>
      </p:pic>
      <p:sp>
        <p:nvSpPr>
          <p:cNvPr id="11" name="Rectangle 10">
            <a:extLst>
              <a:ext uri="{FF2B5EF4-FFF2-40B4-BE49-F238E27FC236}">
                <a16:creationId xmlns:a16="http://schemas.microsoft.com/office/drawing/2014/main" id="{CC0A73CF-078C-4A82-B6D4-D3407F40B58B}"/>
              </a:ext>
            </a:extLst>
          </p:cNvPr>
          <p:cNvSpPr>
            <a:spLocks noGrp="1"/>
          </p:cNvSpPr>
          <p:nvPr/>
        </p:nvSpPr>
        <p:spPr>
          <a:xfrm>
            <a:off x="1638300" y="3362018"/>
            <a:ext cx="207645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I want capability</a:t>
            </a:r>
          </a:p>
        </p:txBody>
      </p:sp>
      <p:sp>
        <p:nvSpPr>
          <p:cNvPr id="12" name="Rectangle: Rounded Corners 11">
            <a:extLst>
              <a:ext uri="{FF2B5EF4-FFF2-40B4-BE49-F238E27FC236}">
                <a16:creationId xmlns:a16="http://schemas.microsoft.com/office/drawing/2014/main" id="{417C0282-EDD6-408B-B6E6-8AB439804C8D}"/>
              </a:ext>
            </a:extLst>
          </p:cNvPr>
          <p:cNvSpPr>
            <a:spLocks noGrp="1"/>
          </p:cNvSpPr>
          <p:nvPr/>
        </p:nvSpPr>
        <p:spPr>
          <a:xfrm>
            <a:off x="1162050" y="3981450"/>
            <a:ext cx="2667000" cy="4762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4" name="Graphic 43"/>
          <p:cNvPicPr>
            <a:picLocks noChangeAspect="1"/>
          </p:cNvPicPr>
          <p:nvPr/>
        </p:nvPicPr>
        <p:blipFill>
          <a:blip>
            <a:extLst>
              <a:ext uri="{96DAC541-7B7A-43D3-8B79-37D633B846F1}">
                <asvg:svgBlip xmlns:asvg="http://schemas.microsoft.com/office/drawing/2016/SVG/main" r:embed="rId5"/>
              </a:ext>
            </a:extLst>
          </a:blip>
          <a:stretch/>
        </p:blipFill>
        <p:spPr>
          <a:xfrm>
            <a:off x="1314450" y="4115628"/>
            <a:ext cx="228600" cy="228600"/>
          </a:xfrm>
          <a:prstGeom prst="rect">
            <a:avLst/>
          </a:prstGeom>
        </p:spPr>
      </p:pic>
      <p:sp>
        <p:nvSpPr>
          <p:cNvPr id="14" name="Rectangle 13">
            <a:extLst>
              <a:ext uri="{FF2B5EF4-FFF2-40B4-BE49-F238E27FC236}">
                <a16:creationId xmlns:a16="http://schemas.microsoft.com/office/drawing/2014/main" id="{DCC47E5F-1CA7-4205-A121-A5AD70A9CB91}"/>
              </a:ext>
            </a:extLst>
          </p:cNvPr>
          <p:cNvSpPr>
            <a:spLocks noGrp="1"/>
          </p:cNvSpPr>
          <p:nvPr/>
        </p:nvSpPr>
        <p:spPr>
          <a:xfrm>
            <a:off x="1638300" y="4066868"/>
            <a:ext cx="207645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So that value</a:t>
            </a:r>
          </a:p>
        </p:txBody>
      </p:sp>
      <p:sp>
        <p:nvSpPr>
          <p:cNvPr id="15" name="Rectangle: Rounded Corners 14">
            <a:extLst>
              <a:ext uri="{FF2B5EF4-FFF2-40B4-BE49-F238E27FC236}">
                <a16:creationId xmlns:a16="http://schemas.microsoft.com/office/drawing/2014/main" id="{46FF8719-21DA-4CB8-B078-1BF1A03A65A8}"/>
              </a:ext>
            </a:extLst>
          </p:cNvPr>
          <p:cNvSpPr>
            <a:spLocks noGrp="1"/>
          </p:cNvSpPr>
          <p:nvPr/>
        </p:nvSpPr>
        <p:spPr>
          <a:xfrm>
            <a:off x="5219700" y="1524000"/>
            <a:ext cx="5638800" cy="1009650"/>
          </a:xfrm>
          <a:prstGeom prst="roundRect">
            <a:avLst>
              <a:gd name="adj" fmla="val 11321"/>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47" name="Graphic 46"/>
          <p:cNvPicPr>
            <a:picLocks noChangeAspect="1"/>
          </p:cNvPicPr>
          <p:nvPr/>
        </p:nvPicPr>
        <p:blipFill>
          <a:blip>
            <a:extLst>
              <a:ext uri="{96DAC541-7B7A-43D3-8B79-37D633B846F1}">
                <asvg:svgBlip xmlns:asvg="http://schemas.microsoft.com/office/drawing/2016/SVG/main" r:embed="rId6"/>
              </a:ext>
            </a:extLst>
          </a:blip>
          <a:stretch/>
        </p:blipFill>
        <p:spPr>
          <a:xfrm>
            <a:off x="5448300" y="1840395"/>
            <a:ext cx="381000" cy="381000"/>
          </a:xfrm>
          <a:prstGeom prst="rect">
            <a:avLst/>
          </a:prstGeom>
        </p:spPr>
      </p:pic>
      <p:sp>
        <p:nvSpPr>
          <p:cNvPr id="17" name="Rectangle 16">
            <a:extLst>
              <a:ext uri="{FF2B5EF4-FFF2-40B4-BE49-F238E27FC236}">
                <a16:creationId xmlns:a16="http://schemas.microsoft.com/office/drawing/2014/main" id="{3E7F1588-E884-4E37-AFC6-4C41AF34046E}"/>
              </a:ext>
            </a:extLst>
          </p:cNvPr>
          <p:cNvSpPr>
            <a:spLocks noGrp="1"/>
          </p:cNvSpPr>
          <p:nvPr/>
        </p:nvSpPr>
        <p:spPr>
          <a:xfrm>
            <a:off x="6019800" y="1641348"/>
            <a:ext cx="2095500" cy="228600"/>
          </a:xfrm>
          <a:prstGeom prst="rect">
            <a:avLst/>
          </a:prstGeom>
          <a:noFill/>
          <a:ln w="0">
            <a:noFill/>
            <a:prstDash val="solid"/>
          </a:ln>
        </p:spPr>
        <p:txBody>
          <a:bodyPr/>
          <a:lstStyle/>
          <a:p>
            <a:pPr algn="l">
              <a:defRPr sz="1350" b="1">
                <a:solidFill>
                  <a:srgbClr val="0077B6"/>
                </a:solidFill>
              </a:defRPr>
            </a:pPr>
            <a:r>
              <a:rPr sz="1400" b="1" dirty="0">
                <a:solidFill>
                  <a:srgbClr val="0077B6"/>
                </a:solidFill>
              </a:rPr>
              <a:t>Users</a:t>
            </a:r>
          </a:p>
        </p:txBody>
      </p:sp>
      <p:sp>
        <p:nvSpPr>
          <p:cNvPr id="18" name="Rectangle 17">
            <a:extLst>
              <a:ext uri="{FF2B5EF4-FFF2-40B4-BE49-F238E27FC236}">
                <a16:creationId xmlns:a16="http://schemas.microsoft.com/office/drawing/2014/main" id="{AF7FA960-A816-441B-B012-97ADA32882DA}"/>
              </a:ext>
            </a:extLst>
          </p:cNvPr>
          <p:cNvSpPr>
            <a:spLocks noGrp="1"/>
          </p:cNvSpPr>
          <p:nvPr/>
        </p:nvSpPr>
        <p:spPr>
          <a:xfrm>
            <a:off x="6019800" y="1889760"/>
            <a:ext cx="4000500" cy="228600"/>
          </a:xfrm>
          <a:prstGeom prst="rect">
            <a:avLst/>
          </a:prstGeom>
          <a:noFill/>
          <a:ln w="0">
            <a:noFill/>
            <a:prstDash val="solid"/>
          </a:ln>
        </p:spPr>
        <p:txBody>
          <a:bodyPr/>
          <a:lstStyle/>
          <a:p>
            <a:pPr algn="l">
              <a:defRPr sz="1650" b="1">
                <a:solidFill>
                  <a:srgbClr val="083344"/>
                </a:solidFill>
              </a:defRPr>
            </a:pPr>
            <a:r>
              <a:rPr sz="1650" b="1" dirty="0">
                <a:solidFill>
                  <a:srgbClr val="083344"/>
                </a:solidFill>
              </a:rPr>
              <a:t>Ask across selected documents</a:t>
            </a:r>
          </a:p>
        </p:txBody>
      </p:sp>
      <p:sp>
        <p:nvSpPr>
          <p:cNvPr id="19" name="Rectangle 18">
            <a:extLst>
              <a:ext uri="{FF2B5EF4-FFF2-40B4-BE49-F238E27FC236}">
                <a16:creationId xmlns:a16="http://schemas.microsoft.com/office/drawing/2014/main" id="{24D0A9EC-436A-44C2-8588-B1054A78979C}"/>
              </a:ext>
            </a:extLst>
          </p:cNvPr>
          <p:cNvSpPr>
            <a:spLocks noGrp="1"/>
          </p:cNvSpPr>
          <p:nvPr/>
        </p:nvSpPr>
        <p:spPr>
          <a:xfrm>
            <a:off x="6019800" y="2174748"/>
            <a:ext cx="4000500" cy="209550"/>
          </a:xfrm>
          <a:prstGeom prst="rect">
            <a:avLst/>
          </a:prstGeom>
          <a:noFill/>
          <a:ln w="0">
            <a:noFill/>
            <a:prstDash val="solid"/>
          </a:ln>
        </p:spPr>
        <p:txBody>
          <a:bodyPr/>
          <a:lstStyle/>
          <a:p>
            <a:pPr algn="l">
              <a:defRPr sz="1200" b="0">
                <a:solidFill>
                  <a:srgbClr val="5B6B78"/>
                </a:solidFill>
              </a:defRPr>
            </a:pPr>
            <a:r>
              <a:rPr sz="1400" b="0" dirty="0">
                <a:solidFill>
                  <a:srgbClr val="5B6B78"/>
                </a:solidFill>
              </a:rPr>
              <a:t>Grounded answers with references</a:t>
            </a:r>
          </a:p>
        </p:txBody>
      </p:sp>
      <p:sp>
        <p:nvSpPr>
          <p:cNvPr id="20" name="Rectangle: Rounded Corners 19">
            <a:extLst>
              <a:ext uri="{FF2B5EF4-FFF2-40B4-BE49-F238E27FC236}">
                <a16:creationId xmlns:a16="http://schemas.microsoft.com/office/drawing/2014/main" id="{80152800-EB7E-432C-816F-ACE9ACA5D140}"/>
              </a:ext>
            </a:extLst>
          </p:cNvPr>
          <p:cNvSpPr>
            <a:spLocks noGrp="1"/>
          </p:cNvSpPr>
          <p:nvPr/>
        </p:nvSpPr>
        <p:spPr>
          <a:xfrm>
            <a:off x="5219700" y="2743200"/>
            <a:ext cx="5638800" cy="1009650"/>
          </a:xfrm>
          <a:prstGeom prst="roundRect">
            <a:avLst>
              <a:gd name="adj" fmla="val 11321"/>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52" name="Graphic 51"/>
          <p:cNvPicPr>
            <a:picLocks noChangeAspect="1"/>
          </p:cNvPicPr>
          <p:nvPr/>
        </p:nvPicPr>
        <p:blipFill>
          <a:blip>
            <a:extLst>
              <a:ext uri="{96DAC541-7B7A-43D3-8B79-37D633B846F1}">
                <asvg:svgBlip xmlns:asvg="http://schemas.microsoft.com/office/drawing/2016/SVG/main" r:embed="rId7"/>
              </a:ext>
            </a:extLst>
          </a:blip>
          <a:stretch/>
        </p:blipFill>
        <p:spPr>
          <a:xfrm>
            <a:off x="5448300" y="3039717"/>
            <a:ext cx="381000" cy="381000"/>
          </a:xfrm>
          <a:prstGeom prst="rect">
            <a:avLst/>
          </a:prstGeom>
        </p:spPr>
      </p:pic>
      <p:sp>
        <p:nvSpPr>
          <p:cNvPr id="22" name="Rectangle 21">
            <a:extLst>
              <a:ext uri="{FF2B5EF4-FFF2-40B4-BE49-F238E27FC236}">
                <a16:creationId xmlns:a16="http://schemas.microsoft.com/office/drawing/2014/main" id="{E9FBF2FE-E32C-4988-969B-CFA579070E54}"/>
              </a:ext>
            </a:extLst>
          </p:cNvPr>
          <p:cNvSpPr>
            <a:spLocks noGrp="1"/>
          </p:cNvSpPr>
          <p:nvPr/>
        </p:nvSpPr>
        <p:spPr>
          <a:xfrm>
            <a:off x="6019800" y="2860548"/>
            <a:ext cx="2095500" cy="228600"/>
          </a:xfrm>
          <a:prstGeom prst="rect">
            <a:avLst/>
          </a:prstGeom>
          <a:noFill/>
          <a:ln w="0">
            <a:noFill/>
            <a:prstDash val="solid"/>
          </a:ln>
        </p:spPr>
        <p:txBody>
          <a:bodyPr/>
          <a:lstStyle/>
          <a:p>
            <a:pPr algn="l">
              <a:defRPr sz="1350" b="1">
                <a:solidFill>
                  <a:srgbClr val="009999"/>
                </a:solidFill>
              </a:defRPr>
            </a:pPr>
            <a:r>
              <a:rPr sz="1400" b="1" dirty="0">
                <a:solidFill>
                  <a:srgbClr val="009999"/>
                </a:solidFill>
              </a:rPr>
              <a:t>Administrators</a:t>
            </a:r>
          </a:p>
        </p:txBody>
      </p:sp>
      <p:sp>
        <p:nvSpPr>
          <p:cNvPr id="23" name="Rectangle 22">
            <a:extLst>
              <a:ext uri="{FF2B5EF4-FFF2-40B4-BE49-F238E27FC236}">
                <a16:creationId xmlns:a16="http://schemas.microsoft.com/office/drawing/2014/main" id="{C22FF745-98A1-46AE-A1CC-E53D7427EF96}"/>
              </a:ext>
            </a:extLst>
          </p:cNvPr>
          <p:cNvSpPr>
            <a:spLocks noGrp="1"/>
          </p:cNvSpPr>
          <p:nvPr/>
        </p:nvSpPr>
        <p:spPr>
          <a:xfrm>
            <a:off x="6019800" y="3108960"/>
            <a:ext cx="4000500" cy="228600"/>
          </a:xfrm>
          <a:prstGeom prst="rect">
            <a:avLst/>
          </a:prstGeom>
          <a:noFill/>
          <a:ln w="0">
            <a:noFill/>
            <a:prstDash val="solid"/>
          </a:ln>
        </p:spPr>
        <p:txBody>
          <a:bodyPr/>
          <a:lstStyle/>
          <a:p>
            <a:pPr algn="l">
              <a:defRPr sz="1650" b="1">
                <a:solidFill>
                  <a:srgbClr val="083344"/>
                </a:solidFill>
              </a:defRPr>
            </a:pPr>
            <a:r>
              <a:rPr sz="1650" b="1" dirty="0">
                <a:solidFill>
                  <a:srgbClr val="083344"/>
                </a:solidFill>
              </a:rPr>
              <a:t>Manage users and activity</a:t>
            </a:r>
          </a:p>
        </p:txBody>
      </p:sp>
      <p:sp>
        <p:nvSpPr>
          <p:cNvPr id="24" name="Rectangle 23">
            <a:extLst>
              <a:ext uri="{FF2B5EF4-FFF2-40B4-BE49-F238E27FC236}">
                <a16:creationId xmlns:a16="http://schemas.microsoft.com/office/drawing/2014/main" id="{06C5B25B-9E6D-4B75-A7F0-E86CA456B3FB}"/>
              </a:ext>
            </a:extLst>
          </p:cNvPr>
          <p:cNvSpPr>
            <a:spLocks noGrp="1"/>
          </p:cNvSpPr>
          <p:nvPr/>
        </p:nvSpPr>
        <p:spPr>
          <a:xfrm>
            <a:off x="6019800" y="3393948"/>
            <a:ext cx="4000500" cy="209550"/>
          </a:xfrm>
          <a:prstGeom prst="rect">
            <a:avLst/>
          </a:prstGeom>
          <a:noFill/>
          <a:ln w="0">
            <a:noFill/>
            <a:prstDash val="solid"/>
          </a:ln>
        </p:spPr>
        <p:txBody>
          <a:bodyPr/>
          <a:lstStyle/>
          <a:p>
            <a:pPr algn="l">
              <a:defRPr sz="1200" b="0">
                <a:solidFill>
                  <a:srgbClr val="5B6B78"/>
                </a:solidFill>
              </a:defRPr>
            </a:pPr>
            <a:r>
              <a:rPr sz="1400" b="0" dirty="0">
                <a:solidFill>
                  <a:srgbClr val="5B6B78"/>
                </a:solidFill>
              </a:rPr>
              <a:t>Secure and reliable platform</a:t>
            </a:r>
          </a:p>
        </p:txBody>
      </p:sp>
      <p:sp>
        <p:nvSpPr>
          <p:cNvPr id="25" name="Rectangle: Rounded Corners 24">
            <a:extLst>
              <a:ext uri="{FF2B5EF4-FFF2-40B4-BE49-F238E27FC236}">
                <a16:creationId xmlns:a16="http://schemas.microsoft.com/office/drawing/2014/main" id="{353A9395-4FBC-4A3D-B684-AC2E7877249C}"/>
              </a:ext>
            </a:extLst>
          </p:cNvPr>
          <p:cNvSpPr>
            <a:spLocks noGrp="1"/>
          </p:cNvSpPr>
          <p:nvPr/>
        </p:nvSpPr>
        <p:spPr>
          <a:xfrm>
            <a:off x="5219700" y="3962400"/>
            <a:ext cx="5638800" cy="1009650"/>
          </a:xfrm>
          <a:prstGeom prst="roundRect">
            <a:avLst>
              <a:gd name="adj" fmla="val 11321"/>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57" name="Graphic 56"/>
          <p:cNvPicPr>
            <a:picLocks noChangeAspect="1"/>
          </p:cNvPicPr>
          <p:nvPr/>
        </p:nvPicPr>
        <p:blipFill>
          <a:blip>
            <a:extLst>
              <a:ext uri="{96DAC541-7B7A-43D3-8B79-37D633B846F1}">
                <asvg:svgBlip xmlns:asvg="http://schemas.microsoft.com/office/drawing/2016/SVG/main" r:embed="rId8"/>
              </a:ext>
            </a:extLst>
          </a:blip>
          <a:stretch/>
        </p:blipFill>
        <p:spPr>
          <a:xfrm>
            <a:off x="5448300" y="4258917"/>
            <a:ext cx="381000" cy="381000"/>
          </a:xfrm>
          <a:prstGeom prst="rect">
            <a:avLst/>
          </a:prstGeom>
        </p:spPr>
      </p:pic>
      <p:sp>
        <p:nvSpPr>
          <p:cNvPr id="27" name="Rectangle 26">
            <a:extLst>
              <a:ext uri="{FF2B5EF4-FFF2-40B4-BE49-F238E27FC236}">
                <a16:creationId xmlns:a16="http://schemas.microsoft.com/office/drawing/2014/main" id="{CE77BFD5-C954-4C9F-919A-2A7FB9942A66}"/>
              </a:ext>
            </a:extLst>
          </p:cNvPr>
          <p:cNvSpPr>
            <a:spLocks noGrp="1"/>
          </p:cNvSpPr>
          <p:nvPr/>
        </p:nvSpPr>
        <p:spPr>
          <a:xfrm>
            <a:off x="6019800" y="4059870"/>
            <a:ext cx="2095500" cy="228600"/>
          </a:xfrm>
          <a:prstGeom prst="rect">
            <a:avLst/>
          </a:prstGeom>
          <a:noFill/>
          <a:ln w="0">
            <a:noFill/>
            <a:prstDash val="solid"/>
          </a:ln>
        </p:spPr>
        <p:txBody>
          <a:bodyPr/>
          <a:lstStyle/>
          <a:p>
            <a:pPr algn="l">
              <a:defRPr sz="1350" b="1">
                <a:solidFill>
                  <a:srgbClr val="2CA58D"/>
                </a:solidFill>
              </a:defRPr>
            </a:pPr>
            <a:r>
              <a:rPr sz="1400" b="1" dirty="0">
                <a:solidFill>
                  <a:srgbClr val="2CA58D"/>
                </a:solidFill>
              </a:rPr>
              <a:t>Document owners</a:t>
            </a:r>
          </a:p>
        </p:txBody>
      </p:sp>
      <p:sp>
        <p:nvSpPr>
          <p:cNvPr id="28" name="Rectangle 27">
            <a:extLst>
              <a:ext uri="{FF2B5EF4-FFF2-40B4-BE49-F238E27FC236}">
                <a16:creationId xmlns:a16="http://schemas.microsoft.com/office/drawing/2014/main" id="{05E24E8B-EB6D-40A1-A5BD-E05DA784D06A}"/>
              </a:ext>
            </a:extLst>
          </p:cNvPr>
          <p:cNvSpPr>
            <a:spLocks noGrp="1"/>
          </p:cNvSpPr>
          <p:nvPr/>
        </p:nvSpPr>
        <p:spPr>
          <a:xfrm>
            <a:off x="6019800" y="4288404"/>
            <a:ext cx="4000500" cy="228600"/>
          </a:xfrm>
          <a:prstGeom prst="rect">
            <a:avLst/>
          </a:prstGeom>
          <a:noFill/>
          <a:ln w="0">
            <a:noFill/>
            <a:prstDash val="solid"/>
          </a:ln>
        </p:spPr>
        <p:txBody>
          <a:bodyPr/>
          <a:lstStyle/>
          <a:p>
            <a:pPr algn="l">
              <a:defRPr sz="1650" b="1">
                <a:solidFill>
                  <a:srgbClr val="083344"/>
                </a:solidFill>
              </a:defRPr>
            </a:pPr>
            <a:r>
              <a:rPr sz="1650" b="1" dirty="0">
                <a:solidFill>
                  <a:srgbClr val="083344"/>
                </a:solidFill>
              </a:rPr>
              <a:t>Upload and monitor processing</a:t>
            </a:r>
          </a:p>
        </p:txBody>
      </p:sp>
      <p:sp>
        <p:nvSpPr>
          <p:cNvPr id="29" name="Rectangle 28">
            <a:extLst>
              <a:ext uri="{FF2B5EF4-FFF2-40B4-BE49-F238E27FC236}">
                <a16:creationId xmlns:a16="http://schemas.microsoft.com/office/drawing/2014/main" id="{1205B6EC-86EA-4BB8-9A6F-D5A0509CA9D0}"/>
              </a:ext>
            </a:extLst>
          </p:cNvPr>
          <p:cNvSpPr>
            <a:spLocks noGrp="1"/>
          </p:cNvSpPr>
          <p:nvPr/>
        </p:nvSpPr>
        <p:spPr>
          <a:xfrm>
            <a:off x="6019800" y="4583331"/>
            <a:ext cx="4000500" cy="209550"/>
          </a:xfrm>
          <a:prstGeom prst="rect">
            <a:avLst/>
          </a:prstGeom>
          <a:noFill/>
          <a:ln w="0">
            <a:noFill/>
            <a:prstDash val="solid"/>
          </a:ln>
        </p:spPr>
        <p:txBody>
          <a:bodyPr/>
          <a:lstStyle/>
          <a:p>
            <a:pPr algn="l">
              <a:defRPr sz="1200" b="0">
                <a:solidFill>
                  <a:srgbClr val="5B6B78"/>
                </a:solidFill>
              </a:defRPr>
            </a:pPr>
            <a:r>
              <a:rPr sz="1400" b="0" dirty="0">
                <a:solidFill>
                  <a:srgbClr val="5B6B78"/>
                </a:solidFill>
              </a:rPr>
              <a:t>Knowledge becomes searchable</a:t>
            </a:r>
          </a:p>
        </p:txBody>
      </p:sp>
      <p:sp>
        <p:nvSpPr>
          <p:cNvPr id="30" name="Rectangle 29">
            <a:extLst>
              <a:ext uri="{FF2B5EF4-FFF2-40B4-BE49-F238E27FC236}">
                <a16:creationId xmlns:a16="http://schemas.microsoft.com/office/drawing/2014/main" id="{3607C623-7EE8-41F1-A979-2A587D14FF5B}"/>
              </a:ext>
            </a:extLst>
          </p:cNvPr>
          <p:cNvSpPr>
            <a:spLocks noGrp="1"/>
          </p:cNvSpPr>
          <p:nvPr/>
        </p:nvSpPr>
        <p:spPr>
          <a:xfrm>
            <a:off x="685800" y="6419850"/>
            <a:ext cx="5905500" cy="228600"/>
          </a:xfrm>
          <a:prstGeom prst="rect">
            <a:avLst/>
          </a:prstGeom>
          <a:noFill/>
          <a:ln w="0">
            <a:noFill/>
            <a:prstDash val="solid"/>
          </a:ln>
        </p:spPr>
        <p:txBody>
          <a:bodyPr/>
          <a:lstStyle/>
          <a:p>
            <a:pPr>
              <a:defRPr sz="900" b="0">
                <a:solidFill>
                  <a:srgbClr val="5B6B78"/>
                </a:solidFill>
              </a:defRPr>
            </a:pPr>
            <a:r>
              <a:rPr sz="900" b="0" dirty="0">
                <a:solidFill>
                  <a:srgbClr val="5B6B78"/>
                </a:solidFill>
              </a:rPr>
              <a:t>AI-powered enterprise document retrieval system</a:t>
            </a:r>
            <a:r>
              <a:rPr lang="de-DE" sz="900" b="0" dirty="0">
                <a:solidFill>
                  <a:srgbClr val="5B6B78"/>
                </a:solidFill>
              </a:rPr>
              <a:t> </a:t>
            </a:r>
            <a:r>
              <a:rPr lang="en-US" sz="900" dirty="0">
                <a:solidFill>
                  <a:srgbClr val="5B6B78"/>
                </a:solidFill>
              </a:rPr>
              <a:t>|</a:t>
            </a:r>
            <a:r>
              <a:rPr lang="de-DE" sz="900" dirty="0">
                <a:solidFill>
                  <a:srgbClr val="5B6B78"/>
                </a:solidFill>
              </a:rPr>
              <a:t> Md Fahim Hossain </a:t>
            </a:r>
            <a:r>
              <a:rPr lang="en-US" sz="900" dirty="0">
                <a:solidFill>
                  <a:srgbClr val="5B6B78"/>
                </a:solidFill>
              </a:rPr>
              <a:t>| July 2026</a:t>
            </a:r>
            <a:r>
              <a:rPr lang="de-DE" sz="900" dirty="0">
                <a:solidFill>
                  <a:srgbClr val="5B6B78"/>
                </a:solidFill>
              </a:rPr>
              <a:t> </a:t>
            </a:r>
            <a:endParaRPr sz="900" b="0" dirty="0">
              <a:solidFill>
                <a:srgbClr val="5B6B78"/>
              </a:solidFill>
            </a:endParaRPr>
          </a:p>
        </p:txBody>
      </p:sp>
      <p:sp>
        <p:nvSpPr>
          <p:cNvPr id="31" name="Rectangle 30">
            <a:extLst>
              <a:ext uri="{FF2B5EF4-FFF2-40B4-BE49-F238E27FC236}">
                <a16:creationId xmlns:a16="http://schemas.microsoft.com/office/drawing/2014/main" id="{832271AD-715F-412F-9814-FA426CDC9D79}"/>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05 / 11</a:t>
            </a:r>
          </a:p>
        </p:txBody>
      </p:sp>
      <p:pic>
        <p:nvPicPr>
          <p:cNvPr id="13" name="Picture 12">
            <a:extLst>
              <a:ext uri="{FF2B5EF4-FFF2-40B4-BE49-F238E27FC236}">
                <a16:creationId xmlns:a16="http://schemas.microsoft.com/office/drawing/2014/main" id="{01B06919-5820-9347-81ED-BF1C81A707C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210083497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C0C3861-1F49-4FC9-BE8A-9DC49AA17814}"/>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288F3D13-21B0-4D00-B8A0-76F7B1674049}"/>
              </a:ext>
            </a:extLst>
          </p:cNvPr>
          <p:cNvSpPr>
            <a:spLocks noGrp="1"/>
          </p:cNvSpPr>
          <p:nvPr/>
        </p:nvSpPr>
        <p:spPr>
          <a:xfrm>
            <a:off x="685800" y="342900"/>
            <a:ext cx="4000500" cy="209550"/>
          </a:xfrm>
          <a:prstGeom prst="rect">
            <a:avLst/>
          </a:prstGeom>
          <a:noFill/>
          <a:ln w="0">
            <a:noFill/>
            <a:prstDash val="solid"/>
          </a:ln>
        </p:spPr>
        <p:txBody>
          <a:bodyPr/>
          <a:lstStyle/>
          <a:p>
            <a:pPr>
              <a:defRPr sz="900" b="1">
                <a:solidFill>
                  <a:srgbClr val="009999"/>
                </a:solidFill>
              </a:defRPr>
            </a:pPr>
            <a:r>
              <a:rPr lang="en-US" sz="900" b="1" dirty="0">
                <a:solidFill>
                  <a:srgbClr val="009999"/>
                </a:solidFill>
              </a:rPr>
              <a:t>SPECIFICATION</a:t>
            </a:r>
            <a:endParaRPr sz="900" b="1" dirty="0">
              <a:solidFill>
                <a:srgbClr val="009999"/>
              </a:solidFill>
            </a:endParaRPr>
          </a:p>
        </p:txBody>
      </p:sp>
      <p:sp>
        <p:nvSpPr>
          <p:cNvPr id="3" name="Rectangle 2">
            <a:extLst>
              <a:ext uri="{FF2B5EF4-FFF2-40B4-BE49-F238E27FC236}">
                <a16:creationId xmlns:a16="http://schemas.microsoft.com/office/drawing/2014/main" id="{9D583CA0-0E71-42E7-9CE1-DD7CED507296}"/>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Requirements</a:t>
            </a:r>
          </a:p>
        </p:txBody>
      </p:sp>
      <p:sp>
        <p:nvSpPr>
          <p:cNvPr id="4" name="Rectangle: Rounded Corners 3">
            <a:extLst>
              <a:ext uri="{FF2B5EF4-FFF2-40B4-BE49-F238E27FC236}">
                <a16:creationId xmlns:a16="http://schemas.microsoft.com/office/drawing/2014/main" id="{A1D70934-87C0-40F7-B97E-F1AE16DF15ED}"/>
              </a:ext>
            </a:extLst>
          </p:cNvPr>
          <p:cNvSpPr>
            <a:spLocks noGrp="1"/>
          </p:cNvSpPr>
          <p:nvPr/>
        </p:nvSpPr>
        <p:spPr>
          <a:xfrm>
            <a:off x="781050" y="1466850"/>
            <a:ext cx="4953000" cy="3810000"/>
          </a:xfrm>
          <a:prstGeom prst="roundRect">
            <a:avLst>
              <a:gd name="adj" fmla="val 3000"/>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5" name="Rectangle: Rounded Corners 4">
            <a:extLst>
              <a:ext uri="{FF2B5EF4-FFF2-40B4-BE49-F238E27FC236}">
                <a16:creationId xmlns:a16="http://schemas.microsoft.com/office/drawing/2014/main" id="{C8A4DF39-FD07-454A-9964-7D20CA386D0A}"/>
              </a:ext>
            </a:extLst>
          </p:cNvPr>
          <p:cNvSpPr>
            <a:spLocks noGrp="1"/>
          </p:cNvSpPr>
          <p:nvPr/>
        </p:nvSpPr>
        <p:spPr>
          <a:xfrm>
            <a:off x="6269109" y="1466850"/>
            <a:ext cx="4953000" cy="3810000"/>
          </a:xfrm>
          <a:prstGeom prst="roundRect">
            <a:avLst>
              <a:gd name="adj" fmla="val 3000"/>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 name="Rectangle 5">
            <a:extLst>
              <a:ext uri="{FF2B5EF4-FFF2-40B4-BE49-F238E27FC236}">
                <a16:creationId xmlns:a16="http://schemas.microsoft.com/office/drawing/2014/main" id="{44E9D034-9493-430D-A3F2-E24E434BF5E4}"/>
              </a:ext>
            </a:extLst>
          </p:cNvPr>
          <p:cNvSpPr>
            <a:spLocks noGrp="1"/>
          </p:cNvSpPr>
          <p:nvPr/>
        </p:nvSpPr>
        <p:spPr>
          <a:xfrm>
            <a:off x="1219200" y="1905000"/>
            <a:ext cx="2667000" cy="304800"/>
          </a:xfrm>
          <a:prstGeom prst="rect">
            <a:avLst/>
          </a:prstGeom>
          <a:noFill/>
          <a:ln w="0">
            <a:noFill/>
            <a:prstDash val="solid"/>
          </a:ln>
        </p:spPr>
        <p:txBody>
          <a:bodyPr/>
          <a:lstStyle/>
          <a:p>
            <a:pPr algn="l">
              <a:defRPr sz="2250" b="1">
                <a:solidFill>
                  <a:srgbClr val="083344"/>
                </a:solidFill>
              </a:defRPr>
            </a:pPr>
            <a:r>
              <a:rPr sz="2250" b="1">
                <a:solidFill>
                  <a:srgbClr val="083344"/>
                </a:solidFill>
              </a:rPr>
              <a:t>Functional</a:t>
            </a:r>
          </a:p>
        </p:txBody>
      </p:sp>
      <p:sp>
        <p:nvSpPr>
          <p:cNvPr id="7" name="Rectangle 6">
            <a:extLst>
              <a:ext uri="{FF2B5EF4-FFF2-40B4-BE49-F238E27FC236}">
                <a16:creationId xmlns:a16="http://schemas.microsoft.com/office/drawing/2014/main" id="{92F92EA1-F0E0-40AC-8A49-FADC15C481EA}"/>
              </a:ext>
            </a:extLst>
          </p:cNvPr>
          <p:cNvSpPr>
            <a:spLocks noGrp="1"/>
          </p:cNvSpPr>
          <p:nvPr/>
        </p:nvSpPr>
        <p:spPr>
          <a:xfrm>
            <a:off x="6707259" y="1905000"/>
            <a:ext cx="2857500" cy="304800"/>
          </a:xfrm>
          <a:prstGeom prst="rect">
            <a:avLst/>
          </a:prstGeom>
          <a:noFill/>
          <a:ln w="0">
            <a:noFill/>
            <a:prstDash val="solid"/>
          </a:ln>
        </p:spPr>
        <p:txBody>
          <a:bodyPr/>
          <a:lstStyle/>
          <a:p>
            <a:pPr algn="l">
              <a:defRPr sz="2250" b="1">
                <a:solidFill>
                  <a:srgbClr val="083344"/>
                </a:solidFill>
              </a:defRPr>
            </a:pPr>
            <a:r>
              <a:rPr sz="2250" b="1">
                <a:solidFill>
                  <a:srgbClr val="083344"/>
                </a:solidFill>
              </a:rPr>
              <a:t>Non-functional</a:t>
            </a:r>
          </a:p>
        </p:txBody>
      </p:sp>
      <p:sp>
        <p:nvSpPr>
          <p:cNvPr id="8" name="Rectangle: Rounded Corners 7">
            <a:extLst>
              <a:ext uri="{FF2B5EF4-FFF2-40B4-BE49-F238E27FC236}">
                <a16:creationId xmlns:a16="http://schemas.microsoft.com/office/drawing/2014/main" id="{2C8E0F43-4778-4BAB-8AC8-8D0C34FB02AD}"/>
              </a:ext>
            </a:extLst>
          </p:cNvPr>
          <p:cNvSpPr>
            <a:spLocks noGrp="1"/>
          </p:cNvSpPr>
          <p:nvPr/>
        </p:nvSpPr>
        <p:spPr>
          <a:xfrm>
            <a:off x="1219200" y="2533650"/>
            <a:ext cx="346710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2" name="Graphic 41"/>
          <p:cNvPicPr>
            <a:picLocks noChangeAspect="1"/>
          </p:cNvPicPr>
          <p:nvPr/>
        </p:nvPicPr>
        <p:blipFill>
          <a:blip>
            <a:extLst>
              <a:ext uri="{96DAC541-7B7A-43D3-8B79-37D633B846F1}">
                <asvg:svgBlip xmlns:asvg="http://schemas.microsoft.com/office/drawing/2016/SVG/main" r:embed="rId3"/>
              </a:ext>
            </a:extLst>
          </a:blip>
          <a:stretch/>
        </p:blipFill>
        <p:spPr>
          <a:xfrm>
            <a:off x="1371600" y="2647950"/>
            <a:ext cx="228600" cy="228600"/>
          </a:xfrm>
          <a:prstGeom prst="rect">
            <a:avLst/>
          </a:prstGeom>
        </p:spPr>
      </p:pic>
      <p:sp>
        <p:nvSpPr>
          <p:cNvPr id="10" name="Rectangle 9">
            <a:extLst>
              <a:ext uri="{FF2B5EF4-FFF2-40B4-BE49-F238E27FC236}">
                <a16:creationId xmlns:a16="http://schemas.microsoft.com/office/drawing/2014/main" id="{8EB9A52B-D158-4B32-A19B-DC909875BFD8}"/>
              </a:ext>
            </a:extLst>
          </p:cNvPr>
          <p:cNvSpPr>
            <a:spLocks noGrp="1"/>
          </p:cNvSpPr>
          <p:nvPr/>
        </p:nvSpPr>
        <p:spPr>
          <a:xfrm>
            <a:off x="1675572" y="2609022"/>
            <a:ext cx="283845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Secure login and roles</a:t>
            </a:r>
          </a:p>
        </p:txBody>
      </p:sp>
      <p:sp>
        <p:nvSpPr>
          <p:cNvPr id="11" name="Rectangle: Rounded Corners 10">
            <a:extLst>
              <a:ext uri="{FF2B5EF4-FFF2-40B4-BE49-F238E27FC236}">
                <a16:creationId xmlns:a16="http://schemas.microsoft.com/office/drawing/2014/main" id="{FF54D458-11EF-436B-A955-2DD37AB2DBFB}"/>
              </a:ext>
            </a:extLst>
          </p:cNvPr>
          <p:cNvSpPr>
            <a:spLocks noGrp="1"/>
          </p:cNvSpPr>
          <p:nvPr/>
        </p:nvSpPr>
        <p:spPr>
          <a:xfrm>
            <a:off x="1219200" y="3086100"/>
            <a:ext cx="346710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5" name="Graphic 44"/>
          <p:cNvPicPr>
            <a:picLocks noChangeAspect="1"/>
          </p:cNvPicPr>
          <p:nvPr/>
        </p:nvPicPr>
        <p:blipFill>
          <a:blip>
            <a:extLst>
              <a:ext uri="{96DAC541-7B7A-43D3-8B79-37D633B846F1}">
                <asvg:svgBlip xmlns:asvg="http://schemas.microsoft.com/office/drawing/2016/SVG/main" r:embed="rId4"/>
              </a:ext>
            </a:extLst>
          </a:blip>
          <a:stretch/>
        </p:blipFill>
        <p:spPr>
          <a:xfrm>
            <a:off x="1371600" y="3200400"/>
            <a:ext cx="228600" cy="228600"/>
          </a:xfrm>
          <a:prstGeom prst="rect">
            <a:avLst/>
          </a:prstGeom>
        </p:spPr>
      </p:pic>
      <p:sp>
        <p:nvSpPr>
          <p:cNvPr id="13" name="Rectangle 12">
            <a:extLst>
              <a:ext uri="{FF2B5EF4-FFF2-40B4-BE49-F238E27FC236}">
                <a16:creationId xmlns:a16="http://schemas.microsoft.com/office/drawing/2014/main" id="{EE9FA30F-5CBA-4748-9010-0DA5866C2E30}"/>
              </a:ext>
            </a:extLst>
          </p:cNvPr>
          <p:cNvSpPr>
            <a:spLocks noGrp="1"/>
          </p:cNvSpPr>
          <p:nvPr/>
        </p:nvSpPr>
        <p:spPr>
          <a:xfrm>
            <a:off x="1675572" y="3161472"/>
            <a:ext cx="283845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Upload and process documents</a:t>
            </a:r>
          </a:p>
        </p:txBody>
      </p:sp>
      <p:sp>
        <p:nvSpPr>
          <p:cNvPr id="14" name="Rectangle: Rounded Corners 13">
            <a:extLst>
              <a:ext uri="{FF2B5EF4-FFF2-40B4-BE49-F238E27FC236}">
                <a16:creationId xmlns:a16="http://schemas.microsoft.com/office/drawing/2014/main" id="{87F45175-A985-461D-A78D-36B1366A0D6A}"/>
              </a:ext>
            </a:extLst>
          </p:cNvPr>
          <p:cNvSpPr>
            <a:spLocks noGrp="1"/>
          </p:cNvSpPr>
          <p:nvPr/>
        </p:nvSpPr>
        <p:spPr>
          <a:xfrm>
            <a:off x="1219200" y="3638550"/>
            <a:ext cx="346710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8" name="Graphic 47"/>
          <p:cNvPicPr>
            <a:picLocks noChangeAspect="1"/>
          </p:cNvPicPr>
          <p:nvPr/>
        </p:nvPicPr>
        <p:blipFill>
          <a:blip>
            <a:extLst>
              <a:ext uri="{96DAC541-7B7A-43D3-8B79-37D633B846F1}">
                <asvg:svgBlip xmlns:asvg="http://schemas.microsoft.com/office/drawing/2016/SVG/main" r:embed="rId5"/>
              </a:ext>
            </a:extLst>
          </a:blip>
          <a:stretch/>
        </p:blipFill>
        <p:spPr>
          <a:xfrm>
            <a:off x="1371600" y="3752850"/>
            <a:ext cx="228600" cy="228600"/>
          </a:xfrm>
          <a:prstGeom prst="rect">
            <a:avLst/>
          </a:prstGeom>
        </p:spPr>
      </p:pic>
      <p:sp>
        <p:nvSpPr>
          <p:cNvPr id="16" name="Rectangle 15">
            <a:extLst>
              <a:ext uri="{FF2B5EF4-FFF2-40B4-BE49-F238E27FC236}">
                <a16:creationId xmlns:a16="http://schemas.microsoft.com/office/drawing/2014/main" id="{34F6A1BD-7443-4A5A-AC3B-83A3E3679CB7}"/>
              </a:ext>
            </a:extLst>
          </p:cNvPr>
          <p:cNvSpPr>
            <a:spLocks noGrp="1"/>
          </p:cNvSpPr>
          <p:nvPr/>
        </p:nvSpPr>
        <p:spPr>
          <a:xfrm>
            <a:off x="1675572" y="3713922"/>
            <a:ext cx="283845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Semantic search conversations</a:t>
            </a:r>
          </a:p>
        </p:txBody>
      </p:sp>
      <p:sp>
        <p:nvSpPr>
          <p:cNvPr id="17" name="Rectangle: Rounded Corners 16">
            <a:extLst>
              <a:ext uri="{FF2B5EF4-FFF2-40B4-BE49-F238E27FC236}">
                <a16:creationId xmlns:a16="http://schemas.microsoft.com/office/drawing/2014/main" id="{6CF5D0F7-8F0B-4234-860F-29647AB49C24}"/>
              </a:ext>
            </a:extLst>
          </p:cNvPr>
          <p:cNvSpPr>
            <a:spLocks noGrp="1"/>
          </p:cNvSpPr>
          <p:nvPr/>
        </p:nvSpPr>
        <p:spPr>
          <a:xfrm>
            <a:off x="1219200" y="4191000"/>
            <a:ext cx="346710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51" name="Graphic 50"/>
          <p:cNvPicPr>
            <a:picLocks noChangeAspect="1"/>
          </p:cNvPicPr>
          <p:nvPr/>
        </p:nvPicPr>
        <p:blipFill>
          <a:blip>
            <a:extLst>
              <a:ext uri="{96DAC541-7B7A-43D3-8B79-37D633B846F1}">
                <asvg:svgBlip xmlns:asvg="http://schemas.microsoft.com/office/drawing/2016/SVG/main" r:embed="rId6"/>
              </a:ext>
            </a:extLst>
          </a:blip>
          <a:stretch/>
        </p:blipFill>
        <p:spPr>
          <a:xfrm>
            <a:off x="1371600" y="4305300"/>
            <a:ext cx="228600" cy="228600"/>
          </a:xfrm>
          <a:prstGeom prst="rect">
            <a:avLst/>
          </a:prstGeom>
        </p:spPr>
      </p:pic>
      <p:sp>
        <p:nvSpPr>
          <p:cNvPr id="19" name="Rectangle 18">
            <a:extLst>
              <a:ext uri="{FF2B5EF4-FFF2-40B4-BE49-F238E27FC236}">
                <a16:creationId xmlns:a16="http://schemas.microsoft.com/office/drawing/2014/main" id="{123804CE-42EA-43CF-BAB9-943ADD009373}"/>
              </a:ext>
            </a:extLst>
          </p:cNvPr>
          <p:cNvSpPr>
            <a:spLocks noGrp="1"/>
          </p:cNvSpPr>
          <p:nvPr/>
        </p:nvSpPr>
        <p:spPr>
          <a:xfrm>
            <a:off x="1675572" y="4266372"/>
            <a:ext cx="299085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References with generated responses</a:t>
            </a:r>
          </a:p>
        </p:txBody>
      </p:sp>
      <p:sp>
        <p:nvSpPr>
          <p:cNvPr id="20" name="Rectangle: Rounded Corners 19">
            <a:extLst>
              <a:ext uri="{FF2B5EF4-FFF2-40B4-BE49-F238E27FC236}">
                <a16:creationId xmlns:a16="http://schemas.microsoft.com/office/drawing/2014/main" id="{4FF443F0-64A8-4678-837C-8E6A760DE8F4}"/>
              </a:ext>
            </a:extLst>
          </p:cNvPr>
          <p:cNvSpPr>
            <a:spLocks noGrp="1"/>
          </p:cNvSpPr>
          <p:nvPr/>
        </p:nvSpPr>
        <p:spPr>
          <a:xfrm>
            <a:off x="6707259" y="2533650"/>
            <a:ext cx="36385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54" name="Graphic 53"/>
          <p:cNvPicPr>
            <a:picLocks noChangeAspect="1"/>
          </p:cNvPicPr>
          <p:nvPr/>
        </p:nvPicPr>
        <p:blipFill>
          <a:blip>
            <a:extLst>
              <a:ext uri="{96DAC541-7B7A-43D3-8B79-37D633B846F1}">
                <asvg:svgBlip xmlns:asvg="http://schemas.microsoft.com/office/drawing/2016/SVG/main" r:embed="rId7"/>
              </a:ext>
            </a:extLst>
          </a:blip>
          <a:stretch/>
        </p:blipFill>
        <p:spPr>
          <a:xfrm>
            <a:off x="6859659" y="2647950"/>
            <a:ext cx="228600" cy="228600"/>
          </a:xfrm>
          <a:prstGeom prst="rect">
            <a:avLst/>
          </a:prstGeom>
        </p:spPr>
      </p:pic>
      <p:sp>
        <p:nvSpPr>
          <p:cNvPr id="22" name="Rectangle 21">
            <a:extLst>
              <a:ext uri="{FF2B5EF4-FFF2-40B4-BE49-F238E27FC236}">
                <a16:creationId xmlns:a16="http://schemas.microsoft.com/office/drawing/2014/main" id="{6199A91B-EA3A-4C59-9CDE-712EC5A52640}"/>
              </a:ext>
            </a:extLst>
          </p:cNvPr>
          <p:cNvSpPr>
            <a:spLocks noGrp="1"/>
          </p:cNvSpPr>
          <p:nvPr/>
        </p:nvSpPr>
        <p:spPr>
          <a:xfrm>
            <a:off x="7183509" y="2609022"/>
            <a:ext cx="304800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Responsive asynchronous processing</a:t>
            </a:r>
          </a:p>
        </p:txBody>
      </p:sp>
      <p:sp>
        <p:nvSpPr>
          <p:cNvPr id="23" name="Rectangle: Rounded Corners 22">
            <a:extLst>
              <a:ext uri="{FF2B5EF4-FFF2-40B4-BE49-F238E27FC236}">
                <a16:creationId xmlns:a16="http://schemas.microsoft.com/office/drawing/2014/main" id="{F80EDBDC-FA1E-4A8B-A5F7-B459544D7A34}"/>
              </a:ext>
            </a:extLst>
          </p:cNvPr>
          <p:cNvSpPr>
            <a:spLocks noGrp="1"/>
          </p:cNvSpPr>
          <p:nvPr/>
        </p:nvSpPr>
        <p:spPr>
          <a:xfrm>
            <a:off x="6707259" y="3086100"/>
            <a:ext cx="36385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57" name="Graphic 56"/>
          <p:cNvPicPr>
            <a:picLocks noChangeAspect="1"/>
          </p:cNvPicPr>
          <p:nvPr/>
        </p:nvPicPr>
        <p:blipFill>
          <a:blip>
            <a:extLst>
              <a:ext uri="{96DAC541-7B7A-43D3-8B79-37D633B846F1}">
                <asvg:svgBlip xmlns:asvg="http://schemas.microsoft.com/office/drawing/2016/SVG/main" r:embed="rId8"/>
              </a:ext>
            </a:extLst>
          </a:blip>
          <a:stretch/>
        </p:blipFill>
        <p:spPr>
          <a:xfrm>
            <a:off x="6859659" y="3200400"/>
            <a:ext cx="228600" cy="228600"/>
          </a:xfrm>
          <a:prstGeom prst="rect">
            <a:avLst/>
          </a:prstGeom>
        </p:spPr>
      </p:pic>
      <p:sp>
        <p:nvSpPr>
          <p:cNvPr id="25" name="Rectangle 24">
            <a:extLst>
              <a:ext uri="{FF2B5EF4-FFF2-40B4-BE49-F238E27FC236}">
                <a16:creationId xmlns:a16="http://schemas.microsoft.com/office/drawing/2014/main" id="{B1429158-6657-4913-92B6-B7431289927C}"/>
              </a:ext>
            </a:extLst>
          </p:cNvPr>
          <p:cNvSpPr>
            <a:spLocks noGrp="1"/>
          </p:cNvSpPr>
          <p:nvPr/>
        </p:nvSpPr>
        <p:spPr>
          <a:xfrm>
            <a:off x="7183509" y="3161472"/>
            <a:ext cx="304800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Scalable modular architecture</a:t>
            </a:r>
          </a:p>
        </p:txBody>
      </p:sp>
      <p:sp>
        <p:nvSpPr>
          <p:cNvPr id="26" name="Rectangle: Rounded Corners 25">
            <a:extLst>
              <a:ext uri="{FF2B5EF4-FFF2-40B4-BE49-F238E27FC236}">
                <a16:creationId xmlns:a16="http://schemas.microsoft.com/office/drawing/2014/main" id="{7DED2F81-CF6A-45C2-A693-6311D51829D1}"/>
              </a:ext>
            </a:extLst>
          </p:cNvPr>
          <p:cNvSpPr>
            <a:spLocks noGrp="1"/>
          </p:cNvSpPr>
          <p:nvPr/>
        </p:nvSpPr>
        <p:spPr>
          <a:xfrm>
            <a:off x="6707259" y="3638550"/>
            <a:ext cx="36385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60" name="Graphic 59"/>
          <p:cNvPicPr>
            <a:picLocks noChangeAspect="1"/>
          </p:cNvPicPr>
          <p:nvPr/>
        </p:nvPicPr>
        <p:blipFill>
          <a:blip>
            <a:extLst>
              <a:ext uri="{96DAC541-7B7A-43D3-8B79-37D633B846F1}">
                <asvg:svgBlip xmlns:asvg="http://schemas.microsoft.com/office/drawing/2016/SVG/main" r:embed="rId9"/>
              </a:ext>
            </a:extLst>
          </a:blip>
          <a:stretch/>
        </p:blipFill>
        <p:spPr>
          <a:xfrm>
            <a:off x="6859659" y="3752850"/>
            <a:ext cx="228600" cy="228600"/>
          </a:xfrm>
          <a:prstGeom prst="rect">
            <a:avLst/>
          </a:prstGeom>
        </p:spPr>
      </p:pic>
      <p:sp>
        <p:nvSpPr>
          <p:cNvPr id="28" name="Rectangle 27">
            <a:extLst>
              <a:ext uri="{FF2B5EF4-FFF2-40B4-BE49-F238E27FC236}">
                <a16:creationId xmlns:a16="http://schemas.microsoft.com/office/drawing/2014/main" id="{449D1D83-4703-4DB2-89BB-9BDB6B372F75}"/>
              </a:ext>
            </a:extLst>
          </p:cNvPr>
          <p:cNvSpPr>
            <a:spLocks noGrp="1"/>
          </p:cNvSpPr>
          <p:nvPr/>
        </p:nvSpPr>
        <p:spPr>
          <a:xfrm>
            <a:off x="7183509" y="3713922"/>
            <a:ext cx="304800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Data isolation and reliability</a:t>
            </a:r>
          </a:p>
        </p:txBody>
      </p:sp>
      <p:sp>
        <p:nvSpPr>
          <p:cNvPr id="29" name="Rectangle: Rounded Corners 28">
            <a:extLst>
              <a:ext uri="{FF2B5EF4-FFF2-40B4-BE49-F238E27FC236}">
                <a16:creationId xmlns:a16="http://schemas.microsoft.com/office/drawing/2014/main" id="{1B5E3E0F-9E7C-407D-B14A-CF8D96A781B1}"/>
              </a:ext>
            </a:extLst>
          </p:cNvPr>
          <p:cNvSpPr>
            <a:spLocks noGrp="1"/>
          </p:cNvSpPr>
          <p:nvPr/>
        </p:nvSpPr>
        <p:spPr>
          <a:xfrm>
            <a:off x="6707259" y="4191000"/>
            <a:ext cx="36385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63" name="Graphic 62"/>
          <p:cNvPicPr>
            <a:picLocks noChangeAspect="1"/>
          </p:cNvPicPr>
          <p:nvPr/>
        </p:nvPicPr>
        <p:blipFill>
          <a:blip>
            <a:extLst>
              <a:ext uri="{96DAC541-7B7A-43D3-8B79-37D633B846F1}">
                <asvg:svgBlip xmlns:asvg="http://schemas.microsoft.com/office/drawing/2016/SVG/main" r:embed="rId10"/>
              </a:ext>
            </a:extLst>
          </a:blip>
          <a:stretch/>
        </p:blipFill>
        <p:spPr>
          <a:xfrm>
            <a:off x="6859659" y="4305300"/>
            <a:ext cx="228600" cy="228600"/>
          </a:xfrm>
          <a:prstGeom prst="rect">
            <a:avLst/>
          </a:prstGeom>
        </p:spPr>
      </p:pic>
      <p:sp>
        <p:nvSpPr>
          <p:cNvPr id="31" name="Rectangle 30">
            <a:extLst>
              <a:ext uri="{FF2B5EF4-FFF2-40B4-BE49-F238E27FC236}">
                <a16:creationId xmlns:a16="http://schemas.microsoft.com/office/drawing/2014/main" id="{47DE74D8-B875-4264-9943-A4ECFDD6923A}"/>
              </a:ext>
            </a:extLst>
          </p:cNvPr>
          <p:cNvSpPr>
            <a:spLocks noGrp="1"/>
          </p:cNvSpPr>
          <p:nvPr/>
        </p:nvSpPr>
        <p:spPr>
          <a:xfrm>
            <a:off x="7183509" y="4266372"/>
            <a:ext cx="304800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Maintainable documented design</a:t>
            </a:r>
          </a:p>
        </p:txBody>
      </p:sp>
      <p:sp>
        <p:nvSpPr>
          <p:cNvPr id="32" name="Rectangle 31">
            <a:extLst>
              <a:ext uri="{FF2B5EF4-FFF2-40B4-BE49-F238E27FC236}">
                <a16:creationId xmlns:a16="http://schemas.microsoft.com/office/drawing/2014/main" id="{884FDB43-7AA5-4000-9B37-45239601D72F}"/>
              </a:ext>
            </a:extLst>
          </p:cNvPr>
          <p:cNvSpPr>
            <a:spLocks noGrp="1"/>
          </p:cNvSpPr>
          <p:nvPr/>
        </p:nvSpPr>
        <p:spPr>
          <a:xfrm>
            <a:off x="685800" y="6419850"/>
            <a:ext cx="5905500" cy="228600"/>
          </a:xfrm>
          <a:prstGeom prst="rect">
            <a:avLst/>
          </a:prstGeom>
          <a:noFill/>
          <a:ln w="0">
            <a:noFill/>
            <a:prstDash val="solid"/>
          </a:ln>
        </p:spPr>
        <p:txBody>
          <a:bodyPr/>
          <a:lstStyle/>
          <a:p>
            <a:pPr>
              <a:defRPr sz="900" b="0">
                <a:solidFill>
                  <a:srgbClr val="5B6B78"/>
                </a:solidFill>
              </a:defRPr>
            </a:pPr>
            <a:r>
              <a:rPr sz="900" b="0" dirty="0">
                <a:solidFill>
                  <a:srgbClr val="5B6B78"/>
                </a:solidFill>
              </a:rPr>
              <a:t>AI-powered enterprise document retrieval system</a:t>
            </a:r>
            <a:r>
              <a:rPr lang="de-DE" sz="900" b="0" dirty="0">
                <a:solidFill>
                  <a:srgbClr val="5B6B78"/>
                </a:solidFill>
              </a:rPr>
              <a:t> </a:t>
            </a:r>
            <a:r>
              <a:rPr lang="en-US" sz="900" dirty="0">
                <a:solidFill>
                  <a:srgbClr val="5B6B78"/>
                </a:solidFill>
              </a:rPr>
              <a:t>|</a:t>
            </a:r>
            <a:r>
              <a:rPr lang="de-DE" sz="900" dirty="0">
                <a:solidFill>
                  <a:srgbClr val="5B6B78"/>
                </a:solidFill>
              </a:rPr>
              <a:t> Md Fahim Hossain </a:t>
            </a:r>
            <a:r>
              <a:rPr lang="en-US" sz="900" dirty="0">
                <a:solidFill>
                  <a:srgbClr val="5B6B78"/>
                </a:solidFill>
              </a:rPr>
              <a:t>| July 2026</a:t>
            </a:r>
            <a:r>
              <a:rPr lang="de-DE" sz="900" dirty="0">
                <a:solidFill>
                  <a:srgbClr val="5B6B78"/>
                </a:solidFill>
              </a:rPr>
              <a:t> </a:t>
            </a:r>
            <a:endParaRPr sz="900" b="0" dirty="0">
              <a:solidFill>
                <a:srgbClr val="5B6B78"/>
              </a:solidFill>
            </a:endParaRPr>
          </a:p>
        </p:txBody>
      </p:sp>
      <p:sp>
        <p:nvSpPr>
          <p:cNvPr id="33" name="Rectangle 32">
            <a:extLst>
              <a:ext uri="{FF2B5EF4-FFF2-40B4-BE49-F238E27FC236}">
                <a16:creationId xmlns:a16="http://schemas.microsoft.com/office/drawing/2014/main" id="{35992B2C-722F-46D8-94B4-705311379FBD}"/>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06 / 11</a:t>
            </a:r>
          </a:p>
        </p:txBody>
      </p:sp>
      <p:pic>
        <p:nvPicPr>
          <p:cNvPr id="15" name="Picture 14">
            <a:extLst>
              <a:ext uri="{FF2B5EF4-FFF2-40B4-BE49-F238E27FC236}">
                <a16:creationId xmlns:a16="http://schemas.microsoft.com/office/drawing/2014/main" id="{E511BC07-302E-2A6B-29EF-10DC95CDACE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134496253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63CF1E-E4E2-4485-8C79-20EDC4CFB352}"/>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F4DA0906-0D9E-48D9-8414-79242D4CAD80}"/>
              </a:ext>
            </a:extLst>
          </p:cNvPr>
          <p:cNvSpPr>
            <a:spLocks noGrp="1"/>
          </p:cNvSpPr>
          <p:nvPr/>
        </p:nvSpPr>
        <p:spPr>
          <a:xfrm>
            <a:off x="685800" y="342900"/>
            <a:ext cx="4000500" cy="209550"/>
          </a:xfrm>
          <a:prstGeom prst="rect">
            <a:avLst/>
          </a:prstGeom>
          <a:noFill/>
          <a:ln w="0">
            <a:noFill/>
            <a:prstDash val="solid"/>
          </a:ln>
        </p:spPr>
        <p:txBody>
          <a:bodyPr/>
          <a:lstStyle/>
          <a:p>
            <a:pPr algn="l">
              <a:defRPr sz="900" b="1">
                <a:solidFill>
                  <a:srgbClr val="009999"/>
                </a:solidFill>
              </a:defRPr>
            </a:pPr>
            <a:r>
              <a:rPr lang="de-DE" sz="900" b="1" dirty="0">
                <a:solidFill>
                  <a:srgbClr val="009999"/>
                </a:solidFill>
              </a:rPr>
              <a:t>DESIGN</a:t>
            </a:r>
            <a:endParaRPr sz="900" b="1" dirty="0">
              <a:solidFill>
                <a:srgbClr val="009999"/>
              </a:solidFill>
            </a:endParaRPr>
          </a:p>
        </p:txBody>
      </p:sp>
      <p:sp>
        <p:nvSpPr>
          <p:cNvPr id="3" name="Rectangle 2">
            <a:extLst>
              <a:ext uri="{FF2B5EF4-FFF2-40B4-BE49-F238E27FC236}">
                <a16:creationId xmlns:a16="http://schemas.microsoft.com/office/drawing/2014/main" id="{5A17D017-3DFE-4731-8414-8AA9748E1F28}"/>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System Architecture</a:t>
            </a:r>
          </a:p>
        </p:txBody>
      </p:sp>
      <p:sp>
        <p:nvSpPr>
          <p:cNvPr id="4" name="Rectangle: Rounded Corners 3">
            <a:extLst>
              <a:ext uri="{FF2B5EF4-FFF2-40B4-BE49-F238E27FC236}">
                <a16:creationId xmlns:a16="http://schemas.microsoft.com/office/drawing/2014/main" id="{C13510B5-EE12-45F0-AFDD-657F2AB5E316}"/>
              </a:ext>
            </a:extLst>
          </p:cNvPr>
          <p:cNvSpPr>
            <a:spLocks noGrp="1"/>
          </p:cNvSpPr>
          <p:nvPr/>
        </p:nvSpPr>
        <p:spPr>
          <a:xfrm>
            <a:off x="771525" y="1314450"/>
            <a:ext cx="4762500" cy="4800600"/>
          </a:xfrm>
          <a:prstGeom prst="roundRect">
            <a:avLst>
              <a:gd name="adj" fmla="val 2791"/>
            </a:avLst>
          </a:prstGeom>
          <a:solidFill>
            <a:srgbClr val="FFFFFF"/>
          </a:solidFill>
          <a:ln w="9525">
            <a:solidFill>
              <a:srgbClr val="D8E8E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 name="Rectangle: Rounded Corners 5">
            <a:extLst>
              <a:ext uri="{FF2B5EF4-FFF2-40B4-BE49-F238E27FC236}">
                <a16:creationId xmlns:a16="http://schemas.microsoft.com/office/drawing/2014/main" id="{3B9E8FC8-9E72-4842-9034-C6F9C1927F2D}"/>
              </a:ext>
            </a:extLst>
          </p:cNvPr>
          <p:cNvSpPr>
            <a:spLocks noGrp="1"/>
          </p:cNvSpPr>
          <p:nvPr/>
        </p:nvSpPr>
        <p:spPr>
          <a:xfrm>
            <a:off x="5829300" y="1461630"/>
            <a:ext cx="4914900" cy="857250"/>
          </a:xfrm>
          <a:prstGeom prst="roundRect">
            <a:avLst>
              <a:gd name="adj" fmla="val 13333"/>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Oval 6">
            <a:extLst>
              <a:ext uri="{FF2B5EF4-FFF2-40B4-BE49-F238E27FC236}">
                <a16:creationId xmlns:a16="http://schemas.microsoft.com/office/drawing/2014/main" id="{71A7EB81-793F-4042-98B4-C0946AE92603}"/>
              </a:ext>
            </a:extLst>
          </p:cNvPr>
          <p:cNvSpPr>
            <a:spLocks noGrp="1"/>
          </p:cNvSpPr>
          <p:nvPr/>
        </p:nvSpPr>
        <p:spPr>
          <a:xfrm>
            <a:off x="6062870" y="1649749"/>
            <a:ext cx="495300" cy="495300"/>
          </a:xfrm>
          <a:prstGeom prst="ellipse">
            <a:avLst/>
          </a:prstGeom>
          <a:solidFill>
            <a:srgbClr val="EAF7FB"/>
          </a:solidFill>
          <a:ln w="0">
            <a:solidFill>
              <a:srgbClr val="EAF7FB"/>
            </a:solidFill>
            <a:prstDash val="solid"/>
          </a:ln>
        </p:spPr>
        <p:txBody>
          <a:bodyPr/>
          <a:lstStyle/>
          <a:p>
            <a:endParaRPr lang="en-US"/>
          </a:p>
        </p:txBody>
      </p:sp>
      <p:pic>
        <p:nvPicPr>
          <p:cNvPr id="35" name="Graphic 34"/>
          <p:cNvPicPr>
            <a:picLocks noChangeAspect="1"/>
          </p:cNvPicPr>
          <p:nvPr/>
        </p:nvPicPr>
        <p:blipFill>
          <a:blip>
            <a:extLst>
              <a:ext uri="{96DAC541-7B7A-43D3-8B79-37D633B846F1}">
                <asvg:svgBlip xmlns:asvg="http://schemas.microsoft.com/office/drawing/2016/SVG/main" r:embed="rId3"/>
              </a:ext>
            </a:extLst>
          </a:blip>
          <a:stretch/>
        </p:blipFill>
        <p:spPr>
          <a:xfrm>
            <a:off x="6186695" y="1773574"/>
            <a:ext cx="247650" cy="247650"/>
          </a:xfrm>
          <a:prstGeom prst="rect">
            <a:avLst/>
          </a:prstGeom>
        </p:spPr>
      </p:pic>
      <p:sp>
        <p:nvSpPr>
          <p:cNvPr id="9" name="Rectangle 8">
            <a:extLst>
              <a:ext uri="{FF2B5EF4-FFF2-40B4-BE49-F238E27FC236}">
                <a16:creationId xmlns:a16="http://schemas.microsoft.com/office/drawing/2014/main" id="{4A116418-3E48-48C9-8FF0-3CEE97630E21}"/>
              </a:ext>
            </a:extLst>
          </p:cNvPr>
          <p:cNvSpPr>
            <a:spLocks noGrp="1"/>
          </p:cNvSpPr>
          <p:nvPr/>
        </p:nvSpPr>
        <p:spPr>
          <a:xfrm>
            <a:off x="6694004" y="1612491"/>
            <a:ext cx="1625048"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Web interface</a:t>
            </a:r>
          </a:p>
        </p:txBody>
      </p:sp>
      <p:sp>
        <p:nvSpPr>
          <p:cNvPr id="10" name="Rectangle 9">
            <a:extLst>
              <a:ext uri="{FF2B5EF4-FFF2-40B4-BE49-F238E27FC236}">
                <a16:creationId xmlns:a16="http://schemas.microsoft.com/office/drawing/2014/main" id="{E9C071ED-B86B-4D7A-8279-89BF68FCF47E}"/>
              </a:ext>
            </a:extLst>
          </p:cNvPr>
          <p:cNvSpPr>
            <a:spLocks noGrp="1"/>
          </p:cNvSpPr>
          <p:nvPr/>
        </p:nvSpPr>
        <p:spPr>
          <a:xfrm>
            <a:off x="6694004" y="1891002"/>
            <a:ext cx="1802296" cy="283845"/>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Blade and JavaScript</a:t>
            </a:r>
          </a:p>
        </p:txBody>
      </p:sp>
      <p:sp>
        <p:nvSpPr>
          <p:cNvPr id="11" name="Rectangle: Rounded Corners 10">
            <a:extLst>
              <a:ext uri="{FF2B5EF4-FFF2-40B4-BE49-F238E27FC236}">
                <a16:creationId xmlns:a16="http://schemas.microsoft.com/office/drawing/2014/main" id="{20A60934-387B-447E-A0CF-4D65978F4863}"/>
              </a:ext>
            </a:extLst>
          </p:cNvPr>
          <p:cNvSpPr>
            <a:spLocks noGrp="1"/>
          </p:cNvSpPr>
          <p:nvPr/>
        </p:nvSpPr>
        <p:spPr>
          <a:xfrm>
            <a:off x="5829300" y="2595677"/>
            <a:ext cx="4914900" cy="857250"/>
          </a:xfrm>
          <a:prstGeom prst="roundRect">
            <a:avLst>
              <a:gd name="adj" fmla="val 13333"/>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2" name="Oval 11">
            <a:extLst>
              <a:ext uri="{FF2B5EF4-FFF2-40B4-BE49-F238E27FC236}">
                <a16:creationId xmlns:a16="http://schemas.microsoft.com/office/drawing/2014/main" id="{9021696A-5F63-4128-B70B-4ED565C5BDDF}"/>
              </a:ext>
            </a:extLst>
          </p:cNvPr>
          <p:cNvSpPr>
            <a:spLocks noGrp="1"/>
          </p:cNvSpPr>
          <p:nvPr/>
        </p:nvSpPr>
        <p:spPr>
          <a:xfrm>
            <a:off x="6059143" y="2775585"/>
            <a:ext cx="495300" cy="495300"/>
          </a:xfrm>
          <a:prstGeom prst="ellipse">
            <a:avLst/>
          </a:prstGeom>
          <a:solidFill>
            <a:srgbClr val="EAF7FB"/>
          </a:solidFill>
          <a:ln w="0">
            <a:solidFill>
              <a:srgbClr val="EAF7FB"/>
            </a:solidFill>
            <a:prstDash val="solid"/>
          </a:ln>
        </p:spPr>
        <p:txBody>
          <a:bodyPr/>
          <a:lstStyle/>
          <a:p>
            <a:endParaRPr lang="en-US"/>
          </a:p>
        </p:txBody>
      </p:sp>
      <p:pic>
        <p:nvPicPr>
          <p:cNvPr id="40" name="Graphic 39"/>
          <p:cNvPicPr>
            <a:picLocks noChangeAspect="1"/>
          </p:cNvPicPr>
          <p:nvPr/>
        </p:nvPicPr>
        <p:blipFill>
          <a:blip>
            <a:extLst>
              <a:ext uri="{96DAC541-7B7A-43D3-8B79-37D633B846F1}">
                <asvg:svgBlip xmlns:asvg="http://schemas.microsoft.com/office/drawing/2016/SVG/main" r:embed="rId4"/>
              </a:ext>
            </a:extLst>
          </a:blip>
          <a:stretch/>
        </p:blipFill>
        <p:spPr>
          <a:xfrm>
            <a:off x="6182968" y="2899410"/>
            <a:ext cx="247650" cy="247650"/>
          </a:xfrm>
          <a:prstGeom prst="rect">
            <a:avLst/>
          </a:prstGeom>
        </p:spPr>
      </p:pic>
      <p:sp>
        <p:nvSpPr>
          <p:cNvPr id="14" name="Rectangle 13">
            <a:extLst>
              <a:ext uri="{FF2B5EF4-FFF2-40B4-BE49-F238E27FC236}">
                <a16:creationId xmlns:a16="http://schemas.microsoft.com/office/drawing/2014/main" id="{A1AACCBD-EFCC-4F7B-962F-7991CF2ED3A2}"/>
              </a:ext>
            </a:extLst>
          </p:cNvPr>
          <p:cNvSpPr>
            <a:spLocks noGrp="1"/>
          </p:cNvSpPr>
          <p:nvPr/>
        </p:nvSpPr>
        <p:spPr>
          <a:xfrm>
            <a:off x="6694004" y="2726998"/>
            <a:ext cx="3583057" cy="285750"/>
          </a:xfrm>
          <a:prstGeom prst="rect">
            <a:avLst/>
          </a:prstGeom>
          <a:noFill/>
          <a:ln w="0">
            <a:noFill/>
            <a:prstDash val="solid"/>
          </a:ln>
        </p:spPr>
        <p:txBody>
          <a:bodyPr/>
          <a:lstStyle/>
          <a:p>
            <a:pPr algn="l">
              <a:defRPr sz="1575" b="1">
                <a:solidFill>
                  <a:srgbClr val="083344"/>
                </a:solidFill>
              </a:defRPr>
            </a:pPr>
            <a:r>
              <a:rPr lang="en-US" sz="1575" b="1" dirty="0">
                <a:solidFill>
                  <a:srgbClr val="083344"/>
                </a:solidFill>
              </a:rPr>
              <a:t>Document </a:t>
            </a:r>
            <a:r>
              <a:rPr sz="1575" b="1" dirty="0">
                <a:solidFill>
                  <a:srgbClr val="083344"/>
                </a:solidFill>
              </a:rPr>
              <a:t>Processing</a:t>
            </a:r>
            <a:r>
              <a:rPr lang="en-US" sz="1575" b="1" dirty="0">
                <a:solidFill>
                  <a:srgbClr val="083344"/>
                </a:solidFill>
              </a:rPr>
              <a:t> &amp; Embedding</a:t>
            </a:r>
            <a:endParaRPr sz="1575" b="1" dirty="0">
              <a:solidFill>
                <a:srgbClr val="083344"/>
              </a:solidFill>
            </a:endParaRPr>
          </a:p>
        </p:txBody>
      </p:sp>
      <p:sp>
        <p:nvSpPr>
          <p:cNvPr id="15" name="Rectangle 14">
            <a:extLst>
              <a:ext uri="{FF2B5EF4-FFF2-40B4-BE49-F238E27FC236}">
                <a16:creationId xmlns:a16="http://schemas.microsoft.com/office/drawing/2014/main" id="{E6F19451-0F03-4B58-94EA-54183FA9D374}"/>
              </a:ext>
            </a:extLst>
          </p:cNvPr>
          <p:cNvSpPr>
            <a:spLocks noGrp="1"/>
          </p:cNvSpPr>
          <p:nvPr/>
        </p:nvSpPr>
        <p:spPr>
          <a:xfrm>
            <a:off x="6694004" y="3016501"/>
            <a:ext cx="3016526" cy="285750"/>
          </a:xfrm>
          <a:prstGeom prst="rect">
            <a:avLst/>
          </a:prstGeom>
          <a:noFill/>
          <a:ln w="0">
            <a:noFill/>
            <a:prstDash val="solid"/>
          </a:ln>
        </p:spPr>
        <p:txBody>
          <a:bodyPr/>
          <a:lstStyle/>
          <a:p>
            <a:pPr>
              <a:defRPr sz="1275" b="0">
                <a:solidFill>
                  <a:srgbClr val="5B6B78"/>
                </a:solidFill>
              </a:defRPr>
            </a:pPr>
            <a:r>
              <a:rPr lang="en-US" sz="1275" dirty="0"/>
              <a:t>Text extraction, OCR and embeddings</a:t>
            </a:r>
            <a:endParaRPr sz="1275" b="0" dirty="0">
              <a:solidFill>
                <a:srgbClr val="5B6B78"/>
              </a:solidFill>
            </a:endParaRPr>
          </a:p>
        </p:txBody>
      </p:sp>
      <p:sp>
        <p:nvSpPr>
          <p:cNvPr id="16" name="Rectangle: Rounded Corners 15">
            <a:extLst>
              <a:ext uri="{FF2B5EF4-FFF2-40B4-BE49-F238E27FC236}">
                <a16:creationId xmlns:a16="http://schemas.microsoft.com/office/drawing/2014/main" id="{2B2A3434-83F1-4B22-9102-0E42B23C16A1}"/>
              </a:ext>
            </a:extLst>
          </p:cNvPr>
          <p:cNvSpPr>
            <a:spLocks noGrp="1"/>
          </p:cNvSpPr>
          <p:nvPr/>
        </p:nvSpPr>
        <p:spPr>
          <a:xfrm>
            <a:off x="5829300" y="3729533"/>
            <a:ext cx="4914900" cy="857250"/>
          </a:xfrm>
          <a:prstGeom prst="roundRect">
            <a:avLst>
              <a:gd name="adj" fmla="val 13333"/>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7" name="Oval 16">
            <a:extLst>
              <a:ext uri="{FF2B5EF4-FFF2-40B4-BE49-F238E27FC236}">
                <a16:creationId xmlns:a16="http://schemas.microsoft.com/office/drawing/2014/main" id="{BEF28F4C-8209-4CFD-9BBA-DAAAC25C3476}"/>
              </a:ext>
            </a:extLst>
          </p:cNvPr>
          <p:cNvSpPr>
            <a:spLocks noGrp="1"/>
          </p:cNvSpPr>
          <p:nvPr/>
        </p:nvSpPr>
        <p:spPr>
          <a:xfrm>
            <a:off x="6059143" y="3918852"/>
            <a:ext cx="495300" cy="495300"/>
          </a:xfrm>
          <a:prstGeom prst="ellipse">
            <a:avLst/>
          </a:prstGeom>
          <a:solidFill>
            <a:srgbClr val="EAF7FB"/>
          </a:solidFill>
          <a:ln w="0">
            <a:solidFill>
              <a:srgbClr val="EAF7FB"/>
            </a:solidFill>
            <a:prstDash val="solid"/>
          </a:ln>
        </p:spPr>
        <p:txBody>
          <a:bodyPr/>
          <a:lstStyle/>
          <a:p>
            <a:endParaRPr lang="en-US"/>
          </a:p>
        </p:txBody>
      </p:sp>
      <p:pic>
        <p:nvPicPr>
          <p:cNvPr id="45" name="Graphic 44"/>
          <p:cNvPicPr>
            <a:picLocks noChangeAspect="1"/>
          </p:cNvPicPr>
          <p:nvPr/>
        </p:nvPicPr>
        <p:blipFill>
          <a:blip>
            <a:extLst>
              <a:ext uri="{96DAC541-7B7A-43D3-8B79-37D633B846F1}">
                <asvg:svgBlip xmlns:asvg="http://schemas.microsoft.com/office/drawing/2016/SVG/main" r:embed="rId5"/>
              </a:ext>
            </a:extLst>
          </a:blip>
          <a:stretch/>
        </p:blipFill>
        <p:spPr>
          <a:xfrm>
            <a:off x="6182968" y="4042677"/>
            <a:ext cx="247650" cy="247650"/>
          </a:xfrm>
          <a:prstGeom prst="rect">
            <a:avLst/>
          </a:prstGeom>
        </p:spPr>
      </p:pic>
      <p:sp>
        <p:nvSpPr>
          <p:cNvPr id="19" name="Rectangle 18">
            <a:extLst>
              <a:ext uri="{FF2B5EF4-FFF2-40B4-BE49-F238E27FC236}">
                <a16:creationId xmlns:a16="http://schemas.microsoft.com/office/drawing/2014/main" id="{78DF24FD-038A-46DF-8E14-1B964CC08A51}"/>
              </a:ext>
            </a:extLst>
          </p:cNvPr>
          <p:cNvSpPr>
            <a:spLocks noGrp="1"/>
          </p:cNvSpPr>
          <p:nvPr/>
        </p:nvSpPr>
        <p:spPr>
          <a:xfrm>
            <a:off x="6694004" y="3845500"/>
            <a:ext cx="4229100" cy="285750"/>
          </a:xfrm>
          <a:prstGeom prst="rect">
            <a:avLst/>
          </a:prstGeom>
          <a:noFill/>
          <a:ln w="0">
            <a:noFill/>
            <a:prstDash val="solid"/>
          </a:ln>
        </p:spPr>
        <p:txBody>
          <a:bodyPr/>
          <a:lstStyle/>
          <a:p>
            <a:pPr algn="l">
              <a:defRPr sz="1575" b="1">
                <a:solidFill>
                  <a:srgbClr val="083344"/>
                </a:solidFill>
              </a:defRPr>
            </a:pPr>
            <a:r>
              <a:rPr lang="en-US" sz="1575" b="1" dirty="0">
                <a:solidFill>
                  <a:srgbClr val="083344"/>
                </a:solidFill>
              </a:rPr>
              <a:t>Database &amp; Ve</a:t>
            </a:r>
            <a:r>
              <a:rPr sz="1575" b="1" dirty="0">
                <a:solidFill>
                  <a:srgbClr val="083344"/>
                </a:solidFill>
              </a:rPr>
              <a:t>ctor storage</a:t>
            </a:r>
          </a:p>
        </p:txBody>
      </p:sp>
      <p:sp>
        <p:nvSpPr>
          <p:cNvPr id="20" name="Rectangle 19">
            <a:extLst>
              <a:ext uri="{FF2B5EF4-FFF2-40B4-BE49-F238E27FC236}">
                <a16:creationId xmlns:a16="http://schemas.microsoft.com/office/drawing/2014/main" id="{FC8CAE58-9CED-41BC-BE54-5B454F0B4F05}"/>
              </a:ext>
            </a:extLst>
          </p:cNvPr>
          <p:cNvSpPr>
            <a:spLocks noGrp="1"/>
          </p:cNvSpPr>
          <p:nvPr/>
        </p:nvSpPr>
        <p:spPr>
          <a:xfrm>
            <a:off x="6694004" y="4160718"/>
            <a:ext cx="4229100" cy="305211"/>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PostgreSQL with </a:t>
            </a:r>
            <a:r>
              <a:rPr lang="en-US" sz="1275" b="0" dirty="0" err="1">
                <a:solidFill>
                  <a:srgbClr val="5B6B78"/>
                </a:solidFill>
              </a:rPr>
              <a:t>pgv</a:t>
            </a:r>
            <a:r>
              <a:rPr sz="1275" b="0" dirty="0" err="1">
                <a:solidFill>
                  <a:srgbClr val="5B6B78"/>
                </a:solidFill>
              </a:rPr>
              <a:t>ector</a:t>
            </a:r>
            <a:r>
              <a:rPr lang="en-US" sz="1275" b="0" dirty="0">
                <a:solidFill>
                  <a:srgbClr val="5B6B78"/>
                </a:solidFill>
              </a:rPr>
              <a:t> extension</a:t>
            </a:r>
            <a:endParaRPr sz="1275" b="0" dirty="0">
              <a:solidFill>
                <a:srgbClr val="5B6B78"/>
              </a:solidFill>
            </a:endParaRPr>
          </a:p>
        </p:txBody>
      </p:sp>
      <p:sp>
        <p:nvSpPr>
          <p:cNvPr id="21" name="Rectangle: Rounded Corners 20">
            <a:extLst>
              <a:ext uri="{FF2B5EF4-FFF2-40B4-BE49-F238E27FC236}">
                <a16:creationId xmlns:a16="http://schemas.microsoft.com/office/drawing/2014/main" id="{EB50800F-8704-4749-BFD3-B2CAFAAA2FC5}"/>
              </a:ext>
            </a:extLst>
          </p:cNvPr>
          <p:cNvSpPr>
            <a:spLocks noGrp="1"/>
          </p:cNvSpPr>
          <p:nvPr/>
        </p:nvSpPr>
        <p:spPr>
          <a:xfrm>
            <a:off x="5829300" y="4852646"/>
            <a:ext cx="4914900" cy="857250"/>
          </a:xfrm>
          <a:prstGeom prst="roundRect">
            <a:avLst>
              <a:gd name="adj" fmla="val 13333"/>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2" name="Oval 21">
            <a:extLst>
              <a:ext uri="{FF2B5EF4-FFF2-40B4-BE49-F238E27FC236}">
                <a16:creationId xmlns:a16="http://schemas.microsoft.com/office/drawing/2014/main" id="{49308DDA-4998-430E-A04E-A42C2336522A}"/>
              </a:ext>
            </a:extLst>
          </p:cNvPr>
          <p:cNvSpPr>
            <a:spLocks noGrp="1"/>
          </p:cNvSpPr>
          <p:nvPr/>
        </p:nvSpPr>
        <p:spPr>
          <a:xfrm>
            <a:off x="6059143" y="5043488"/>
            <a:ext cx="495300" cy="495300"/>
          </a:xfrm>
          <a:prstGeom prst="ellipse">
            <a:avLst/>
          </a:prstGeom>
          <a:solidFill>
            <a:srgbClr val="EAF7FB"/>
          </a:solidFill>
          <a:ln w="0">
            <a:solidFill>
              <a:srgbClr val="EAF7FB"/>
            </a:solidFill>
            <a:prstDash val="solid"/>
          </a:ln>
        </p:spPr>
        <p:txBody>
          <a:bodyPr/>
          <a:lstStyle/>
          <a:p>
            <a:endParaRPr lang="en-US"/>
          </a:p>
        </p:txBody>
      </p:sp>
      <p:pic>
        <p:nvPicPr>
          <p:cNvPr id="50" name="Graphic 49"/>
          <p:cNvPicPr>
            <a:picLocks noChangeAspect="1"/>
          </p:cNvPicPr>
          <p:nvPr/>
        </p:nvPicPr>
        <p:blipFill>
          <a:blip>
            <a:extLst>
              <a:ext uri="{96DAC541-7B7A-43D3-8B79-37D633B846F1}">
                <asvg:svgBlip xmlns:asvg="http://schemas.microsoft.com/office/drawing/2016/SVG/main" r:embed="rId6"/>
              </a:ext>
            </a:extLst>
          </a:blip>
          <a:stretch/>
        </p:blipFill>
        <p:spPr>
          <a:xfrm>
            <a:off x="6182968" y="5167313"/>
            <a:ext cx="247650" cy="247650"/>
          </a:xfrm>
          <a:prstGeom prst="rect">
            <a:avLst/>
          </a:prstGeom>
        </p:spPr>
      </p:pic>
      <p:sp>
        <p:nvSpPr>
          <p:cNvPr id="24" name="Rectangle 23">
            <a:extLst>
              <a:ext uri="{FF2B5EF4-FFF2-40B4-BE49-F238E27FC236}">
                <a16:creationId xmlns:a16="http://schemas.microsoft.com/office/drawing/2014/main" id="{561FE523-0B4B-458E-9EEA-DCF3F99E4239}"/>
              </a:ext>
            </a:extLst>
          </p:cNvPr>
          <p:cNvSpPr>
            <a:spLocks noGrp="1"/>
          </p:cNvSpPr>
          <p:nvPr/>
        </p:nvSpPr>
        <p:spPr>
          <a:xfrm>
            <a:off x="6694004" y="4964108"/>
            <a:ext cx="42291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Grounded response</a:t>
            </a:r>
          </a:p>
        </p:txBody>
      </p:sp>
      <p:sp>
        <p:nvSpPr>
          <p:cNvPr id="25" name="Rectangle 24">
            <a:extLst>
              <a:ext uri="{FF2B5EF4-FFF2-40B4-BE49-F238E27FC236}">
                <a16:creationId xmlns:a16="http://schemas.microsoft.com/office/drawing/2014/main" id="{06BFD001-EA40-4CD0-A94D-87E0D2F14B2D}"/>
              </a:ext>
            </a:extLst>
          </p:cNvPr>
          <p:cNvSpPr>
            <a:spLocks noGrp="1"/>
          </p:cNvSpPr>
          <p:nvPr/>
        </p:nvSpPr>
        <p:spPr>
          <a:xfrm>
            <a:off x="6694004" y="5254902"/>
            <a:ext cx="4229100" cy="514350"/>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Language model with context</a:t>
            </a:r>
          </a:p>
        </p:txBody>
      </p:sp>
      <p:sp>
        <p:nvSpPr>
          <p:cNvPr id="26" name="Rectangle 25">
            <a:extLst>
              <a:ext uri="{FF2B5EF4-FFF2-40B4-BE49-F238E27FC236}">
                <a16:creationId xmlns:a16="http://schemas.microsoft.com/office/drawing/2014/main" id="{60A73582-41F0-42F5-AAE6-72590553BBF0}"/>
              </a:ext>
            </a:extLst>
          </p:cNvPr>
          <p:cNvSpPr>
            <a:spLocks noGrp="1"/>
          </p:cNvSpPr>
          <p:nvPr/>
        </p:nvSpPr>
        <p:spPr>
          <a:xfrm>
            <a:off x="685800" y="6419850"/>
            <a:ext cx="5905500" cy="228600"/>
          </a:xfrm>
          <a:prstGeom prst="rect">
            <a:avLst/>
          </a:prstGeom>
          <a:noFill/>
          <a:ln w="0">
            <a:noFill/>
            <a:prstDash val="solid"/>
          </a:ln>
        </p:spPr>
        <p:txBody>
          <a:bodyPr/>
          <a:lstStyle/>
          <a:p>
            <a:pPr>
              <a:defRPr sz="900" b="0">
                <a:solidFill>
                  <a:srgbClr val="5B6B78"/>
                </a:solidFill>
              </a:defRPr>
            </a:pPr>
            <a:r>
              <a:rPr sz="900" b="0" dirty="0">
                <a:solidFill>
                  <a:srgbClr val="5B6B78"/>
                </a:solidFill>
              </a:rPr>
              <a:t>AI-powered enterprise document retrieval system</a:t>
            </a:r>
            <a:r>
              <a:rPr lang="de-DE" sz="900" b="0" dirty="0">
                <a:solidFill>
                  <a:srgbClr val="5B6B78"/>
                </a:solidFill>
              </a:rPr>
              <a:t> </a:t>
            </a:r>
            <a:r>
              <a:rPr lang="en-US" sz="900" dirty="0">
                <a:solidFill>
                  <a:srgbClr val="5B6B78"/>
                </a:solidFill>
              </a:rPr>
              <a:t>|</a:t>
            </a:r>
            <a:r>
              <a:rPr lang="de-DE" sz="900" dirty="0">
                <a:solidFill>
                  <a:srgbClr val="5B6B78"/>
                </a:solidFill>
              </a:rPr>
              <a:t> Md Fahim Hossain </a:t>
            </a:r>
            <a:r>
              <a:rPr lang="en-US" sz="900" dirty="0">
                <a:solidFill>
                  <a:srgbClr val="5B6B78"/>
                </a:solidFill>
              </a:rPr>
              <a:t>| July 2026</a:t>
            </a:r>
            <a:r>
              <a:rPr lang="de-DE" sz="900" dirty="0">
                <a:solidFill>
                  <a:srgbClr val="5B6B78"/>
                </a:solidFill>
              </a:rPr>
              <a:t> </a:t>
            </a:r>
            <a:endParaRPr sz="900" b="0" dirty="0">
              <a:solidFill>
                <a:srgbClr val="5B6B78"/>
              </a:solidFill>
            </a:endParaRPr>
          </a:p>
        </p:txBody>
      </p:sp>
      <p:sp>
        <p:nvSpPr>
          <p:cNvPr id="27" name="Rectangle 26">
            <a:extLst>
              <a:ext uri="{FF2B5EF4-FFF2-40B4-BE49-F238E27FC236}">
                <a16:creationId xmlns:a16="http://schemas.microsoft.com/office/drawing/2014/main" id="{F47FB947-E855-4C00-953A-D3F5A61EFF31}"/>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07 / 11</a:t>
            </a:r>
          </a:p>
        </p:txBody>
      </p:sp>
      <p:pic>
        <p:nvPicPr>
          <p:cNvPr id="13" name="Picture 12">
            <a:extLst>
              <a:ext uri="{FF2B5EF4-FFF2-40B4-BE49-F238E27FC236}">
                <a16:creationId xmlns:a16="http://schemas.microsoft.com/office/drawing/2014/main" id="{38E7800E-04CF-5890-FD16-40E11B2EA8F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pic>
        <p:nvPicPr>
          <p:cNvPr id="30" name="Graphic 29">
            <a:extLst>
              <a:ext uri="{FF2B5EF4-FFF2-40B4-BE49-F238E27FC236}">
                <a16:creationId xmlns:a16="http://schemas.microsoft.com/office/drawing/2014/main" id="{C7E3C91B-56DD-AD5F-C242-180046E522AA}"/>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901148" y="1700047"/>
            <a:ext cx="4495800" cy="3876675"/>
          </a:xfrm>
          <a:prstGeom prst="rect">
            <a:avLst/>
          </a:prstGeom>
        </p:spPr>
      </p:pic>
    </p:spTree>
    <p:extLst>
      <p:ext uri="{BB962C8B-B14F-4D97-AF65-F5344CB8AC3E}">
        <p14:creationId xmlns:p14="http://schemas.microsoft.com/office/powerpoint/2010/main" val="630153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FF6F53B-8F8F-4EDF-917B-5444BA2CE9DC}"/>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6361593D-1228-4539-8877-4FB3DE40F6CF}"/>
              </a:ext>
            </a:extLst>
          </p:cNvPr>
          <p:cNvSpPr>
            <a:spLocks noGrp="1"/>
          </p:cNvSpPr>
          <p:nvPr/>
        </p:nvSpPr>
        <p:spPr>
          <a:xfrm>
            <a:off x="685800" y="342900"/>
            <a:ext cx="4000500" cy="209550"/>
          </a:xfrm>
          <a:prstGeom prst="rect">
            <a:avLst/>
          </a:prstGeom>
          <a:noFill/>
          <a:ln w="0">
            <a:noFill/>
            <a:prstDash val="solid"/>
          </a:ln>
        </p:spPr>
        <p:txBody>
          <a:bodyPr/>
          <a:lstStyle/>
          <a:p>
            <a:pPr>
              <a:defRPr sz="900" b="1">
                <a:solidFill>
                  <a:srgbClr val="009999"/>
                </a:solidFill>
              </a:defRPr>
            </a:pPr>
            <a:r>
              <a:rPr lang="de-DE" sz="900" b="1" dirty="0">
                <a:solidFill>
                  <a:srgbClr val="009999"/>
                </a:solidFill>
              </a:rPr>
              <a:t>DESIGN</a:t>
            </a:r>
            <a:endParaRPr sz="900" b="1" dirty="0">
              <a:solidFill>
                <a:srgbClr val="009999"/>
              </a:solidFill>
            </a:endParaRPr>
          </a:p>
        </p:txBody>
      </p:sp>
      <p:sp>
        <p:nvSpPr>
          <p:cNvPr id="3" name="Rectangle 2">
            <a:extLst>
              <a:ext uri="{FF2B5EF4-FFF2-40B4-BE49-F238E27FC236}">
                <a16:creationId xmlns:a16="http://schemas.microsoft.com/office/drawing/2014/main" id="{272CAA50-9266-46C8-9E62-08487D9A6C1A}"/>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Structure and Models</a:t>
            </a:r>
          </a:p>
        </p:txBody>
      </p:sp>
      <p:sp>
        <p:nvSpPr>
          <p:cNvPr id="4" name="Rectangle: Rounded Corners 3">
            <a:extLst>
              <a:ext uri="{FF2B5EF4-FFF2-40B4-BE49-F238E27FC236}">
                <a16:creationId xmlns:a16="http://schemas.microsoft.com/office/drawing/2014/main" id="{25D078D6-6948-468A-823F-75DC3A0EDBF5}"/>
              </a:ext>
            </a:extLst>
          </p:cNvPr>
          <p:cNvSpPr>
            <a:spLocks noGrp="1"/>
          </p:cNvSpPr>
          <p:nvPr/>
        </p:nvSpPr>
        <p:spPr>
          <a:xfrm>
            <a:off x="785564" y="1199316"/>
            <a:ext cx="4920830" cy="3762792"/>
          </a:xfrm>
          <a:prstGeom prst="roundRect">
            <a:avLst>
              <a:gd name="adj" fmla="val 3636"/>
            </a:avLst>
          </a:prstGeom>
          <a:solidFill>
            <a:srgbClr val="FFFFFF"/>
          </a:solidFill>
          <a:ln w="9525">
            <a:solidFill>
              <a:srgbClr val="D8E8E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 name="Rectangle: Rounded Corners 5">
            <a:extLst>
              <a:ext uri="{FF2B5EF4-FFF2-40B4-BE49-F238E27FC236}">
                <a16:creationId xmlns:a16="http://schemas.microsoft.com/office/drawing/2014/main" id="{AAE589E3-A2DB-4AD0-8F7A-0F2A7C3D44CA}"/>
              </a:ext>
            </a:extLst>
          </p:cNvPr>
          <p:cNvSpPr>
            <a:spLocks noGrp="1"/>
          </p:cNvSpPr>
          <p:nvPr/>
        </p:nvSpPr>
        <p:spPr>
          <a:xfrm>
            <a:off x="6150210" y="1219200"/>
            <a:ext cx="4879739" cy="3762792"/>
          </a:xfrm>
          <a:prstGeom prst="roundRect">
            <a:avLst>
              <a:gd name="adj" fmla="val 3636"/>
            </a:avLst>
          </a:prstGeom>
          <a:solidFill>
            <a:srgbClr val="FFFFFF"/>
          </a:solidFill>
          <a:ln w="9525">
            <a:solidFill>
              <a:srgbClr val="D8E8E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8" name="Rectangle 7">
            <a:extLst>
              <a:ext uri="{FF2B5EF4-FFF2-40B4-BE49-F238E27FC236}">
                <a16:creationId xmlns:a16="http://schemas.microsoft.com/office/drawing/2014/main" id="{0606F605-A0F3-460B-9527-3523B9E4CC8E}"/>
              </a:ext>
            </a:extLst>
          </p:cNvPr>
          <p:cNvSpPr>
            <a:spLocks noGrp="1"/>
          </p:cNvSpPr>
          <p:nvPr/>
        </p:nvSpPr>
        <p:spPr>
          <a:xfrm>
            <a:off x="2686050" y="4981992"/>
            <a:ext cx="1905000" cy="228600"/>
          </a:xfrm>
          <a:prstGeom prst="rect">
            <a:avLst/>
          </a:prstGeom>
          <a:noFill/>
          <a:ln w="0">
            <a:noFill/>
            <a:prstDash val="solid"/>
          </a:ln>
        </p:spPr>
        <p:txBody>
          <a:bodyPr/>
          <a:lstStyle/>
          <a:p>
            <a:pPr algn="l">
              <a:defRPr sz="1500" b="1">
                <a:solidFill>
                  <a:srgbClr val="0077B6"/>
                </a:solidFill>
              </a:defRPr>
            </a:pPr>
            <a:r>
              <a:rPr sz="1500" b="1" dirty="0">
                <a:solidFill>
                  <a:srgbClr val="0077B6"/>
                </a:solidFill>
              </a:rPr>
              <a:t>Use cases</a:t>
            </a:r>
          </a:p>
        </p:txBody>
      </p:sp>
      <p:sp>
        <p:nvSpPr>
          <p:cNvPr id="9" name="Rectangle 8">
            <a:extLst>
              <a:ext uri="{FF2B5EF4-FFF2-40B4-BE49-F238E27FC236}">
                <a16:creationId xmlns:a16="http://schemas.microsoft.com/office/drawing/2014/main" id="{50A15FA1-45DB-4946-A3B3-45CCFB6765B2}"/>
              </a:ext>
            </a:extLst>
          </p:cNvPr>
          <p:cNvSpPr>
            <a:spLocks noGrp="1"/>
          </p:cNvSpPr>
          <p:nvPr/>
        </p:nvSpPr>
        <p:spPr>
          <a:xfrm>
            <a:off x="7972395" y="4981992"/>
            <a:ext cx="2286000" cy="335444"/>
          </a:xfrm>
          <a:prstGeom prst="rect">
            <a:avLst/>
          </a:prstGeom>
          <a:noFill/>
          <a:ln w="0">
            <a:noFill/>
            <a:prstDash val="solid"/>
          </a:ln>
        </p:spPr>
        <p:txBody>
          <a:bodyPr/>
          <a:lstStyle/>
          <a:p>
            <a:pPr algn="l">
              <a:defRPr sz="1500" b="1">
                <a:solidFill>
                  <a:srgbClr val="009999"/>
                </a:solidFill>
              </a:defRPr>
            </a:pPr>
            <a:r>
              <a:rPr sz="1500" b="1" dirty="0">
                <a:solidFill>
                  <a:srgbClr val="009999"/>
                </a:solidFill>
              </a:rPr>
              <a:t>Database </a:t>
            </a:r>
            <a:r>
              <a:rPr lang="en-US" sz="1500" b="1" dirty="0">
                <a:solidFill>
                  <a:srgbClr val="009999"/>
                </a:solidFill>
              </a:rPr>
              <a:t>Design</a:t>
            </a:r>
            <a:endParaRPr sz="1500" b="1" dirty="0">
              <a:solidFill>
                <a:srgbClr val="009999"/>
              </a:solidFill>
            </a:endParaRPr>
          </a:p>
        </p:txBody>
      </p:sp>
      <p:sp>
        <p:nvSpPr>
          <p:cNvPr id="10" name="Rectangle: Rounded Corners 9">
            <a:extLst>
              <a:ext uri="{FF2B5EF4-FFF2-40B4-BE49-F238E27FC236}">
                <a16:creationId xmlns:a16="http://schemas.microsoft.com/office/drawing/2014/main" id="{9A8E3787-6FF8-4D55-BE1F-6AF5549D955B}"/>
              </a:ext>
            </a:extLst>
          </p:cNvPr>
          <p:cNvSpPr>
            <a:spLocks noGrp="1"/>
          </p:cNvSpPr>
          <p:nvPr/>
        </p:nvSpPr>
        <p:spPr>
          <a:xfrm>
            <a:off x="809625" y="5535264"/>
            <a:ext cx="1809750" cy="4381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37" name="Graphic 36"/>
          <p:cNvPicPr>
            <a:picLocks noChangeAspect="1"/>
          </p:cNvPicPr>
          <p:nvPr/>
        </p:nvPicPr>
        <p:blipFill>
          <a:blip>
            <a:extLst>
              <a:ext uri="{96DAC541-7B7A-43D3-8B79-37D633B846F1}">
                <asvg:svgBlip xmlns:asvg="http://schemas.microsoft.com/office/drawing/2016/SVG/main" r:embed="rId3"/>
              </a:ext>
            </a:extLst>
          </a:blip>
          <a:stretch/>
        </p:blipFill>
        <p:spPr>
          <a:xfrm>
            <a:off x="1197663" y="5649564"/>
            <a:ext cx="228600" cy="228600"/>
          </a:xfrm>
          <a:prstGeom prst="rect">
            <a:avLst/>
          </a:prstGeom>
        </p:spPr>
      </p:pic>
      <p:sp>
        <p:nvSpPr>
          <p:cNvPr id="12" name="Rectangle 11">
            <a:extLst>
              <a:ext uri="{FF2B5EF4-FFF2-40B4-BE49-F238E27FC236}">
                <a16:creationId xmlns:a16="http://schemas.microsoft.com/office/drawing/2014/main" id="{230C8F86-9F41-4D0D-B7A6-E3DE95B1F3CB}"/>
              </a:ext>
            </a:extLst>
          </p:cNvPr>
          <p:cNvSpPr>
            <a:spLocks noGrp="1"/>
          </p:cNvSpPr>
          <p:nvPr/>
        </p:nvSpPr>
        <p:spPr>
          <a:xfrm>
            <a:off x="1521513" y="5612988"/>
            <a:ext cx="954987"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PHP</a:t>
            </a:r>
            <a:r>
              <a:rPr lang="de-DE" sz="1275" b="1" dirty="0">
                <a:solidFill>
                  <a:srgbClr val="083344"/>
                </a:solidFill>
              </a:rPr>
              <a:t> 8.4</a:t>
            </a:r>
            <a:endParaRPr sz="1275" b="1" dirty="0">
              <a:solidFill>
                <a:srgbClr val="083344"/>
              </a:solidFill>
            </a:endParaRPr>
          </a:p>
        </p:txBody>
      </p:sp>
      <p:sp>
        <p:nvSpPr>
          <p:cNvPr id="13" name="Rectangle: Rounded Corners 12">
            <a:extLst>
              <a:ext uri="{FF2B5EF4-FFF2-40B4-BE49-F238E27FC236}">
                <a16:creationId xmlns:a16="http://schemas.microsoft.com/office/drawing/2014/main" id="{ABDE01D7-F9D1-416A-97B2-02D0EC388924}"/>
              </a:ext>
            </a:extLst>
          </p:cNvPr>
          <p:cNvSpPr>
            <a:spLocks noGrp="1"/>
          </p:cNvSpPr>
          <p:nvPr/>
        </p:nvSpPr>
        <p:spPr>
          <a:xfrm>
            <a:off x="2970972" y="5535264"/>
            <a:ext cx="1809750" cy="4381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0" name="Graphic 39"/>
          <p:cNvPicPr>
            <a:picLocks noChangeAspect="1"/>
          </p:cNvPicPr>
          <p:nvPr/>
        </p:nvPicPr>
        <p:blipFill>
          <a:blip>
            <a:extLst>
              <a:ext uri="{96DAC541-7B7A-43D3-8B79-37D633B846F1}">
                <asvg:svgBlip xmlns:asvg="http://schemas.microsoft.com/office/drawing/2016/SVG/main" r:embed="rId4"/>
              </a:ext>
            </a:extLst>
          </a:blip>
          <a:stretch/>
        </p:blipFill>
        <p:spPr>
          <a:xfrm>
            <a:off x="3302274" y="5649564"/>
            <a:ext cx="228600" cy="228600"/>
          </a:xfrm>
          <a:prstGeom prst="rect">
            <a:avLst/>
          </a:prstGeom>
        </p:spPr>
      </p:pic>
      <p:sp>
        <p:nvSpPr>
          <p:cNvPr id="15" name="Rectangle 14">
            <a:extLst>
              <a:ext uri="{FF2B5EF4-FFF2-40B4-BE49-F238E27FC236}">
                <a16:creationId xmlns:a16="http://schemas.microsoft.com/office/drawing/2014/main" id="{D6C33BAB-AE75-4A66-900A-2EDE4BC986A6}"/>
              </a:ext>
            </a:extLst>
          </p:cNvPr>
          <p:cNvSpPr>
            <a:spLocks noGrp="1"/>
          </p:cNvSpPr>
          <p:nvPr/>
        </p:nvSpPr>
        <p:spPr>
          <a:xfrm>
            <a:off x="3596307" y="5612988"/>
            <a:ext cx="12192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Laravel </a:t>
            </a:r>
            <a:r>
              <a:rPr lang="de-DE" sz="1275" b="1" dirty="0">
                <a:solidFill>
                  <a:srgbClr val="083344"/>
                </a:solidFill>
              </a:rPr>
              <a:t>12</a:t>
            </a:r>
            <a:endParaRPr sz="1275" b="1" dirty="0">
              <a:solidFill>
                <a:srgbClr val="083344"/>
              </a:solidFill>
            </a:endParaRPr>
          </a:p>
        </p:txBody>
      </p:sp>
      <p:sp>
        <p:nvSpPr>
          <p:cNvPr id="16" name="Rectangle: Rounded Corners 15">
            <a:extLst>
              <a:ext uri="{FF2B5EF4-FFF2-40B4-BE49-F238E27FC236}">
                <a16:creationId xmlns:a16="http://schemas.microsoft.com/office/drawing/2014/main" id="{7E1E8E03-326F-4629-8A32-FDF9577C7BCD}"/>
              </a:ext>
            </a:extLst>
          </p:cNvPr>
          <p:cNvSpPr>
            <a:spLocks noGrp="1"/>
          </p:cNvSpPr>
          <p:nvPr/>
        </p:nvSpPr>
        <p:spPr>
          <a:xfrm>
            <a:off x="5065644" y="5535264"/>
            <a:ext cx="1809750" cy="4381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3" name="Graphic 42"/>
          <p:cNvPicPr>
            <a:picLocks noChangeAspect="1"/>
          </p:cNvPicPr>
          <p:nvPr/>
        </p:nvPicPr>
        <p:blipFill>
          <a:blip>
            <a:extLst>
              <a:ext uri="{96DAC541-7B7A-43D3-8B79-37D633B846F1}">
                <asvg:svgBlip xmlns:asvg="http://schemas.microsoft.com/office/drawing/2016/SVG/main" r:embed="rId5"/>
              </a:ext>
            </a:extLst>
          </a:blip>
          <a:stretch/>
        </p:blipFill>
        <p:spPr>
          <a:xfrm>
            <a:off x="5297556" y="5649564"/>
            <a:ext cx="228600" cy="228600"/>
          </a:xfrm>
          <a:prstGeom prst="rect">
            <a:avLst/>
          </a:prstGeom>
        </p:spPr>
      </p:pic>
      <p:sp>
        <p:nvSpPr>
          <p:cNvPr id="18" name="Rectangle 17">
            <a:extLst>
              <a:ext uri="{FF2B5EF4-FFF2-40B4-BE49-F238E27FC236}">
                <a16:creationId xmlns:a16="http://schemas.microsoft.com/office/drawing/2014/main" id="{2E310419-5D60-4E20-A1F8-71F7DEAB68DF}"/>
              </a:ext>
            </a:extLst>
          </p:cNvPr>
          <p:cNvSpPr>
            <a:spLocks noGrp="1"/>
          </p:cNvSpPr>
          <p:nvPr/>
        </p:nvSpPr>
        <p:spPr>
          <a:xfrm>
            <a:off x="5621406" y="5612988"/>
            <a:ext cx="12192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PostgreSQL</a:t>
            </a:r>
          </a:p>
        </p:txBody>
      </p:sp>
      <p:sp>
        <p:nvSpPr>
          <p:cNvPr id="19" name="Rectangle: Rounded Corners 18">
            <a:extLst>
              <a:ext uri="{FF2B5EF4-FFF2-40B4-BE49-F238E27FC236}">
                <a16:creationId xmlns:a16="http://schemas.microsoft.com/office/drawing/2014/main" id="{8556DD89-684A-404B-A11E-7E87FC4FFE1A}"/>
              </a:ext>
            </a:extLst>
          </p:cNvPr>
          <p:cNvSpPr>
            <a:spLocks noGrp="1"/>
          </p:cNvSpPr>
          <p:nvPr/>
        </p:nvSpPr>
        <p:spPr>
          <a:xfrm>
            <a:off x="7180194" y="5535264"/>
            <a:ext cx="1809750" cy="4381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6" name="Graphic 45"/>
          <p:cNvPicPr>
            <a:picLocks noChangeAspect="1"/>
          </p:cNvPicPr>
          <p:nvPr/>
        </p:nvPicPr>
        <p:blipFill>
          <a:blip>
            <a:extLst>
              <a:ext uri="{96DAC541-7B7A-43D3-8B79-37D633B846F1}">
                <asvg:svgBlip xmlns:asvg="http://schemas.microsoft.com/office/drawing/2016/SVG/main" r:embed="rId6"/>
              </a:ext>
            </a:extLst>
          </a:blip>
          <a:stretch/>
        </p:blipFill>
        <p:spPr>
          <a:xfrm>
            <a:off x="7521435" y="5649564"/>
            <a:ext cx="228600" cy="228600"/>
          </a:xfrm>
          <a:prstGeom prst="rect">
            <a:avLst/>
          </a:prstGeom>
        </p:spPr>
      </p:pic>
      <p:sp>
        <p:nvSpPr>
          <p:cNvPr id="21" name="Rectangle 20">
            <a:extLst>
              <a:ext uri="{FF2B5EF4-FFF2-40B4-BE49-F238E27FC236}">
                <a16:creationId xmlns:a16="http://schemas.microsoft.com/office/drawing/2014/main" id="{E042A703-CE3B-4368-B720-BD392E423794}"/>
              </a:ext>
            </a:extLst>
          </p:cNvPr>
          <p:cNvSpPr>
            <a:spLocks noGrp="1"/>
          </p:cNvSpPr>
          <p:nvPr/>
        </p:nvSpPr>
        <p:spPr>
          <a:xfrm>
            <a:off x="7865163" y="5612988"/>
            <a:ext cx="12192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JavaScript</a:t>
            </a:r>
          </a:p>
        </p:txBody>
      </p:sp>
      <p:sp>
        <p:nvSpPr>
          <p:cNvPr id="22" name="Rectangle: Rounded Corners 21">
            <a:extLst>
              <a:ext uri="{FF2B5EF4-FFF2-40B4-BE49-F238E27FC236}">
                <a16:creationId xmlns:a16="http://schemas.microsoft.com/office/drawing/2014/main" id="{641DCC36-6CF1-45E2-AD87-E054700BBEAF}"/>
              </a:ext>
            </a:extLst>
          </p:cNvPr>
          <p:cNvSpPr>
            <a:spLocks noGrp="1"/>
          </p:cNvSpPr>
          <p:nvPr/>
        </p:nvSpPr>
        <p:spPr>
          <a:xfrm>
            <a:off x="9220199" y="5535264"/>
            <a:ext cx="1809750" cy="4381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9" name="Graphic 48"/>
          <p:cNvPicPr>
            <a:picLocks noChangeAspect="1"/>
          </p:cNvPicPr>
          <p:nvPr/>
        </p:nvPicPr>
        <p:blipFill>
          <a:blip>
            <a:extLst>
              <a:ext uri="{96DAC541-7B7A-43D3-8B79-37D633B846F1}">
                <asvg:svgBlip xmlns:asvg="http://schemas.microsoft.com/office/drawing/2016/SVG/main" r:embed="rId7"/>
              </a:ext>
            </a:extLst>
          </a:blip>
          <a:stretch/>
        </p:blipFill>
        <p:spPr>
          <a:xfrm>
            <a:off x="9486900" y="5649564"/>
            <a:ext cx="228600" cy="228600"/>
          </a:xfrm>
          <a:prstGeom prst="rect">
            <a:avLst/>
          </a:prstGeom>
        </p:spPr>
      </p:pic>
      <p:sp>
        <p:nvSpPr>
          <p:cNvPr id="24" name="Rectangle 23">
            <a:extLst>
              <a:ext uri="{FF2B5EF4-FFF2-40B4-BE49-F238E27FC236}">
                <a16:creationId xmlns:a16="http://schemas.microsoft.com/office/drawing/2014/main" id="{8221900A-9EFD-4DD2-8893-E2552481A1AF}"/>
              </a:ext>
            </a:extLst>
          </p:cNvPr>
          <p:cNvSpPr>
            <a:spLocks noGrp="1"/>
          </p:cNvSpPr>
          <p:nvPr/>
        </p:nvSpPr>
        <p:spPr>
          <a:xfrm>
            <a:off x="9790872" y="5612988"/>
            <a:ext cx="12192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OCR pipeline</a:t>
            </a:r>
          </a:p>
        </p:txBody>
      </p:sp>
      <p:sp>
        <p:nvSpPr>
          <p:cNvPr id="25" name="Rectangle 24">
            <a:extLst>
              <a:ext uri="{FF2B5EF4-FFF2-40B4-BE49-F238E27FC236}">
                <a16:creationId xmlns:a16="http://schemas.microsoft.com/office/drawing/2014/main" id="{5B28DED5-816E-4D99-AC4E-9ED684D871E3}"/>
              </a:ext>
            </a:extLst>
          </p:cNvPr>
          <p:cNvSpPr>
            <a:spLocks noGrp="1"/>
          </p:cNvSpPr>
          <p:nvPr/>
        </p:nvSpPr>
        <p:spPr>
          <a:xfrm>
            <a:off x="685800" y="6419850"/>
            <a:ext cx="5905500" cy="228600"/>
          </a:xfrm>
          <a:prstGeom prst="rect">
            <a:avLst/>
          </a:prstGeom>
          <a:noFill/>
          <a:ln w="0">
            <a:noFill/>
            <a:prstDash val="solid"/>
          </a:ln>
        </p:spPr>
        <p:txBody>
          <a:bodyPr/>
          <a:lstStyle/>
          <a:p>
            <a:pPr>
              <a:defRPr sz="900" b="0">
                <a:solidFill>
                  <a:srgbClr val="5B6B78"/>
                </a:solidFill>
              </a:defRPr>
            </a:pPr>
            <a:r>
              <a:rPr sz="900" b="0" dirty="0">
                <a:solidFill>
                  <a:srgbClr val="5B6B78"/>
                </a:solidFill>
              </a:rPr>
              <a:t>AI-powered enterprise document retrieval system</a:t>
            </a:r>
            <a:r>
              <a:rPr lang="de-DE" sz="900" b="0" dirty="0">
                <a:solidFill>
                  <a:srgbClr val="5B6B78"/>
                </a:solidFill>
              </a:rPr>
              <a:t> </a:t>
            </a:r>
            <a:r>
              <a:rPr lang="en-US" sz="900" dirty="0">
                <a:solidFill>
                  <a:srgbClr val="5B6B78"/>
                </a:solidFill>
              </a:rPr>
              <a:t>|</a:t>
            </a:r>
            <a:r>
              <a:rPr lang="de-DE" sz="900" dirty="0">
                <a:solidFill>
                  <a:srgbClr val="5B6B78"/>
                </a:solidFill>
              </a:rPr>
              <a:t> Md Fahim Hossain </a:t>
            </a:r>
            <a:r>
              <a:rPr lang="en-US" sz="900" dirty="0">
                <a:solidFill>
                  <a:srgbClr val="5B6B78"/>
                </a:solidFill>
              </a:rPr>
              <a:t>| July 2026</a:t>
            </a:r>
            <a:r>
              <a:rPr lang="de-DE" sz="900" dirty="0">
                <a:solidFill>
                  <a:srgbClr val="5B6B78"/>
                </a:solidFill>
              </a:rPr>
              <a:t> </a:t>
            </a:r>
            <a:endParaRPr sz="900" b="0" dirty="0">
              <a:solidFill>
                <a:srgbClr val="5B6B78"/>
              </a:solidFill>
            </a:endParaRPr>
          </a:p>
        </p:txBody>
      </p:sp>
      <p:sp>
        <p:nvSpPr>
          <p:cNvPr id="26" name="Rectangle 25">
            <a:extLst>
              <a:ext uri="{FF2B5EF4-FFF2-40B4-BE49-F238E27FC236}">
                <a16:creationId xmlns:a16="http://schemas.microsoft.com/office/drawing/2014/main" id="{5D53C423-3169-407F-A532-FA833B83038A}"/>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08 / 11</a:t>
            </a:r>
          </a:p>
        </p:txBody>
      </p:sp>
      <p:pic>
        <p:nvPicPr>
          <p:cNvPr id="11" name="Picture 10">
            <a:extLst>
              <a:ext uri="{FF2B5EF4-FFF2-40B4-BE49-F238E27FC236}">
                <a16:creationId xmlns:a16="http://schemas.microsoft.com/office/drawing/2014/main" id="{62AC922F-F0C2-7CA2-3A6C-23933B96EB9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pic>
        <p:nvPicPr>
          <p:cNvPr id="29" name="Graphic 28">
            <a:extLst>
              <a:ext uri="{FF2B5EF4-FFF2-40B4-BE49-F238E27FC236}">
                <a16:creationId xmlns:a16="http://schemas.microsoft.com/office/drawing/2014/main" id="{346BF6C5-01F1-6E70-8CD9-8DACB7FF15B0}"/>
              </a:ext>
            </a:extLst>
          </p:cNvPr>
          <p:cNvPicPr>
            <a:picLocks noChangeAspect="1"/>
          </p:cNvPicPr>
          <p:nvPr/>
        </p:nvPicPr>
        <p:blipFill>
          <a:blip>
            <a:extLst>
              <a:ext uri="{96DAC541-7B7A-43D3-8B79-37D633B846F1}">
                <asvg:svgBlip xmlns:asvg="http://schemas.microsoft.com/office/drawing/2016/SVG/main" r:embed="rId9"/>
              </a:ext>
            </a:extLst>
          </a:blip>
          <a:srcRect l="3347" t="2982" r="3135" b="14311"/>
          <a:stretch>
            <a:fillRect/>
          </a:stretch>
        </p:blipFill>
        <p:spPr>
          <a:xfrm>
            <a:off x="6591300" y="1349325"/>
            <a:ext cx="3994833" cy="3518367"/>
          </a:xfrm>
          <a:prstGeom prst="rect">
            <a:avLst/>
          </a:prstGeom>
        </p:spPr>
      </p:pic>
      <p:pic>
        <p:nvPicPr>
          <p:cNvPr id="38" name="Graphic 37">
            <a:extLst>
              <a:ext uri="{FF2B5EF4-FFF2-40B4-BE49-F238E27FC236}">
                <a16:creationId xmlns:a16="http://schemas.microsoft.com/office/drawing/2014/main" id="{25DEFD14-69E7-E8DD-F30D-22818F14552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29804" y="1429571"/>
            <a:ext cx="5151504" cy="3311393"/>
          </a:xfrm>
          <a:prstGeom prst="rect">
            <a:avLst/>
          </a:prstGeom>
        </p:spPr>
      </p:pic>
    </p:spTree>
    <p:extLst>
      <p:ext uri="{BB962C8B-B14F-4D97-AF65-F5344CB8AC3E}">
        <p14:creationId xmlns:p14="http://schemas.microsoft.com/office/powerpoint/2010/main" val="72955928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8AD838-B984-4CF4-9FB4-B323BB1EAA1F}"/>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A9A52347-4934-4289-A001-CB22697585CD}"/>
              </a:ext>
            </a:extLst>
          </p:cNvPr>
          <p:cNvSpPr>
            <a:spLocks noGrp="1"/>
          </p:cNvSpPr>
          <p:nvPr/>
        </p:nvSpPr>
        <p:spPr>
          <a:xfrm>
            <a:off x="685800" y="342900"/>
            <a:ext cx="4000500" cy="209550"/>
          </a:xfrm>
          <a:prstGeom prst="rect">
            <a:avLst/>
          </a:prstGeom>
          <a:noFill/>
          <a:ln w="0">
            <a:noFill/>
            <a:prstDash val="solid"/>
          </a:ln>
        </p:spPr>
        <p:txBody>
          <a:bodyPr/>
          <a:lstStyle/>
          <a:p>
            <a:pPr>
              <a:defRPr sz="900" b="1">
                <a:solidFill>
                  <a:srgbClr val="009999"/>
                </a:solidFill>
              </a:defRPr>
            </a:pPr>
            <a:r>
              <a:rPr lang="de-DE" sz="900" b="1" dirty="0">
                <a:solidFill>
                  <a:srgbClr val="009999"/>
                </a:solidFill>
              </a:rPr>
              <a:t>DESIGN</a:t>
            </a:r>
            <a:endParaRPr sz="900" b="1" dirty="0">
              <a:solidFill>
                <a:srgbClr val="009999"/>
              </a:solidFill>
            </a:endParaRPr>
          </a:p>
        </p:txBody>
      </p:sp>
      <p:sp>
        <p:nvSpPr>
          <p:cNvPr id="3" name="Rectangle 2">
            <a:extLst>
              <a:ext uri="{FF2B5EF4-FFF2-40B4-BE49-F238E27FC236}">
                <a16:creationId xmlns:a16="http://schemas.microsoft.com/office/drawing/2014/main" id="{D06112A8-4008-4E94-82D7-80E07B2A72B7}"/>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dirty="0">
                <a:solidFill>
                  <a:srgbClr val="083344"/>
                </a:solidFill>
              </a:rPr>
              <a:t>MVC and Hexagonal </a:t>
            </a:r>
            <a:r>
              <a:rPr lang="de-DE" sz="2850" b="1" dirty="0">
                <a:solidFill>
                  <a:srgbClr val="083344"/>
                </a:solidFill>
              </a:rPr>
              <a:t>Architecture</a:t>
            </a:r>
            <a:endParaRPr sz="2850" b="1" dirty="0">
              <a:solidFill>
                <a:srgbClr val="083344"/>
              </a:solidFill>
            </a:endParaRPr>
          </a:p>
        </p:txBody>
      </p:sp>
      <p:sp>
        <p:nvSpPr>
          <p:cNvPr id="4" name="Rectangle: Rounded Corners 3">
            <a:extLst>
              <a:ext uri="{FF2B5EF4-FFF2-40B4-BE49-F238E27FC236}">
                <a16:creationId xmlns:a16="http://schemas.microsoft.com/office/drawing/2014/main" id="{4663B33E-4B06-497E-8861-CE7EBF57DB08}"/>
              </a:ext>
            </a:extLst>
          </p:cNvPr>
          <p:cNvSpPr>
            <a:spLocks noGrp="1"/>
          </p:cNvSpPr>
          <p:nvPr/>
        </p:nvSpPr>
        <p:spPr>
          <a:xfrm>
            <a:off x="754545" y="1409699"/>
            <a:ext cx="3931755" cy="923925"/>
          </a:xfrm>
          <a:prstGeom prst="roundRect">
            <a:avLst>
              <a:gd name="adj" fmla="val 136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5" name="Oval 4">
            <a:extLst>
              <a:ext uri="{FF2B5EF4-FFF2-40B4-BE49-F238E27FC236}">
                <a16:creationId xmlns:a16="http://schemas.microsoft.com/office/drawing/2014/main" id="{07FB43CD-1FB0-42A0-9E12-08C1339AA554}"/>
              </a:ext>
            </a:extLst>
          </p:cNvPr>
          <p:cNvSpPr>
            <a:spLocks noGrp="1"/>
          </p:cNvSpPr>
          <p:nvPr/>
        </p:nvSpPr>
        <p:spPr>
          <a:xfrm>
            <a:off x="964095" y="1638300"/>
            <a:ext cx="495300" cy="495300"/>
          </a:xfrm>
          <a:prstGeom prst="ellipse">
            <a:avLst/>
          </a:prstGeom>
          <a:solidFill>
            <a:srgbClr val="EAF7FB"/>
          </a:solidFill>
          <a:ln w="0">
            <a:solidFill>
              <a:srgbClr val="EAF7FB"/>
            </a:solidFill>
            <a:prstDash val="solid"/>
          </a:ln>
        </p:spPr>
        <p:txBody>
          <a:bodyPr/>
          <a:lstStyle/>
          <a:p>
            <a:endParaRPr lang="en-US"/>
          </a:p>
        </p:txBody>
      </p:sp>
      <p:pic>
        <p:nvPicPr>
          <p:cNvPr id="35" name="Graphic 34"/>
          <p:cNvPicPr>
            <a:picLocks noChangeAspect="1"/>
          </p:cNvPicPr>
          <p:nvPr/>
        </p:nvPicPr>
        <p:blipFill>
          <a:blip>
            <a:extLst>
              <a:ext uri="{96DAC541-7B7A-43D3-8B79-37D633B846F1}">
                <asvg:svgBlip xmlns:asvg="http://schemas.microsoft.com/office/drawing/2016/SVG/main" r:embed="rId3"/>
              </a:ext>
            </a:extLst>
          </a:blip>
          <a:stretch/>
        </p:blipFill>
        <p:spPr>
          <a:xfrm>
            <a:off x="1087920" y="1762125"/>
            <a:ext cx="247650" cy="247650"/>
          </a:xfrm>
          <a:prstGeom prst="rect">
            <a:avLst/>
          </a:prstGeom>
        </p:spPr>
      </p:pic>
      <p:sp>
        <p:nvSpPr>
          <p:cNvPr id="7" name="Rectangle 6">
            <a:extLst>
              <a:ext uri="{FF2B5EF4-FFF2-40B4-BE49-F238E27FC236}">
                <a16:creationId xmlns:a16="http://schemas.microsoft.com/office/drawing/2014/main" id="{30491365-01C2-4B6F-945E-80947351FB99}"/>
              </a:ext>
            </a:extLst>
          </p:cNvPr>
          <p:cNvSpPr>
            <a:spLocks noGrp="1"/>
          </p:cNvSpPr>
          <p:nvPr/>
        </p:nvSpPr>
        <p:spPr>
          <a:xfrm>
            <a:off x="1649895" y="1601724"/>
            <a:ext cx="34671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MVC for web application</a:t>
            </a:r>
          </a:p>
        </p:txBody>
      </p:sp>
      <p:sp>
        <p:nvSpPr>
          <p:cNvPr id="8" name="Rectangle 7">
            <a:extLst>
              <a:ext uri="{FF2B5EF4-FFF2-40B4-BE49-F238E27FC236}">
                <a16:creationId xmlns:a16="http://schemas.microsoft.com/office/drawing/2014/main" id="{BC43BFA6-B547-45B2-8847-C480355766B7}"/>
              </a:ext>
            </a:extLst>
          </p:cNvPr>
          <p:cNvSpPr>
            <a:spLocks noGrp="1"/>
          </p:cNvSpPr>
          <p:nvPr/>
        </p:nvSpPr>
        <p:spPr>
          <a:xfrm>
            <a:off x="1649895" y="1898523"/>
            <a:ext cx="3467100" cy="292227"/>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Laravel separates interface and logic</a:t>
            </a:r>
          </a:p>
        </p:txBody>
      </p:sp>
      <p:sp>
        <p:nvSpPr>
          <p:cNvPr id="9" name="Rectangle: Rounded Corners 8">
            <a:extLst>
              <a:ext uri="{FF2B5EF4-FFF2-40B4-BE49-F238E27FC236}">
                <a16:creationId xmlns:a16="http://schemas.microsoft.com/office/drawing/2014/main" id="{6D7741CB-49E8-41F7-A18F-0F54058C5E82}"/>
              </a:ext>
            </a:extLst>
          </p:cNvPr>
          <p:cNvSpPr>
            <a:spLocks noGrp="1"/>
          </p:cNvSpPr>
          <p:nvPr/>
        </p:nvSpPr>
        <p:spPr>
          <a:xfrm>
            <a:off x="754545" y="2477328"/>
            <a:ext cx="3931755" cy="904874"/>
          </a:xfrm>
          <a:prstGeom prst="roundRect">
            <a:avLst>
              <a:gd name="adj" fmla="val 136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0" name="Oval 9">
            <a:extLst>
              <a:ext uri="{FF2B5EF4-FFF2-40B4-BE49-F238E27FC236}">
                <a16:creationId xmlns:a16="http://schemas.microsoft.com/office/drawing/2014/main" id="{005CFE31-290E-4E35-8686-7CDD92DA0D93}"/>
              </a:ext>
            </a:extLst>
          </p:cNvPr>
          <p:cNvSpPr>
            <a:spLocks noGrp="1"/>
          </p:cNvSpPr>
          <p:nvPr/>
        </p:nvSpPr>
        <p:spPr>
          <a:xfrm>
            <a:off x="964095" y="2705928"/>
            <a:ext cx="495300" cy="495300"/>
          </a:xfrm>
          <a:prstGeom prst="ellipse">
            <a:avLst/>
          </a:prstGeom>
          <a:solidFill>
            <a:srgbClr val="EAF7FB"/>
          </a:solidFill>
          <a:ln w="0">
            <a:solidFill>
              <a:srgbClr val="EAF7FB"/>
            </a:solidFill>
            <a:prstDash val="solid"/>
          </a:ln>
        </p:spPr>
        <p:txBody>
          <a:bodyPr/>
          <a:lstStyle/>
          <a:p>
            <a:endParaRPr lang="en-US"/>
          </a:p>
        </p:txBody>
      </p:sp>
      <p:pic>
        <p:nvPicPr>
          <p:cNvPr id="40" name="Graphic 39"/>
          <p:cNvPicPr>
            <a:picLocks noChangeAspect="1"/>
          </p:cNvPicPr>
          <p:nvPr/>
        </p:nvPicPr>
        <p:blipFill>
          <a:blip>
            <a:extLst>
              <a:ext uri="{96DAC541-7B7A-43D3-8B79-37D633B846F1}">
                <asvg:svgBlip xmlns:asvg="http://schemas.microsoft.com/office/drawing/2016/SVG/main" r:embed="rId4"/>
              </a:ext>
            </a:extLst>
          </a:blip>
          <a:stretch/>
        </p:blipFill>
        <p:spPr>
          <a:xfrm>
            <a:off x="1087920" y="2829753"/>
            <a:ext cx="247650" cy="247650"/>
          </a:xfrm>
          <a:prstGeom prst="rect">
            <a:avLst/>
          </a:prstGeom>
        </p:spPr>
      </p:pic>
      <p:sp>
        <p:nvSpPr>
          <p:cNvPr id="12" name="Rectangle 11">
            <a:extLst>
              <a:ext uri="{FF2B5EF4-FFF2-40B4-BE49-F238E27FC236}">
                <a16:creationId xmlns:a16="http://schemas.microsoft.com/office/drawing/2014/main" id="{13C1C05F-1140-494E-9957-0F90C3E0B7A4}"/>
              </a:ext>
            </a:extLst>
          </p:cNvPr>
          <p:cNvSpPr>
            <a:spLocks noGrp="1"/>
          </p:cNvSpPr>
          <p:nvPr/>
        </p:nvSpPr>
        <p:spPr>
          <a:xfrm>
            <a:off x="1649895" y="2669352"/>
            <a:ext cx="34671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Hexagonal service boundaries</a:t>
            </a:r>
          </a:p>
        </p:txBody>
      </p:sp>
      <p:sp>
        <p:nvSpPr>
          <p:cNvPr id="13" name="Rectangle 12">
            <a:extLst>
              <a:ext uri="{FF2B5EF4-FFF2-40B4-BE49-F238E27FC236}">
                <a16:creationId xmlns:a16="http://schemas.microsoft.com/office/drawing/2014/main" id="{BDAAB468-F2D7-4E23-A196-B510088DAEB6}"/>
              </a:ext>
            </a:extLst>
          </p:cNvPr>
          <p:cNvSpPr>
            <a:spLocks noGrp="1"/>
          </p:cNvSpPr>
          <p:nvPr/>
        </p:nvSpPr>
        <p:spPr>
          <a:xfrm>
            <a:off x="1649895" y="2966151"/>
            <a:ext cx="3467100" cy="292227"/>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External services remain replaceable</a:t>
            </a:r>
          </a:p>
        </p:txBody>
      </p:sp>
      <p:sp>
        <p:nvSpPr>
          <p:cNvPr id="14" name="Rectangle: Rounded Corners 13">
            <a:extLst>
              <a:ext uri="{FF2B5EF4-FFF2-40B4-BE49-F238E27FC236}">
                <a16:creationId xmlns:a16="http://schemas.microsoft.com/office/drawing/2014/main" id="{FB2B093D-40F8-45E9-A1EE-66CC4AC40845}"/>
              </a:ext>
            </a:extLst>
          </p:cNvPr>
          <p:cNvSpPr>
            <a:spLocks noGrp="1"/>
          </p:cNvSpPr>
          <p:nvPr/>
        </p:nvSpPr>
        <p:spPr>
          <a:xfrm>
            <a:off x="754545" y="3525078"/>
            <a:ext cx="3931755" cy="933450"/>
          </a:xfrm>
          <a:prstGeom prst="roundRect">
            <a:avLst>
              <a:gd name="adj" fmla="val 136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5" name="Oval 14">
            <a:extLst>
              <a:ext uri="{FF2B5EF4-FFF2-40B4-BE49-F238E27FC236}">
                <a16:creationId xmlns:a16="http://schemas.microsoft.com/office/drawing/2014/main" id="{F0B29D11-853A-4E21-A38A-832C2AC9C0D5}"/>
              </a:ext>
            </a:extLst>
          </p:cNvPr>
          <p:cNvSpPr>
            <a:spLocks noGrp="1"/>
          </p:cNvSpPr>
          <p:nvPr/>
        </p:nvSpPr>
        <p:spPr>
          <a:xfrm>
            <a:off x="964095" y="3753678"/>
            <a:ext cx="495300" cy="495300"/>
          </a:xfrm>
          <a:prstGeom prst="ellipse">
            <a:avLst/>
          </a:prstGeom>
          <a:solidFill>
            <a:srgbClr val="EAF7FB"/>
          </a:solidFill>
          <a:ln w="0">
            <a:solidFill>
              <a:srgbClr val="EAF7FB"/>
            </a:solidFill>
            <a:prstDash val="solid"/>
          </a:ln>
        </p:spPr>
        <p:txBody>
          <a:bodyPr/>
          <a:lstStyle/>
          <a:p>
            <a:endParaRPr lang="en-US"/>
          </a:p>
        </p:txBody>
      </p:sp>
      <p:pic>
        <p:nvPicPr>
          <p:cNvPr id="45" name="Graphic 44"/>
          <p:cNvPicPr>
            <a:picLocks noChangeAspect="1"/>
          </p:cNvPicPr>
          <p:nvPr/>
        </p:nvPicPr>
        <p:blipFill>
          <a:blip>
            <a:extLst>
              <a:ext uri="{96DAC541-7B7A-43D3-8B79-37D633B846F1}">
                <asvg:svgBlip xmlns:asvg="http://schemas.microsoft.com/office/drawing/2016/SVG/main" r:embed="rId5"/>
              </a:ext>
            </a:extLst>
          </a:blip>
          <a:stretch/>
        </p:blipFill>
        <p:spPr>
          <a:xfrm>
            <a:off x="1087920" y="3877503"/>
            <a:ext cx="247650" cy="247650"/>
          </a:xfrm>
          <a:prstGeom prst="rect">
            <a:avLst/>
          </a:prstGeom>
        </p:spPr>
      </p:pic>
      <p:sp>
        <p:nvSpPr>
          <p:cNvPr id="17" name="Rectangle 16">
            <a:extLst>
              <a:ext uri="{FF2B5EF4-FFF2-40B4-BE49-F238E27FC236}">
                <a16:creationId xmlns:a16="http://schemas.microsoft.com/office/drawing/2014/main" id="{5424D639-1CD0-440E-9E6B-2C7207FCDA7D}"/>
              </a:ext>
            </a:extLst>
          </p:cNvPr>
          <p:cNvSpPr>
            <a:spLocks noGrp="1"/>
          </p:cNvSpPr>
          <p:nvPr/>
        </p:nvSpPr>
        <p:spPr>
          <a:xfrm>
            <a:off x="1649895" y="3717102"/>
            <a:ext cx="34671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Queues isolate long tasks</a:t>
            </a:r>
          </a:p>
        </p:txBody>
      </p:sp>
      <p:sp>
        <p:nvSpPr>
          <p:cNvPr id="18" name="Rectangle 17">
            <a:extLst>
              <a:ext uri="{FF2B5EF4-FFF2-40B4-BE49-F238E27FC236}">
                <a16:creationId xmlns:a16="http://schemas.microsoft.com/office/drawing/2014/main" id="{45E8AAEA-DF04-4307-B86B-8E6E59EB9CCF}"/>
              </a:ext>
            </a:extLst>
          </p:cNvPr>
          <p:cNvSpPr>
            <a:spLocks noGrp="1"/>
          </p:cNvSpPr>
          <p:nvPr/>
        </p:nvSpPr>
        <p:spPr>
          <a:xfrm>
            <a:off x="1649895" y="4013901"/>
            <a:ext cx="3467100" cy="292227"/>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Processing continues in background</a:t>
            </a:r>
          </a:p>
        </p:txBody>
      </p:sp>
      <p:sp>
        <p:nvSpPr>
          <p:cNvPr id="19" name="Rectangle: Rounded Corners 18">
            <a:extLst>
              <a:ext uri="{FF2B5EF4-FFF2-40B4-BE49-F238E27FC236}">
                <a16:creationId xmlns:a16="http://schemas.microsoft.com/office/drawing/2014/main" id="{BF4F631C-3195-489C-AF09-DC162C3D99BA}"/>
              </a:ext>
            </a:extLst>
          </p:cNvPr>
          <p:cNvSpPr>
            <a:spLocks noGrp="1"/>
          </p:cNvSpPr>
          <p:nvPr/>
        </p:nvSpPr>
        <p:spPr>
          <a:xfrm>
            <a:off x="754545" y="4612583"/>
            <a:ext cx="3931755" cy="933450"/>
          </a:xfrm>
          <a:prstGeom prst="roundRect">
            <a:avLst>
              <a:gd name="adj" fmla="val 136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0" name="Oval 19">
            <a:extLst>
              <a:ext uri="{FF2B5EF4-FFF2-40B4-BE49-F238E27FC236}">
                <a16:creationId xmlns:a16="http://schemas.microsoft.com/office/drawing/2014/main" id="{D6CAD516-6447-4B73-99FC-51C2742BF98E}"/>
              </a:ext>
            </a:extLst>
          </p:cNvPr>
          <p:cNvSpPr>
            <a:spLocks noGrp="1"/>
          </p:cNvSpPr>
          <p:nvPr/>
        </p:nvSpPr>
        <p:spPr>
          <a:xfrm>
            <a:off x="964095" y="4841184"/>
            <a:ext cx="495300" cy="495300"/>
          </a:xfrm>
          <a:prstGeom prst="ellipse">
            <a:avLst/>
          </a:prstGeom>
          <a:solidFill>
            <a:srgbClr val="EAF7FB"/>
          </a:solidFill>
          <a:ln w="0">
            <a:solidFill>
              <a:srgbClr val="EAF7FB"/>
            </a:solidFill>
            <a:prstDash val="solid"/>
          </a:ln>
        </p:spPr>
        <p:txBody>
          <a:bodyPr/>
          <a:lstStyle/>
          <a:p>
            <a:endParaRPr lang="en-US"/>
          </a:p>
        </p:txBody>
      </p:sp>
      <p:pic>
        <p:nvPicPr>
          <p:cNvPr id="50" name="Graphic 49"/>
          <p:cNvPicPr>
            <a:picLocks noChangeAspect="1"/>
          </p:cNvPicPr>
          <p:nvPr/>
        </p:nvPicPr>
        <p:blipFill>
          <a:blip>
            <a:extLst>
              <a:ext uri="{96DAC541-7B7A-43D3-8B79-37D633B846F1}">
                <asvg:svgBlip xmlns:asvg="http://schemas.microsoft.com/office/drawing/2016/SVG/main" r:embed="rId6"/>
              </a:ext>
            </a:extLst>
          </a:blip>
          <a:stretch/>
        </p:blipFill>
        <p:spPr>
          <a:xfrm>
            <a:off x="1087920" y="4965009"/>
            <a:ext cx="247650" cy="247650"/>
          </a:xfrm>
          <a:prstGeom prst="rect">
            <a:avLst/>
          </a:prstGeom>
        </p:spPr>
      </p:pic>
      <p:sp>
        <p:nvSpPr>
          <p:cNvPr id="22" name="Rectangle 21">
            <a:extLst>
              <a:ext uri="{FF2B5EF4-FFF2-40B4-BE49-F238E27FC236}">
                <a16:creationId xmlns:a16="http://schemas.microsoft.com/office/drawing/2014/main" id="{907B0087-C441-4BB3-AE4C-4A7DDA3CCEC5}"/>
              </a:ext>
            </a:extLst>
          </p:cNvPr>
          <p:cNvSpPr>
            <a:spLocks noGrp="1"/>
          </p:cNvSpPr>
          <p:nvPr/>
        </p:nvSpPr>
        <p:spPr>
          <a:xfrm>
            <a:off x="1649895" y="4804608"/>
            <a:ext cx="34671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RBAC protects enterprise data</a:t>
            </a:r>
          </a:p>
        </p:txBody>
      </p:sp>
      <p:sp>
        <p:nvSpPr>
          <p:cNvPr id="23" name="Rectangle 22">
            <a:extLst>
              <a:ext uri="{FF2B5EF4-FFF2-40B4-BE49-F238E27FC236}">
                <a16:creationId xmlns:a16="http://schemas.microsoft.com/office/drawing/2014/main" id="{1F1E2621-C119-4DBE-879E-2EE4715C6615}"/>
              </a:ext>
            </a:extLst>
          </p:cNvPr>
          <p:cNvSpPr>
            <a:spLocks noGrp="1"/>
          </p:cNvSpPr>
          <p:nvPr/>
        </p:nvSpPr>
        <p:spPr>
          <a:xfrm>
            <a:off x="1649895" y="5101407"/>
            <a:ext cx="3467100" cy="285750"/>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Access follows user responsibilities</a:t>
            </a:r>
          </a:p>
        </p:txBody>
      </p:sp>
      <p:sp>
        <p:nvSpPr>
          <p:cNvPr id="24" name="Rectangle: Rounded Corners 23">
            <a:extLst>
              <a:ext uri="{FF2B5EF4-FFF2-40B4-BE49-F238E27FC236}">
                <a16:creationId xmlns:a16="http://schemas.microsoft.com/office/drawing/2014/main" id="{212AD741-8871-40D6-BE29-56040DF51D21}"/>
              </a:ext>
            </a:extLst>
          </p:cNvPr>
          <p:cNvSpPr>
            <a:spLocks noGrp="1"/>
          </p:cNvSpPr>
          <p:nvPr/>
        </p:nvSpPr>
        <p:spPr>
          <a:xfrm>
            <a:off x="4895851" y="1409699"/>
            <a:ext cx="6381750" cy="4136333"/>
          </a:xfrm>
          <a:prstGeom prst="roundRect">
            <a:avLst>
              <a:gd name="adj" fmla="val 3509"/>
            </a:avLst>
          </a:prstGeom>
          <a:solidFill>
            <a:srgbClr val="FFFFFF"/>
          </a:solidFill>
          <a:ln w="9525">
            <a:solidFill>
              <a:srgbClr val="D8E8EE"/>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8" name="Rectangle 27">
            <a:extLst>
              <a:ext uri="{FF2B5EF4-FFF2-40B4-BE49-F238E27FC236}">
                <a16:creationId xmlns:a16="http://schemas.microsoft.com/office/drawing/2014/main" id="{E13CB8F2-8ED1-40D6-8E15-ECDE9BCD53CC}"/>
              </a:ext>
            </a:extLst>
          </p:cNvPr>
          <p:cNvSpPr>
            <a:spLocks noGrp="1"/>
          </p:cNvSpPr>
          <p:nvPr/>
        </p:nvSpPr>
        <p:spPr>
          <a:xfrm>
            <a:off x="685800" y="6419850"/>
            <a:ext cx="5905500" cy="228600"/>
          </a:xfrm>
          <a:prstGeom prst="rect">
            <a:avLst/>
          </a:prstGeom>
          <a:noFill/>
          <a:ln w="0">
            <a:noFill/>
            <a:prstDash val="solid"/>
          </a:ln>
        </p:spPr>
        <p:txBody>
          <a:bodyPr/>
          <a:lstStyle/>
          <a:p>
            <a:pPr>
              <a:defRPr sz="900" b="0">
                <a:solidFill>
                  <a:srgbClr val="5B6B78"/>
                </a:solidFill>
              </a:defRPr>
            </a:pPr>
            <a:r>
              <a:rPr sz="900" b="0" dirty="0">
                <a:solidFill>
                  <a:srgbClr val="5B6B78"/>
                </a:solidFill>
              </a:rPr>
              <a:t>AI-powered enterprise document retrieval system</a:t>
            </a:r>
            <a:r>
              <a:rPr lang="de-DE" sz="900" b="0" dirty="0">
                <a:solidFill>
                  <a:srgbClr val="5B6B78"/>
                </a:solidFill>
              </a:rPr>
              <a:t> </a:t>
            </a:r>
            <a:r>
              <a:rPr lang="en-US" sz="900" dirty="0">
                <a:solidFill>
                  <a:srgbClr val="5B6B78"/>
                </a:solidFill>
              </a:rPr>
              <a:t>|</a:t>
            </a:r>
            <a:r>
              <a:rPr lang="de-DE" sz="900" dirty="0">
                <a:solidFill>
                  <a:srgbClr val="5B6B78"/>
                </a:solidFill>
              </a:rPr>
              <a:t> Md Fahim Hossain </a:t>
            </a:r>
            <a:r>
              <a:rPr lang="en-US" sz="900" dirty="0">
                <a:solidFill>
                  <a:srgbClr val="5B6B78"/>
                </a:solidFill>
              </a:rPr>
              <a:t>| July 2026</a:t>
            </a:r>
            <a:r>
              <a:rPr lang="de-DE" sz="900" dirty="0">
                <a:solidFill>
                  <a:srgbClr val="5B6B78"/>
                </a:solidFill>
              </a:rPr>
              <a:t> </a:t>
            </a:r>
            <a:endParaRPr sz="900" b="0" dirty="0">
              <a:solidFill>
                <a:srgbClr val="5B6B78"/>
              </a:solidFill>
            </a:endParaRPr>
          </a:p>
        </p:txBody>
      </p:sp>
      <p:sp>
        <p:nvSpPr>
          <p:cNvPr id="29" name="Rectangle 28">
            <a:extLst>
              <a:ext uri="{FF2B5EF4-FFF2-40B4-BE49-F238E27FC236}">
                <a16:creationId xmlns:a16="http://schemas.microsoft.com/office/drawing/2014/main" id="{CE6B560A-FCBF-405A-87FB-82568322AB06}"/>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09 / 11</a:t>
            </a:r>
          </a:p>
        </p:txBody>
      </p:sp>
      <p:pic>
        <p:nvPicPr>
          <p:cNvPr id="16" name="Picture 15">
            <a:extLst>
              <a:ext uri="{FF2B5EF4-FFF2-40B4-BE49-F238E27FC236}">
                <a16:creationId xmlns:a16="http://schemas.microsoft.com/office/drawing/2014/main" id="{9855D3D0-2824-1F73-0CE7-A977BA5106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pic>
        <p:nvPicPr>
          <p:cNvPr id="30" name="Graphic 29">
            <a:extLst>
              <a:ext uri="{FF2B5EF4-FFF2-40B4-BE49-F238E27FC236}">
                <a16:creationId xmlns:a16="http://schemas.microsoft.com/office/drawing/2014/main" id="{60858F35-4581-7E66-C561-A934478E9CD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57555" y="1665930"/>
            <a:ext cx="6258341" cy="3617976"/>
          </a:xfrm>
          <a:prstGeom prst="rect">
            <a:avLst/>
          </a:prstGeom>
        </p:spPr>
      </p:pic>
    </p:spTree>
    <p:extLst>
      <p:ext uri="{BB962C8B-B14F-4D97-AF65-F5344CB8AC3E}">
        <p14:creationId xmlns:p14="http://schemas.microsoft.com/office/powerpoint/2010/main" val="138112689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0606B7-0AD7-4EE6-803A-2B47A0AAA95D}"/>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798C2021-80B1-4D95-977D-1E3523B75A9D}"/>
              </a:ext>
            </a:extLst>
          </p:cNvPr>
          <p:cNvSpPr>
            <a:spLocks noGrp="1"/>
          </p:cNvSpPr>
          <p:nvPr/>
        </p:nvSpPr>
        <p:spPr>
          <a:xfrm>
            <a:off x="685800" y="342900"/>
            <a:ext cx="4000500" cy="209550"/>
          </a:xfrm>
          <a:prstGeom prst="rect">
            <a:avLst/>
          </a:prstGeom>
          <a:noFill/>
          <a:ln w="0">
            <a:noFill/>
            <a:prstDash val="solid"/>
          </a:ln>
        </p:spPr>
        <p:txBody>
          <a:bodyPr/>
          <a:lstStyle/>
          <a:p>
            <a:pPr algn="l">
              <a:defRPr sz="900" b="1">
                <a:solidFill>
                  <a:srgbClr val="009999"/>
                </a:solidFill>
              </a:defRPr>
            </a:pPr>
            <a:r>
              <a:rPr sz="900" b="1" dirty="0">
                <a:solidFill>
                  <a:srgbClr val="009999"/>
                </a:solidFill>
              </a:rPr>
              <a:t>CLOSING</a:t>
            </a:r>
          </a:p>
        </p:txBody>
      </p:sp>
      <p:sp>
        <p:nvSpPr>
          <p:cNvPr id="3" name="Rectangle 2">
            <a:extLst>
              <a:ext uri="{FF2B5EF4-FFF2-40B4-BE49-F238E27FC236}">
                <a16:creationId xmlns:a16="http://schemas.microsoft.com/office/drawing/2014/main" id="{996C79EB-ACFB-463C-BB5E-3A0C367D998D}"/>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Conclusion</a:t>
            </a:r>
          </a:p>
        </p:txBody>
      </p:sp>
      <p:sp>
        <p:nvSpPr>
          <p:cNvPr id="4" name="Rectangle: Rounded Corners 3">
            <a:extLst>
              <a:ext uri="{FF2B5EF4-FFF2-40B4-BE49-F238E27FC236}">
                <a16:creationId xmlns:a16="http://schemas.microsoft.com/office/drawing/2014/main" id="{20F413A2-9496-42B7-B4F8-7BA558792E5F}"/>
              </a:ext>
            </a:extLst>
          </p:cNvPr>
          <p:cNvSpPr>
            <a:spLocks noGrp="1"/>
          </p:cNvSpPr>
          <p:nvPr/>
        </p:nvSpPr>
        <p:spPr>
          <a:xfrm>
            <a:off x="1726096" y="1700974"/>
            <a:ext cx="3810000" cy="5524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26" name="Graphic 25"/>
          <p:cNvPicPr>
            <a:picLocks noChangeAspect="1"/>
          </p:cNvPicPr>
          <p:nvPr/>
        </p:nvPicPr>
        <p:blipFill>
          <a:blip>
            <a:extLst>
              <a:ext uri="{96DAC541-7B7A-43D3-8B79-37D633B846F1}">
                <asvg:svgBlip xmlns:asvg="http://schemas.microsoft.com/office/drawing/2016/SVG/main" r:embed="rId3"/>
              </a:ext>
            </a:extLst>
          </a:blip>
          <a:stretch/>
        </p:blipFill>
        <p:spPr>
          <a:xfrm>
            <a:off x="2296996" y="1871517"/>
            <a:ext cx="228600" cy="228600"/>
          </a:xfrm>
          <a:prstGeom prst="rect">
            <a:avLst/>
          </a:prstGeom>
        </p:spPr>
      </p:pic>
      <p:sp>
        <p:nvSpPr>
          <p:cNvPr id="6" name="Rectangle 5">
            <a:extLst>
              <a:ext uri="{FF2B5EF4-FFF2-40B4-BE49-F238E27FC236}">
                <a16:creationId xmlns:a16="http://schemas.microsoft.com/office/drawing/2014/main" id="{39E9A281-CD65-468A-9726-228B6EF78227}"/>
              </a:ext>
            </a:extLst>
          </p:cNvPr>
          <p:cNvSpPr>
            <a:spLocks noGrp="1"/>
          </p:cNvSpPr>
          <p:nvPr/>
        </p:nvSpPr>
        <p:spPr>
          <a:xfrm>
            <a:off x="2610907" y="1825002"/>
            <a:ext cx="321945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Secure document management</a:t>
            </a:r>
          </a:p>
        </p:txBody>
      </p:sp>
      <p:sp>
        <p:nvSpPr>
          <p:cNvPr id="7" name="Rectangle: Rounded Corners 6">
            <a:extLst>
              <a:ext uri="{FF2B5EF4-FFF2-40B4-BE49-F238E27FC236}">
                <a16:creationId xmlns:a16="http://schemas.microsoft.com/office/drawing/2014/main" id="{26AC86C3-AD1E-4302-A343-0826FCC58265}"/>
              </a:ext>
            </a:extLst>
          </p:cNvPr>
          <p:cNvSpPr>
            <a:spLocks noGrp="1"/>
          </p:cNvSpPr>
          <p:nvPr/>
        </p:nvSpPr>
        <p:spPr>
          <a:xfrm>
            <a:off x="6202846" y="1700974"/>
            <a:ext cx="3810000" cy="5524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29" name="Graphic 28"/>
          <p:cNvPicPr>
            <a:picLocks noChangeAspect="1"/>
          </p:cNvPicPr>
          <p:nvPr/>
        </p:nvPicPr>
        <p:blipFill>
          <a:blip>
            <a:extLst>
              <a:ext uri="{96DAC541-7B7A-43D3-8B79-37D633B846F1}">
                <asvg:svgBlip xmlns:asvg="http://schemas.microsoft.com/office/drawing/2016/SVG/main" r:embed="rId4"/>
              </a:ext>
            </a:extLst>
          </a:blip>
          <a:stretch/>
        </p:blipFill>
        <p:spPr>
          <a:xfrm>
            <a:off x="6754503" y="1871728"/>
            <a:ext cx="228600" cy="228600"/>
          </a:xfrm>
          <a:prstGeom prst="rect">
            <a:avLst/>
          </a:prstGeom>
        </p:spPr>
      </p:pic>
      <p:sp>
        <p:nvSpPr>
          <p:cNvPr id="9" name="Rectangle 8">
            <a:extLst>
              <a:ext uri="{FF2B5EF4-FFF2-40B4-BE49-F238E27FC236}">
                <a16:creationId xmlns:a16="http://schemas.microsoft.com/office/drawing/2014/main" id="{8E00972E-5159-4403-892E-0CAB996A3604}"/>
              </a:ext>
            </a:extLst>
          </p:cNvPr>
          <p:cNvSpPr>
            <a:spLocks noGrp="1"/>
          </p:cNvSpPr>
          <p:nvPr/>
        </p:nvSpPr>
        <p:spPr>
          <a:xfrm>
            <a:off x="7058475" y="1815274"/>
            <a:ext cx="321945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Automated processing pipeline</a:t>
            </a:r>
          </a:p>
        </p:txBody>
      </p:sp>
      <p:sp>
        <p:nvSpPr>
          <p:cNvPr id="10" name="Rectangle: Rounded Corners 9">
            <a:extLst>
              <a:ext uri="{FF2B5EF4-FFF2-40B4-BE49-F238E27FC236}">
                <a16:creationId xmlns:a16="http://schemas.microsoft.com/office/drawing/2014/main" id="{347FBBCC-FB51-457B-BA7E-16F7532D25DA}"/>
              </a:ext>
            </a:extLst>
          </p:cNvPr>
          <p:cNvSpPr>
            <a:spLocks noGrp="1"/>
          </p:cNvSpPr>
          <p:nvPr/>
        </p:nvSpPr>
        <p:spPr>
          <a:xfrm>
            <a:off x="1726096" y="2615374"/>
            <a:ext cx="3810000" cy="552450"/>
          </a:xfrm>
          <a:prstGeom prst="roundRect">
            <a:avLst>
              <a:gd name="adj" fmla="val 50000"/>
            </a:avLst>
          </a:prstGeom>
          <a:solidFill>
            <a:srgbClr val="FFFFFF"/>
          </a:solidFill>
          <a:ln w="9525">
            <a:solidFill>
              <a:srgbClr val="CBE4EC"/>
            </a:solidFill>
            <a:prstDash val="solid"/>
          </a:ln>
        </p:spPr>
        <p:txBody>
          <a:bodyPr/>
          <a:lstStyle/>
          <a:p>
            <a:endParaRPr lang="en-US" dirty="0"/>
          </a:p>
        </p:txBody>
      </p:sp>
      <p:pic>
        <p:nvPicPr>
          <p:cNvPr id="32" name="Graphic 31"/>
          <p:cNvPicPr>
            <a:picLocks noChangeAspect="1"/>
          </p:cNvPicPr>
          <p:nvPr/>
        </p:nvPicPr>
        <p:blipFill>
          <a:blip>
            <a:extLst>
              <a:ext uri="{96DAC541-7B7A-43D3-8B79-37D633B846F1}">
                <asvg:svgBlip xmlns:asvg="http://schemas.microsoft.com/office/drawing/2016/SVG/main" r:embed="rId5"/>
              </a:ext>
            </a:extLst>
          </a:blip>
          <a:stretch/>
        </p:blipFill>
        <p:spPr>
          <a:xfrm>
            <a:off x="2374820" y="2785917"/>
            <a:ext cx="228600" cy="228600"/>
          </a:xfrm>
          <a:prstGeom prst="rect">
            <a:avLst/>
          </a:prstGeom>
        </p:spPr>
      </p:pic>
      <p:sp>
        <p:nvSpPr>
          <p:cNvPr id="12" name="Rectangle 11">
            <a:extLst>
              <a:ext uri="{FF2B5EF4-FFF2-40B4-BE49-F238E27FC236}">
                <a16:creationId xmlns:a16="http://schemas.microsoft.com/office/drawing/2014/main" id="{3471C105-3B22-45EE-A2C1-2950235358F0}"/>
              </a:ext>
            </a:extLst>
          </p:cNvPr>
          <p:cNvSpPr>
            <a:spLocks noGrp="1"/>
          </p:cNvSpPr>
          <p:nvPr/>
        </p:nvSpPr>
        <p:spPr>
          <a:xfrm>
            <a:off x="2688731" y="2739402"/>
            <a:ext cx="321945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Semantic document retrieval</a:t>
            </a:r>
          </a:p>
        </p:txBody>
      </p:sp>
      <p:sp>
        <p:nvSpPr>
          <p:cNvPr id="13" name="Rectangle: Rounded Corners 12">
            <a:extLst>
              <a:ext uri="{FF2B5EF4-FFF2-40B4-BE49-F238E27FC236}">
                <a16:creationId xmlns:a16="http://schemas.microsoft.com/office/drawing/2014/main" id="{F370BAD4-89E2-42BC-A554-00B54527CDC0}"/>
              </a:ext>
            </a:extLst>
          </p:cNvPr>
          <p:cNvSpPr>
            <a:spLocks noGrp="1"/>
          </p:cNvSpPr>
          <p:nvPr/>
        </p:nvSpPr>
        <p:spPr>
          <a:xfrm>
            <a:off x="6202846" y="2615374"/>
            <a:ext cx="3810000" cy="5524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35" name="Graphic 34"/>
          <p:cNvPicPr>
            <a:picLocks noChangeAspect="1"/>
          </p:cNvPicPr>
          <p:nvPr/>
        </p:nvPicPr>
        <p:blipFill>
          <a:blip>
            <a:extLst>
              <a:ext uri="{96DAC541-7B7A-43D3-8B79-37D633B846F1}">
                <asvg:svgBlip xmlns:asvg="http://schemas.microsoft.com/office/drawing/2016/SVG/main" r:embed="rId6"/>
              </a:ext>
            </a:extLst>
          </a:blip>
          <a:stretch/>
        </p:blipFill>
        <p:spPr>
          <a:xfrm>
            <a:off x="6803141" y="2786128"/>
            <a:ext cx="228600" cy="228600"/>
          </a:xfrm>
          <a:prstGeom prst="rect">
            <a:avLst/>
          </a:prstGeom>
        </p:spPr>
      </p:pic>
      <p:sp>
        <p:nvSpPr>
          <p:cNvPr id="15" name="Rectangle 14">
            <a:extLst>
              <a:ext uri="{FF2B5EF4-FFF2-40B4-BE49-F238E27FC236}">
                <a16:creationId xmlns:a16="http://schemas.microsoft.com/office/drawing/2014/main" id="{41DAC80F-F257-49E5-BCDD-DDA807A52C00}"/>
              </a:ext>
            </a:extLst>
          </p:cNvPr>
          <p:cNvSpPr>
            <a:spLocks noGrp="1"/>
          </p:cNvSpPr>
          <p:nvPr/>
        </p:nvSpPr>
        <p:spPr>
          <a:xfrm>
            <a:off x="7107113" y="2729674"/>
            <a:ext cx="321945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Grounded response generation</a:t>
            </a:r>
          </a:p>
        </p:txBody>
      </p:sp>
      <p:sp>
        <p:nvSpPr>
          <p:cNvPr id="16" name="Rectangle: Rounded Corners 15">
            <a:extLst>
              <a:ext uri="{FF2B5EF4-FFF2-40B4-BE49-F238E27FC236}">
                <a16:creationId xmlns:a16="http://schemas.microsoft.com/office/drawing/2014/main" id="{EEC6CA41-1BD2-49A1-894C-FB339C37270B}"/>
              </a:ext>
            </a:extLst>
          </p:cNvPr>
          <p:cNvSpPr>
            <a:spLocks noGrp="1"/>
          </p:cNvSpPr>
          <p:nvPr/>
        </p:nvSpPr>
        <p:spPr>
          <a:xfrm>
            <a:off x="4111487" y="3613975"/>
            <a:ext cx="3810000" cy="5524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38" name="Graphic 37"/>
          <p:cNvPicPr>
            <a:picLocks noChangeAspect="1"/>
          </p:cNvPicPr>
          <p:nvPr/>
        </p:nvPicPr>
        <p:blipFill>
          <a:blip>
            <a:extLst>
              <a:ext uri="{96DAC541-7B7A-43D3-8B79-37D633B846F1}">
                <asvg:svgBlip xmlns:asvg="http://schemas.microsoft.com/office/drawing/2016/SVG/main" r:embed="rId7"/>
              </a:ext>
            </a:extLst>
          </a:blip>
          <a:stretch/>
        </p:blipFill>
        <p:spPr>
          <a:xfrm>
            <a:off x="4575599" y="3774790"/>
            <a:ext cx="228600" cy="228600"/>
          </a:xfrm>
          <a:prstGeom prst="rect">
            <a:avLst/>
          </a:prstGeom>
        </p:spPr>
      </p:pic>
      <p:sp>
        <p:nvSpPr>
          <p:cNvPr id="18" name="Rectangle 17">
            <a:extLst>
              <a:ext uri="{FF2B5EF4-FFF2-40B4-BE49-F238E27FC236}">
                <a16:creationId xmlns:a16="http://schemas.microsoft.com/office/drawing/2014/main" id="{B7698AED-3ABA-42B9-ABBB-E2606E284416}"/>
              </a:ext>
            </a:extLst>
          </p:cNvPr>
          <p:cNvSpPr>
            <a:spLocks noGrp="1"/>
          </p:cNvSpPr>
          <p:nvPr/>
        </p:nvSpPr>
        <p:spPr>
          <a:xfrm>
            <a:off x="4879571" y="3728275"/>
            <a:ext cx="3219450" cy="247650"/>
          </a:xfrm>
          <a:prstGeom prst="rect">
            <a:avLst/>
          </a:prstGeom>
          <a:noFill/>
          <a:ln w="0">
            <a:noFill/>
            <a:prstDash val="solid"/>
          </a:ln>
        </p:spPr>
        <p:txBody>
          <a:bodyPr/>
          <a:lstStyle/>
          <a:p>
            <a:pPr algn="l">
              <a:defRPr sz="1275" b="1">
                <a:solidFill>
                  <a:srgbClr val="083344"/>
                </a:solidFill>
              </a:defRPr>
            </a:pPr>
            <a:r>
              <a:rPr sz="1400" b="1" dirty="0">
                <a:solidFill>
                  <a:srgbClr val="083344"/>
                </a:solidFill>
              </a:rPr>
              <a:t>Extensible enterprise architecture</a:t>
            </a:r>
          </a:p>
        </p:txBody>
      </p:sp>
      <p:sp>
        <p:nvSpPr>
          <p:cNvPr id="19" name="Rectangle 18">
            <a:extLst>
              <a:ext uri="{FF2B5EF4-FFF2-40B4-BE49-F238E27FC236}">
                <a16:creationId xmlns:a16="http://schemas.microsoft.com/office/drawing/2014/main" id="{ECE9E0A6-6B31-4EB9-94EF-854B5F2116D7}"/>
              </a:ext>
            </a:extLst>
          </p:cNvPr>
          <p:cNvSpPr>
            <a:spLocks noGrp="1"/>
          </p:cNvSpPr>
          <p:nvPr/>
        </p:nvSpPr>
        <p:spPr>
          <a:xfrm>
            <a:off x="1809750" y="4819650"/>
            <a:ext cx="8572500" cy="704850"/>
          </a:xfrm>
          <a:prstGeom prst="rect">
            <a:avLst/>
          </a:prstGeom>
          <a:noFill/>
          <a:ln w="0">
            <a:noFill/>
            <a:prstDash val="solid"/>
          </a:ln>
        </p:spPr>
        <p:txBody>
          <a:bodyPr/>
          <a:lstStyle/>
          <a:p>
            <a:pPr algn="ctr">
              <a:defRPr sz="2325" b="1">
                <a:solidFill>
                  <a:srgbClr val="083344"/>
                </a:solidFill>
              </a:defRPr>
            </a:pPr>
            <a:r>
              <a:rPr sz="2325" b="1">
                <a:solidFill>
                  <a:srgbClr val="083344"/>
                </a:solidFill>
              </a:rPr>
              <a:t>The project translated enterprise knowledge needs</a:t>
            </a:r>
          </a:p>
          <a:p>
            <a:pPr algn="ctr">
              <a:defRPr sz="2325" b="1">
                <a:solidFill>
                  <a:srgbClr val="083344"/>
                </a:solidFill>
              </a:defRPr>
            </a:pPr>
            <a:r>
              <a:rPr sz="2325" b="1">
                <a:solidFill>
                  <a:srgbClr val="083344"/>
                </a:solidFill>
              </a:rPr>
              <a:t>into a maintainable software architecture.</a:t>
            </a:r>
          </a:p>
        </p:txBody>
      </p:sp>
      <p:sp>
        <p:nvSpPr>
          <p:cNvPr id="20" name="Rectangle 19">
            <a:extLst>
              <a:ext uri="{FF2B5EF4-FFF2-40B4-BE49-F238E27FC236}">
                <a16:creationId xmlns:a16="http://schemas.microsoft.com/office/drawing/2014/main" id="{F9C90403-F945-4DBB-836F-7C38DDC3969F}"/>
              </a:ext>
            </a:extLst>
          </p:cNvPr>
          <p:cNvSpPr>
            <a:spLocks noGrp="1"/>
          </p:cNvSpPr>
          <p:nvPr/>
        </p:nvSpPr>
        <p:spPr>
          <a:xfrm>
            <a:off x="685800" y="6419850"/>
            <a:ext cx="5905500" cy="228600"/>
          </a:xfrm>
          <a:prstGeom prst="rect">
            <a:avLst/>
          </a:prstGeom>
          <a:noFill/>
          <a:ln w="0">
            <a:noFill/>
            <a:prstDash val="solid"/>
          </a:ln>
        </p:spPr>
        <p:txBody>
          <a:bodyPr/>
          <a:lstStyle/>
          <a:p>
            <a:pPr>
              <a:defRPr sz="900" b="0">
                <a:solidFill>
                  <a:srgbClr val="5B6B78"/>
                </a:solidFill>
              </a:defRPr>
            </a:pPr>
            <a:r>
              <a:rPr sz="900" b="0" dirty="0">
                <a:solidFill>
                  <a:srgbClr val="5B6B78"/>
                </a:solidFill>
              </a:rPr>
              <a:t>AI-powered enterprise document retrieval system</a:t>
            </a:r>
            <a:r>
              <a:rPr lang="de-DE" sz="900" b="0" dirty="0">
                <a:solidFill>
                  <a:srgbClr val="5B6B78"/>
                </a:solidFill>
              </a:rPr>
              <a:t> </a:t>
            </a:r>
            <a:r>
              <a:rPr lang="en-US" sz="900" dirty="0">
                <a:solidFill>
                  <a:srgbClr val="5B6B78"/>
                </a:solidFill>
              </a:rPr>
              <a:t>|</a:t>
            </a:r>
            <a:r>
              <a:rPr lang="de-DE" sz="900" dirty="0">
                <a:solidFill>
                  <a:srgbClr val="5B6B78"/>
                </a:solidFill>
              </a:rPr>
              <a:t> Md Fahim Hossain </a:t>
            </a:r>
            <a:r>
              <a:rPr lang="en-US" sz="900" dirty="0">
                <a:solidFill>
                  <a:srgbClr val="5B6B78"/>
                </a:solidFill>
              </a:rPr>
              <a:t>| July 2026</a:t>
            </a:r>
            <a:r>
              <a:rPr lang="de-DE" sz="900" dirty="0">
                <a:solidFill>
                  <a:srgbClr val="5B6B78"/>
                </a:solidFill>
              </a:rPr>
              <a:t> </a:t>
            </a:r>
            <a:endParaRPr sz="900" b="0" dirty="0">
              <a:solidFill>
                <a:srgbClr val="5B6B78"/>
              </a:solidFill>
            </a:endParaRPr>
          </a:p>
        </p:txBody>
      </p:sp>
      <p:sp>
        <p:nvSpPr>
          <p:cNvPr id="21" name="Rectangle 20">
            <a:extLst>
              <a:ext uri="{FF2B5EF4-FFF2-40B4-BE49-F238E27FC236}">
                <a16:creationId xmlns:a16="http://schemas.microsoft.com/office/drawing/2014/main" id="{4F5F509E-BB67-475C-B801-32B16373DF1A}"/>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10 / 11</a:t>
            </a:r>
          </a:p>
        </p:txBody>
      </p:sp>
      <p:pic>
        <p:nvPicPr>
          <p:cNvPr id="11" name="Picture 10">
            <a:extLst>
              <a:ext uri="{FF2B5EF4-FFF2-40B4-BE49-F238E27FC236}">
                <a16:creationId xmlns:a16="http://schemas.microsoft.com/office/drawing/2014/main" id="{C7667823-285F-B107-02EE-26683B29C00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54399121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0622AC-99C7-41AC-B7E0-39F51FB2AB5E}"/>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pic>
        <p:nvPicPr>
          <p:cNvPr id="9" name="Graphic 8"/>
          <p:cNvPicPr>
            <a:picLocks noChangeAspect="1"/>
          </p:cNvPicPr>
          <p:nvPr/>
        </p:nvPicPr>
        <p:blipFill>
          <a:blip>
            <a:extLst>
              <a:ext uri="{96DAC541-7B7A-43D3-8B79-37D633B846F1}">
                <asvg:svgBlip xmlns:asvg="http://schemas.microsoft.com/office/drawing/2016/SVG/main" r:embed="rId3"/>
              </a:ext>
            </a:extLst>
          </a:blip>
          <a:stretch/>
        </p:blipFill>
        <p:spPr>
          <a:xfrm>
            <a:off x="5372100" y="1276350"/>
            <a:ext cx="1447800" cy="1447800"/>
          </a:xfrm>
          <a:prstGeom prst="rect">
            <a:avLst/>
          </a:prstGeom>
        </p:spPr>
      </p:pic>
      <p:sp>
        <p:nvSpPr>
          <p:cNvPr id="3" name="Rectangle 2">
            <a:extLst>
              <a:ext uri="{FF2B5EF4-FFF2-40B4-BE49-F238E27FC236}">
                <a16:creationId xmlns:a16="http://schemas.microsoft.com/office/drawing/2014/main" id="{0B82B446-B0B6-4A78-B568-52EEAE34EEDA}"/>
              </a:ext>
            </a:extLst>
          </p:cNvPr>
          <p:cNvSpPr>
            <a:spLocks noGrp="1"/>
          </p:cNvSpPr>
          <p:nvPr/>
        </p:nvSpPr>
        <p:spPr>
          <a:xfrm>
            <a:off x="2571750" y="3333750"/>
            <a:ext cx="7048500" cy="685800"/>
          </a:xfrm>
          <a:prstGeom prst="rect">
            <a:avLst/>
          </a:prstGeom>
          <a:noFill/>
          <a:ln w="0">
            <a:noFill/>
            <a:prstDash val="solid"/>
          </a:ln>
        </p:spPr>
        <p:txBody>
          <a:bodyPr/>
          <a:lstStyle/>
          <a:p>
            <a:pPr algn="ctr">
              <a:defRPr sz="4350" b="1">
                <a:solidFill>
                  <a:srgbClr val="083344"/>
                </a:solidFill>
              </a:defRPr>
            </a:pPr>
            <a:r>
              <a:rPr sz="4350" b="1" dirty="0">
                <a:solidFill>
                  <a:srgbClr val="083344"/>
                </a:solidFill>
              </a:rPr>
              <a:t>Questions?</a:t>
            </a:r>
          </a:p>
        </p:txBody>
      </p:sp>
      <p:sp>
        <p:nvSpPr>
          <p:cNvPr id="4" name="Rectangle 3">
            <a:extLst>
              <a:ext uri="{FF2B5EF4-FFF2-40B4-BE49-F238E27FC236}">
                <a16:creationId xmlns:a16="http://schemas.microsoft.com/office/drawing/2014/main" id="{0ECF2335-BFA8-4A15-83CE-C3ABD3B4C6C4}"/>
              </a:ext>
            </a:extLst>
          </p:cNvPr>
          <p:cNvSpPr>
            <a:spLocks noGrp="1"/>
          </p:cNvSpPr>
          <p:nvPr/>
        </p:nvSpPr>
        <p:spPr>
          <a:xfrm>
            <a:off x="3143250" y="2990850"/>
            <a:ext cx="5905500" cy="342900"/>
          </a:xfrm>
          <a:prstGeom prst="rect">
            <a:avLst/>
          </a:prstGeom>
          <a:noFill/>
          <a:ln w="0">
            <a:noFill/>
            <a:prstDash val="solid"/>
          </a:ln>
        </p:spPr>
        <p:txBody>
          <a:bodyPr/>
          <a:lstStyle/>
          <a:p>
            <a:pPr algn="ctr">
              <a:defRPr sz="1950" b="0">
                <a:solidFill>
                  <a:srgbClr val="5B6B78"/>
                </a:solidFill>
              </a:defRPr>
            </a:pPr>
            <a:r>
              <a:rPr sz="1950" b="0" dirty="0">
                <a:solidFill>
                  <a:srgbClr val="5B6B78"/>
                </a:solidFill>
              </a:rPr>
              <a:t>Thank you for your attention</a:t>
            </a:r>
          </a:p>
        </p:txBody>
      </p:sp>
      <p:sp>
        <p:nvSpPr>
          <p:cNvPr id="5" name="Rectangle 4">
            <a:extLst>
              <a:ext uri="{FF2B5EF4-FFF2-40B4-BE49-F238E27FC236}">
                <a16:creationId xmlns:a16="http://schemas.microsoft.com/office/drawing/2014/main" id="{CC226F91-37F0-4849-941C-B59A6E4BB065}"/>
              </a:ext>
            </a:extLst>
          </p:cNvPr>
          <p:cNvSpPr>
            <a:spLocks noGrp="1"/>
          </p:cNvSpPr>
          <p:nvPr/>
        </p:nvSpPr>
        <p:spPr>
          <a:xfrm>
            <a:off x="2381250" y="4895850"/>
            <a:ext cx="7429500" cy="304800"/>
          </a:xfrm>
          <a:prstGeom prst="rect">
            <a:avLst/>
          </a:prstGeom>
          <a:noFill/>
          <a:ln w="0">
            <a:noFill/>
            <a:prstDash val="solid"/>
          </a:ln>
        </p:spPr>
        <p:txBody>
          <a:bodyPr/>
          <a:lstStyle/>
          <a:p>
            <a:pPr algn="ctr">
              <a:defRPr sz="1500" b="1">
                <a:solidFill>
                  <a:srgbClr val="009999"/>
                </a:solidFill>
              </a:defRPr>
            </a:pPr>
            <a:r>
              <a:rPr sz="1500" b="1">
                <a:solidFill>
                  <a:srgbClr val="009999"/>
                </a:solidFill>
              </a:rPr>
              <a:t>Enterprise RAG system | Master's internship presentation</a:t>
            </a:r>
          </a:p>
        </p:txBody>
      </p:sp>
      <p:sp>
        <p:nvSpPr>
          <p:cNvPr id="6" name="Rectangle 5">
            <a:extLst>
              <a:ext uri="{FF2B5EF4-FFF2-40B4-BE49-F238E27FC236}">
                <a16:creationId xmlns:a16="http://schemas.microsoft.com/office/drawing/2014/main" id="{6B782F88-E526-4346-A96A-1F1A8ABDAA19}"/>
              </a:ext>
            </a:extLst>
          </p:cNvPr>
          <p:cNvSpPr>
            <a:spLocks noGrp="1"/>
          </p:cNvSpPr>
          <p:nvPr/>
        </p:nvSpPr>
        <p:spPr>
          <a:xfrm>
            <a:off x="685800" y="6419850"/>
            <a:ext cx="5905500" cy="228600"/>
          </a:xfrm>
          <a:prstGeom prst="rect">
            <a:avLst/>
          </a:prstGeom>
          <a:noFill/>
          <a:ln w="0">
            <a:noFill/>
            <a:prstDash val="solid"/>
          </a:ln>
        </p:spPr>
        <p:txBody>
          <a:bodyPr/>
          <a:lstStyle/>
          <a:p>
            <a:pPr>
              <a:defRPr sz="900" b="0">
                <a:solidFill>
                  <a:srgbClr val="5B6B78"/>
                </a:solidFill>
              </a:defRPr>
            </a:pPr>
            <a:r>
              <a:rPr sz="900" b="0" dirty="0">
                <a:solidFill>
                  <a:srgbClr val="5B6B78"/>
                </a:solidFill>
              </a:rPr>
              <a:t>AI-powered enterprise document retrieval system</a:t>
            </a:r>
            <a:r>
              <a:rPr lang="de-DE" sz="900" b="0" dirty="0">
                <a:solidFill>
                  <a:srgbClr val="5B6B78"/>
                </a:solidFill>
              </a:rPr>
              <a:t> </a:t>
            </a:r>
            <a:r>
              <a:rPr lang="en-US" sz="900" dirty="0">
                <a:solidFill>
                  <a:srgbClr val="5B6B78"/>
                </a:solidFill>
              </a:rPr>
              <a:t>|</a:t>
            </a:r>
            <a:r>
              <a:rPr lang="de-DE" sz="900" dirty="0">
                <a:solidFill>
                  <a:srgbClr val="5B6B78"/>
                </a:solidFill>
              </a:rPr>
              <a:t> Md Fahim Hossain </a:t>
            </a:r>
            <a:r>
              <a:rPr lang="en-US" sz="900" dirty="0">
                <a:solidFill>
                  <a:srgbClr val="5B6B78"/>
                </a:solidFill>
              </a:rPr>
              <a:t>| July 2026</a:t>
            </a:r>
            <a:r>
              <a:rPr lang="de-DE" sz="900" dirty="0">
                <a:solidFill>
                  <a:srgbClr val="5B6B78"/>
                </a:solidFill>
              </a:rPr>
              <a:t> </a:t>
            </a:r>
            <a:endParaRPr sz="900" b="0" dirty="0">
              <a:solidFill>
                <a:srgbClr val="5B6B78"/>
              </a:solidFill>
            </a:endParaRPr>
          </a:p>
        </p:txBody>
      </p:sp>
      <p:sp>
        <p:nvSpPr>
          <p:cNvPr id="7" name="Rectangle 6">
            <a:extLst>
              <a:ext uri="{FF2B5EF4-FFF2-40B4-BE49-F238E27FC236}">
                <a16:creationId xmlns:a16="http://schemas.microsoft.com/office/drawing/2014/main" id="{7143FD8A-7577-44EE-867E-9069A381222A}"/>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11 / 11</a:t>
            </a:r>
          </a:p>
        </p:txBody>
      </p:sp>
    </p:spTree>
    <p:extLst>
      <p:ext uri="{BB962C8B-B14F-4D97-AF65-F5344CB8AC3E}">
        <p14:creationId xmlns:p14="http://schemas.microsoft.com/office/powerpoint/2010/main" val="428664023"/>
      </p:ext>
    </p:extLst>
  </p:cSld>
  <p:clrMapOvr>
    <a:masterClrMapping/>
  </p:clrMapOvr>
  <p:transition>
    <p:fade/>
  </p:transition>
</p:sld>
</file>

<file path=ppt/theme/theme1.xml><?xml version="1.0" encoding="utf-8"?>
<a:theme xmlns:a="http://schemas.openxmlformats.org/drawingml/2006/main" name="Enterprise Theme">
  <a:themeElements>
    <a:clrScheme name="Enterpris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Enterprise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Enterprise Theme">
  <a:themeElements>
    <a:clrScheme name="Enterpris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Enterprise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575</TotalTime>
  <Words>2159</Words>
  <Application>Microsoft Office PowerPoint</Application>
  <DocSecurity>0</DocSecurity>
  <PresentationFormat>Widescreen</PresentationFormat>
  <Paragraphs>212</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Calibri</vt:lpstr>
      <vt:lpstr>Enterprise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 Fahim Hossain</cp:lastModifiedBy>
  <cp:revision>107</cp:revision>
  <dcterms:created xsi:type="dcterms:W3CDTF">2026-07-06T13:23:52Z</dcterms:created>
  <dcterms:modified xsi:type="dcterms:W3CDTF">2026-07-19T23:55:35Z</dcterms:modified>
</cp:coreProperties>
</file>