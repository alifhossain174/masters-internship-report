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1646"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will introduce the internship project as an AI-powered enterprise document retrieval system. The main idea is to help users work with large internal documents through secure upload, processing, semantic search, and document-grounded responses. I will keep the presentation focused on software engineering decisions rather than product marketing, and I will explain how the system design connects the requirements, architecture, data model, and implementation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agenda follows the required structure for the internship presentation. I start with context, then move into the epic or big story behind the project. After that I describe user stories, requirements, architecture, models, and design decisions. The goal is to make the flow easy to follow: first the problem and stakeholders, then what the system must do, and finally how the software design supports those goals.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internship was carried out in an industrial software environment at Siemens Energy, within a department involved in digitalization and process support. My role focused on software engineering work around an enterprise document retrieval system. This included requirement analysis, system design, backend development, interface implementation, and technical documentation. The company context matters because the system needed to fit enterprise expectations around security, maintainability, and reliable access to internal knowledge.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epic behind the project is the movement from static document storage to guided knowledge retrieval. In many organizations, useful information exists, but it is distributed across reports, manuals, and technical files. The system addresses that gap by processing documents, creating searchable representations, retrieving relevant sections, and generating responses grounded in those sections. I present this as a software engineering story: clear problem, defined users, and a maintainable technical 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stories were written in a standard software engineering format: as a role, I want a capability, so that a value is achieved. This helped translate stakeholder needs into implementable features. For normal users, the focus is asking questions across selected documents and receiving referenced answers. For administrators, the focus is controlled access and monitoring. For document owners, the important workflow is upload, processing status, and making documents searchable.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requirements combine user-facing functions and quality attributes. Functionally, the system needs authentication, role-based access, document upload, processing, semantic search, conversation management, and response references. Non-functional requirements are equally important in an enterprise setting. Processing should run asynchronously so users are not blocked. The architecture should scale, preserve data isolation, remain reliable, and stay maintainable through clear separation of responsibilities and 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high-level architecture extracted directly from the report. The system uses a Laravel web application as the central coordination layer. Users interact through the web interface, documents enter a processing pipeline with text extraction and OCR, chunks are stored with vector representations, and semantic search retrieves relevant context. The response generation step is document-grounded, meaning the answer is based on selected retrieved content rather than unsupported general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structure slide connects three views of the same system. The use case diagram summarizes the actors and interactions, such as uploading documents, monitoring processing, asking questions, and viewing references. The ER diagram shows how users, documents, chunks, conversations, messages, and usage logs are stored. The implementation stack is Laravel with PHP, PostgreSQL with vector storage, JavaScript for interface behavior, and an OCR-enabled document processing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implementation used Laravel's MVC pattern for the web application, while the design also follows hexagonal thinking around external services. The core application should coordinate workflows without being tightly coupled to document extraction, embedding, retrieval, or response generation details. Background queues were chosen for long-running document processing. PostgreSQL with vector storage supports both relational data and semantic retrieval, while role-based access control protects enterprise documents and conversations.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the project delivered a complete specification and design foundation for an AI-assisted enterprise document retrieval system. The work combined secure document management, automated processing, semantic retrieval, conversation management, and document-grounded response generation. From a software engineering perspective, the most important outcome is the maintainable structure: clear requirements, modular architecture, defined data relationships, and design decisions that support future extension without exposing unnecessary implementation details.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final slide is intended to leave space for discussion. I would invite questions about the requirements, architecture, model design, or implementation decisions. If asked about details, I would keep the explanation at an appropriate engineering level: Laravel-based MVC application, background processing, PostgreSQL with vector storage, semantic search, conversation management, and document-grounded responses. I would avoid vendor-specific or confidential implementation details and focus on design reasoning.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10" Type="http://schemas.openxmlformats.org/officeDocument/2006/relationships/image" Target="../media/image11.png"/><Relationship Id="rId4" Type="http://schemas.openxmlformats.org/officeDocument/2006/relationships/image" Target="../media/image6.sv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10" Type="http://schemas.openxmlformats.org/officeDocument/2006/relationships/image" Target="../media/image11.png"/><Relationship Id="rId4" Type="http://schemas.openxmlformats.org/officeDocument/2006/relationships/image" Target="../media/image13.sv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1.svg"/><Relationship Id="rId7" Type="http://schemas.openxmlformats.org/officeDocument/2006/relationships/image" Target="../media/image24.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6.svg"/><Relationship Id="rId7" Type="http://schemas.openxmlformats.org/officeDocument/2006/relationships/image" Target="../media/image29.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svg"/><Relationship Id="rId11" Type="http://schemas.openxmlformats.org/officeDocument/2006/relationships/image" Target="../media/image11.png"/><Relationship Id="rId5" Type="http://schemas.openxmlformats.org/officeDocument/2006/relationships/image" Target="../media/image1.svg"/><Relationship Id="rId10" Type="http://schemas.openxmlformats.org/officeDocument/2006/relationships/image" Target="../media/image23.svg"/><Relationship Id="rId4" Type="http://schemas.openxmlformats.org/officeDocument/2006/relationships/image" Target="../media/image27.svg"/><Relationship Id="rId9" Type="http://schemas.openxmlformats.org/officeDocument/2006/relationships/image" Target="../media/image31.sv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2.png"/><Relationship Id="rId7" Type="http://schemas.openxmlformats.org/officeDocument/2006/relationships/image" Target="../media/image20.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34.svg"/><Relationship Id="rId4" Type="http://schemas.openxmlformats.org/officeDocument/2006/relationships/image" Target="../media/image33.svg"/></Relationships>
</file>

<file path=ppt/slides/_rels/slide8.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5.pn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8.svg"/><Relationship Id="rId5" Type="http://schemas.openxmlformats.org/officeDocument/2006/relationships/image" Target="../media/image37.svg"/><Relationship Id="rId10" Type="http://schemas.openxmlformats.org/officeDocument/2006/relationships/image" Target="../media/image11.png"/><Relationship Id="rId4" Type="http://schemas.openxmlformats.org/officeDocument/2006/relationships/image" Target="../media/image36.png"/><Relationship Id="rId9" Type="http://schemas.openxmlformats.org/officeDocument/2006/relationships/image" Target="../media/image40.sv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1.sv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43.svg"/><Relationship Id="rId4" Type="http://schemas.openxmlformats.org/officeDocument/2006/relationships/image" Target="../media/image42.sv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5.svg"/><Relationship Id="rId7"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46.svg"/><Relationship Id="rId4" Type="http://schemas.openxmlformats.org/officeDocument/2006/relationships/image" Target="../media/image34.svg"/></Relationships>
</file>

<file path=ppt/slides/_rels/slide11.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B89F18-6475-489F-BA00-07CC8B6CFF3D}"/>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dirty="0"/>
          </a:p>
        </p:txBody>
      </p:sp>
      <p:sp>
        <p:nvSpPr>
          <p:cNvPr id="2" name="Rectangle 1">
            <a:extLst>
              <a:ext uri="{FF2B5EF4-FFF2-40B4-BE49-F238E27FC236}">
                <a16:creationId xmlns:a16="http://schemas.microsoft.com/office/drawing/2014/main" id="{D811ECE6-F12B-4325-8635-25C1473A2F06}"/>
              </a:ext>
            </a:extLst>
          </p:cNvPr>
          <p:cNvSpPr>
            <a:spLocks noGrp="1"/>
          </p:cNvSpPr>
          <p:nvPr/>
        </p:nvSpPr>
        <p:spPr>
          <a:xfrm>
            <a:off x="0" y="0"/>
            <a:ext cx="266700" cy="6858000"/>
          </a:xfrm>
          <a:prstGeom prst="rect">
            <a:avLst/>
          </a:prstGeom>
          <a:solidFill>
            <a:srgbClr val="00A3AD"/>
          </a:solidFill>
          <a:ln w="0">
            <a:solidFill>
              <a:srgbClr val="00A3AD"/>
            </a:solidFill>
            <a:prstDash val="solid"/>
          </a:ln>
        </p:spPr>
        <p:txBody>
          <a:bodyPr/>
          <a:lstStyle/>
          <a:p>
            <a:endParaRPr lang="en-US"/>
          </a:p>
        </p:txBody>
      </p:sp>
      <p:sp>
        <p:nvSpPr>
          <p:cNvPr id="3" name="Rectangle 2">
            <a:extLst>
              <a:ext uri="{FF2B5EF4-FFF2-40B4-BE49-F238E27FC236}">
                <a16:creationId xmlns:a16="http://schemas.microsoft.com/office/drawing/2014/main" id="{79930A18-717A-447B-A71B-F210FEB1290E}"/>
              </a:ext>
            </a:extLst>
          </p:cNvPr>
          <p:cNvSpPr>
            <a:spLocks noGrp="1"/>
          </p:cNvSpPr>
          <p:nvPr/>
        </p:nvSpPr>
        <p:spPr>
          <a:xfrm>
            <a:off x="266700" y="0"/>
            <a:ext cx="114300" cy="6858000"/>
          </a:xfrm>
          <a:prstGeom prst="rect">
            <a:avLst/>
          </a:prstGeom>
          <a:solidFill>
            <a:srgbClr val="0077B6"/>
          </a:solidFill>
          <a:ln w="0">
            <a:solidFill>
              <a:srgbClr val="0077B6"/>
            </a:solidFill>
            <a:prstDash val="solid"/>
          </a:ln>
        </p:spPr>
        <p:txBody>
          <a:bodyPr/>
          <a:lstStyle/>
          <a:p>
            <a:endParaRPr lang="en-US"/>
          </a:p>
        </p:txBody>
      </p:sp>
      <p:pic>
        <p:nvPicPr>
          <p:cNvPr id="17" name="Graphic 16"/>
          <p:cNvPicPr>
            <a:picLocks noChangeAspect="1"/>
          </p:cNvPicPr>
          <p:nvPr/>
        </p:nvPicPr>
        <p:blipFill>
          <a:blip>
            <a:extLst>
              <a:ext uri="{96DAC541-7B7A-43D3-8B79-37D633B846F1}">
                <asvg:svgBlip xmlns:asvg="http://schemas.microsoft.com/office/drawing/2016/SVG/main" r:embed="rId3"/>
              </a:ext>
            </a:extLst>
          </a:blip>
          <a:stretch/>
        </p:blipFill>
        <p:spPr>
          <a:xfrm>
            <a:off x="9906000" y="838200"/>
            <a:ext cx="685800" cy="685800"/>
          </a:xfrm>
          <a:prstGeom prst="rect">
            <a:avLst/>
          </a:prstGeom>
        </p:spPr>
      </p:pic>
      <p:pic>
        <p:nvPicPr>
          <p:cNvPr id="18"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668000" y="1695450"/>
            <a:ext cx="685800" cy="685800"/>
          </a:xfrm>
          <a:prstGeom prst="rect">
            <a:avLst/>
          </a:prstGeom>
        </p:spPr>
      </p:pic>
      <p:pic>
        <p:nvPicPr>
          <p:cNvPr id="19" name="Graphic 18"/>
          <p:cNvPicPr>
            <a:picLocks noChangeAspect="1"/>
          </p:cNvPicPr>
          <p:nvPr/>
        </p:nvPicPr>
        <p:blipFill>
          <a:blip>
            <a:extLst>
              <a:ext uri="{96DAC541-7B7A-43D3-8B79-37D633B846F1}">
                <asvg:svgBlip xmlns:asvg="http://schemas.microsoft.com/office/drawing/2016/SVG/main" r:embed="rId5"/>
              </a:ext>
            </a:extLst>
          </a:blip>
          <a:stretch/>
        </p:blipFill>
        <p:spPr>
          <a:xfrm>
            <a:off x="9791700" y="2590800"/>
            <a:ext cx="685800" cy="685800"/>
          </a:xfrm>
          <a:prstGeom prst="rect">
            <a:avLst/>
          </a:prstGeom>
        </p:spPr>
      </p:pic>
      <p:sp>
        <p:nvSpPr>
          <p:cNvPr id="7" name="Rectangle 6">
            <a:extLst>
              <a:ext uri="{FF2B5EF4-FFF2-40B4-BE49-F238E27FC236}">
                <a16:creationId xmlns:a16="http://schemas.microsoft.com/office/drawing/2014/main" id="{2B0F581E-6997-4907-9F30-7653AE4AF570}"/>
              </a:ext>
            </a:extLst>
          </p:cNvPr>
          <p:cNvSpPr>
            <a:spLocks noGrp="1"/>
          </p:cNvSpPr>
          <p:nvPr/>
        </p:nvSpPr>
        <p:spPr>
          <a:xfrm>
            <a:off x="876300" y="876300"/>
            <a:ext cx="4953000" cy="285750"/>
          </a:xfrm>
          <a:prstGeom prst="rect">
            <a:avLst/>
          </a:prstGeom>
          <a:noFill/>
          <a:ln w="0">
            <a:noFill/>
            <a:prstDash val="solid"/>
          </a:ln>
        </p:spPr>
        <p:txBody>
          <a:bodyPr/>
          <a:lstStyle/>
          <a:p>
            <a:pPr algn="l">
              <a:defRPr sz="1350" b="1">
                <a:solidFill>
                  <a:srgbClr val="009999"/>
                </a:solidFill>
              </a:defRPr>
            </a:pPr>
            <a:r>
              <a:rPr lang="de-DE" sz="1350" b="1" dirty="0">
                <a:solidFill>
                  <a:srgbClr val="009999"/>
                </a:solidFill>
              </a:rPr>
              <a:t>Software Specification and Design</a:t>
            </a:r>
            <a:r>
              <a:rPr sz="1350" b="1" dirty="0">
                <a:solidFill>
                  <a:srgbClr val="009999"/>
                </a:solidFill>
              </a:rPr>
              <a:t> Presentation</a:t>
            </a:r>
          </a:p>
        </p:txBody>
      </p:sp>
      <p:sp>
        <p:nvSpPr>
          <p:cNvPr id="8" name="Rectangle 7">
            <a:extLst>
              <a:ext uri="{FF2B5EF4-FFF2-40B4-BE49-F238E27FC236}">
                <a16:creationId xmlns:a16="http://schemas.microsoft.com/office/drawing/2014/main" id="{74574BF4-C352-46AF-986C-F7827C44E3CD}"/>
              </a:ext>
            </a:extLst>
          </p:cNvPr>
          <p:cNvSpPr>
            <a:spLocks noGrp="1"/>
          </p:cNvSpPr>
          <p:nvPr/>
        </p:nvSpPr>
        <p:spPr>
          <a:xfrm>
            <a:off x="876300" y="1485900"/>
            <a:ext cx="7239000" cy="1428750"/>
          </a:xfrm>
          <a:prstGeom prst="rect">
            <a:avLst/>
          </a:prstGeom>
          <a:noFill/>
          <a:ln w="0">
            <a:noFill/>
            <a:prstDash val="solid"/>
          </a:ln>
        </p:spPr>
        <p:txBody>
          <a:bodyPr/>
          <a:lstStyle/>
          <a:p>
            <a:pPr algn="l">
              <a:defRPr sz="4050" b="1">
                <a:solidFill>
                  <a:srgbClr val="083344"/>
                </a:solidFill>
              </a:defRPr>
            </a:pPr>
            <a:r>
              <a:rPr sz="4050" b="1" dirty="0">
                <a:solidFill>
                  <a:srgbClr val="083344"/>
                </a:solidFill>
              </a:rPr>
              <a:t>AI-Powered Enterprise</a:t>
            </a:r>
          </a:p>
          <a:p>
            <a:pPr algn="l">
              <a:defRPr sz="4050" b="1">
                <a:solidFill>
                  <a:srgbClr val="083344"/>
                </a:solidFill>
              </a:defRPr>
            </a:pPr>
            <a:r>
              <a:rPr sz="4050" b="1" dirty="0">
                <a:solidFill>
                  <a:srgbClr val="083344"/>
                </a:solidFill>
              </a:rPr>
              <a:t>Document Retrieval System</a:t>
            </a:r>
          </a:p>
        </p:txBody>
      </p:sp>
      <p:sp>
        <p:nvSpPr>
          <p:cNvPr id="9" name="Rectangle 8">
            <a:extLst>
              <a:ext uri="{FF2B5EF4-FFF2-40B4-BE49-F238E27FC236}">
                <a16:creationId xmlns:a16="http://schemas.microsoft.com/office/drawing/2014/main" id="{5049B815-38BA-40BF-8318-899AC1499561}"/>
              </a:ext>
            </a:extLst>
          </p:cNvPr>
          <p:cNvSpPr>
            <a:spLocks noGrp="1"/>
          </p:cNvSpPr>
          <p:nvPr/>
        </p:nvSpPr>
        <p:spPr>
          <a:xfrm>
            <a:off x="914400" y="3076575"/>
            <a:ext cx="6858000" cy="323850"/>
          </a:xfrm>
          <a:prstGeom prst="rect">
            <a:avLst/>
          </a:prstGeom>
          <a:noFill/>
          <a:ln w="0">
            <a:noFill/>
            <a:prstDash val="solid"/>
          </a:ln>
        </p:spPr>
        <p:txBody>
          <a:bodyPr/>
          <a:lstStyle/>
          <a:p>
            <a:pPr algn="l">
              <a:defRPr sz="1800" b="0">
                <a:solidFill>
                  <a:srgbClr val="5B6B78"/>
                </a:solidFill>
              </a:defRPr>
            </a:pPr>
            <a:r>
              <a:rPr sz="1800" b="0" dirty="0">
                <a:solidFill>
                  <a:srgbClr val="5B6B78"/>
                </a:solidFill>
              </a:rPr>
              <a:t>Enterprise RAG system for secure knowledge access</a:t>
            </a:r>
          </a:p>
        </p:txBody>
      </p:sp>
      <p:sp>
        <p:nvSpPr>
          <p:cNvPr id="10" name="Rectangle 9">
            <a:extLst>
              <a:ext uri="{FF2B5EF4-FFF2-40B4-BE49-F238E27FC236}">
                <a16:creationId xmlns:a16="http://schemas.microsoft.com/office/drawing/2014/main" id="{CC2C1759-94F0-4F97-9723-AF739D814D74}"/>
              </a:ext>
            </a:extLst>
          </p:cNvPr>
          <p:cNvSpPr>
            <a:spLocks noGrp="1"/>
          </p:cNvSpPr>
          <p:nvPr/>
        </p:nvSpPr>
        <p:spPr>
          <a:xfrm>
            <a:off x="914400" y="4114800"/>
            <a:ext cx="4762500" cy="304800"/>
          </a:xfrm>
          <a:prstGeom prst="rect">
            <a:avLst/>
          </a:prstGeom>
          <a:noFill/>
          <a:ln w="0">
            <a:noFill/>
            <a:prstDash val="solid"/>
          </a:ln>
        </p:spPr>
        <p:txBody>
          <a:bodyPr/>
          <a:lstStyle/>
          <a:p>
            <a:pPr algn="l">
              <a:defRPr sz="1650" b="1">
                <a:solidFill>
                  <a:srgbClr val="102A3A"/>
                </a:solidFill>
              </a:defRPr>
            </a:pPr>
            <a:r>
              <a:rPr sz="1650" b="1" dirty="0">
                <a:solidFill>
                  <a:srgbClr val="102A3A"/>
                </a:solidFill>
              </a:rPr>
              <a:t>Hof University of Applied Sciences</a:t>
            </a:r>
          </a:p>
        </p:txBody>
      </p:sp>
      <p:sp>
        <p:nvSpPr>
          <p:cNvPr id="11" name="Rectangle 10">
            <a:extLst>
              <a:ext uri="{FF2B5EF4-FFF2-40B4-BE49-F238E27FC236}">
                <a16:creationId xmlns:a16="http://schemas.microsoft.com/office/drawing/2014/main" id="{8D4442D9-FE67-4C16-851B-766827362503}"/>
              </a:ext>
            </a:extLst>
          </p:cNvPr>
          <p:cNvSpPr>
            <a:spLocks noGrp="1"/>
          </p:cNvSpPr>
          <p:nvPr/>
        </p:nvSpPr>
        <p:spPr>
          <a:xfrm>
            <a:off x="914400" y="4391025"/>
            <a:ext cx="5334000" cy="266700"/>
          </a:xfrm>
          <a:prstGeom prst="rect">
            <a:avLst/>
          </a:prstGeom>
          <a:noFill/>
          <a:ln w="0">
            <a:noFill/>
            <a:prstDash val="solid"/>
          </a:ln>
        </p:spPr>
        <p:txBody>
          <a:bodyPr/>
          <a:lstStyle/>
          <a:p>
            <a:pPr algn="l">
              <a:defRPr sz="1350" b="0">
                <a:solidFill>
                  <a:srgbClr val="5B6B78"/>
                </a:solidFill>
              </a:defRPr>
            </a:pPr>
            <a:r>
              <a:rPr sz="1350" b="0" dirty="0">
                <a:solidFill>
                  <a:srgbClr val="5B6B78"/>
                </a:solidFill>
              </a:rPr>
              <a:t>Software Engineering for Industrial Applications</a:t>
            </a:r>
          </a:p>
        </p:txBody>
      </p:sp>
      <p:sp>
        <p:nvSpPr>
          <p:cNvPr id="12" name="Rectangle 11">
            <a:extLst>
              <a:ext uri="{FF2B5EF4-FFF2-40B4-BE49-F238E27FC236}">
                <a16:creationId xmlns:a16="http://schemas.microsoft.com/office/drawing/2014/main" id="{3CE696EF-8D7D-4BD9-8555-D6CF74FBAECB}"/>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dirty="0">
                <a:solidFill>
                  <a:srgbClr val="5B6B78"/>
                </a:solidFill>
              </a:rPr>
              <a:t>AI-powered enterprise document retrieval system</a:t>
            </a:r>
          </a:p>
        </p:txBody>
      </p:sp>
      <p:sp>
        <p:nvSpPr>
          <p:cNvPr id="13" name="Rectangle 12">
            <a:extLst>
              <a:ext uri="{FF2B5EF4-FFF2-40B4-BE49-F238E27FC236}">
                <a16:creationId xmlns:a16="http://schemas.microsoft.com/office/drawing/2014/main" id="{3CCAFDFA-93A3-472D-B406-A60EE64338E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01 / 11</a:t>
            </a:r>
          </a:p>
        </p:txBody>
      </p:sp>
      <p:sp>
        <p:nvSpPr>
          <p:cNvPr id="21" name="Rectangle 20">
            <a:extLst>
              <a:ext uri="{FF2B5EF4-FFF2-40B4-BE49-F238E27FC236}">
                <a16:creationId xmlns:a16="http://schemas.microsoft.com/office/drawing/2014/main" id="{4EEE4452-BA94-A2A2-62C6-94C2827BB41E}"/>
              </a:ext>
            </a:extLst>
          </p:cNvPr>
          <p:cNvSpPr>
            <a:spLocks noGrp="1"/>
          </p:cNvSpPr>
          <p:nvPr/>
        </p:nvSpPr>
        <p:spPr>
          <a:xfrm>
            <a:off x="914400" y="4991100"/>
            <a:ext cx="3830320" cy="1162050"/>
          </a:xfrm>
          <a:prstGeom prst="rect">
            <a:avLst/>
          </a:prstGeom>
          <a:noFill/>
          <a:ln w="0">
            <a:noFill/>
            <a:prstDash val="solid"/>
          </a:ln>
        </p:spPr>
        <p:txBody>
          <a:bodyPr/>
          <a:lstStyle/>
          <a:p>
            <a:pPr algn="l">
              <a:defRPr sz="1650" b="1">
                <a:solidFill>
                  <a:srgbClr val="102A3A"/>
                </a:solidFill>
              </a:defRPr>
            </a:pPr>
            <a:r>
              <a:rPr lang="de-DE" sz="1650" b="1" dirty="0">
                <a:solidFill>
                  <a:srgbClr val="102A3A"/>
                </a:solidFill>
              </a:rPr>
              <a:t>Prepared By</a:t>
            </a:r>
          </a:p>
          <a:p>
            <a:pPr>
              <a:defRPr sz="1650" b="1">
                <a:solidFill>
                  <a:srgbClr val="102A3A"/>
                </a:solidFill>
              </a:defRPr>
            </a:pPr>
            <a:r>
              <a:rPr lang="de-DE" sz="1400" dirty="0">
                <a:solidFill>
                  <a:schemeClr val="tx1">
                    <a:lumMod val="65000"/>
                    <a:lumOff val="35000"/>
                  </a:schemeClr>
                </a:solidFill>
              </a:rPr>
              <a:t>Md Fahim Hossain</a:t>
            </a:r>
            <a:br>
              <a:rPr lang="de-DE" sz="1400" dirty="0">
                <a:solidFill>
                  <a:schemeClr val="tx1">
                    <a:lumMod val="65000"/>
                    <a:lumOff val="35000"/>
                  </a:schemeClr>
                </a:solidFill>
              </a:rPr>
            </a:br>
            <a:r>
              <a:rPr lang="de-DE" sz="1400" dirty="0">
                <a:solidFill>
                  <a:schemeClr val="tx1">
                    <a:lumMod val="65000"/>
                    <a:lumOff val="35000"/>
                  </a:schemeClr>
                </a:solidFill>
              </a:rPr>
              <a:t>Email: </a:t>
            </a:r>
            <a:r>
              <a:rPr lang="en-US" sz="1400" dirty="0">
                <a:solidFill>
                  <a:schemeClr val="tx1">
                    <a:lumMod val="65000"/>
                    <a:lumOff val="35000"/>
                  </a:schemeClr>
                </a:solidFill>
              </a:rPr>
              <a:t>md.hossain.4@hof-university.de</a:t>
            </a:r>
            <a:endParaRPr sz="1400" dirty="0">
              <a:solidFill>
                <a:schemeClr val="tx1">
                  <a:lumMod val="65000"/>
                  <a:lumOff val="35000"/>
                </a:schemeClr>
              </a:solidFill>
            </a:endParaRPr>
          </a:p>
        </p:txBody>
      </p:sp>
      <p:pic>
        <p:nvPicPr>
          <p:cNvPr id="5" name="Image 3" descr="A screen shot of a computer  AI-generated content may be incorrect.">
            <a:extLst>
              <a:ext uri="{FF2B5EF4-FFF2-40B4-BE49-F238E27FC236}">
                <a16:creationId xmlns:a16="http://schemas.microsoft.com/office/drawing/2014/main" id="{FF035ADA-1908-8C11-95EE-3A68EE1F4B7A}"/>
              </a:ext>
            </a:extLst>
          </p:cNvPr>
          <p:cNvPicPr/>
          <p:nvPr/>
        </p:nvPicPr>
        <p:blipFill>
          <a:blip r:embed="rId6" cstate="print"/>
          <a:stretch>
            <a:fillRect/>
          </a:stretch>
        </p:blipFill>
        <p:spPr>
          <a:xfrm>
            <a:off x="8426450" y="4000817"/>
            <a:ext cx="3644900" cy="2132965"/>
          </a:xfrm>
          <a:prstGeom prst="rect">
            <a:avLst/>
          </a:prstGeom>
        </p:spPr>
      </p:pic>
    </p:spTree>
    <p:extLst>
      <p:ext uri="{BB962C8B-B14F-4D97-AF65-F5344CB8AC3E}">
        <p14:creationId xmlns:p14="http://schemas.microsoft.com/office/powerpoint/2010/main" val="87704947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EAF30A-99FC-468E-A782-4EBC624EA04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73E6B712-C6EA-4F9E-93CD-FFCC8C678B1D}"/>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PRESENTATION CONTEXT</a:t>
            </a:r>
          </a:p>
        </p:txBody>
      </p:sp>
      <p:sp>
        <p:nvSpPr>
          <p:cNvPr id="3" name="Rectangle 2">
            <a:extLst>
              <a:ext uri="{FF2B5EF4-FFF2-40B4-BE49-F238E27FC236}">
                <a16:creationId xmlns:a16="http://schemas.microsoft.com/office/drawing/2014/main" id="{656C1282-BA18-4C1F-94EA-67A30A41321C}"/>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Agenda</a:t>
            </a:r>
          </a:p>
        </p:txBody>
      </p:sp>
      <p:sp>
        <p:nvSpPr>
          <p:cNvPr id="4" name="Rectangle: Rounded Corners 3">
            <a:extLst>
              <a:ext uri="{FF2B5EF4-FFF2-40B4-BE49-F238E27FC236}">
                <a16:creationId xmlns:a16="http://schemas.microsoft.com/office/drawing/2014/main" id="{08780189-FB8B-4EA9-B625-C373640D06AA}"/>
              </a:ext>
            </a:extLst>
          </p:cNvPr>
          <p:cNvSpPr>
            <a:spLocks noGrp="1"/>
          </p:cNvSpPr>
          <p:nvPr/>
        </p:nvSpPr>
        <p:spPr>
          <a:xfrm>
            <a:off x="1047750" y="1485900"/>
            <a:ext cx="3048000"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1" name="Graphic 30"/>
          <p:cNvPicPr>
            <a:picLocks noChangeAspect="1"/>
          </p:cNvPicPr>
          <p:nvPr/>
        </p:nvPicPr>
        <p:blipFill>
          <a:blip>
            <a:extLst>
              <a:ext uri="{96DAC541-7B7A-43D3-8B79-37D633B846F1}">
                <asvg:svgBlip xmlns:asvg="http://schemas.microsoft.com/office/drawing/2016/SVG/main" r:embed="rId3"/>
              </a:ext>
            </a:extLst>
          </a:blip>
          <a:stretch/>
        </p:blipFill>
        <p:spPr>
          <a:xfrm>
            <a:off x="1257300" y="1695450"/>
            <a:ext cx="304800" cy="304800"/>
          </a:xfrm>
          <a:prstGeom prst="rect">
            <a:avLst/>
          </a:prstGeom>
        </p:spPr>
      </p:pic>
      <p:sp>
        <p:nvSpPr>
          <p:cNvPr id="6" name="Rectangle 5">
            <a:extLst>
              <a:ext uri="{FF2B5EF4-FFF2-40B4-BE49-F238E27FC236}">
                <a16:creationId xmlns:a16="http://schemas.microsoft.com/office/drawing/2014/main" id="{42BAC1B1-99ED-492A-B403-D835DDEFBC63}"/>
              </a:ext>
            </a:extLst>
          </p:cNvPr>
          <p:cNvSpPr>
            <a:spLocks noGrp="1"/>
          </p:cNvSpPr>
          <p:nvPr/>
        </p:nvSpPr>
        <p:spPr>
          <a:xfrm>
            <a:off x="1714500" y="1666875"/>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1. </a:t>
            </a:r>
            <a:r>
              <a:rPr sz="1650" b="1" dirty="0">
                <a:solidFill>
                  <a:srgbClr val="083344"/>
                </a:solidFill>
              </a:rPr>
              <a:t>Company context</a:t>
            </a:r>
          </a:p>
        </p:txBody>
      </p:sp>
      <p:sp>
        <p:nvSpPr>
          <p:cNvPr id="7" name="Rectangle: Rounded Corners 6">
            <a:extLst>
              <a:ext uri="{FF2B5EF4-FFF2-40B4-BE49-F238E27FC236}">
                <a16:creationId xmlns:a16="http://schemas.microsoft.com/office/drawing/2014/main" id="{7781295E-8899-44CD-9E7C-33A54B252008}"/>
              </a:ext>
            </a:extLst>
          </p:cNvPr>
          <p:cNvSpPr>
            <a:spLocks noGrp="1"/>
          </p:cNvSpPr>
          <p:nvPr/>
        </p:nvSpPr>
        <p:spPr>
          <a:xfrm>
            <a:off x="4857750" y="1485900"/>
            <a:ext cx="3343858"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4" name="Graphic 33"/>
          <p:cNvPicPr>
            <a:picLocks noChangeAspect="1"/>
          </p:cNvPicPr>
          <p:nvPr/>
        </p:nvPicPr>
        <p:blipFill>
          <a:blip>
            <a:extLst>
              <a:ext uri="{96DAC541-7B7A-43D3-8B79-37D633B846F1}">
                <asvg:svgBlip xmlns:asvg="http://schemas.microsoft.com/office/drawing/2016/SVG/main" r:embed="rId4"/>
              </a:ext>
            </a:extLst>
          </a:blip>
          <a:stretch/>
        </p:blipFill>
        <p:spPr>
          <a:xfrm>
            <a:off x="5067300" y="1695450"/>
            <a:ext cx="304800" cy="304800"/>
          </a:xfrm>
          <a:prstGeom prst="rect">
            <a:avLst/>
          </a:prstGeom>
        </p:spPr>
      </p:pic>
      <p:sp>
        <p:nvSpPr>
          <p:cNvPr id="9" name="Rectangle 8">
            <a:extLst>
              <a:ext uri="{FF2B5EF4-FFF2-40B4-BE49-F238E27FC236}">
                <a16:creationId xmlns:a16="http://schemas.microsoft.com/office/drawing/2014/main" id="{9194A74B-0B93-420B-A90D-F08480166747}"/>
              </a:ext>
            </a:extLst>
          </p:cNvPr>
          <p:cNvSpPr>
            <a:spLocks noGrp="1"/>
          </p:cNvSpPr>
          <p:nvPr/>
        </p:nvSpPr>
        <p:spPr>
          <a:xfrm>
            <a:off x="5524500" y="1666875"/>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2. </a:t>
            </a:r>
            <a:r>
              <a:rPr sz="1650" b="1" dirty="0">
                <a:solidFill>
                  <a:srgbClr val="083344"/>
                </a:solidFill>
              </a:rPr>
              <a:t>Project story</a:t>
            </a:r>
          </a:p>
        </p:txBody>
      </p:sp>
      <p:sp>
        <p:nvSpPr>
          <p:cNvPr id="10" name="Rectangle: Rounded Corners 9">
            <a:extLst>
              <a:ext uri="{FF2B5EF4-FFF2-40B4-BE49-F238E27FC236}">
                <a16:creationId xmlns:a16="http://schemas.microsoft.com/office/drawing/2014/main" id="{F88B885C-64E0-4AF8-B709-02339E7F04C4}"/>
              </a:ext>
            </a:extLst>
          </p:cNvPr>
          <p:cNvSpPr>
            <a:spLocks noGrp="1"/>
          </p:cNvSpPr>
          <p:nvPr/>
        </p:nvSpPr>
        <p:spPr>
          <a:xfrm>
            <a:off x="1047750" y="2381250"/>
            <a:ext cx="3048000"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7" name="Graphic 36"/>
          <p:cNvPicPr>
            <a:picLocks noChangeAspect="1"/>
          </p:cNvPicPr>
          <p:nvPr/>
        </p:nvPicPr>
        <p:blipFill>
          <a:blip>
            <a:extLst>
              <a:ext uri="{96DAC541-7B7A-43D3-8B79-37D633B846F1}">
                <asvg:svgBlip xmlns:asvg="http://schemas.microsoft.com/office/drawing/2016/SVG/main" r:embed="rId5"/>
              </a:ext>
            </a:extLst>
          </a:blip>
          <a:stretch/>
        </p:blipFill>
        <p:spPr>
          <a:xfrm>
            <a:off x="1257300" y="2590800"/>
            <a:ext cx="304800" cy="304800"/>
          </a:xfrm>
          <a:prstGeom prst="rect">
            <a:avLst/>
          </a:prstGeom>
        </p:spPr>
      </p:pic>
      <p:sp>
        <p:nvSpPr>
          <p:cNvPr id="12" name="Rectangle 11">
            <a:extLst>
              <a:ext uri="{FF2B5EF4-FFF2-40B4-BE49-F238E27FC236}">
                <a16:creationId xmlns:a16="http://schemas.microsoft.com/office/drawing/2014/main" id="{F2B389BE-168A-4404-B410-242BECE39D5B}"/>
              </a:ext>
            </a:extLst>
          </p:cNvPr>
          <p:cNvSpPr>
            <a:spLocks noGrp="1"/>
          </p:cNvSpPr>
          <p:nvPr/>
        </p:nvSpPr>
        <p:spPr>
          <a:xfrm>
            <a:off x="1714500" y="2562225"/>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3. </a:t>
            </a:r>
            <a:r>
              <a:rPr sz="1650" b="1" dirty="0">
                <a:solidFill>
                  <a:srgbClr val="083344"/>
                </a:solidFill>
              </a:rPr>
              <a:t>User stories</a:t>
            </a:r>
          </a:p>
        </p:txBody>
      </p:sp>
      <p:sp>
        <p:nvSpPr>
          <p:cNvPr id="13" name="Rectangle: Rounded Corners 12">
            <a:extLst>
              <a:ext uri="{FF2B5EF4-FFF2-40B4-BE49-F238E27FC236}">
                <a16:creationId xmlns:a16="http://schemas.microsoft.com/office/drawing/2014/main" id="{6C108288-01B3-4969-A709-EBE5A1FF958E}"/>
              </a:ext>
            </a:extLst>
          </p:cNvPr>
          <p:cNvSpPr>
            <a:spLocks noGrp="1"/>
          </p:cNvSpPr>
          <p:nvPr/>
        </p:nvSpPr>
        <p:spPr>
          <a:xfrm>
            <a:off x="4857750" y="2381250"/>
            <a:ext cx="3343858"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6"/>
              </a:ext>
            </a:extLst>
          </a:blip>
          <a:stretch/>
        </p:blipFill>
        <p:spPr>
          <a:xfrm>
            <a:off x="5067300" y="2590800"/>
            <a:ext cx="304800" cy="304800"/>
          </a:xfrm>
          <a:prstGeom prst="rect">
            <a:avLst/>
          </a:prstGeom>
        </p:spPr>
      </p:pic>
      <p:sp>
        <p:nvSpPr>
          <p:cNvPr id="15" name="Rectangle 14">
            <a:extLst>
              <a:ext uri="{FF2B5EF4-FFF2-40B4-BE49-F238E27FC236}">
                <a16:creationId xmlns:a16="http://schemas.microsoft.com/office/drawing/2014/main" id="{DF49BEB0-7F1A-40BF-A824-554444699A84}"/>
              </a:ext>
            </a:extLst>
          </p:cNvPr>
          <p:cNvSpPr>
            <a:spLocks noGrp="1"/>
          </p:cNvSpPr>
          <p:nvPr/>
        </p:nvSpPr>
        <p:spPr>
          <a:xfrm>
            <a:off x="5524500" y="2562225"/>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4. </a:t>
            </a:r>
            <a:r>
              <a:rPr sz="1650" b="1" dirty="0">
                <a:solidFill>
                  <a:srgbClr val="083344"/>
                </a:solidFill>
              </a:rPr>
              <a:t>Requirements</a:t>
            </a:r>
          </a:p>
        </p:txBody>
      </p:sp>
      <p:sp>
        <p:nvSpPr>
          <p:cNvPr id="16" name="Rectangle: Rounded Corners 15">
            <a:extLst>
              <a:ext uri="{FF2B5EF4-FFF2-40B4-BE49-F238E27FC236}">
                <a16:creationId xmlns:a16="http://schemas.microsoft.com/office/drawing/2014/main" id="{36ED8C6C-77F8-4348-8959-EF5A74280C20}"/>
              </a:ext>
            </a:extLst>
          </p:cNvPr>
          <p:cNvSpPr>
            <a:spLocks noGrp="1"/>
          </p:cNvSpPr>
          <p:nvPr/>
        </p:nvSpPr>
        <p:spPr>
          <a:xfrm>
            <a:off x="1047750" y="3276600"/>
            <a:ext cx="3048000"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3" name="Graphic 42"/>
          <p:cNvPicPr>
            <a:picLocks noChangeAspect="1"/>
          </p:cNvPicPr>
          <p:nvPr/>
        </p:nvPicPr>
        <p:blipFill>
          <a:blip>
            <a:extLst>
              <a:ext uri="{96DAC541-7B7A-43D3-8B79-37D633B846F1}">
                <asvg:svgBlip xmlns:asvg="http://schemas.microsoft.com/office/drawing/2016/SVG/main" r:embed="rId7"/>
              </a:ext>
            </a:extLst>
          </a:blip>
          <a:stretch/>
        </p:blipFill>
        <p:spPr>
          <a:xfrm>
            <a:off x="1257300" y="3486150"/>
            <a:ext cx="304800" cy="304800"/>
          </a:xfrm>
          <a:prstGeom prst="rect">
            <a:avLst/>
          </a:prstGeom>
        </p:spPr>
      </p:pic>
      <p:sp>
        <p:nvSpPr>
          <p:cNvPr id="18" name="Rectangle 17">
            <a:extLst>
              <a:ext uri="{FF2B5EF4-FFF2-40B4-BE49-F238E27FC236}">
                <a16:creationId xmlns:a16="http://schemas.microsoft.com/office/drawing/2014/main" id="{81C94F09-942E-46D6-A924-222FBC494924}"/>
              </a:ext>
            </a:extLst>
          </p:cNvPr>
          <p:cNvSpPr>
            <a:spLocks noGrp="1"/>
          </p:cNvSpPr>
          <p:nvPr/>
        </p:nvSpPr>
        <p:spPr>
          <a:xfrm>
            <a:off x="1714500" y="3457575"/>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5. </a:t>
            </a:r>
            <a:r>
              <a:rPr sz="1650" b="1" dirty="0">
                <a:solidFill>
                  <a:srgbClr val="083344"/>
                </a:solidFill>
              </a:rPr>
              <a:t>Architecture</a:t>
            </a:r>
          </a:p>
        </p:txBody>
      </p:sp>
      <p:sp>
        <p:nvSpPr>
          <p:cNvPr id="19" name="Rectangle: Rounded Corners 18">
            <a:extLst>
              <a:ext uri="{FF2B5EF4-FFF2-40B4-BE49-F238E27FC236}">
                <a16:creationId xmlns:a16="http://schemas.microsoft.com/office/drawing/2014/main" id="{AC6FDBF2-BA93-4535-ADF0-DC8CAE191BE0}"/>
              </a:ext>
            </a:extLst>
          </p:cNvPr>
          <p:cNvSpPr>
            <a:spLocks noGrp="1"/>
          </p:cNvSpPr>
          <p:nvPr/>
        </p:nvSpPr>
        <p:spPr>
          <a:xfrm>
            <a:off x="4857750" y="3276600"/>
            <a:ext cx="3343858"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6" name="Graphic 45"/>
          <p:cNvPicPr>
            <a:picLocks noChangeAspect="1"/>
          </p:cNvPicPr>
          <p:nvPr/>
        </p:nvPicPr>
        <p:blipFill>
          <a:blip>
            <a:extLst>
              <a:ext uri="{96DAC541-7B7A-43D3-8B79-37D633B846F1}">
                <asvg:svgBlip xmlns:asvg="http://schemas.microsoft.com/office/drawing/2016/SVG/main" r:embed="rId8"/>
              </a:ext>
            </a:extLst>
          </a:blip>
          <a:stretch/>
        </p:blipFill>
        <p:spPr>
          <a:xfrm>
            <a:off x="5067300" y="3486150"/>
            <a:ext cx="304800" cy="304800"/>
          </a:xfrm>
          <a:prstGeom prst="rect">
            <a:avLst/>
          </a:prstGeom>
        </p:spPr>
      </p:pic>
      <p:sp>
        <p:nvSpPr>
          <p:cNvPr id="21" name="Rectangle 20">
            <a:extLst>
              <a:ext uri="{FF2B5EF4-FFF2-40B4-BE49-F238E27FC236}">
                <a16:creationId xmlns:a16="http://schemas.microsoft.com/office/drawing/2014/main" id="{C8885E05-177C-4E7C-8BD6-12312FBE9DAB}"/>
              </a:ext>
            </a:extLst>
          </p:cNvPr>
          <p:cNvSpPr>
            <a:spLocks noGrp="1"/>
          </p:cNvSpPr>
          <p:nvPr/>
        </p:nvSpPr>
        <p:spPr>
          <a:xfrm>
            <a:off x="5524500" y="3438525"/>
            <a:ext cx="23431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6. </a:t>
            </a:r>
            <a:r>
              <a:rPr sz="1650" b="1" dirty="0">
                <a:solidFill>
                  <a:srgbClr val="083344"/>
                </a:solidFill>
              </a:rPr>
              <a:t>Structure and models</a:t>
            </a:r>
          </a:p>
        </p:txBody>
      </p:sp>
      <p:sp>
        <p:nvSpPr>
          <p:cNvPr id="22" name="Rectangle: Rounded Corners 21">
            <a:extLst>
              <a:ext uri="{FF2B5EF4-FFF2-40B4-BE49-F238E27FC236}">
                <a16:creationId xmlns:a16="http://schemas.microsoft.com/office/drawing/2014/main" id="{0AC4838B-D99D-48EC-8590-8816CA0A2DC5}"/>
              </a:ext>
            </a:extLst>
          </p:cNvPr>
          <p:cNvSpPr>
            <a:spLocks noGrp="1"/>
          </p:cNvSpPr>
          <p:nvPr/>
        </p:nvSpPr>
        <p:spPr>
          <a:xfrm>
            <a:off x="1047750" y="4171950"/>
            <a:ext cx="3048000" cy="72390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9" name="Graphic 48"/>
          <p:cNvPicPr>
            <a:picLocks noChangeAspect="1"/>
          </p:cNvPicPr>
          <p:nvPr/>
        </p:nvPicPr>
        <p:blipFill>
          <a:blip>
            <a:extLst>
              <a:ext uri="{96DAC541-7B7A-43D3-8B79-37D633B846F1}">
                <asvg:svgBlip xmlns:asvg="http://schemas.microsoft.com/office/drawing/2016/SVG/main" r:embed="rId9"/>
              </a:ext>
            </a:extLst>
          </a:blip>
          <a:stretch/>
        </p:blipFill>
        <p:spPr>
          <a:xfrm>
            <a:off x="1257300" y="4381500"/>
            <a:ext cx="304800" cy="304800"/>
          </a:xfrm>
          <a:prstGeom prst="rect">
            <a:avLst/>
          </a:prstGeom>
        </p:spPr>
      </p:pic>
      <p:sp>
        <p:nvSpPr>
          <p:cNvPr id="24" name="Rectangle 23">
            <a:extLst>
              <a:ext uri="{FF2B5EF4-FFF2-40B4-BE49-F238E27FC236}">
                <a16:creationId xmlns:a16="http://schemas.microsoft.com/office/drawing/2014/main" id="{2C4AFCC9-B5F4-4BA0-9D5B-F6A1BAAEA19F}"/>
              </a:ext>
            </a:extLst>
          </p:cNvPr>
          <p:cNvSpPr>
            <a:spLocks noGrp="1"/>
          </p:cNvSpPr>
          <p:nvPr/>
        </p:nvSpPr>
        <p:spPr>
          <a:xfrm>
            <a:off x="1714500" y="4352925"/>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7. </a:t>
            </a:r>
            <a:r>
              <a:rPr sz="1650" b="1" dirty="0">
                <a:solidFill>
                  <a:srgbClr val="083344"/>
                </a:solidFill>
              </a:rPr>
              <a:t>Design decisions</a:t>
            </a:r>
          </a:p>
        </p:txBody>
      </p:sp>
      <p:sp>
        <p:nvSpPr>
          <p:cNvPr id="25" name="Rectangle 24">
            <a:extLst>
              <a:ext uri="{FF2B5EF4-FFF2-40B4-BE49-F238E27FC236}">
                <a16:creationId xmlns:a16="http://schemas.microsoft.com/office/drawing/2014/main" id="{7ADCB45B-6512-4756-B4E6-65FED3FE4F55}"/>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26" name="Rectangle 25">
            <a:extLst>
              <a:ext uri="{FF2B5EF4-FFF2-40B4-BE49-F238E27FC236}">
                <a16:creationId xmlns:a16="http://schemas.microsoft.com/office/drawing/2014/main" id="{2EAC977B-F0D6-4ECE-B141-EE9005A4C878}"/>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02 / 11</a:t>
            </a:r>
          </a:p>
        </p:txBody>
      </p:sp>
      <p:pic>
        <p:nvPicPr>
          <p:cNvPr id="11" name="Picture 10">
            <a:extLst>
              <a:ext uri="{FF2B5EF4-FFF2-40B4-BE49-F238E27FC236}">
                <a16:creationId xmlns:a16="http://schemas.microsoft.com/office/drawing/2014/main" id="{AD064697-FAB0-2827-97B7-3C4ABB8DCA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7610326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F3B846-E6B0-4320-A1CA-D5267E2EF278}"/>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42C5CF62-AE2C-41C7-B0C2-6624F38D3B60}"/>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1</a:t>
            </a:r>
          </a:p>
        </p:txBody>
      </p:sp>
      <p:sp>
        <p:nvSpPr>
          <p:cNvPr id="3" name="Rectangle 2">
            <a:extLst>
              <a:ext uri="{FF2B5EF4-FFF2-40B4-BE49-F238E27FC236}">
                <a16:creationId xmlns:a16="http://schemas.microsoft.com/office/drawing/2014/main" id="{54CD0994-AAC3-4AEF-B815-30845958A97A}"/>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Company Context</a:t>
            </a:r>
          </a:p>
        </p:txBody>
      </p:sp>
      <p:sp>
        <p:nvSpPr>
          <p:cNvPr id="4" name="Rectangle: Rounded Corners 3">
            <a:extLst>
              <a:ext uri="{FF2B5EF4-FFF2-40B4-BE49-F238E27FC236}">
                <a16:creationId xmlns:a16="http://schemas.microsoft.com/office/drawing/2014/main" id="{B56FC5E5-6BB4-485A-B7BC-EFBC720EF4C7}"/>
              </a:ext>
            </a:extLst>
          </p:cNvPr>
          <p:cNvSpPr>
            <a:spLocks noGrp="1"/>
          </p:cNvSpPr>
          <p:nvPr/>
        </p:nvSpPr>
        <p:spPr>
          <a:xfrm>
            <a:off x="781050" y="15049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Oval 4">
            <a:extLst>
              <a:ext uri="{FF2B5EF4-FFF2-40B4-BE49-F238E27FC236}">
                <a16:creationId xmlns:a16="http://schemas.microsoft.com/office/drawing/2014/main" id="{FBBD302E-5607-402C-ABA0-412EC6CAC0BB}"/>
              </a:ext>
            </a:extLst>
          </p:cNvPr>
          <p:cNvSpPr>
            <a:spLocks noGrp="1"/>
          </p:cNvSpPr>
          <p:nvPr/>
        </p:nvSpPr>
        <p:spPr>
          <a:xfrm>
            <a:off x="990600" y="1771650"/>
            <a:ext cx="495300" cy="495300"/>
          </a:xfrm>
          <a:prstGeom prst="ellipse">
            <a:avLst/>
          </a:prstGeom>
          <a:solidFill>
            <a:srgbClr val="EAF7FB"/>
          </a:solidFill>
          <a:ln w="0">
            <a:solidFill>
              <a:srgbClr val="EAF7FB"/>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3"/>
              </a:ext>
            </a:extLst>
          </a:blip>
          <a:stretch/>
        </p:blipFill>
        <p:spPr>
          <a:xfrm>
            <a:off x="1114425" y="1895475"/>
            <a:ext cx="247650" cy="247650"/>
          </a:xfrm>
          <a:prstGeom prst="rect">
            <a:avLst/>
          </a:prstGeom>
        </p:spPr>
      </p:pic>
      <p:sp>
        <p:nvSpPr>
          <p:cNvPr id="7" name="Rectangle 6">
            <a:extLst>
              <a:ext uri="{FF2B5EF4-FFF2-40B4-BE49-F238E27FC236}">
                <a16:creationId xmlns:a16="http://schemas.microsoft.com/office/drawing/2014/main" id="{50DE9D14-3B19-4063-98E1-7717EE799FC2}"/>
              </a:ext>
            </a:extLst>
          </p:cNvPr>
          <p:cNvSpPr>
            <a:spLocks noGrp="1"/>
          </p:cNvSpPr>
          <p:nvPr/>
        </p:nvSpPr>
        <p:spPr>
          <a:xfrm>
            <a:off x="1676400" y="1733550"/>
            <a:ext cx="3657600" cy="285750"/>
          </a:xfrm>
          <a:prstGeom prst="rect">
            <a:avLst/>
          </a:prstGeom>
          <a:noFill/>
          <a:ln w="0">
            <a:noFill/>
            <a:prstDash val="solid"/>
          </a:ln>
        </p:spPr>
        <p:txBody>
          <a:bodyPr/>
          <a:lstStyle/>
          <a:p>
            <a:pPr algn="l">
              <a:defRPr sz="1575" b="1">
                <a:solidFill>
                  <a:srgbClr val="083344"/>
                </a:solidFill>
              </a:defRPr>
            </a:pPr>
            <a:r>
              <a:rPr sz="1575" b="1">
                <a:solidFill>
                  <a:srgbClr val="083344"/>
                </a:solidFill>
              </a:rPr>
              <a:t>Siemens Energy</a:t>
            </a:r>
          </a:p>
        </p:txBody>
      </p:sp>
      <p:sp>
        <p:nvSpPr>
          <p:cNvPr id="8" name="Rectangle 7">
            <a:extLst>
              <a:ext uri="{FF2B5EF4-FFF2-40B4-BE49-F238E27FC236}">
                <a16:creationId xmlns:a16="http://schemas.microsoft.com/office/drawing/2014/main" id="{EF21B9B1-97D0-4D33-9C96-1A82C79B9492}"/>
              </a:ext>
            </a:extLst>
          </p:cNvPr>
          <p:cNvSpPr>
            <a:spLocks noGrp="1"/>
          </p:cNvSpPr>
          <p:nvPr/>
        </p:nvSpPr>
        <p:spPr>
          <a:xfrm>
            <a:off x="1676400" y="2066925"/>
            <a:ext cx="3657600" cy="514350"/>
          </a:xfrm>
          <a:prstGeom prst="rect">
            <a:avLst/>
          </a:prstGeom>
          <a:noFill/>
          <a:ln w="0">
            <a:noFill/>
            <a:prstDash val="solid"/>
          </a:ln>
        </p:spPr>
        <p:txBody>
          <a:bodyPr/>
          <a:lstStyle/>
          <a:p>
            <a:pPr algn="l">
              <a:defRPr sz="1275" b="0">
                <a:solidFill>
                  <a:srgbClr val="5B6B78"/>
                </a:solidFill>
              </a:defRPr>
            </a:pPr>
            <a:r>
              <a:rPr sz="1275" b="0">
                <a:solidFill>
                  <a:srgbClr val="5B6B78"/>
                </a:solidFill>
              </a:rPr>
              <a:t>Industrial digitalization environment</a:t>
            </a:r>
          </a:p>
        </p:txBody>
      </p:sp>
      <p:sp>
        <p:nvSpPr>
          <p:cNvPr id="9" name="Rectangle: Rounded Corners 8">
            <a:extLst>
              <a:ext uri="{FF2B5EF4-FFF2-40B4-BE49-F238E27FC236}">
                <a16:creationId xmlns:a16="http://schemas.microsoft.com/office/drawing/2014/main" id="{EC8C1010-94A6-41EC-8335-A2EDFA45BC41}"/>
              </a:ext>
            </a:extLst>
          </p:cNvPr>
          <p:cNvSpPr>
            <a:spLocks noGrp="1"/>
          </p:cNvSpPr>
          <p:nvPr/>
        </p:nvSpPr>
        <p:spPr>
          <a:xfrm>
            <a:off x="781050" y="29146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Oval 9">
            <a:extLst>
              <a:ext uri="{FF2B5EF4-FFF2-40B4-BE49-F238E27FC236}">
                <a16:creationId xmlns:a16="http://schemas.microsoft.com/office/drawing/2014/main" id="{71EB08F1-97E1-4DAE-99B0-F1E4FA5D90A6}"/>
              </a:ext>
            </a:extLst>
          </p:cNvPr>
          <p:cNvSpPr>
            <a:spLocks noGrp="1"/>
          </p:cNvSpPr>
          <p:nvPr/>
        </p:nvSpPr>
        <p:spPr>
          <a:xfrm>
            <a:off x="990600" y="3181350"/>
            <a:ext cx="495300" cy="495300"/>
          </a:xfrm>
          <a:prstGeom prst="ellipse">
            <a:avLst/>
          </a:prstGeom>
          <a:solidFill>
            <a:srgbClr val="EAF7FB"/>
          </a:solidFill>
          <a:ln w="0">
            <a:solidFill>
              <a:srgbClr val="EAF7FB"/>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4"/>
              </a:ext>
            </a:extLst>
          </a:blip>
          <a:stretch/>
        </p:blipFill>
        <p:spPr>
          <a:xfrm>
            <a:off x="1114425" y="3305175"/>
            <a:ext cx="247650" cy="247650"/>
          </a:xfrm>
          <a:prstGeom prst="rect">
            <a:avLst/>
          </a:prstGeom>
        </p:spPr>
      </p:pic>
      <p:sp>
        <p:nvSpPr>
          <p:cNvPr id="12" name="Rectangle 11">
            <a:extLst>
              <a:ext uri="{FF2B5EF4-FFF2-40B4-BE49-F238E27FC236}">
                <a16:creationId xmlns:a16="http://schemas.microsoft.com/office/drawing/2014/main" id="{C6A9A74A-F6A9-4FA7-A503-056C9E59A05E}"/>
              </a:ext>
            </a:extLst>
          </p:cNvPr>
          <p:cNvSpPr>
            <a:spLocks noGrp="1"/>
          </p:cNvSpPr>
          <p:nvPr/>
        </p:nvSpPr>
        <p:spPr>
          <a:xfrm>
            <a:off x="1676400" y="3143250"/>
            <a:ext cx="3657600" cy="285750"/>
          </a:xfrm>
          <a:prstGeom prst="rect">
            <a:avLst/>
          </a:prstGeom>
          <a:noFill/>
          <a:ln w="0">
            <a:noFill/>
            <a:prstDash val="solid"/>
          </a:ln>
        </p:spPr>
        <p:txBody>
          <a:bodyPr/>
          <a:lstStyle/>
          <a:p>
            <a:pPr algn="l">
              <a:defRPr sz="1575" b="1">
                <a:solidFill>
                  <a:srgbClr val="083344"/>
                </a:solidFill>
              </a:defRPr>
            </a:pPr>
            <a:r>
              <a:rPr sz="1575" b="1">
                <a:solidFill>
                  <a:srgbClr val="083344"/>
                </a:solidFill>
              </a:rPr>
              <a:t>SE GT DG OE</a:t>
            </a:r>
          </a:p>
        </p:txBody>
      </p:sp>
      <p:sp>
        <p:nvSpPr>
          <p:cNvPr id="13" name="Rectangle 12">
            <a:extLst>
              <a:ext uri="{FF2B5EF4-FFF2-40B4-BE49-F238E27FC236}">
                <a16:creationId xmlns:a16="http://schemas.microsoft.com/office/drawing/2014/main" id="{151B0213-D106-4012-813D-7BCE1A45438C}"/>
              </a:ext>
            </a:extLst>
          </p:cNvPr>
          <p:cNvSpPr>
            <a:spLocks noGrp="1"/>
          </p:cNvSpPr>
          <p:nvPr/>
        </p:nvSpPr>
        <p:spPr>
          <a:xfrm>
            <a:off x="1676400" y="3476625"/>
            <a:ext cx="3657600" cy="514350"/>
          </a:xfrm>
          <a:prstGeom prst="rect">
            <a:avLst/>
          </a:prstGeom>
          <a:noFill/>
          <a:ln w="0">
            <a:noFill/>
            <a:prstDash val="solid"/>
          </a:ln>
        </p:spPr>
        <p:txBody>
          <a:bodyPr/>
          <a:lstStyle/>
          <a:p>
            <a:pPr algn="l">
              <a:defRPr sz="1275" b="0">
                <a:solidFill>
                  <a:srgbClr val="5B6B78"/>
                </a:solidFill>
              </a:defRPr>
            </a:pPr>
            <a:r>
              <a:rPr sz="1275" b="0">
                <a:solidFill>
                  <a:srgbClr val="5B6B78"/>
                </a:solidFill>
              </a:rPr>
              <a:t>Department supporting digital solutions</a:t>
            </a:r>
          </a:p>
        </p:txBody>
      </p:sp>
      <p:sp>
        <p:nvSpPr>
          <p:cNvPr id="14" name="Rectangle: Rounded Corners 13">
            <a:extLst>
              <a:ext uri="{FF2B5EF4-FFF2-40B4-BE49-F238E27FC236}">
                <a16:creationId xmlns:a16="http://schemas.microsoft.com/office/drawing/2014/main" id="{CF4BAB79-314E-437E-B013-DBE3E5DA5324}"/>
              </a:ext>
            </a:extLst>
          </p:cNvPr>
          <p:cNvSpPr>
            <a:spLocks noGrp="1"/>
          </p:cNvSpPr>
          <p:nvPr/>
        </p:nvSpPr>
        <p:spPr>
          <a:xfrm>
            <a:off x="781050" y="43243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Oval 14">
            <a:extLst>
              <a:ext uri="{FF2B5EF4-FFF2-40B4-BE49-F238E27FC236}">
                <a16:creationId xmlns:a16="http://schemas.microsoft.com/office/drawing/2014/main" id="{172625BF-C263-4522-9038-4CCDA5D94F24}"/>
              </a:ext>
            </a:extLst>
          </p:cNvPr>
          <p:cNvSpPr>
            <a:spLocks noGrp="1"/>
          </p:cNvSpPr>
          <p:nvPr/>
        </p:nvSpPr>
        <p:spPr>
          <a:xfrm>
            <a:off x="990600" y="4591050"/>
            <a:ext cx="495300" cy="495300"/>
          </a:xfrm>
          <a:prstGeom prst="ellipse">
            <a:avLst/>
          </a:prstGeom>
          <a:solidFill>
            <a:srgbClr val="EAF7FB"/>
          </a:solidFill>
          <a:ln w="0">
            <a:solidFill>
              <a:srgbClr val="EAF7FB"/>
            </a:solidFill>
            <a:prstDash val="solid"/>
          </a:ln>
        </p:spPr>
        <p:txBody>
          <a:bodyPr/>
          <a:lstStyle/>
          <a:p>
            <a:endParaRPr lang="en-US"/>
          </a:p>
        </p:txBody>
      </p:sp>
      <p:pic>
        <p:nvPicPr>
          <p:cNvPr id="50" name="Graphic 49"/>
          <p:cNvPicPr>
            <a:picLocks noChangeAspect="1"/>
          </p:cNvPicPr>
          <p:nvPr/>
        </p:nvPicPr>
        <p:blipFill>
          <a:blip>
            <a:extLst>
              <a:ext uri="{96DAC541-7B7A-43D3-8B79-37D633B846F1}">
                <asvg:svgBlip xmlns:asvg="http://schemas.microsoft.com/office/drawing/2016/SVG/main" r:embed="rId5"/>
              </a:ext>
            </a:extLst>
          </a:blip>
          <a:stretch/>
        </p:blipFill>
        <p:spPr>
          <a:xfrm>
            <a:off x="1114425" y="4714875"/>
            <a:ext cx="247650" cy="247650"/>
          </a:xfrm>
          <a:prstGeom prst="rect">
            <a:avLst/>
          </a:prstGeom>
        </p:spPr>
      </p:pic>
      <p:sp>
        <p:nvSpPr>
          <p:cNvPr id="17" name="Rectangle 16">
            <a:extLst>
              <a:ext uri="{FF2B5EF4-FFF2-40B4-BE49-F238E27FC236}">
                <a16:creationId xmlns:a16="http://schemas.microsoft.com/office/drawing/2014/main" id="{1D8E1757-8661-4244-9E4F-965CECB551E0}"/>
              </a:ext>
            </a:extLst>
          </p:cNvPr>
          <p:cNvSpPr>
            <a:spLocks noGrp="1"/>
          </p:cNvSpPr>
          <p:nvPr/>
        </p:nvSpPr>
        <p:spPr>
          <a:xfrm>
            <a:off x="1676400" y="4552950"/>
            <a:ext cx="3657600" cy="285750"/>
          </a:xfrm>
          <a:prstGeom prst="rect">
            <a:avLst/>
          </a:prstGeom>
          <a:noFill/>
          <a:ln w="0">
            <a:noFill/>
            <a:prstDash val="solid"/>
          </a:ln>
        </p:spPr>
        <p:txBody>
          <a:bodyPr/>
          <a:lstStyle/>
          <a:p>
            <a:pPr algn="l">
              <a:defRPr sz="1575" b="1">
                <a:solidFill>
                  <a:srgbClr val="083344"/>
                </a:solidFill>
              </a:defRPr>
            </a:pPr>
            <a:r>
              <a:rPr sz="1575" b="1">
                <a:solidFill>
                  <a:srgbClr val="083344"/>
                </a:solidFill>
              </a:rPr>
              <a:t>Internship Role</a:t>
            </a:r>
          </a:p>
        </p:txBody>
      </p:sp>
      <p:sp>
        <p:nvSpPr>
          <p:cNvPr id="18" name="Rectangle 17">
            <a:extLst>
              <a:ext uri="{FF2B5EF4-FFF2-40B4-BE49-F238E27FC236}">
                <a16:creationId xmlns:a16="http://schemas.microsoft.com/office/drawing/2014/main" id="{73F0CACA-8BCF-42C3-B6F0-2791D8A0E559}"/>
              </a:ext>
            </a:extLst>
          </p:cNvPr>
          <p:cNvSpPr>
            <a:spLocks noGrp="1"/>
          </p:cNvSpPr>
          <p:nvPr/>
        </p:nvSpPr>
        <p:spPr>
          <a:xfrm>
            <a:off x="1676400" y="4886325"/>
            <a:ext cx="36576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Software engineering and</a:t>
            </a:r>
            <a:r>
              <a:rPr lang="de-DE" sz="1275" b="0" dirty="0">
                <a:solidFill>
                  <a:srgbClr val="5B6B78"/>
                </a:solidFill>
              </a:rPr>
              <a:t> digitalization</a:t>
            </a:r>
            <a:endParaRPr sz="1275" b="0" dirty="0">
              <a:solidFill>
                <a:srgbClr val="5B6B78"/>
              </a:solidFill>
            </a:endParaRPr>
          </a:p>
        </p:txBody>
      </p:sp>
      <p:sp>
        <p:nvSpPr>
          <p:cNvPr id="19" name="Rectangle: Rounded Corners 18">
            <a:extLst>
              <a:ext uri="{FF2B5EF4-FFF2-40B4-BE49-F238E27FC236}">
                <a16:creationId xmlns:a16="http://schemas.microsoft.com/office/drawing/2014/main" id="{CE940C52-4AE6-45E5-8267-AC3AC3FCC3E1}"/>
              </a:ext>
            </a:extLst>
          </p:cNvPr>
          <p:cNvSpPr>
            <a:spLocks noGrp="1"/>
          </p:cNvSpPr>
          <p:nvPr/>
        </p:nvSpPr>
        <p:spPr>
          <a:xfrm>
            <a:off x="6191250" y="1619250"/>
            <a:ext cx="4762500" cy="3581400"/>
          </a:xfrm>
          <a:prstGeom prst="roundRect">
            <a:avLst>
              <a:gd name="adj" fmla="val 319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Rectangle 19">
            <a:extLst>
              <a:ext uri="{FF2B5EF4-FFF2-40B4-BE49-F238E27FC236}">
                <a16:creationId xmlns:a16="http://schemas.microsoft.com/office/drawing/2014/main" id="{8B8F13A1-8EED-4EF6-8504-73AF4F957410}"/>
              </a:ext>
            </a:extLst>
          </p:cNvPr>
          <p:cNvSpPr>
            <a:spLocks noGrp="1"/>
          </p:cNvSpPr>
          <p:nvPr/>
        </p:nvSpPr>
        <p:spPr>
          <a:xfrm>
            <a:off x="6629400" y="2019300"/>
            <a:ext cx="3429000" cy="304800"/>
          </a:xfrm>
          <a:prstGeom prst="rect">
            <a:avLst/>
          </a:prstGeom>
          <a:noFill/>
          <a:ln w="0">
            <a:noFill/>
            <a:prstDash val="solid"/>
          </a:ln>
        </p:spPr>
        <p:txBody>
          <a:bodyPr/>
          <a:lstStyle/>
          <a:p>
            <a:pPr algn="l">
              <a:defRPr sz="2100" b="1">
                <a:solidFill>
                  <a:srgbClr val="083344"/>
                </a:solidFill>
              </a:defRPr>
            </a:pPr>
            <a:r>
              <a:rPr sz="2100" b="1" dirty="0">
                <a:solidFill>
                  <a:srgbClr val="083344"/>
                </a:solidFill>
              </a:rPr>
              <a:t>Project </a:t>
            </a:r>
            <a:r>
              <a:rPr lang="de-DE" sz="2100" b="1" dirty="0">
                <a:solidFill>
                  <a:srgbClr val="083344"/>
                </a:solidFill>
              </a:rPr>
              <a:t>Scope</a:t>
            </a:r>
            <a:endParaRPr sz="2100" b="1" dirty="0">
              <a:solidFill>
                <a:srgbClr val="083344"/>
              </a:solidFill>
            </a:endParaRPr>
          </a:p>
        </p:txBody>
      </p:sp>
      <p:sp>
        <p:nvSpPr>
          <p:cNvPr id="21" name="Rectangle: Rounded Corners 20">
            <a:extLst>
              <a:ext uri="{FF2B5EF4-FFF2-40B4-BE49-F238E27FC236}">
                <a16:creationId xmlns:a16="http://schemas.microsoft.com/office/drawing/2014/main" id="{87C400D3-2AF3-4023-85F5-EA748DD77F3A}"/>
              </a:ext>
            </a:extLst>
          </p:cNvPr>
          <p:cNvSpPr>
            <a:spLocks noGrp="1"/>
          </p:cNvSpPr>
          <p:nvPr/>
        </p:nvSpPr>
        <p:spPr>
          <a:xfrm>
            <a:off x="6667500" y="260985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6" name="Graphic 55"/>
          <p:cNvPicPr>
            <a:picLocks noChangeAspect="1"/>
          </p:cNvPicPr>
          <p:nvPr/>
        </p:nvPicPr>
        <p:blipFill>
          <a:blip>
            <a:extLst>
              <a:ext uri="{96DAC541-7B7A-43D3-8B79-37D633B846F1}">
                <asvg:svgBlip xmlns:asvg="http://schemas.microsoft.com/office/drawing/2016/SVG/main" r:embed="rId6"/>
              </a:ext>
            </a:extLst>
          </a:blip>
          <a:stretch/>
        </p:blipFill>
        <p:spPr>
          <a:xfrm>
            <a:off x="6819900" y="2724150"/>
            <a:ext cx="228600" cy="228600"/>
          </a:xfrm>
          <a:prstGeom prst="rect">
            <a:avLst/>
          </a:prstGeom>
        </p:spPr>
      </p:pic>
      <p:sp>
        <p:nvSpPr>
          <p:cNvPr id="23" name="Rectangle 22">
            <a:extLst>
              <a:ext uri="{FF2B5EF4-FFF2-40B4-BE49-F238E27FC236}">
                <a16:creationId xmlns:a16="http://schemas.microsoft.com/office/drawing/2014/main" id="{16C40B16-21B3-4F10-AC3E-08AE68F6EC69}"/>
              </a:ext>
            </a:extLst>
          </p:cNvPr>
          <p:cNvSpPr>
            <a:spLocks noGrp="1"/>
          </p:cNvSpPr>
          <p:nvPr/>
        </p:nvSpPr>
        <p:spPr>
          <a:xfrm>
            <a:off x="7143750" y="269557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Enterprise documents</a:t>
            </a:r>
          </a:p>
        </p:txBody>
      </p:sp>
      <p:sp>
        <p:nvSpPr>
          <p:cNvPr id="24" name="Rectangle: Rounded Corners 23">
            <a:extLst>
              <a:ext uri="{FF2B5EF4-FFF2-40B4-BE49-F238E27FC236}">
                <a16:creationId xmlns:a16="http://schemas.microsoft.com/office/drawing/2014/main" id="{58B4ED0F-94E4-4188-9B43-B904FFDA057E}"/>
              </a:ext>
            </a:extLst>
          </p:cNvPr>
          <p:cNvSpPr>
            <a:spLocks noGrp="1"/>
          </p:cNvSpPr>
          <p:nvPr/>
        </p:nvSpPr>
        <p:spPr>
          <a:xfrm>
            <a:off x="6667500" y="316230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9" name="Graphic 58"/>
          <p:cNvPicPr>
            <a:picLocks noChangeAspect="1"/>
          </p:cNvPicPr>
          <p:nvPr/>
        </p:nvPicPr>
        <p:blipFill>
          <a:blip>
            <a:extLst>
              <a:ext uri="{96DAC541-7B7A-43D3-8B79-37D633B846F1}">
                <asvg:svgBlip xmlns:asvg="http://schemas.microsoft.com/office/drawing/2016/SVG/main" r:embed="rId7"/>
              </a:ext>
            </a:extLst>
          </a:blip>
          <a:stretch/>
        </p:blipFill>
        <p:spPr>
          <a:xfrm>
            <a:off x="6819900" y="3276600"/>
            <a:ext cx="228600" cy="228600"/>
          </a:xfrm>
          <a:prstGeom prst="rect">
            <a:avLst/>
          </a:prstGeom>
        </p:spPr>
      </p:pic>
      <p:sp>
        <p:nvSpPr>
          <p:cNvPr id="26" name="Rectangle 25">
            <a:extLst>
              <a:ext uri="{FF2B5EF4-FFF2-40B4-BE49-F238E27FC236}">
                <a16:creationId xmlns:a16="http://schemas.microsoft.com/office/drawing/2014/main" id="{9C56536A-D501-4AD3-904E-5CCBDB773867}"/>
              </a:ext>
            </a:extLst>
          </p:cNvPr>
          <p:cNvSpPr>
            <a:spLocks noGrp="1"/>
          </p:cNvSpPr>
          <p:nvPr/>
        </p:nvSpPr>
        <p:spPr>
          <a:xfrm>
            <a:off x="7143750" y="324802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Knowledge retrieval</a:t>
            </a:r>
          </a:p>
        </p:txBody>
      </p:sp>
      <p:sp>
        <p:nvSpPr>
          <p:cNvPr id="27" name="Rectangle: Rounded Corners 26">
            <a:extLst>
              <a:ext uri="{FF2B5EF4-FFF2-40B4-BE49-F238E27FC236}">
                <a16:creationId xmlns:a16="http://schemas.microsoft.com/office/drawing/2014/main" id="{303ABE9C-431B-49A3-B397-88EA9189DF14}"/>
              </a:ext>
            </a:extLst>
          </p:cNvPr>
          <p:cNvSpPr>
            <a:spLocks noGrp="1"/>
          </p:cNvSpPr>
          <p:nvPr/>
        </p:nvSpPr>
        <p:spPr>
          <a:xfrm>
            <a:off x="6667500" y="371475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2" name="Graphic 61"/>
          <p:cNvPicPr>
            <a:picLocks noChangeAspect="1"/>
          </p:cNvPicPr>
          <p:nvPr/>
        </p:nvPicPr>
        <p:blipFill>
          <a:blip>
            <a:extLst>
              <a:ext uri="{96DAC541-7B7A-43D3-8B79-37D633B846F1}">
                <asvg:svgBlip xmlns:asvg="http://schemas.microsoft.com/office/drawing/2016/SVG/main" r:embed="rId8"/>
              </a:ext>
            </a:extLst>
          </a:blip>
          <a:stretch/>
        </p:blipFill>
        <p:spPr>
          <a:xfrm>
            <a:off x="6819900" y="3829050"/>
            <a:ext cx="228600" cy="228600"/>
          </a:xfrm>
          <a:prstGeom prst="rect">
            <a:avLst/>
          </a:prstGeom>
        </p:spPr>
      </p:pic>
      <p:sp>
        <p:nvSpPr>
          <p:cNvPr id="29" name="Rectangle 28">
            <a:extLst>
              <a:ext uri="{FF2B5EF4-FFF2-40B4-BE49-F238E27FC236}">
                <a16:creationId xmlns:a16="http://schemas.microsoft.com/office/drawing/2014/main" id="{5F422940-2E28-4FFD-946C-8B7310A89086}"/>
              </a:ext>
            </a:extLst>
          </p:cNvPr>
          <p:cNvSpPr>
            <a:spLocks noGrp="1"/>
          </p:cNvSpPr>
          <p:nvPr/>
        </p:nvSpPr>
        <p:spPr>
          <a:xfrm>
            <a:off x="7143750" y="380047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Secure access</a:t>
            </a:r>
          </a:p>
        </p:txBody>
      </p:sp>
      <p:sp>
        <p:nvSpPr>
          <p:cNvPr id="30" name="Rectangle: Rounded Corners 29">
            <a:extLst>
              <a:ext uri="{FF2B5EF4-FFF2-40B4-BE49-F238E27FC236}">
                <a16:creationId xmlns:a16="http://schemas.microsoft.com/office/drawing/2014/main" id="{36F5C15A-6F16-475B-9F9D-A455ADE66547}"/>
              </a:ext>
            </a:extLst>
          </p:cNvPr>
          <p:cNvSpPr>
            <a:spLocks noGrp="1"/>
          </p:cNvSpPr>
          <p:nvPr/>
        </p:nvSpPr>
        <p:spPr>
          <a:xfrm>
            <a:off x="6667500" y="426720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5" name="Graphic 64"/>
          <p:cNvPicPr>
            <a:picLocks noChangeAspect="1"/>
          </p:cNvPicPr>
          <p:nvPr/>
        </p:nvPicPr>
        <p:blipFill>
          <a:blip>
            <a:extLst>
              <a:ext uri="{96DAC541-7B7A-43D3-8B79-37D633B846F1}">
                <asvg:svgBlip xmlns:asvg="http://schemas.microsoft.com/office/drawing/2016/SVG/main" r:embed="rId9"/>
              </a:ext>
            </a:extLst>
          </a:blip>
          <a:stretch/>
        </p:blipFill>
        <p:spPr>
          <a:xfrm>
            <a:off x="6819900" y="4381500"/>
            <a:ext cx="228600" cy="228600"/>
          </a:xfrm>
          <a:prstGeom prst="rect">
            <a:avLst/>
          </a:prstGeom>
        </p:spPr>
      </p:pic>
      <p:sp>
        <p:nvSpPr>
          <p:cNvPr id="32" name="Rectangle 31">
            <a:extLst>
              <a:ext uri="{FF2B5EF4-FFF2-40B4-BE49-F238E27FC236}">
                <a16:creationId xmlns:a16="http://schemas.microsoft.com/office/drawing/2014/main" id="{E547ECE9-E96F-4802-95EA-7CBA32179D8D}"/>
              </a:ext>
            </a:extLst>
          </p:cNvPr>
          <p:cNvSpPr>
            <a:spLocks noGrp="1"/>
          </p:cNvSpPr>
          <p:nvPr/>
        </p:nvSpPr>
        <p:spPr>
          <a:xfrm>
            <a:off x="7143750" y="435292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Academic reporting</a:t>
            </a:r>
          </a:p>
        </p:txBody>
      </p:sp>
      <p:sp>
        <p:nvSpPr>
          <p:cNvPr id="33" name="Rectangle 32">
            <a:extLst>
              <a:ext uri="{FF2B5EF4-FFF2-40B4-BE49-F238E27FC236}">
                <a16:creationId xmlns:a16="http://schemas.microsoft.com/office/drawing/2014/main" id="{C04724A3-59DB-4210-B555-20670FA0CD68}"/>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34" name="Rectangle 33">
            <a:extLst>
              <a:ext uri="{FF2B5EF4-FFF2-40B4-BE49-F238E27FC236}">
                <a16:creationId xmlns:a16="http://schemas.microsoft.com/office/drawing/2014/main" id="{AEB14128-2A21-4A0D-8AFC-AAE7BFF36615}"/>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03 / 11</a:t>
            </a:r>
          </a:p>
        </p:txBody>
      </p:sp>
      <p:pic>
        <p:nvPicPr>
          <p:cNvPr id="16" name="Picture 15">
            <a:extLst>
              <a:ext uri="{FF2B5EF4-FFF2-40B4-BE49-F238E27FC236}">
                <a16:creationId xmlns:a16="http://schemas.microsoft.com/office/drawing/2014/main" id="{EE356E3A-5427-8C93-AA01-A5FE2C91C6E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79210583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F38CCF-2C6B-4E40-A2EA-CF31480B7D9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365ACFD4-2D90-40D4-85EB-D2CFB8D9797F}"/>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2</a:t>
            </a:r>
          </a:p>
        </p:txBody>
      </p:sp>
      <p:sp>
        <p:nvSpPr>
          <p:cNvPr id="3" name="Rectangle 2">
            <a:extLst>
              <a:ext uri="{FF2B5EF4-FFF2-40B4-BE49-F238E27FC236}">
                <a16:creationId xmlns:a16="http://schemas.microsoft.com/office/drawing/2014/main" id="{0B172EA8-1486-40F7-A286-F3E3DF992B3B}"/>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Project Epic</a:t>
            </a:r>
          </a:p>
        </p:txBody>
      </p:sp>
      <p:sp>
        <p:nvSpPr>
          <p:cNvPr id="4" name="Rectangle: Rounded Corners 3">
            <a:extLst>
              <a:ext uri="{FF2B5EF4-FFF2-40B4-BE49-F238E27FC236}">
                <a16:creationId xmlns:a16="http://schemas.microsoft.com/office/drawing/2014/main" id="{6B1175BE-4AD1-419F-8F60-A75D997B8A7D}"/>
              </a:ext>
            </a:extLst>
          </p:cNvPr>
          <p:cNvSpPr>
            <a:spLocks noGrp="1"/>
          </p:cNvSpPr>
          <p:nvPr/>
        </p:nvSpPr>
        <p:spPr>
          <a:xfrm>
            <a:off x="6858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Oval 4">
            <a:extLst>
              <a:ext uri="{FF2B5EF4-FFF2-40B4-BE49-F238E27FC236}">
                <a16:creationId xmlns:a16="http://schemas.microsoft.com/office/drawing/2014/main" id="{0FE0B6FD-8EE7-408F-967C-175A703627F8}"/>
              </a:ext>
            </a:extLst>
          </p:cNvPr>
          <p:cNvSpPr>
            <a:spLocks noGrp="1"/>
          </p:cNvSpPr>
          <p:nvPr/>
        </p:nvSpPr>
        <p:spPr>
          <a:xfrm>
            <a:off x="857250" y="2095500"/>
            <a:ext cx="400050" cy="400050"/>
          </a:xfrm>
          <a:prstGeom prst="ellipse">
            <a:avLst/>
          </a:prstGeom>
          <a:solidFill>
            <a:srgbClr val="0077B6"/>
          </a:solidFill>
          <a:ln w="0">
            <a:solidFill>
              <a:srgbClr val="0077B6"/>
            </a:solidFill>
            <a:prstDash val="solid"/>
          </a:ln>
        </p:spPr>
        <p:txBody>
          <a:bodyPr/>
          <a:lstStyle/>
          <a:p>
            <a:endParaRPr lang="en-US"/>
          </a:p>
        </p:txBody>
      </p:sp>
      <p:sp>
        <p:nvSpPr>
          <p:cNvPr id="6" name="Rectangle 5">
            <a:extLst>
              <a:ext uri="{FF2B5EF4-FFF2-40B4-BE49-F238E27FC236}">
                <a16:creationId xmlns:a16="http://schemas.microsoft.com/office/drawing/2014/main" id="{2FE1054B-7864-4C2F-A636-884420F757A9}"/>
              </a:ext>
            </a:extLst>
          </p:cNvPr>
          <p:cNvSpPr>
            <a:spLocks noGrp="1"/>
          </p:cNvSpPr>
          <p:nvPr/>
        </p:nvSpPr>
        <p:spPr>
          <a:xfrm>
            <a:off x="8572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1</a:t>
            </a:r>
          </a:p>
        </p:txBody>
      </p:sp>
      <p:pic>
        <p:nvPicPr>
          <p:cNvPr id="41" name="Graphic 40"/>
          <p:cNvPicPr>
            <a:picLocks noChangeAspect="1"/>
          </p:cNvPicPr>
          <p:nvPr/>
        </p:nvPicPr>
        <p:blipFill>
          <a:blip>
            <a:extLst>
              <a:ext uri="{96DAC541-7B7A-43D3-8B79-37D633B846F1}">
                <asvg:svgBlip xmlns:asvg="http://schemas.microsoft.com/office/drawing/2016/SVG/main" r:embed="rId3"/>
              </a:ext>
            </a:extLst>
          </a:blip>
          <a:stretch/>
        </p:blipFill>
        <p:spPr>
          <a:xfrm>
            <a:off x="2476500" y="2133600"/>
            <a:ext cx="323850" cy="323850"/>
          </a:xfrm>
          <a:prstGeom prst="rect">
            <a:avLst/>
          </a:prstGeom>
        </p:spPr>
      </p:pic>
      <p:sp>
        <p:nvSpPr>
          <p:cNvPr id="8" name="Rectangle 7">
            <a:extLst>
              <a:ext uri="{FF2B5EF4-FFF2-40B4-BE49-F238E27FC236}">
                <a16:creationId xmlns:a16="http://schemas.microsoft.com/office/drawing/2014/main" id="{F96EED51-0106-4D82-8C34-715CBB6EAFE5}"/>
              </a:ext>
            </a:extLst>
          </p:cNvPr>
          <p:cNvSpPr>
            <a:spLocks noGrp="1"/>
          </p:cNvSpPr>
          <p:nvPr/>
        </p:nvSpPr>
        <p:spPr>
          <a:xfrm>
            <a:off x="9144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Documents grew</a:t>
            </a:r>
          </a:p>
        </p:txBody>
      </p:sp>
      <p:sp>
        <p:nvSpPr>
          <p:cNvPr id="9" name="Rectangle 8">
            <a:extLst>
              <a:ext uri="{FF2B5EF4-FFF2-40B4-BE49-F238E27FC236}">
                <a16:creationId xmlns:a16="http://schemas.microsoft.com/office/drawing/2014/main" id="{46BCCB0B-CC78-42D3-806E-F0B0E027214F}"/>
              </a:ext>
            </a:extLst>
          </p:cNvPr>
          <p:cNvSpPr>
            <a:spLocks noGrp="1"/>
          </p:cNvSpPr>
          <p:nvPr/>
        </p:nvSpPr>
        <p:spPr>
          <a:xfrm>
            <a:off x="914400" y="3067050"/>
            <a:ext cx="1924050" cy="457200"/>
          </a:xfrm>
          <a:prstGeom prst="rect">
            <a:avLst/>
          </a:prstGeom>
          <a:noFill/>
          <a:ln w="0">
            <a:noFill/>
            <a:prstDash val="solid"/>
          </a:ln>
        </p:spPr>
        <p:txBody>
          <a:bodyPr/>
          <a:lstStyle/>
          <a:p>
            <a:pPr algn="l">
              <a:defRPr sz="1275" b="0">
                <a:solidFill>
                  <a:srgbClr val="5B6B78"/>
                </a:solidFill>
              </a:defRPr>
            </a:pPr>
            <a:r>
              <a:rPr sz="1275" b="0">
                <a:solidFill>
                  <a:srgbClr val="5B6B78"/>
                </a:solidFill>
              </a:rPr>
              <a:t>Knowledge became hard to locate</a:t>
            </a:r>
          </a:p>
        </p:txBody>
      </p:sp>
      <p:sp>
        <p:nvSpPr>
          <p:cNvPr id="10" name="Arrow: Right 9">
            <a:extLst>
              <a:ext uri="{FF2B5EF4-FFF2-40B4-BE49-F238E27FC236}">
                <a16:creationId xmlns:a16="http://schemas.microsoft.com/office/drawing/2014/main" id="{E3900F90-1E00-4B44-A6F8-EE02D1BD1700}"/>
              </a:ext>
            </a:extLst>
          </p:cNvPr>
          <p:cNvSpPr>
            <a:spLocks noGrp="1"/>
          </p:cNvSpPr>
          <p:nvPr/>
        </p:nvSpPr>
        <p:spPr>
          <a:xfrm>
            <a:off x="3019425" y="2743200"/>
            <a:ext cx="438150" cy="266700"/>
          </a:xfrm>
          <a:prstGeom prst="rightArrow">
            <a:avLst/>
          </a:prstGeom>
          <a:solidFill>
            <a:srgbClr val="00A3AD"/>
          </a:solidFill>
          <a:ln w="0">
            <a:solidFill>
              <a:srgbClr val="00A3AD"/>
            </a:solidFill>
            <a:prstDash val="solid"/>
          </a:ln>
        </p:spPr>
        <p:txBody>
          <a:bodyPr/>
          <a:lstStyle/>
          <a:p>
            <a:endParaRPr lang="en-US"/>
          </a:p>
        </p:txBody>
      </p:sp>
      <p:sp>
        <p:nvSpPr>
          <p:cNvPr id="11" name="Rectangle: Rounded Corners 10">
            <a:extLst>
              <a:ext uri="{FF2B5EF4-FFF2-40B4-BE49-F238E27FC236}">
                <a16:creationId xmlns:a16="http://schemas.microsoft.com/office/drawing/2014/main" id="{B226D409-25DA-4A9D-855E-518D408A323D}"/>
              </a:ext>
            </a:extLst>
          </p:cNvPr>
          <p:cNvSpPr>
            <a:spLocks noGrp="1"/>
          </p:cNvSpPr>
          <p:nvPr/>
        </p:nvSpPr>
        <p:spPr>
          <a:xfrm>
            <a:off x="34671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Oval 11">
            <a:extLst>
              <a:ext uri="{FF2B5EF4-FFF2-40B4-BE49-F238E27FC236}">
                <a16:creationId xmlns:a16="http://schemas.microsoft.com/office/drawing/2014/main" id="{D9B7464A-3D70-414F-BF95-8A9BD5EBE910}"/>
              </a:ext>
            </a:extLst>
          </p:cNvPr>
          <p:cNvSpPr>
            <a:spLocks noGrp="1"/>
          </p:cNvSpPr>
          <p:nvPr/>
        </p:nvSpPr>
        <p:spPr>
          <a:xfrm>
            <a:off x="3638550" y="2095500"/>
            <a:ext cx="400050" cy="400050"/>
          </a:xfrm>
          <a:prstGeom prst="ellipse">
            <a:avLst/>
          </a:prstGeom>
          <a:solidFill>
            <a:srgbClr val="009999"/>
          </a:solidFill>
          <a:ln w="0">
            <a:solidFill>
              <a:srgbClr val="009999"/>
            </a:solidFill>
            <a:prstDash val="solid"/>
          </a:ln>
        </p:spPr>
        <p:txBody>
          <a:bodyPr/>
          <a:lstStyle/>
          <a:p>
            <a:endParaRPr lang="en-US"/>
          </a:p>
        </p:txBody>
      </p:sp>
      <p:sp>
        <p:nvSpPr>
          <p:cNvPr id="13" name="Rectangle 12">
            <a:extLst>
              <a:ext uri="{FF2B5EF4-FFF2-40B4-BE49-F238E27FC236}">
                <a16:creationId xmlns:a16="http://schemas.microsoft.com/office/drawing/2014/main" id="{B19D7104-1F80-496C-9062-5B577271E044}"/>
              </a:ext>
            </a:extLst>
          </p:cNvPr>
          <p:cNvSpPr>
            <a:spLocks noGrp="1"/>
          </p:cNvSpPr>
          <p:nvPr/>
        </p:nvSpPr>
        <p:spPr>
          <a:xfrm>
            <a:off x="36385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2</a:t>
            </a:r>
          </a:p>
        </p:txBody>
      </p:sp>
      <p:pic>
        <p:nvPicPr>
          <p:cNvPr id="48" name="Graphic 47"/>
          <p:cNvPicPr>
            <a:picLocks noChangeAspect="1"/>
          </p:cNvPicPr>
          <p:nvPr/>
        </p:nvPicPr>
        <p:blipFill>
          <a:blip>
            <a:extLst>
              <a:ext uri="{96DAC541-7B7A-43D3-8B79-37D633B846F1}">
                <asvg:svgBlip xmlns:asvg="http://schemas.microsoft.com/office/drawing/2016/SVG/main" r:embed="rId4"/>
              </a:ext>
            </a:extLst>
          </a:blip>
          <a:stretch/>
        </p:blipFill>
        <p:spPr>
          <a:xfrm>
            <a:off x="5257800" y="2133600"/>
            <a:ext cx="323850" cy="323850"/>
          </a:xfrm>
          <a:prstGeom prst="rect">
            <a:avLst/>
          </a:prstGeom>
        </p:spPr>
      </p:pic>
      <p:sp>
        <p:nvSpPr>
          <p:cNvPr id="15" name="Rectangle 14">
            <a:extLst>
              <a:ext uri="{FF2B5EF4-FFF2-40B4-BE49-F238E27FC236}">
                <a16:creationId xmlns:a16="http://schemas.microsoft.com/office/drawing/2014/main" id="{6E90AA83-7EAA-451E-BF73-8C4747B10C98}"/>
              </a:ext>
            </a:extLst>
          </p:cNvPr>
          <p:cNvSpPr>
            <a:spLocks noGrp="1"/>
          </p:cNvSpPr>
          <p:nvPr/>
        </p:nvSpPr>
        <p:spPr>
          <a:xfrm>
            <a:off x="36957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Users asked</a:t>
            </a:r>
          </a:p>
        </p:txBody>
      </p:sp>
      <p:sp>
        <p:nvSpPr>
          <p:cNvPr id="16" name="Rectangle 15">
            <a:extLst>
              <a:ext uri="{FF2B5EF4-FFF2-40B4-BE49-F238E27FC236}">
                <a16:creationId xmlns:a16="http://schemas.microsoft.com/office/drawing/2014/main" id="{87A49B07-9C79-44F0-97DF-4109D587519C}"/>
              </a:ext>
            </a:extLst>
          </p:cNvPr>
          <p:cNvSpPr>
            <a:spLocks noGrp="1"/>
          </p:cNvSpPr>
          <p:nvPr/>
        </p:nvSpPr>
        <p:spPr>
          <a:xfrm>
            <a:off x="3695700" y="3067050"/>
            <a:ext cx="1924050" cy="457200"/>
          </a:xfrm>
          <a:prstGeom prst="rect">
            <a:avLst/>
          </a:prstGeom>
          <a:noFill/>
          <a:ln w="0">
            <a:noFill/>
            <a:prstDash val="solid"/>
          </a:ln>
        </p:spPr>
        <p:txBody>
          <a:bodyPr/>
          <a:lstStyle/>
          <a:p>
            <a:pPr algn="l">
              <a:defRPr sz="1275" b="0">
                <a:solidFill>
                  <a:srgbClr val="5B6B78"/>
                </a:solidFill>
              </a:defRPr>
            </a:pPr>
            <a:r>
              <a:rPr sz="1275" b="0">
                <a:solidFill>
                  <a:srgbClr val="5B6B78"/>
                </a:solidFill>
              </a:rPr>
              <a:t>Natural questions needed answers</a:t>
            </a:r>
          </a:p>
        </p:txBody>
      </p:sp>
      <p:sp>
        <p:nvSpPr>
          <p:cNvPr id="17" name="Arrow: Right 16">
            <a:extLst>
              <a:ext uri="{FF2B5EF4-FFF2-40B4-BE49-F238E27FC236}">
                <a16:creationId xmlns:a16="http://schemas.microsoft.com/office/drawing/2014/main" id="{B7FE29AC-FD2C-4E2D-B822-B6326C7D0798}"/>
              </a:ext>
            </a:extLst>
          </p:cNvPr>
          <p:cNvSpPr>
            <a:spLocks noGrp="1"/>
          </p:cNvSpPr>
          <p:nvPr/>
        </p:nvSpPr>
        <p:spPr>
          <a:xfrm>
            <a:off x="5791200" y="2743200"/>
            <a:ext cx="438150" cy="266700"/>
          </a:xfrm>
          <a:prstGeom prst="rightArrow">
            <a:avLst/>
          </a:prstGeom>
          <a:solidFill>
            <a:srgbClr val="00A3AD"/>
          </a:solidFill>
          <a:ln w="0">
            <a:solidFill>
              <a:srgbClr val="00A3AD"/>
            </a:solidFill>
            <a:prstDash val="solid"/>
          </a:ln>
        </p:spPr>
        <p:txBody>
          <a:bodyPr/>
          <a:lstStyle/>
          <a:p>
            <a:endParaRPr lang="en-US"/>
          </a:p>
        </p:txBody>
      </p:sp>
      <p:sp>
        <p:nvSpPr>
          <p:cNvPr id="18" name="Rectangle: Rounded Corners 17">
            <a:extLst>
              <a:ext uri="{FF2B5EF4-FFF2-40B4-BE49-F238E27FC236}">
                <a16:creationId xmlns:a16="http://schemas.microsoft.com/office/drawing/2014/main" id="{EF60FF19-DCC9-4F75-B86E-A0EA5F22B798}"/>
              </a:ext>
            </a:extLst>
          </p:cNvPr>
          <p:cNvSpPr>
            <a:spLocks noGrp="1"/>
          </p:cNvSpPr>
          <p:nvPr/>
        </p:nvSpPr>
        <p:spPr>
          <a:xfrm>
            <a:off x="62484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9" name="Oval 18">
            <a:extLst>
              <a:ext uri="{FF2B5EF4-FFF2-40B4-BE49-F238E27FC236}">
                <a16:creationId xmlns:a16="http://schemas.microsoft.com/office/drawing/2014/main" id="{BBCB3DCC-21BB-45E5-9AFF-CB121DD117F8}"/>
              </a:ext>
            </a:extLst>
          </p:cNvPr>
          <p:cNvSpPr>
            <a:spLocks noGrp="1"/>
          </p:cNvSpPr>
          <p:nvPr/>
        </p:nvSpPr>
        <p:spPr>
          <a:xfrm>
            <a:off x="6419850" y="2095500"/>
            <a:ext cx="400050" cy="400050"/>
          </a:xfrm>
          <a:prstGeom prst="ellipse">
            <a:avLst/>
          </a:prstGeom>
          <a:solidFill>
            <a:srgbClr val="2CA58D"/>
          </a:solidFill>
          <a:ln w="0">
            <a:solidFill>
              <a:srgbClr val="2CA58D"/>
            </a:solidFill>
            <a:prstDash val="solid"/>
          </a:ln>
        </p:spPr>
        <p:txBody>
          <a:bodyPr/>
          <a:lstStyle/>
          <a:p>
            <a:endParaRPr lang="en-US"/>
          </a:p>
        </p:txBody>
      </p:sp>
      <p:sp>
        <p:nvSpPr>
          <p:cNvPr id="20" name="Rectangle 19">
            <a:extLst>
              <a:ext uri="{FF2B5EF4-FFF2-40B4-BE49-F238E27FC236}">
                <a16:creationId xmlns:a16="http://schemas.microsoft.com/office/drawing/2014/main" id="{1BE8EF51-887C-4090-9502-89CBCB088A29}"/>
              </a:ext>
            </a:extLst>
          </p:cNvPr>
          <p:cNvSpPr>
            <a:spLocks noGrp="1"/>
          </p:cNvSpPr>
          <p:nvPr/>
        </p:nvSpPr>
        <p:spPr>
          <a:xfrm>
            <a:off x="64198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3</a:t>
            </a:r>
          </a:p>
        </p:txBody>
      </p:sp>
      <p:pic>
        <p:nvPicPr>
          <p:cNvPr id="55" name="Graphic 54"/>
          <p:cNvPicPr>
            <a:picLocks noChangeAspect="1"/>
          </p:cNvPicPr>
          <p:nvPr/>
        </p:nvPicPr>
        <p:blipFill>
          <a:blip>
            <a:extLst>
              <a:ext uri="{96DAC541-7B7A-43D3-8B79-37D633B846F1}">
                <asvg:svgBlip xmlns:asvg="http://schemas.microsoft.com/office/drawing/2016/SVG/main" r:embed="rId5"/>
              </a:ext>
            </a:extLst>
          </a:blip>
          <a:stretch/>
        </p:blipFill>
        <p:spPr>
          <a:xfrm>
            <a:off x="8039100" y="2133600"/>
            <a:ext cx="323850" cy="323850"/>
          </a:xfrm>
          <a:prstGeom prst="rect">
            <a:avLst/>
          </a:prstGeom>
        </p:spPr>
      </p:pic>
      <p:sp>
        <p:nvSpPr>
          <p:cNvPr id="22" name="Rectangle 21">
            <a:extLst>
              <a:ext uri="{FF2B5EF4-FFF2-40B4-BE49-F238E27FC236}">
                <a16:creationId xmlns:a16="http://schemas.microsoft.com/office/drawing/2014/main" id="{E01F9ACE-A7C6-48BE-869B-49EA82233949}"/>
              </a:ext>
            </a:extLst>
          </p:cNvPr>
          <p:cNvSpPr>
            <a:spLocks noGrp="1"/>
          </p:cNvSpPr>
          <p:nvPr/>
        </p:nvSpPr>
        <p:spPr>
          <a:xfrm>
            <a:off x="64770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System retrieved</a:t>
            </a:r>
          </a:p>
        </p:txBody>
      </p:sp>
      <p:sp>
        <p:nvSpPr>
          <p:cNvPr id="23" name="Rectangle 22">
            <a:extLst>
              <a:ext uri="{FF2B5EF4-FFF2-40B4-BE49-F238E27FC236}">
                <a16:creationId xmlns:a16="http://schemas.microsoft.com/office/drawing/2014/main" id="{B0531957-0024-4B1A-9BD7-8C605A9CEC72}"/>
              </a:ext>
            </a:extLst>
          </p:cNvPr>
          <p:cNvSpPr>
            <a:spLocks noGrp="1"/>
          </p:cNvSpPr>
          <p:nvPr/>
        </p:nvSpPr>
        <p:spPr>
          <a:xfrm>
            <a:off x="6477000" y="3067050"/>
            <a:ext cx="1924050" cy="457200"/>
          </a:xfrm>
          <a:prstGeom prst="rect">
            <a:avLst/>
          </a:prstGeom>
          <a:noFill/>
          <a:ln w="0">
            <a:noFill/>
            <a:prstDash val="solid"/>
          </a:ln>
        </p:spPr>
        <p:txBody>
          <a:bodyPr/>
          <a:lstStyle/>
          <a:p>
            <a:pPr algn="l">
              <a:defRPr sz="1275" b="0">
                <a:solidFill>
                  <a:srgbClr val="5B6B78"/>
                </a:solidFill>
              </a:defRPr>
            </a:pPr>
            <a:r>
              <a:rPr sz="1275" b="0">
                <a:solidFill>
                  <a:srgbClr val="5B6B78"/>
                </a:solidFill>
              </a:rPr>
              <a:t>Relevant chunks provided context</a:t>
            </a:r>
          </a:p>
        </p:txBody>
      </p:sp>
      <p:sp>
        <p:nvSpPr>
          <p:cNvPr id="24" name="Arrow: Right 23">
            <a:extLst>
              <a:ext uri="{FF2B5EF4-FFF2-40B4-BE49-F238E27FC236}">
                <a16:creationId xmlns:a16="http://schemas.microsoft.com/office/drawing/2014/main" id="{A9B40163-4B58-4441-A5E6-277B0266E60B}"/>
              </a:ext>
            </a:extLst>
          </p:cNvPr>
          <p:cNvSpPr>
            <a:spLocks noGrp="1"/>
          </p:cNvSpPr>
          <p:nvPr/>
        </p:nvSpPr>
        <p:spPr>
          <a:xfrm>
            <a:off x="8582025" y="2743200"/>
            <a:ext cx="438150" cy="266700"/>
          </a:xfrm>
          <a:prstGeom prst="rightArrow">
            <a:avLst/>
          </a:prstGeom>
          <a:solidFill>
            <a:srgbClr val="00A3AD"/>
          </a:solidFill>
          <a:ln w="0">
            <a:solidFill>
              <a:srgbClr val="00A3AD"/>
            </a:solidFill>
            <a:prstDash val="solid"/>
          </a:ln>
        </p:spPr>
        <p:txBody>
          <a:bodyPr/>
          <a:lstStyle/>
          <a:p>
            <a:endParaRPr lang="en-US"/>
          </a:p>
        </p:txBody>
      </p:sp>
      <p:sp>
        <p:nvSpPr>
          <p:cNvPr id="25" name="Rectangle: Rounded Corners 24">
            <a:extLst>
              <a:ext uri="{FF2B5EF4-FFF2-40B4-BE49-F238E27FC236}">
                <a16:creationId xmlns:a16="http://schemas.microsoft.com/office/drawing/2014/main" id="{3F2D865A-98BB-4C0B-A037-55127A6FB68C}"/>
              </a:ext>
            </a:extLst>
          </p:cNvPr>
          <p:cNvSpPr>
            <a:spLocks noGrp="1"/>
          </p:cNvSpPr>
          <p:nvPr/>
        </p:nvSpPr>
        <p:spPr>
          <a:xfrm>
            <a:off x="90297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Oval 25">
            <a:extLst>
              <a:ext uri="{FF2B5EF4-FFF2-40B4-BE49-F238E27FC236}">
                <a16:creationId xmlns:a16="http://schemas.microsoft.com/office/drawing/2014/main" id="{68F00346-007C-41AF-9AEF-81CF16961F49}"/>
              </a:ext>
            </a:extLst>
          </p:cNvPr>
          <p:cNvSpPr>
            <a:spLocks noGrp="1"/>
          </p:cNvSpPr>
          <p:nvPr/>
        </p:nvSpPr>
        <p:spPr>
          <a:xfrm>
            <a:off x="9201150" y="2095500"/>
            <a:ext cx="400050" cy="400050"/>
          </a:xfrm>
          <a:prstGeom prst="ellipse">
            <a:avLst/>
          </a:prstGeom>
          <a:solidFill>
            <a:srgbClr val="F28C28"/>
          </a:solidFill>
          <a:ln w="0">
            <a:solidFill>
              <a:srgbClr val="F28C28"/>
            </a:solidFill>
            <a:prstDash val="solid"/>
          </a:ln>
        </p:spPr>
        <p:txBody>
          <a:bodyPr/>
          <a:lstStyle/>
          <a:p>
            <a:endParaRPr lang="en-US"/>
          </a:p>
        </p:txBody>
      </p:sp>
      <p:sp>
        <p:nvSpPr>
          <p:cNvPr id="27" name="Rectangle 26">
            <a:extLst>
              <a:ext uri="{FF2B5EF4-FFF2-40B4-BE49-F238E27FC236}">
                <a16:creationId xmlns:a16="http://schemas.microsoft.com/office/drawing/2014/main" id="{2AF0B496-42EA-4A33-91E7-C64E5ED3DAEE}"/>
              </a:ext>
            </a:extLst>
          </p:cNvPr>
          <p:cNvSpPr>
            <a:spLocks noGrp="1"/>
          </p:cNvSpPr>
          <p:nvPr/>
        </p:nvSpPr>
        <p:spPr>
          <a:xfrm>
            <a:off x="92011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4</a:t>
            </a:r>
          </a:p>
        </p:txBody>
      </p:sp>
      <p:pic>
        <p:nvPicPr>
          <p:cNvPr id="62" name="Graphic 61"/>
          <p:cNvPicPr>
            <a:picLocks noChangeAspect="1"/>
          </p:cNvPicPr>
          <p:nvPr/>
        </p:nvPicPr>
        <p:blipFill>
          <a:blip>
            <a:extLst>
              <a:ext uri="{96DAC541-7B7A-43D3-8B79-37D633B846F1}">
                <asvg:svgBlip xmlns:asvg="http://schemas.microsoft.com/office/drawing/2016/SVG/main" r:embed="rId6"/>
              </a:ext>
            </a:extLst>
          </a:blip>
          <a:stretch/>
        </p:blipFill>
        <p:spPr>
          <a:xfrm>
            <a:off x="10820400" y="2133600"/>
            <a:ext cx="323850" cy="323850"/>
          </a:xfrm>
          <a:prstGeom prst="rect">
            <a:avLst/>
          </a:prstGeom>
        </p:spPr>
      </p:pic>
      <p:sp>
        <p:nvSpPr>
          <p:cNvPr id="29" name="Rectangle 28">
            <a:extLst>
              <a:ext uri="{FF2B5EF4-FFF2-40B4-BE49-F238E27FC236}">
                <a16:creationId xmlns:a16="http://schemas.microsoft.com/office/drawing/2014/main" id="{137AF8CF-FFBC-4AEE-B891-620235C31F1D}"/>
              </a:ext>
            </a:extLst>
          </p:cNvPr>
          <p:cNvSpPr>
            <a:spLocks noGrp="1"/>
          </p:cNvSpPr>
          <p:nvPr/>
        </p:nvSpPr>
        <p:spPr>
          <a:xfrm>
            <a:off x="9258300" y="2705100"/>
            <a:ext cx="2019300" cy="28575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Responses grounded</a:t>
            </a:r>
          </a:p>
        </p:txBody>
      </p:sp>
      <p:sp>
        <p:nvSpPr>
          <p:cNvPr id="30" name="Rectangle 29">
            <a:extLst>
              <a:ext uri="{FF2B5EF4-FFF2-40B4-BE49-F238E27FC236}">
                <a16:creationId xmlns:a16="http://schemas.microsoft.com/office/drawing/2014/main" id="{9BEEF977-B0C1-4432-A28C-614C716C5874}"/>
              </a:ext>
            </a:extLst>
          </p:cNvPr>
          <p:cNvSpPr>
            <a:spLocks noGrp="1"/>
          </p:cNvSpPr>
          <p:nvPr/>
        </p:nvSpPr>
        <p:spPr>
          <a:xfrm>
            <a:off x="9258300" y="3067050"/>
            <a:ext cx="1924050" cy="457200"/>
          </a:xfrm>
          <a:prstGeom prst="rect">
            <a:avLst/>
          </a:prstGeom>
          <a:noFill/>
          <a:ln w="0">
            <a:noFill/>
            <a:prstDash val="solid"/>
          </a:ln>
        </p:spPr>
        <p:txBody>
          <a:bodyPr/>
          <a:lstStyle/>
          <a:p>
            <a:pPr algn="l">
              <a:defRPr sz="1275" b="0">
                <a:solidFill>
                  <a:srgbClr val="5B6B78"/>
                </a:solidFill>
              </a:defRPr>
            </a:pPr>
            <a:r>
              <a:rPr sz="1275" b="0">
                <a:solidFill>
                  <a:srgbClr val="5B6B78"/>
                </a:solidFill>
              </a:rPr>
              <a:t>Answers referenced document sources</a:t>
            </a:r>
          </a:p>
        </p:txBody>
      </p:sp>
      <p:sp>
        <p:nvSpPr>
          <p:cNvPr id="31" name="Rectangle 30">
            <a:extLst>
              <a:ext uri="{FF2B5EF4-FFF2-40B4-BE49-F238E27FC236}">
                <a16:creationId xmlns:a16="http://schemas.microsoft.com/office/drawing/2014/main" id="{511533FE-E66B-4139-850D-0FF520DA6D16}"/>
              </a:ext>
            </a:extLst>
          </p:cNvPr>
          <p:cNvSpPr>
            <a:spLocks noGrp="1"/>
          </p:cNvSpPr>
          <p:nvPr/>
        </p:nvSpPr>
        <p:spPr>
          <a:xfrm>
            <a:off x="1466850" y="4476750"/>
            <a:ext cx="9258300" cy="419100"/>
          </a:xfrm>
          <a:prstGeom prst="rect">
            <a:avLst/>
          </a:prstGeom>
          <a:noFill/>
          <a:ln w="0">
            <a:noFill/>
            <a:prstDash val="solid"/>
          </a:ln>
        </p:spPr>
        <p:txBody>
          <a:bodyPr/>
          <a:lstStyle/>
          <a:p>
            <a:pPr algn="ctr">
              <a:defRPr sz="2400" b="1">
                <a:solidFill>
                  <a:srgbClr val="083344"/>
                </a:solidFill>
              </a:defRPr>
            </a:pPr>
            <a:r>
              <a:rPr sz="2400" b="1">
                <a:solidFill>
                  <a:srgbClr val="083344"/>
                </a:solidFill>
              </a:rPr>
              <a:t>From document overload to guided retrieval</a:t>
            </a:r>
          </a:p>
        </p:txBody>
      </p:sp>
      <p:sp>
        <p:nvSpPr>
          <p:cNvPr id="32" name="Rectangle 31">
            <a:extLst>
              <a:ext uri="{FF2B5EF4-FFF2-40B4-BE49-F238E27FC236}">
                <a16:creationId xmlns:a16="http://schemas.microsoft.com/office/drawing/2014/main" id="{71626A23-5BCD-4A97-9B96-72E6CC795393}"/>
              </a:ext>
            </a:extLst>
          </p:cNvPr>
          <p:cNvSpPr>
            <a:spLocks noGrp="1"/>
          </p:cNvSpPr>
          <p:nvPr/>
        </p:nvSpPr>
        <p:spPr>
          <a:xfrm>
            <a:off x="1962150" y="5010150"/>
            <a:ext cx="8267700" cy="285750"/>
          </a:xfrm>
          <a:prstGeom prst="rect">
            <a:avLst/>
          </a:prstGeom>
          <a:noFill/>
          <a:ln w="0">
            <a:noFill/>
            <a:prstDash val="solid"/>
          </a:ln>
        </p:spPr>
        <p:txBody>
          <a:bodyPr/>
          <a:lstStyle/>
          <a:p>
            <a:pPr algn="ctr">
              <a:defRPr sz="1575" b="0">
                <a:solidFill>
                  <a:srgbClr val="5B6B78"/>
                </a:solidFill>
              </a:defRPr>
            </a:pPr>
            <a:r>
              <a:rPr sz="1575" b="0">
                <a:solidFill>
                  <a:srgbClr val="5B6B78"/>
                </a:solidFill>
              </a:rPr>
              <a:t>The system turns enterprise documents into searchable knowledge.</a:t>
            </a:r>
          </a:p>
        </p:txBody>
      </p:sp>
      <p:sp>
        <p:nvSpPr>
          <p:cNvPr id="33" name="Rectangle 32">
            <a:extLst>
              <a:ext uri="{FF2B5EF4-FFF2-40B4-BE49-F238E27FC236}">
                <a16:creationId xmlns:a16="http://schemas.microsoft.com/office/drawing/2014/main" id="{AA175B47-92A8-411A-BC39-8148DF52B3BD}"/>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34" name="Rectangle 33">
            <a:extLst>
              <a:ext uri="{FF2B5EF4-FFF2-40B4-BE49-F238E27FC236}">
                <a16:creationId xmlns:a16="http://schemas.microsoft.com/office/drawing/2014/main" id="{1A2E2571-65AA-44C8-AEF7-DB7C4B02B5BB}"/>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04 / 11</a:t>
            </a:r>
          </a:p>
        </p:txBody>
      </p:sp>
      <p:pic>
        <p:nvPicPr>
          <p:cNvPr id="21" name="Picture 20">
            <a:extLst>
              <a:ext uri="{FF2B5EF4-FFF2-40B4-BE49-F238E27FC236}">
                <a16:creationId xmlns:a16="http://schemas.microsoft.com/office/drawing/2014/main" id="{90A36EA1-D9F9-942B-243A-B64AE0A8BD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47764907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3BE474-8343-44E1-B6F4-9FAB76477366}"/>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515F9E58-7E39-4703-841E-14A40BDFFB77}"/>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3</a:t>
            </a:r>
          </a:p>
        </p:txBody>
      </p:sp>
      <p:sp>
        <p:nvSpPr>
          <p:cNvPr id="3" name="Rectangle 2">
            <a:extLst>
              <a:ext uri="{FF2B5EF4-FFF2-40B4-BE49-F238E27FC236}">
                <a16:creationId xmlns:a16="http://schemas.microsoft.com/office/drawing/2014/main" id="{9314D284-CC76-4542-8200-2ADF8D5CDD2A}"/>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User Stories</a:t>
            </a:r>
          </a:p>
        </p:txBody>
      </p:sp>
      <p:sp>
        <p:nvSpPr>
          <p:cNvPr id="4" name="Rectangle: Rounded Corners 3">
            <a:extLst>
              <a:ext uri="{FF2B5EF4-FFF2-40B4-BE49-F238E27FC236}">
                <a16:creationId xmlns:a16="http://schemas.microsoft.com/office/drawing/2014/main" id="{1209B250-8FFE-482B-AD05-FCAA63EB6531}"/>
              </a:ext>
            </a:extLst>
          </p:cNvPr>
          <p:cNvSpPr>
            <a:spLocks noGrp="1"/>
          </p:cNvSpPr>
          <p:nvPr/>
        </p:nvSpPr>
        <p:spPr>
          <a:xfrm>
            <a:off x="781050" y="1524000"/>
            <a:ext cx="3905250" cy="3505200"/>
          </a:xfrm>
          <a:prstGeom prst="roundRect">
            <a:avLst>
              <a:gd name="adj" fmla="val 326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Rectangle 4">
            <a:extLst>
              <a:ext uri="{FF2B5EF4-FFF2-40B4-BE49-F238E27FC236}">
                <a16:creationId xmlns:a16="http://schemas.microsoft.com/office/drawing/2014/main" id="{053F2EA2-33AA-4566-A860-D213BA8BEC32}"/>
              </a:ext>
            </a:extLst>
          </p:cNvPr>
          <p:cNvSpPr>
            <a:spLocks noGrp="1"/>
          </p:cNvSpPr>
          <p:nvPr/>
        </p:nvSpPr>
        <p:spPr>
          <a:xfrm>
            <a:off x="1162050" y="1943100"/>
            <a:ext cx="2476500" cy="304800"/>
          </a:xfrm>
          <a:prstGeom prst="rect">
            <a:avLst/>
          </a:prstGeom>
          <a:noFill/>
          <a:ln w="0">
            <a:noFill/>
            <a:prstDash val="solid"/>
          </a:ln>
        </p:spPr>
        <p:txBody>
          <a:bodyPr/>
          <a:lstStyle/>
          <a:p>
            <a:pPr algn="l">
              <a:defRPr sz="2100" b="1">
                <a:solidFill>
                  <a:srgbClr val="083344"/>
                </a:solidFill>
              </a:defRPr>
            </a:pPr>
            <a:r>
              <a:rPr sz="2100" b="1">
                <a:solidFill>
                  <a:srgbClr val="083344"/>
                </a:solidFill>
              </a:rPr>
              <a:t>Template Format</a:t>
            </a:r>
          </a:p>
        </p:txBody>
      </p:sp>
      <p:sp>
        <p:nvSpPr>
          <p:cNvPr id="6" name="Rectangle: Rounded Corners 5">
            <a:extLst>
              <a:ext uri="{FF2B5EF4-FFF2-40B4-BE49-F238E27FC236}">
                <a16:creationId xmlns:a16="http://schemas.microsoft.com/office/drawing/2014/main" id="{11BC3611-9B9B-44AE-850F-C434D000135F}"/>
              </a:ext>
            </a:extLst>
          </p:cNvPr>
          <p:cNvSpPr>
            <a:spLocks noGrp="1"/>
          </p:cNvSpPr>
          <p:nvPr/>
        </p:nvSpPr>
        <p:spPr>
          <a:xfrm>
            <a:off x="1162050" y="2571750"/>
            <a:ext cx="2667000" cy="4762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8" name="Graphic 37"/>
          <p:cNvPicPr>
            <a:picLocks noChangeAspect="1"/>
          </p:cNvPicPr>
          <p:nvPr/>
        </p:nvPicPr>
        <p:blipFill>
          <a:blip>
            <a:extLst>
              <a:ext uri="{96DAC541-7B7A-43D3-8B79-37D633B846F1}">
                <asvg:svgBlip xmlns:asvg="http://schemas.microsoft.com/office/drawing/2016/SVG/main" r:embed="rId3"/>
              </a:ext>
            </a:extLst>
          </a:blip>
          <a:stretch/>
        </p:blipFill>
        <p:spPr>
          <a:xfrm>
            <a:off x="1314450" y="2686050"/>
            <a:ext cx="228600" cy="228600"/>
          </a:xfrm>
          <a:prstGeom prst="rect">
            <a:avLst/>
          </a:prstGeom>
        </p:spPr>
      </p:pic>
      <p:sp>
        <p:nvSpPr>
          <p:cNvPr id="8" name="Rectangle 7">
            <a:extLst>
              <a:ext uri="{FF2B5EF4-FFF2-40B4-BE49-F238E27FC236}">
                <a16:creationId xmlns:a16="http://schemas.microsoft.com/office/drawing/2014/main" id="{1325F530-973F-4F98-B43D-1F206FCB7EE9}"/>
              </a:ext>
            </a:extLst>
          </p:cNvPr>
          <p:cNvSpPr>
            <a:spLocks noGrp="1"/>
          </p:cNvSpPr>
          <p:nvPr/>
        </p:nvSpPr>
        <p:spPr>
          <a:xfrm>
            <a:off x="1638300" y="2667000"/>
            <a:ext cx="2076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As a role</a:t>
            </a:r>
          </a:p>
        </p:txBody>
      </p:sp>
      <p:sp>
        <p:nvSpPr>
          <p:cNvPr id="9" name="Rectangle: Rounded Corners 8">
            <a:extLst>
              <a:ext uri="{FF2B5EF4-FFF2-40B4-BE49-F238E27FC236}">
                <a16:creationId xmlns:a16="http://schemas.microsoft.com/office/drawing/2014/main" id="{12193414-E8CC-4E17-BB52-86D46B1BF1E0}"/>
              </a:ext>
            </a:extLst>
          </p:cNvPr>
          <p:cNvSpPr>
            <a:spLocks noGrp="1"/>
          </p:cNvSpPr>
          <p:nvPr/>
        </p:nvSpPr>
        <p:spPr>
          <a:xfrm>
            <a:off x="1162050" y="3276600"/>
            <a:ext cx="2667000" cy="4762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1" name="Graphic 40"/>
          <p:cNvPicPr>
            <a:picLocks noChangeAspect="1"/>
          </p:cNvPicPr>
          <p:nvPr/>
        </p:nvPicPr>
        <p:blipFill>
          <a:blip>
            <a:extLst>
              <a:ext uri="{96DAC541-7B7A-43D3-8B79-37D633B846F1}">
                <asvg:svgBlip xmlns:asvg="http://schemas.microsoft.com/office/drawing/2016/SVG/main" r:embed="rId4"/>
              </a:ext>
            </a:extLst>
          </a:blip>
          <a:stretch/>
        </p:blipFill>
        <p:spPr>
          <a:xfrm>
            <a:off x="1314450" y="3390900"/>
            <a:ext cx="228600" cy="228600"/>
          </a:xfrm>
          <a:prstGeom prst="rect">
            <a:avLst/>
          </a:prstGeom>
        </p:spPr>
      </p:pic>
      <p:sp>
        <p:nvSpPr>
          <p:cNvPr id="11" name="Rectangle 10">
            <a:extLst>
              <a:ext uri="{FF2B5EF4-FFF2-40B4-BE49-F238E27FC236}">
                <a16:creationId xmlns:a16="http://schemas.microsoft.com/office/drawing/2014/main" id="{CC0A73CF-078C-4A82-B6D4-D3407F40B58B}"/>
              </a:ext>
            </a:extLst>
          </p:cNvPr>
          <p:cNvSpPr>
            <a:spLocks noGrp="1"/>
          </p:cNvSpPr>
          <p:nvPr/>
        </p:nvSpPr>
        <p:spPr>
          <a:xfrm>
            <a:off x="1638300" y="3362018"/>
            <a:ext cx="2076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I want capability</a:t>
            </a:r>
          </a:p>
        </p:txBody>
      </p:sp>
      <p:sp>
        <p:nvSpPr>
          <p:cNvPr id="12" name="Rectangle: Rounded Corners 11">
            <a:extLst>
              <a:ext uri="{FF2B5EF4-FFF2-40B4-BE49-F238E27FC236}">
                <a16:creationId xmlns:a16="http://schemas.microsoft.com/office/drawing/2014/main" id="{417C0282-EDD6-408B-B6E6-8AB439804C8D}"/>
              </a:ext>
            </a:extLst>
          </p:cNvPr>
          <p:cNvSpPr>
            <a:spLocks noGrp="1"/>
          </p:cNvSpPr>
          <p:nvPr/>
        </p:nvSpPr>
        <p:spPr>
          <a:xfrm>
            <a:off x="1162050" y="3981450"/>
            <a:ext cx="2667000" cy="4762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4" name="Graphic 43"/>
          <p:cNvPicPr>
            <a:picLocks noChangeAspect="1"/>
          </p:cNvPicPr>
          <p:nvPr/>
        </p:nvPicPr>
        <p:blipFill>
          <a:blip>
            <a:extLst>
              <a:ext uri="{96DAC541-7B7A-43D3-8B79-37D633B846F1}">
                <asvg:svgBlip xmlns:asvg="http://schemas.microsoft.com/office/drawing/2016/SVG/main" r:embed="rId5"/>
              </a:ext>
            </a:extLst>
          </a:blip>
          <a:stretch/>
        </p:blipFill>
        <p:spPr>
          <a:xfrm>
            <a:off x="1314450" y="4095750"/>
            <a:ext cx="228600" cy="228600"/>
          </a:xfrm>
          <a:prstGeom prst="rect">
            <a:avLst/>
          </a:prstGeom>
        </p:spPr>
      </p:pic>
      <p:sp>
        <p:nvSpPr>
          <p:cNvPr id="14" name="Rectangle 13">
            <a:extLst>
              <a:ext uri="{FF2B5EF4-FFF2-40B4-BE49-F238E27FC236}">
                <a16:creationId xmlns:a16="http://schemas.microsoft.com/office/drawing/2014/main" id="{DCC47E5F-1CA7-4205-A121-A5AD70A9CB91}"/>
              </a:ext>
            </a:extLst>
          </p:cNvPr>
          <p:cNvSpPr>
            <a:spLocks noGrp="1"/>
          </p:cNvSpPr>
          <p:nvPr/>
        </p:nvSpPr>
        <p:spPr>
          <a:xfrm>
            <a:off x="1638300" y="4066868"/>
            <a:ext cx="2076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So that value</a:t>
            </a:r>
          </a:p>
        </p:txBody>
      </p:sp>
      <p:sp>
        <p:nvSpPr>
          <p:cNvPr id="15" name="Rectangle: Rounded Corners 14">
            <a:extLst>
              <a:ext uri="{FF2B5EF4-FFF2-40B4-BE49-F238E27FC236}">
                <a16:creationId xmlns:a16="http://schemas.microsoft.com/office/drawing/2014/main" id="{46FF8719-21DA-4CB8-B078-1BF1A03A65A8}"/>
              </a:ext>
            </a:extLst>
          </p:cNvPr>
          <p:cNvSpPr>
            <a:spLocks noGrp="1"/>
          </p:cNvSpPr>
          <p:nvPr/>
        </p:nvSpPr>
        <p:spPr>
          <a:xfrm>
            <a:off x="5219700" y="1524000"/>
            <a:ext cx="5638800" cy="1009650"/>
          </a:xfrm>
          <a:prstGeom prst="roundRect">
            <a:avLst>
              <a:gd name="adj" fmla="val 1132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47" name="Graphic 46"/>
          <p:cNvPicPr>
            <a:picLocks noChangeAspect="1"/>
          </p:cNvPicPr>
          <p:nvPr/>
        </p:nvPicPr>
        <p:blipFill>
          <a:blip>
            <a:extLst>
              <a:ext uri="{96DAC541-7B7A-43D3-8B79-37D633B846F1}">
                <asvg:svgBlip xmlns:asvg="http://schemas.microsoft.com/office/drawing/2016/SVG/main" r:embed="rId6"/>
              </a:ext>
            </a:extLst>
          </a:blip>
          <a:stretch/>
        </p:blipFill>
        <p:spPr>
          <a:xfrm>
            <a:off x="5448300" y="1790700"/>
            <a:ext cx="381000" cy="381000"/>
          </a:xfrm>
          <a:prstGeom prst="rect">
            <a:avLst/>
          </a:prstGeom>
        </p:spPr>
      </p:pic>
      <p:sp>
        <p:nvSpPr>
          <p:cNvPr id="17" name="Rectangle 16">
            <a:extLst>
              <a:ext uri="{FF2B5EF4-FFF2-40B4-BE49-F238E27FC236}">
                <a16:creationId xmlns:a16="http://schemas.microsoft.com/office/drawing/2014/main" id="{3E7F1588-E884-4E37-AFC6-4C41AF34046E}"/>
              </a:ext>
            </a:extLst>
          </p:cNvPr>
          <p:cNvSpPr>
            <a:spLocks noGrp="1"/>
          </p:cNvSpPr>
          <p:nvPr/>
        </p:nvSpPr>
        <p:spPr>
          <a:xfrm>
            <a:off x="6019800" y="1641348"/>
            <a:ext cx="2095500" cy="228600"/>
          </a:xfrm>
          <a:prstGeom prst="rect">
            <a:avLst/>
          </a:prstGeom>
          <a:noFill/>
          <a:ln w="0">
            <a:noFill/>
            <a:prstDash val="solid"/>
          </a:ln>
        </p:spPr>
        <p:txBody>
          <a:bodyPr/>
          <a:lstStyle/>
          <a:p>
            <a:pPr algn="l">
              <a:defRPr sz="1350" b="1">
                <a:solidFill>
                  <a:srgbClr val="0077B6"/>
                </a:solidFill>
              </a:defRPr>
            </a:pPr>
            <a:r>
              <a:rPr sz="1350" b="1" dirty="0">
                <a:solidFill>
                  <a:srgbClr val="0077B6"/>
                </a:solidFill>
              </a:rPr>
              <a:t>Users</a:t>
            </a:r>
          </a:p>
        </p:txBody>
      </p:sp>
      <p:sp>
        <p:nvSpPr>
          <p:cNvPr id="18" name="Rectangle 17">
            <a:extLst>
              <a:ext uri="{FF2B5EF4-FFF2-40B4-BE49-F238E27FC236}">
                <a16:creationId xmlns:a16="http://schemas.microsoft.com/office/drawing/2014/main" id="{AF7FA960-A816-441B-B012-97ADA32882DA}"/>
              </a:ext>
            </a:extLst>
          </p:cNvPr>
          <p:cNvSpPr>
            <a:spLocks noGrp="1"/>
          </p:cNvSpPr>
          <p:nvPr/>
        </p:nvSpPr>
        <p:spPr>
          <a:xfrm>
            <a:off x="6019800" y="1889760"/>
            <a:ext cx="4000500" cy="22860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Ask across selected documents</a:t>
            </a:r>
          </a:p>
        </p:txBody>
      </p:sp>
      <p:sp>
        <p:nvSpPr>
          <p:cNvPr id="19" name="Rectangle 18">
            <a:extLst>
              <a:ext uri="{FF2B5EF4-FFF2-40B4-BE49-F238E27FC236}">
                <a16:creationId xmlns:a16="http://schemas.microsoft.com/office/drawing/2014/main" id="{24D0A9EC-436A-44C2-8588-B1054A78979C}"/>
              </a:ext>
            </a:extLst>
          </p:cNvPr>
          <p:cNvSpPr>
            <a:spLocks noGrp="1"/>
          </p:cNvSpPr>
          <p:nvPr/>
        </p:nvSpPr>
        <p:spPr>
          <a:xfrm>
            <a:off x="6019800" y="2174748"/>
            <a:ext cx="4000500" cy="209550"/>
          </a:xfrm>
          <a:prstGeom prst="rect">
            <a:avLst/>
          </a:prstGeom>
          <a:noFill/>
          <a:ln w="0">
            <a:noFill/>
            <a:prstDash val="solid"/>
          </a:ln>
        </p:spPr>
        <p:txBody>
          <a:bodyPr/>
          <a:lstStyle/>
          <a:p>
            <a:pPr algn="l">
              <a:defRPr sz="1200" b="0">
                <a:solidFill>
                  <a:srgbClr val="5B6B78"/>
                </a:solidFill>
              </a:defRPr>
            </a:pPr>
            <a:r>
              <a:rPr sz="1200" b="0" dirty="0">
                <a:solidFill>
                  <a:srgbClr val="5B6B78"/>
                </a:solidFill>
              </a:rPr>
              <a:t>Grounded answers with references</a:t>
            </a:r>
          </a:p>
        </p:txBody>
      </p:sp>
      <p:sp>
        <p:nvSpPr>
          <p:cNvPr id="20" name="Rectangle: Rounded Corners 19">
            <a:extLst>
              <a:ext uri="{FF2B5EF4-FFF2-40B4-BE49-F238E27FC236}">
                <a16:creationId xmlns:a16="http://schemas.microsoft.com/office/drawing/2014/main" id="{80152800-EB7E-432C-816F-ACE9ACA5D140}"/>
              </a:ext>
            </a:extLst>
          </p:cNvPr>
          <p:cNvSpPr>
            <a:spLocks noGrp="1"/>
          </p:cNvSpPr>
          <p:nvPr/>
        </p:nvSpPr>
        <p:spPr>
          <a:xfrm>
            <a:off x="5219700" y="2743200"/>
            <a:ext cx="5638800" cy="1009650"/>
          </a:xfrm>
          <a:prstGeom prst="roundRect">
            <a:avLst>
              <a:gd name="adj" fmla="val 1132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52" name="Graphic 51"/>
          <p:cNvPicPr>
            <a:picLocks noChangeAspect="1"/>
          </p:cNvPicPr>
          <p:nvPr/>
        </p:nvPicPr>
        <p:blipFill>
          <a:blip>
            <a:extLst>
              <a:ext uri="{96DAC541-7B7A-43D3-8B79-37D633B846F1}">
                <asvg:svgBlip xmlns:asvg="http://schemas.microsoft.com/office/drawing/2016/SVG/main" r:embed="rId7"/>
              </a:ext>
            </a:extLst>
          </a:blip>
          <a:stretch/>
        </p:blipFill>
        <p:spPr>
          <a:xfrm>
            <a:off x="5448300" y="3009900"/>
            <a:ext cx="381000" cy="381000"/>
          </a:xfrm>
          <a:prstGeom prst="rect">
            <a:avLst/>
          </a:prstGeom>
        </p:spPr>
      </p:pic>
      <p:sp>
        <p:nvSpPr>
          <p:cNvPr id="22" name="Rectangle 21">
            <a:extLst>
              <a:ext uri="{FF2B5EF4-FFF2-40B4-BE49-F238E27FC236}">
                <a16:creationId xmlns:a16="http://schemas.microsoft.com/office/drawing/2014/main" id="{E9FBF2FE-E32C-4988-969B-CFA579070E54}"/>
              </a:ext>
            </a:extLst>
          </p:cNvPr>
          <p:cNvSpPr>
            <a:spLocks noGrp="1"/>
          </p:cNvSpPr>
          <p:nvPr/>
        </p:nvSpPr>
        <p:spPr>
          <a:xfrm>
            <a:off x="6019800" y="2860548"/>
            <a:ext cx="2095500" cy="228600"/>
          </a:xfrm>
          <a:prstGeom prst="rect">
            <a:avLst/>
          </a:prstGeom>
          <a:noFill/>
          <a:ln w="0">
            <a:noFill/>
            <a:prstDash val="solid"/>
          </a:ln>
        </p:spPr>
        <p:txBody>
          <a:bodyPr/>
          <a:lstStyle/>
          <a:p>
            <a:pPr algn="l">
              <a:defRPr sz="1350" b="1">
                <a:solidFill>
                  <a:srgbClr val="009999"/>
                </a:solidFill>
              </a:defRPr>
            </a:pPr>
            <a:r>
              <a:rPr sz="1350" b="1" dirty="0">
                <a:solidFill>
                  <a:srgbClr val="009999"/>
                </a:solidFill>
              </a:rPr>
              <a:t>Administrators</a:t>
            </a:r>
          </a:p>
        </p:txBody>
      </p:sp>
      <p:sp>
        <p:nvSpPr>
          <p:cNvPr id="23" name="Rectangle 22">
            <a:extLst>
              <a:ext uri="{FF2B5EF4-FFF2-40B4-BE49-F238E27FC236}">
                <a16:creationId xmlns:a16="http://schemas.microsoft.com/office/drawing/2014/main" id="{C22FF745-98A1-46AE-A1CC-E53D7427EF96}"/>
              </a:ext>
            </a:extLst>
          </p:cNvPr>
          <p:cNvSpPr>
            <a:spLocks noGrp="1"/>
          </p:cNvSpPr>
          <p:nvPr/>
        </p:nvSpPr>
        <p:spPr>
          <a:xfrm>
            <a:off x="6019800" y="3108960"/>
            <a:ext cx="4000500" cy="22860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Manage users and activity</a:t>
            </a:r>
          </a:p>
        </p:txBody>
      </p:sp>
      <p:sp>
        <p:nvSpPr>
          <p:cNvPr id="24" name="Rectangle 23">
            <a:extLst>
              <a:ext uri="{FF2B5EF4-FFF2-40B4-BE49-F238E27FC236}">
                <a16:creationId xmlns:a16="http://schemas.microsoft.com/office/drawing/2014/main" id="{06C5B25B-9E6D-4B75-A7F0-E86CA456B3FB}"/>
              </a:ext>
            </a:extLst>
          </p:cNvPr>
          <p:cNvSpPr>
            <a:spLocks noGrp="1"/>
          </p:cNvSpPr>
          <p:nvPr/>
        </p:nvSpPr>
        <p:spPr>
          <a:xfrm>
            <a:off x="6019800" y="3393948"/>
            <a:ext cx="4000500" cy="209550"/>
          </a:xfrm>
          <a:prstGeom prst="rect">
            <a:avLst/>
          </a:prstGeom>
          <a:noFill/>
          <a:ln w="0">
            <a:noFill/>
            <a:prstDash val="solid"/>
          </a:ln>
        </p:spPr>
        <p:txBody>
          <a:bodyPr/>
          <a:lstStyle/>
          <a:p>
            <a:pPr algn="l">
              <a:defRPr sz="1200" b="0">
                <a:solidFill>
                  <a:srgbClr val="5B6B78"/>
                </a:solidFill>
              </a:defRPr>
            </a:pPr>
            <a:r>
              <a:rPr sz="1200" b="0" dirty="0">
                <a:solidFill>
                  <a:srgbClr val="5B6B78"/>
                </a:solidFill>
              </a:rPr>
              <a:t>Secure and reliable platform</a:t>
            </a:r>
          </a:p>
        </p:txBody>
      </p:sp>
      <p:sp>
        <p:nvSpPr>
          <p:cNvPr id="25" name="Rectangle: Rounded Corners 24">
            <a:extLst>
              <a:ext uri="{FF2B5EF4-FFF2-40B4-BE49-F238E27FC236}">
                <a16:creationId xmlns:a16="http://schemas.microsoft.com/office/drawing/2014/main" id="{353A9395-4FBC-4A3D-B684-AC2E7877249C}"/>
              </a:ext>
            </a:extLst>
          </p:cNvPr>
          <p:cNvSpPr>
            <a:spLocks noGrp="1"/>
          </p:cNvSpPr>
          <p:nvPr/>
        </p:nvSpPr>
        <p:spPr>
          <a:xfrm>
            <a:off x="5219700" y="3962400"/>
            <a:ext cx="5638800" cy="1009650"/>
          </a:xfrm>
          <a:prstGeom prst="roundRect">
            <a:avLst>
              <a:gd name="adj" fmla="val 1132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57" name="Graphic 56"/>
          <p:cNvPicPr>
            <a:picLocks noChangeAspect="1"/>
          </p:cNvPicPr>
          <p:nvPr/>
        </p:nvPicPr>
        <p:blipFill>
          <a:blip>
            <a:extLst>
              <a:ext uri="{96DAC541-7B7A-43D3-8B79-37D633B846F1}">
                <asvg:svgBlip xmlns:asvg="http://schemas.microsoft.com/office/drawing/2016/SVG/main" r:embed="rId8"/>
              </a:ext>
            </a:extLst>
          </a:blip>
          <a:stretch/>
        </p:blipFill>
        <p:spPr>
          <a:xfrm>
            <a:off x="5448300" y="4229100"/>
            <a:ext cx="381000" cy="381000"/>
          </a:xfrm>
          <a:prstGeom prst="rect">
            <a:avLst/>
          </a:prstGeom>
        </p:spPr>
      </p:pic>
      <p:sp>
        <p:nvSpPr>
          <p:cNvPr id="27" name="Rectangle 26">
            <a:extLst>
              <a:ext uri="{FF2B5EF4-FFF2-40B4-BE49-F238E27FC236}">
                <a16:creationId xmlns:a16="http://schemas.microsoft.com/office/drawing/2014/main" id="{CE77BFD5-C954-4C9F-919A-2A7FB9942A66}"/>
              </a:ext>
            </a:extLst>
          </p:cNvPr>
          <p:cNvSpPr>
            <a:spLocks noGrp="1"/>
          </p:cNvSpPr>
          <p:nvPr/>
        </p:nvSpPr>
        <p:spPr>
          <a:xfrm>
            <a:off x="6019800" y="4079748"/>
            <a:ext cx="2095500" cy="228600"/>
          </a:xfrm>
          <a:prstGeom prst="rect">
            <a:avLst/>
          </a:prstGeom>
          <a:noFill/>
          <a:ln w="0">
            <a:noFill/>
            <a:prstDash val="solid"/>
          </a:ln>
        </p:spPr>
        <p:txBody>
          <a:bodyPr/>
          <a:lstStyle/>
          <a:p>
            <a:pPr algn="l">
              <a:defRPr sz="1350" b="1">
                <a:solidFill>
                  <a:srgbClr val="2CA58D"/>
                </a:solidFill>
              </a:defRPr>
            </a:pPr>
            <a:r>
              <a:rPr sz="1350" b="1" dirty="0">
                <a:solidFill>
                  <a:srgbClr val="2CA58D"/>
                </a:solidFill>
              </a:rPr>
              <a:t>Document owners</a:t>
            </a:r>
          </a:p>
        </p:txBody>
      </p:sp>
      <p:sp>
        <p:nvSpPr>
          <p:cNvPr id="28" name="Rectangle 27">
            <a:extLst>
              <a:ext uri="{FF2B5EF4-FFF2-40B4-BE49-F238E27FC236}">
                <a16:creationId xmlns:a16="http://schemas.microsoft.com/office/drawing/2014/main" id="{05E24E8B-EB6D-40A1-A5BD-E05DA784D06A}"/>
              </a:ext>
            </a:extLst>
          </p:cNvPr>
          <p:cNvSpPr>
            <a:spLocks noGrp="1"/>
          </p:cNvSpPr>
          <p:nvPr/>
        </p:nvSpPr>
        <p:spPr>
          <a:xfrm>
            <a:off x="6019800" y="4328160"/>
            <a:ext cx="4000500" cy="22860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Upload and monitor processing</a:t>
            </a:r>
          </a:p>
        </p:txBody>
      </p:sp>
      <p:sp>
        <p:nvSpPr>
          <p:cNvPr id="29" name="Rectangle 28">
            <a:extLst>
              <a:ext uri="{FF2B5EF4-FFF2-40B4-BE49-F238E27FC236}">
                <a16:creationId xmlns:a16="http://schemas.microsoft.com/office/drawing/2014/main" id="{1205B6EC-86EA-4BB8-9A6F-D5A0509CA9D0}"/>
              </a:ext>
            </a:extLst>
          </p:cNvPr>
          <p:cNvSpPr>
            <a:spLocks noGrp="1"/>
          </p:cNvSpPr>
          <p:nvPr/>
        </p:nvSpPr>
        <p:spPr>
          <a:xfrm>
            <a:off x="6019800" y="4613148"/>
            <a:ext cx="4000500" cy="209550"/>
          </a:xfrm>
          <a:prstGeom prst="rect">
            <a:avLst/>
          </a:prstGeom>
          <a:noFill/>
          <a:ln w="0">
            <a:noFill/>
            <a:prstDash val="solid"/>
          </a:ln>
        </p:spPr>
        <p:txBody>
          <a:bodyPr/>
          <a:lstStyle/>
          <a:p>
            <a:pPr algn="l">
              <a:defRPr sz="1200" b="0">
                <a:solidFill>
                  <a:srgbClr val="5B6B78"/>
                </a:solidFill>
              </a:defRPr>
            </a:pPr>
            <a:r>
              <a:rPr sz="1200" b="0" dirty="0">
                <a:solidFill>
                  <a:srgbClr val="5B6B78"/>
                </a:solidFill>
              </a:rPr>
              <a:t>Knowledge becomes searchable</a:t>
            </a:r>
          </a:p>
        </p:txBody>
      </p:sp>
      <p:sp>
        <p:nvSpPr>
          <p:cNvPr id="30" name="Rectangle 29">
            <a:extLst>
              <a:ext uri="{FF2B5EF4-FFF2-40B4-BE49-F238E27FC236}">
                <a16:creationId xmlns:a16="http://schemas.microsoft.com/office/drawing/2014/main" id="{3607C623-7EE8-41F1-A979-2A587D14FF5B}"/>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31" name="Rectangle 30">
            <a:extLst>
              <a:ext uri="{FF2B5EF4-FFF2-40B4-BE49-F238E27FC236}">
                <a16:creationId xmlns:a16="http://schemas.microsoft.com/office/drawing/2014/main" id="{832271AD-715F-412F-9814-FA426CDC9D79}"/>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05 / 11</a:t>
            </a:r>
          </a:p>
        </p:txBody>
      </p:sp>
      <p:pic>
        <p:nvPicPr>
          <p:cNvPr id="13" name="Picture 12">
            <a:extLst>
              <a:ext uri="{FF2B5EF4-FFF2-40B4-BE49-F238E27FC236}">
                <a16:creationId xmlns:a16="http://schemas.microsoft.com/office/drawing/2014/main" id="{01B06919-5820-9347-81ED-BF1C81A707C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210083497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0C3861-1F49-4FC9-BE8A-9DC49AA1781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288F3D13-21B0-4D00-B8A0-76F7B1674049}"/>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4</a:t>
            </a:r>
          </a:p>
        </p:txBody>
      </p:sp>
      <p:sp>
        <p:nvSpPr>
          <p:cNvPr id="3" name="Rectangle 2">
            <a:extLst>
              <a:ext uri="{FF2B5EF4-FFF2-40B4-BE49-F238E27FC236}">
                <a16:creationId xmlns:a16="http://schemas.microsoft.com/office/drawing/2014/main" id="{9D583CA0-0E71-42E7-9CE1-DD7CED507296}"/>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Requirements</a:t>
            </a:r>
          </a:p>
        </p:txBody>
      </p:sp>
      <p:sp>
        <p:nvSpPr>
          <p:cNvPr id="4" name="Rectangle: Rounded Corners 3">
            <a:extLst>
              <a:ext uri="{FF2B5EF4-FFF2-40B4-BE49-F238E27FC236}">
                <a16:creationId xmlns:a16="http://schemas.microsoft.com/office/drawing/2014/main" id="{A1D70934-87C0-40F7-B97E-F1AE16DF15ED}"/>
              </a:ext>
            </a:extLst>
          </p:cNvPr>
          <p:cNvSpPr>
            <a:spLocks noGrp="1"/>
          </p:cNvSpPr>
          <p:nvPr/>
        </p:nvSpPr>
        <p:spPr>
          <a:xfrm>
            <a:off x="781050" y="1466850"/>
            <a:ext cx="4953000" cy="3810000"/>
          </a:xfrm>
          <a:prstGeom prst="roundRect">
            <a:avLst>
              <a:gd name="adj" fmla="val 3000"/>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Rectangle: Rounded Corners 4">
            <a:extLst>
              <a:ext uri="{FF2B5EF4-FFF2-40B4-BE49-F238E27FC236}">
                <a16:creationId xmlns:a16="http://schemas.microsoft.com/office/drawing/2014/main" id="{C8A4DF39-FD07-454A-9964-7D20CA386D0A}"/>
              </a:ext>
            </a:extLst>
          </p:cNvPr>
          <p:cNvSpPr>
            <a:spLocks noGrp="1"/>
          </p:cNvSpPr>
          <p:nvPr/>
        </p:nvSpPr>
        <p:spPr>
          <a:xfrm>
            <a:off x="6457950" y="1466850"/>
            <a:ext cx="4953000" cy="3810000"/>
          </a:xfrm>
          <a:prstGeom prst="roundRect">
            <a:avLst>
              <a:gd name="adj" fmla="val 3000"/>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Rectangle 5">
            <a:extLst>
              <a:ext uri="{FF2B5EF4-FFF2-40B4-BE49-F238E27FC236}">
                <a16:creationId xmlns:a16="http://schemas.microsoft.com/office/drawing/2014/main" id="{44E9D034-9493-430D-A3F2-E24E434BF5E4}"/>
              </a:ext>
            </a:extLst>
          </p:cNvPr>
          <p:cNvSpPr>
            <a:spLocks noGrp="1"/>
          </p:cNvSpPr>
          <p:nvPr/>
        </p:nvSpPr>
        <p:spPr>
          <a:xfrm>
            <a:off x="1219200" y="1905000"/>
            <a:ext cx="2667000" cy="304800"/>
          </a:xfrm>
          <a:prstGeom prst="rect">
            <a:avLst/>
          </a:prstGeom>
          <a:noFill/>
          <a:ln w="0">
            <a:noFill/>
            <a:prstDash val="solid"/>
          </a:ln>
        </p:spPr>
        <p:txBody>
          <a:bodyPr/>
          <a:lstStyle/>
          <a:p>
            <a:pPr algn="l">
              <a:defRPr sz="2250" b="1">
                <a:solidFill>
                  <a:srgbClr val="083344"/>
                </a:solidFill>
              </a:defRPr>
            </a:pPr>
            <a:r>
              <a:rPr sz="2250" b="1">
                <a:solidFill>
                  <a:srgbClr val="083344"/>
                </a:solidFill>
              </a:rPr>
              <a:t>Functional</a:t>
            </a:r>
          </a:p>
        </p:txBody>
      </p:sp>
      <p:sp>
        <p:nvSpPr>
          <p:cNvPr id="7" name="Rectangle 6">
            <a:extLst>
              <a:ext uri="{FF2B5EF4-FFF2-40B4-BE49-F238E27FC236}">
                <a16:creationId xmlns:a16="http://schemas.microsoft.com/office/drawing/2014/main" id="{92F92EA1-F0E0-40AC-8A49-FADC15C481EA}"/>
              </a:ext>
            </a:extLst>
          </p:cNvPr>
          <p:cNvSpPr>
            <a:spLocks noGrp="1"/>
          </p:cNvSpPr>
          <p:nvPr/>
        </p:nvSpPr>
        <p:spPr>
          <a:xfrm>
            <a:off x="6896100" y="1905000"/>
            <a:ext cx="2857500" cy="304800"/>
          </a:xfrm>
          <a:prstGeom prst="rect">
            <a:avLst/>
          </a:prstGeom>
          <a:noFill/>
          <a:ln w="0">
            <a:noFill/>
            <a:prstDash val="solid"/>
          </a:ln>
        </p:spPr>
        <p:txBody>
          <a:bodyPr/>
          <a:lstStyle/>
          <a:p>
            <a:pPr algn="l">
              <a:defRPr sz="2250" b="1">
                <a:solidFill>
                  <a:srgbClr val="083344"/>
                </a:solidFill>
              </a:defRPr>
            </a:pPr>
            <a:r>
              <a:rPr sz="2250" b="1">
                <a:solidFill>
                  <a:srgbClr val="083344"/>
                </a:solidFill>
              </a:rPr>
              <a:t>Non-functional</a:t>
            </a:r>
          </a:p>
        </p:txBody>
      </p:sp>
      <p:sp>
        <p:nvSpPr>
          <p:cNvPr id="8" name="Rectangle: Rounded Corners 7">
            <a:extLst>
              <a:ext uri="{FF2B5EF4-FFF2-40B4-BE49-F238E27FC236}">
                <a16:creationId xmlns:a16="http://schemas.microsoft.com/office/drawing/2014/main" id="{2C8E0F43-4778-4BAB-8AC8-8D0C34FB02AD}"/>
              </a:ext>
            </a:extLst>
          </p:cNvPr>
          <p:cNvSpPr>
            <a:spLocks noGrp="1"/>
          </p:cNvSpPr>
          <p:nvPr/>
        </p:nvSpPr>
        <p:spPr>
          <a:xfrm>
            <a:off x="1219200" y="2533650"/>
            <a:ext cx="34290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2" name="Graphic 41"/>
          <p:cNvPicPr>
            <a:picLocks noChangeAspect="1"/>
          </p:cNvPicPr>
          <p:nvPr/>
        </p:nvPicPr>
        <p:blipFill>
          <a:blip>
            <a:extLst>
              <a:ext uri="{96DAC541-7B7A-43D3-8B79-37D633B846F1}">
                <asvg:svgBlip xmlns:asvg="http://schemas.microsoft.com/office/drawing/2016/SVG/main" r:embed="rId3"/>
              </a:ext>
            </a:extLst>
          </a:blip>
          <a:stretch/>
        </p:blipFill>
        <p:spPr>
          <a:xfrm>
            <a:off x="1371600" y="2647950"/>
            <a:ext cx="228600" cy="228600"/>
          </a:xfrm>
          <a:prstGeom prst="rect">
            <a:avLst/>
          </a:prstGeom>
        </p:spPr>
      </p:pic>
      <p:sp>
        <p:nvSpPr>
          <p:cNvPr id="10" name="Rectangle 9">
            <a:extLst>
              <a:ext uri="{FF2B5EF4-FFF2-40B4-BE49-F238E27FC236}">
                <a16:creationId xmlns:a16="http://schemas.microsoft.com/office/drawing/2014/main" id="{8EB9A52B-D158-4B32-A19B-DC909875BFD8}"/>
              </a:ext>
            </a:extLst>
          </p:cNvPr>
          <p:cNvSpPr>
            <a:spLocks noGrp="1"/>
          </p:cNvSpPr>
          <p:nvPr/>
        </p:nvSpPr>
        <p:spPr>
          <a:xfrm>
            <a:off x="1695450" y="2628900"/>
            <a:ext cx="2838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Secure login and roles</a:t>
            </a:r>
          </a:p>
        </p:txBody>
      </p:sp>
      <p:sp>
        <p:nvSpPr>
          <p:cNvPr id="11" name="Rectangle: Rounded Corners 10">
            <a:extLst>
              <a:ext uri="{FF2B5EF4-FFF2-40B4-BE49-F238E27FC236}">
                <a16:creationId xmlns:a16="http://schemas.microsoft.com/office/drawing/2014/main" id="{FF54D458-11EF-436B-A955-2DD37AB2DBFB}"/>
              </a:ext>
            </a:extLst>
          </p:cNvPr>
          <p:cNvSpPr>
            <a:spLocks noGrp="1"/>
          </p:cNvSpPr>
          <p:nvPr/>
        </p:nvSpPr>
        <p:spPr>
          <a:xfrm>
            <a:off x="1219200" y="3086100"/>
            <a:ext cx="34290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4"/>
              </a:ext>
            </a:extLst>
          </a:blip>
          <a:stretch/>
        </p:blipFill>
        <p:spPr>
          <a:xfrm>
            <a:off x="1371600" y="3200400"/>
            <a:ext cx="228600" cy="228600"/>
          </a:xfrm>
          <a:prstGeom prst="rect">
            <a:avLst/>
          </a:prstGeom>
        </p:spPr>
      </p:pic>
      <p:sp>
        <p:nvSpPr>
          <p:cNvPr id="13" name="Rectangle 12">
            <a:extLst>
              <a:ext uri="{FF2B5EF4-FFF2-40B4-BE49-F238E27FC236}">
                <a16:creationId xmlns:a16="http://schemas.microsoft.com/office/drawing/2014/main" id="{EE9FA30F-5CBA-4748-9010-0DA5866C2E30}"/>
              </a:ext>
            </a:extLst>
          </p:cNvPr>
          <p:cNvSpPr>
            <a:spLocks noGrp="1"/>
          </p:cNvSpPr>
          <p:nvPr/>
        </p:nvSpPr>
        <p:spPr>
          <a:xfrm>
            <a:off x="1695450" y="3181350"/>
            <a:ext cx="2838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Upload and process documents</a:t>
            </a:r>
          </a:p>
        </p:txBody>
      </p:sp>
      <p:sp>
        <p:nvSpPr>
          <p:cNvPr id="14" name="Rectangle: Rounded Corners 13">
            <a:extLst>
              <a:ext uri="{FF2B5EF4-FFF2-40B4-BE49-F238E27FC236}">
                <a16:creationId xmlns:a16="http://schemas.microsoft.com/office/drawing/2014/main" id="{87F45175-A985-461D-A78D-36B1366A0D6A}"/>
              </a:ext>
            </a:extLst>
          </p:cNvPr>
          <p:cNvSpPr>
            <a:spLocks noGrp="1"/>
          </p:cNvSpPr>
          <p:nvPr/>
        </p:nvSpPr>
        <p:spPr>
          <a:xfrm>
            <a:off x="1219200" y="3638550"/>
            <a:ext cx="34290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8" name="Graphic 47"/>
          <p:cNvPicPr>
            <a:picLocks noChangeAspect="1"/>
          </p:cNvPicPr>
          <p:nvPr/>
        </p:nvPicPr>
        <p:blipFill>
          <a:blip>
            <a:extLst>
              <a:ext uri="{96DAC541-7B7A-43D3-8B79-37D633B846F1}">
                <asvg:svgBlip xmlns:asvg="http://schemas.microsoft.com/office/drawing/2016/SVG/main" r:embed="rId5"/>
              </a:ext>
            </a:extLst>
          </a:blip>
          <a:stretch/>
        </p:blipFill>
        <p:spPr>
          <a:xfrm>
            <a:off x="1371600" y="3752850"/>
            <a:ext cx="228600" cy="228600"/>
          </a:xfrm>
          <a:prstGeom prst="rect">
            <a:avLst/>
          </a:prstGeom>
        </p:spPr>
      </p:pic>
      <p:sp>
        <p:nvSpPr>
          <p:cNvPr id="16" name="Rectangle 15">
            <a:extLst>
              <a:ext uri="{FF2B5EF4-FFF2-40B4-BE49-F238E27FC236}">
                <a16:creationId xmlns:a16="http://schemas.microsoft.com/office/drawing/2014/main" id="{34F6A1BD-7443-4A5A-AC3B-83A3E3679CB7}"/>
              </a:ext>
            </a:extLst>
          </p:cNvPr>
          <p:cNvSpPr>
            <a:spLocks noGrp="1"/>
          </p:cNvSpPr>
          <p:nvPr/>
        </p:nvSpPr>
        <p:spPr>
          <a:xfrm>
            <a:off x="1695450" y="3733800"/>
            <a:ext cx="2838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Semantic search conversations</a:t>
            </a:r>
          </a:p>
        </p:txBody>
      </p:sp>
      <p:sp>
        <p:nvSpPr>
          <p:cNvPr id="17" name="Rectangle: Rounded Corners 16">
            <a:extLst>
              <a:ext uri="{FF2B5EF4-FFF2-40B4-BE49-F238E27FC236}">
                <a16:creationId xmlns:a16="http://schemas.microsoft.com/office/drawing/2014/main" id="{6CF5D0F7-8F0B-4234-860F-29647AB49C24}"/>
              </a:ext>
            </a:extLst>
          </p:cNvPr>
          <p:cNvSpPr>
            <a:spLocks noGrp="1"/>
          </p:cNvSpPr>
          <p:nvPr/>
        </p:nvSpPr>
        <p:spPr>
          <a:xfrm>
            <a:off x="1219200" y="4191000"/>
            <a:ext cx="342900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1" name="Graphic 50"/>
          <p:cNvPicPr>
            <a:picLocks noChangeAspect="1"/>
          </p:cNvPicPr>
          <p:nvPr/>
        </p:nvPicPr>
        <p:blipFill>
          <a:blip>
            <a:extLst>
              <a:ext uri="{96DAC541-7B7A-43D3-8B79-37D633B846F1}">
                <asvg:svgBlip xmlns:asvg="http://schemas.microsoft.com/office/drawing/2016/SVG/main" r:embed="rId6"/>
              </a:ext>
            </a:extLst>
          </a:blip>
          <a:stretch/>
        </p:blipFill>
        <p:spPr>
          <a:xfrm>
            <a:off x="1371600" y="4305300"/>
            <a:ext cx="228600" cy="228600"/>
          </a:xfrm>
          <a:prstGeom prst="rect">
            <a:avLst/>
          </a:prstGeom>
        </p:spPr>
      </p:pic>
      <p:sp>
        <p:nvSpPr>
          <p:cNvPr id="19" name="Rectangle 18">
            <a:extLst>
              <a:ext uri="{FF2B5EF4-FFF2-40B4-BE49-F238E27FC236}">
                <a16:creationId xmlns:a16="http://schemas.microsoft.com/office/drawing/2014/main" id="{123804CE-42EA-43CF-BAB9-943ADD009373}"/>
              </a:ext>
            </a:extLst>
          </p:cNvPr>
          <p:cNvSpPr>
            <a:spLocks noGrp="1"/>
          </p:cNvSpPr>
          <p:nvPr/>
        </p:nvSpPr>
        <p:spPr>
          <a:xfrm>
            <a:off x="1695450" y="4286250"/>
            <a:ext cx="283845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References with generated responses</a:t>
            </a:r>
          </a:p>
        </p:txBody>
      </p:sp>
      <p:sp>
        <p:nvSpPr>
          <p:cNvPr id="20" name="Rectangle: Rounded Corners 19">
            <a:extLst>
              <a:ext uri="{FF2B5EF4-FFF2-40B4-BE49-F238E27FC236}">
                <a16:creationId xmlns:a16="http://schemas.microsoft.com/office/drawing/2014/main" id="{4FF443F0-64A8-4678-837C-8E6A760DE8F4}"/>
              </a:ext>
            </a:extLst>
          </p:cNvPr>
          <p:cNvSpPr>
            <a:spLocks noGrp="1"/>
          </p:cNvSpPr>
          <p:nvPr/>
        </p:nvSpPr>
        <p:spPr>
          <a:xfrm>
            <a:off x="6896100" y="253365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4" name="Graphic 53"/>
          <p:cNvPicPr>
            <a:picLocks noChangeAspect="1"/>
          </p:cNvPicPr>
          <p:nvPr/>
        </p:nvPicPr>
        <p:blipFill>
          <a:blip>
            <a:extLst>
              <a:ext uri="{96DAC541-7B7A-43D3-8B79-37D633B846F1}">
                <asvg:svgBlip xmlns:asvg="http://schemas.microsoft.com/office/drawing/2016/SVG/main" r:embed="rId7"/>
              </a:ext>
            </a:extLst>
          </a:blip>
          <a:stretch/>
        </p:blipFill>
        <p:spPr>
          <a:xfrm>
            <a:off x="7048500" y="2647950"/>
            <a:ext cx="228600" cy="228600"/>
          </a:xfrm>
          <a:prstGeom prst="rect">
            <a:avLst/>
          </a:prstGeom>
        </p:spPr>
      </p:pic>
      <p:sp>
        <p:nvSpPr>
          <p:cNvPr id="22" name="Rectangle 21">
            <a:extLst>
              <a:ext uri="{FF2B5EF4-FFF2-40B4-BE49-F238E27FC236}">
                <a16:creationId xmlns:a16="http://schemas.microsoft.com/office/drawing/2014/main" id="{6199A91B-EA3A-4C59-9CDE-712EC5A52640}"/>
              </a:ext>
            </a:extLst>
          </p:cNvPr>
          <p:cNvSpPr>
            <a:spLocks noGrp="1"/>
          </p:cNvSpPr>
          <p:nvPr/>
        </p:nvSpPr>
        <p:spPr>
          <a:xfrm>
            <a:off x="7372350" y="2628900"/>
            <a:ext cx="30480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Responsive asynchronous processing</a:t>
            </a:r>
          </a:p>
        </p:txBody>
      </p:sp>
      <p:sp>
        <p:nvSpPr>
          <p:cNvPr id="23" name="Rectangle: Rounded Corners 22">
            <a:extLst>
              <a:ext uri="{FF2B5EF4-FFF2-40B4-BE49-F238E27FC236}">
                <a16:creationId xmlns:a16="http://schemas.microsoft.com/office/drawing/2014/main" id="{F80EDBDC-FA1E-4A8B-A5F7-B459544D7A34}"/>
              </a:ext>
            </a:extLst>
          </p:cNvPr>
          <p:cNvSpPr>
            <a:spLocks noGrp="1"/>
          </p:cNvSpPr>
          <p:nvPr/>
        </p:nvSpPr>
        <p:spPr>
          <a:xfrm>
            <a:off x="6896100" y="308610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7" name="Graphic 56"/>
          <p:cNvPicPr>
            <a:picLocks noChangeAspect="1"/>
          </p:cNvPicPr>
          <p:nvPr/>
        </p:nvPicPr>
        <p:blipFill>
          <a:blip>
            <a:extLst>
              <a:ext uri="{96DAC541-7B7A-43D3-8B79-37D633B846F1}">
                <asvg:svgBlip xmlns:asvg="http://schemas.microsoft.com/office/drawing/2016/SVG/main" r:embed="rId8"/>
              </a:ext>
            </a:extLst>
          </a:blip>
          <a:stretch/>
        </p:blipFill>
        <p:spPr>
          <a:xfrm>
            <a:off x="7048500" y="3200400"/>
            <a:ext cx="228600" cy="228600"/>
          </a:xfrm>
          <a:prstGeom prst="rect">
            <a:avLst/>
          </a:prstGeom>
        </p:spPr>
      </p:pic>
      <p:sp>
        <p:nvSpPr>
          <p:cNvPr id="25" name="Rectangle 24">
            <a:extLst>
              <a:ext uri="{FF2B5EF4-FFF2-40B4-BE49-F238E27FC236}">
                <a16:creationId xmlns:a16="http://schemas.microsoft.com/office/drawing/2014/main" id="{B1429158-6657-4913-92B6-B7431289927C}"/>
              </a:ext>
            </a:extLst>
          </p:cNvPr>
          <p:cNvSpPr>
            <a:spLocks noGrp="1"/>
          </p:cNvSpPr>
          <p:nvPr/>
        </p:nvSpPr>
        <p:spPr>
          <a:xfrm>
            <a:off x="7372350" y="3181350"/>
            <a:ext cx="30480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Scalable modular architecture</a:t>
            </a:r>
          </a:p>
        </p:txBody>
      </p:sp>
      <p:sp>
        <p:nvSpPr>
          <p:cNvPr id="26" name="Rectangle: Rounded Corners 25">
            <a:extLst>
              <a:ext uri="{FF2B5EF4-FFF2-40B4-BE49-F238E27FC236}">
                <a16:creationId xmlns:a16="http://schemas.microsoft.com/office/drawing/2014/main" id="{7DED2F81-CF6A-45C2-A693-6311D51829D1}"/>
              </a:ext>
            </a:extLst>
          </p:cNvPr>
          <p:cNvSpPr>
            <a:spLocks noGrp="1"/>
          </p:cNvSpPr>
          <p:nvPr/>
        </p:nvSpPr>
        <p:spPr>
          <a:xfrm>
            <a:off x="6896100" y="363855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0" name="Graphic 59"/>
          <p:cNvPicPr>
            <a:picLocks noChangeAspect="1"/>
          </p:cNvPicPr>
          <p:nvPr/>
        </p:nvPicPr>
        <p:blipFill>
          <a:blip>
            <a:extLst>
              <a:ext uri="{96DAC541-7B7A-43D3-8B79-37D633B846F1}">
                <asvg:svgBlip xmlns:asvg="http://schemas.microsoft.com/office/drawing/2016/SVG/main" r:embed="rId9"/>
              </a:ext>
            </a:extLst>
          </a:blip>
          <a:stretch/>
        </p:blipFill>
        <p:spPr>
          <a:xfrm>
            <a:off x="7048500" y="3752850"/>
            <a:ext cx="228600" cy="228600"/>
          </a:xfrm>
          <a:prstGeom prst="rect">
            <a:avLst/>
          </a:prstGeom>
        </p:spPr>
      </p:pic>
      <p:sp>
        <p:nvSpPr>
          <p:cNvPr id="28" name="Rectangle 27">
            <a:extLst>
              <a:ext uri="{FF2B5EF4-FFF2-40B4-BE49-F238E27FC236}">
                <a16:creationId xmlns:a16="http://schemas.microsoft.com/office/drawing/2014/main" id="{449D1D83-4703-4DB2-89BB-9BDB6B372F75}"/>
              </a:ext>
            </a:extLst>
          </p:cNvPr>
          <p:cNvSpPr>
            <a:spLocks noGrp="1"/>
          </p:cNvSpPr>
          <p:nvPr/>
        </p:nvSpPr>
        <p:spPr>
          <a:xfrm>
            <a:off x="7372350" y="3733800"/>
            <a:ext cx="30480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Data isolation and reliability</a:t>
            </a:r>
          </a:p>
        </p:txBody>
      </p:sp>
      <p:sp>
        <p:nvSpPr>
          <p:cNvPr id="29" name="Rectangle: Rounded Corners 28">
            <a:extLst>
              <a:ext uri="{FF2B5EF4-FFF2-40B4-BE49-F238E27FC236}">
                <a16:creationId xmlns:a16="http://schemas.microsoft.com/office/drawing/2014/main" id="{1B5E3E0F-9E7C-407D-B14A-CF8D96A781B1}"/>
              </a:ext>
            </a:extLst>
          </p:cNvPr>
          <p:cNvSpPr>
            <a:spLocks noGrp="1"/>
          </p:cNvSpPr>
          <p:nvPr/>
        </p:nvSpPr>
        <p:spPr>
          <a:xfrm>
            <a:off x="6896100" y="4191000"/>
            <a:ext cx="36385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63" name="Graphic 62"/>
          <p:cNvPicPr>
            <a:picLocks noChangeAspect="1"/>
          </p:cNvPicPr>
          <p:nvPr/>
        </p:nvPicPr>
        <p:blipFill>
          <a:blip>
            <a:extLst>
              <a:ext uri="{96DAC541-7B7A-43D3-8B79-37D633B846F1}">
                <asvg:svgBlip xmlns:asvg="http://schemas.microsoft.com/office/drawing/2016/SVG/main" r:embed="rId10"/>
              </a:ext>
            </a:extLst>
          </a:blip>
          <a:stretch/>
        </p:blipFill>
        <p:spPr>
          <a:xfrm>
            <a:off x="7048500" y="4305300"/>
            <a:ext cx="228600" cy="228600"/>
          </a:xfrm>
          <a:prstGeom prst="rect">
            <a:avLst/>
          </a:prstGeom>
        </p:spPr>
      </p:pic>
      <p:sp>
        <p:nvSpPr>
          <p:cNvPr id="31" name="Rectangle 30">
            <a:extLst>
              <a:ext uri="{FF2B5EF4-FFF2-40B4-BE49-F238E27FC236}">
                <a16:creationId xmlns:a16="http://schemas.microsoft.com/office/drawing/2014/main" id="{47DE74D8-B875-4264-9943-A4ECFDD6923A}"/>
              </a:ext>
            </a:extLst>
          </p:cNvPr>
          <p:cNvSpPr>
            <a:spLocks noGrp="1"/>
          </p:cNvSpPr>
          <p:nvPr/>
        </p:nvSpPr>
        <p:spPr>
          <a:xfrm>
            <a:off x="7372350" y="4286250"/>
            <a:ext cx="30480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Maintainable documented design</a:t>
            </a:r>
          </a:p>
        </p:txBody>
      </p:sp>
      <p:sp>
        <p:nvSpPr>
          <p:cNvPr id="32" name="Rectangle 31">
            <a:extLst>
              <a:ext uri="{FF2B5EF4-FFF2-40B4-BE49-F238E27FC236}">
                <a16:creationId xmlns:a16="http://schemas.microsoft.com/office/drawing/2014/main" id="{884FDB43-7AA5-4000-9B37-45239601D72F}"/>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33" name="Rectangle 32">
            <a:extLst>
              <a:ext uri="{FF2B5EF4-FFF2-40B4-BE49-F238E27FC236}">
                <a16:creationId xmlns:a16="http://schemas.microsoft.com/office/drawing/2014/main" id="{35992B2C-722F-46D8-94B4-705311379FBD}"/>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06 / 11</a:t>
            </a:r>
          </a:p>
        </p:txBody>
      </p:sp>
      <p:pic>
        <p:nvPicPr>
          <p:cNvPr id="15" name="Picture 14">
            <a:extLst>
              <a:ext uri="{FF2B5EF4-FFF2-40B4-BE49-F238E27FC236}">
                <a16:creationId xmlns:a16="http://schemas.microsoft.com/office/drawing/2014/main" id="{E511BC07-302E-2A6B-29EF-10DC95CDACE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3449625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63CF1E-E4E2-4485-8C79-20EDC4CFB352}"/>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F4DA0906-0D9E-48D9-8414-79242D4CAD80}"/>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5</a:t>
            </a:r>
          </a:p>
        </p:txBody>
      </p:sp>
      <p:sp>
        <p:nvSpPr>
          <p:cNvPr id="3" name="Rectangle 2">
            <a:extLst>
              <a:ext uri="{FF2B5EF4-FFF2-40B4-BE49-F238E27FC236}">
                <a16:creationId xmlns:a16="http://schemas.microsoft.com/office/drawing/2014/main" id="{5A17D017-3DFE-4731-8414-8AA9748E1F28}"/>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System Architecture</a:t>
            </a:r>
          </a:p>
        </p:txBody>
      </p:sp>
      <p:sp>
        <p:nvSpPr>
          <p:cNvPr id="4" name="Rectangle: Rounded Corners 3">
            <a:extLst>
              <a:ext uri="{FF2B5EF4-FFF2-40B4-BE49-F238E27FC236}">
                <a16:creationId xmlns:a16="http://schemas.microsoft.com/office/drawing/2014/main" id="{C13510B5-EE12-45F0-AFDD-657F2AB5E316}"/>
              </a:ext>
            </a:extLst>
          </p:cNvPr>
          <p:cNvSpPr>
            <a:spLocks noGrp="1"/>
          </p:cNvSpPr>
          <p:nvPr/>
        </p:nvSpPr>
        <p:spPr>
          <a:xfrm>
            <a:off x="895350" y="1314450"/>
            <a:ext cx="4095750" cy="4800600"/>
          </a:xfrm>
          <a:prstGeom prst="roundRect">
            <a:avLst>
              <a:gd name="adj" fmla="val 2791"/>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2" name="Picture 31"/>
          <p:cNvPicPr>
            <a:picLocks noChangeAspect="1"/>
          </p:cNvPicPr>
          <p:nvPr/>
        </p:nvPicPr>
        <p:blipFill>
          <a:blip r:embed="rId3"/>
          <a:stretch/>
        </p:blipFill>
        <p:spPr>
          <a:xfrm>
            <a:off x="1433680" y="1485900"/>
            <a:ext cx="3019090" cy="4457700"/>
          </a:xfrm>
          <a:prstGeom prst="roundRect">
            <a:avLst>
              <a:gd name="adj" fmla="val 2030"/>
            </a:avLst>
          </a:prstGeom>
        </p:spPr>
      </p:pic>
      <p:sp>
        <p:nvSpPr>
          <p:cNvPr id="6" name="Rectangle: Rounded Corners 5">
            <a:extLst>
              <a:ext uri="{FF2B5EF4-FFF2-40B4-BE49-F238E27FC236}">
                <a16:creationId xmlns:a16="http://schemas.microsoft.com/office/drawing/2014/main" id="{3B9E8FC8-9E72-4842-9034-C6F9C1927F2D}"/>
              </a:ext>
            </a:extLst>
          </p:cNvPr>
          <p:cNvSpPr>
            <a:spLocks noGrp="1"/>
          </p:cNvSpPr>
          <p:nvPr/>
        </p:nvSpPr>
        <p:spPr>
          <a:xfrm>
            <a:off x="5619750" y="1390650"/>
            <a:ext cx="53340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Oval 6">
            <a:extLst>
              <a:ext uri="{FF2B5EF4-FFF2-40B4-BE49-F238E27FC236}">
                <a16:creationId xmlns:a16="http://schemas.microsoft.com/office/drawing/2014/main" id="{71A7EB81-793F-4042-98B4-C0946AE92603}"/>
              </a:ext>
            </a:extLst>
          </p:cNvPr>
          <p:cNvSpPr>
            <a:spLocks noGrp="1"/>
          </p:cNvSpPr>
          <p:nvPr/>
        </p:nvSpPr>
        <p:spPr>
          <a:xfrm>
            <a:off x="5829300" y="1619250"/>
            <a:ext cx="495300" cy="495300"/>
          </a:xfrm>
          <a:prstGeom prst="ellipse">
            <a:avLst/>
          </a:prstGeom>
          <a:solidFill>
            <a:srgbClr val="EAF7FB"/>
          </a:solidFill>
          <a:ln w="0">
            <a:solidFill>
              <a:srgbClr val="EAF7FB"/>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4"/>
              </a:ext>
            </a:extLst>
          </a:blip>
          <a:stretch/>
        </p:blipFill>
        <p:spPr>
          <a:xfrm>
            <a:off x="5953125" y="1743075"/>
            <a:ext cx="247650" cy="247650"/>
          </a:xfrm>
          <a:prstGeom prst="rect">
            <a:avLst/>
          </a:prstGeom>
        </p:spPr>
      </p:pic>
      <p:sp>
        <p:nvSpPr>
          <p:cNvPr id="9" name="Rectangle 8">
            <a:extLst>
              <a:ext uri="{FF2B5EF4-FFF2-40B4-BE49-F238E27FC236}">
                <a16:creationId xmlns:a16="http://schemas.microsoft.com/office/drawing/2014/main" id="{4A116418-3E48-48C9-8FF0-3CEE97630E21}"/>
              </a:ext>
            </a:extLst>
          </p:cNvPr>
          <p:cNvSpPr>
            <a:spLocks noGrp="1"/>
          </p:cNvSpPr>
          <p:nvPr/>
        </p:nvSpPr>
        <p:spPr>
          <a:xfrm>
            <a:off x="6515100" y="1582674"/>
            <a:ext cx="4229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Web interface</a:t>
            </a:r>
          </a:p>
        </p:txBody>
      </p:sp>
      <p:sp>
        <p:nvSpPr>
          <p:cNvPr id="10" name="Rectangle 9">
            <a:extLst>
              <a:ext uri="{FF2B5EF4-FFF2-40B4-BE49-F238E27FC236}">
                <a16:creationId xmlns:a16="http://schemas.microsoft.com/office/drawing/2014/main" id="{E9C071ED-B86B-4D7A-8279-89BF68FCF47E}"/>
              </a:ext>
            </a:extLst>
          </p:cNvPr>
          <p:cNvSpPr>
            <a:spLocks noGrp="1"/>
          </p:cNvSpPr>
          <p:nvPr/>
        </p:nvSpPr>
        <p:spPr>
          <a:xfrm>
            <a:off x="6515100" y="1861185"/>
            <a:ext cx="4229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Blade and JavaScript</a:t>
            </a:r>
          </a:p>
        </p:txBody>
      </p:sp>
      <p:sp>
        <p:nvSpPr>
          <p:cNvPr id="11" name="Rectangle: Rounded Corners 10">
            <a:extLst>
              <a:ext uri="{FF2B5EF4-FFF2-40B4-BE49-F238E27FC236}">
                <a16:creationId xmlns:a16="http://schemas.microsoft.com/office/drawing/2014/main" id="{20A60934-387B-447E-A0CF-4D65978F4863}"/>
              </a:ext>
            </a:extLst>
          </p:cNvPr>
          <p:cNvSpPr>
            <a:spLocks noGrp="1"/>
          </p:cNvSpPr>
          <p:nvPr/>
        </p:nvSpPr>
        <p:spPr>
          <a:xfrm>
            <a:off x="5619750" y="2495550"/>
            <a:ext cx="53340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Oval 11">
            <a:extLst>
              <a:ext uri="{FF2B5EF4-FFF2-40B4-BE49-F238E27FC236}">
                <a16:creationId xmlns:a16="http://schemas.microsoft.com/office/drawing/2014/main" id="{9021696A-5F63-4128-B70B-4ED565C5BDDF}"/>
              </a:ext>
            </a:extLst>
          </p:cNvPr>
          <p:cNvSpPr>
            <a:spLocks noGrp="1"/>
          </p:cNvSpPr>
          <p:nvPr/>
        </p:nvSpPr>
        <p:spPr>
          <a:xfrm>
            <a:off x="5829300" y="2724150"/>
            <a:ext cx="495300" cy="495300"/>
          </a:xfrm>
          <a:prstGeom prst="ellipse">
            <a:avLst/>
          </a:prstGeom>
          <a:solidFill>
            <a:srgbClr val="EAF7FB"/>
          </a:solidFill>
          <a:ln w="0">
            <a:solidFill>
              <a:srgbClr val="EAF7FB"/>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5"/>
              </a:ext>
            </a:extLst>
          </a:blip>
          <a:stretch/>
        </p:blipFill>
        <p:spPr>
          <a:xfrm>
            <a:off x="5953125" y="2847975"/>
            <a:ext cx="247650" cy="247650"/>
          </a:xfrm>
          <a:prstGeom prst="rect">
            <a:avLst/>
          </a:prstGeom>
        </p:spPr>
      </p:pic>
      <p:sp>
        <p:nvSpPr>
          <p:cNvPr id="14" name="Rectangle 13">
            <a:extLst>
              <a:ext uri="{FF2B5EF4-FFF2-40B4-BE49-F238E27FC236}">
                <a16:creationId xmlns:a16="http://schemas.microsoft.com/office/drawing/2014/main" id="{A1AACCBD-EFCC-4F7B-962F-7991CF2ED3A2}"/>
              </a:ext>
            </a:extLst>
          </p:cNvPr>
          <p:cNvSpPr>
            <a:spLocks noGrp="1"/>
          </p:cNvSpPr>
          <p:nvPr/>
        </p:nvSpPr>
        <p:spPr>
          <a:xfrm>
            <a:off x="6515100" y="2687574"/>
            <a:ext cx="4229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Processing pipeline</a:t>
            </a:r>
          </a:p>
        </p:txBody>
      </p:sp>
      <p:sp>
        <p:nvSpPr>
          <p:cNvPr id="15" name="Rectangle 14">
            <a:extLst>
              <a:ext uri="{FF2B5EF4-FFF2-40B4-BE49-F238E27FC236}">
                <a16:creationId xmlns:a16="http://schemas.microsoft.com/office/drawing/2014/main" id="{E6F19451-0F03-4B58-94EA-54183FA9D374}"/>
              </a:ext>
            </a:extLst>
          </p:cNvPr>
          <p:cNvSpPr>
            <a:spLocks noGrp="1"/>
          </p:cNvSpPr>
          <p:nvPr/>
        </p:nvSpPr>
        <p:spPr>
          <a:xfrm>
            <a:off x="6515100" y="2966085"/>
            <a:ext cx="4229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OCR and text extraction</a:t>
            </a:r>
          </a:p>
        </p:txBody>
      </p:sp>
      <p:sp>
        <p:nvSpPr>
          <p:cNvPr id="16" name="Rectangle: Rounded Corners 15">
            <a:extLst>
              <a:ext uri="{FF2B5EF4-FFF2-40B4-BE49-F238E27FC236}">
                <a16:creationId xmlns:a16="http://schemas.microsoft.com/office/drawing/2014/main" id="{2B2A3434-83F1-4B22-9102-0E42B23C16A1}"/>
              </a:ext>
            </a:extLst>
          </p:cNvPr>
          <p:cNvSpPr>
            <a:spLocks noGrp="1"/>
          </p:cNvSpPr>
          <p:nvPr/>
        </p:nvSpPr>
        <p:spPr>
          <a:xfrm>
            <a:off x="5619750" y="3600450"/>
            <a:ext cx="53340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Oval 16">
            <a:extLst>
              <a:ext uri="{FF2B5EF4-FFF2-40B4-BE49-F238E27FC236}">
                <a16:creationId xmlns:a16="http://schemas.microsoft.com/office/drawing/2014/main" id="{BEF28F4C-8209-4CFD-9BBA-DAAAC25C3476}"/>
              </a:ext>
            </a:extLst>
          </p:cNvPr>
          <p:cNvSpPr>
            <a:spLocks noGrp="1"/>
          </p:cNvSpPr>
          <p:nvPr/>
        </p:nvSpPr>
        <p:spPr>
          <a:xfrm>
            <a:off x="5829300" y="3829050"/>
            <a:ext cx="495300" cy="495300"/>
          </a:xfrm>
          <a:prstGeom prst="ellipse">
            <a:avLst/>
          </a:prstGeom>
          <a:solidFill>
            <a:srgbClr val="EAF7FB"/>
          </a:solidFill>
          <a:ln w="0">
            <a:solidFill>
              <a:srgbClr val="EAF7FB"/>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6"/>
              </a:ext>
            </a:extLst>
          </a:blip>
          <a:stretch/>
        </p:blipFill>
        <p:spPr>
          <a:xfrm>
            <a:off x="5953125" y="3952875"/>
            <a:ext cx="247650" cy="247650"/>
          </a:xfrm>
          <a:prstGeom prst="rect">
            <a:avLst/>
          </a:prstGeom>
        </p:spPr>
      </p:pic>
      <p:sp>
        <p:nvSpPr>
          <p:cNvPr id="19" name="Rectangle 18">
            <a:extLst>
              <a:ext uri="{FF2B5EF4-FFF2-40B4-BE49-F238E27FC236}">
                <a16:creationId xmlns:a16="http://schemas.microsoft.com/office/drawing/2014/main" id="{78DF24FD-038A-46DF-8E14-1B964CC08A51}"/>
              </a:ext>
            </a:extLst>
          </p:cNvPr>
          <p:cNvSpPr>
            <a:spLocks noGrp="1"/>
          </p:cNvSpPr>
          <p:nvPr/>
        </p:nvSpPr>
        <p:spPr>
          <a:xfrm>
            <a:off x="6515100" y="3792474"/>
            <a:ext cx="4229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Vector storage</a:t>
            </a:r>
          </a:p>
        </p:txBody>
      </p:sp>
      <p:sp>
        <p:nvSpPr>
          <p:cNvPr id="20" name="Rectangle 19">
            <a:extLst>
              <a:ext uri="{FF2B5EF4-FFF2-40B4-BE49-F238E27FC236}">
                <a16:creationId xmlns:a16="http://schemas.microsoft.com/office/drawing/2014/main" id="{FC8CAE58-9CED-41BC-BE54-5B454F0B4F05}"/>
              </a:ext>
            </a:extLst>
          </p:cNvPr>
          <p:cNvSpPr>
            <a:spLocks noGrp="1"/>
          </p:cNvSpPr>
          <p:nvPr/>
        </p:nvSpPr>
        <p:spPr>
          <a:xfrm>
            <a:off x="6515100" y="4070985"/>
            <a:ext cx="4229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PostgreSQL with vectors</a:t>
            </a:r>
          </a:p>
        </p:txBody>
      </p:sp>
      <p:sp>
        <p:nvSpPr>
          <p:cNvPr id="21" name="Rectangle: Rounded Corners 20">
            <a:extLst>
              <a:ext uri="{FF2B5EF4-FFF2-40B4-BE49-F238E27FC236}">
                <a16:creationId xmlns:a16="http://schemas.microsoft.com/office/drawing/2014/main" id="{EB50800F-8704-4749-BFD3-B2CAFAAA2FC5}"/>
              </a:ext>
            </a:extLst>
          </p:cNvPr>
          <p:cNvSpPr>
            <a:spLocks noGrp="1"/>
          </p:cNvSpPr>
          <p:nvPr/>
        </p:nvSpPr>
        <p:spPr>
          <a:xfrm>
            <a:off x="5619750" y="4705350"/>
            <a:ext cx="5334000" cy="857250"/>
          </a:xfrm>
          <a:prstGeom prst="roundRect">
            <a:avLst>
              <a:gd name="adj" fmla="val 13333"/>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Oval 21">
            <a:extLst>
              <a:ext uri="{FF2B5EF4-FFF2-40B4-BE49-F238E27FC236}">
                <a16:creationId xmlns:a16="http://schemas.microsoft.com/office/drawing/2014/main" id="{49308DDA-4998-430E-A04E-A42C2336522A}"/>
              </a:ext>
            </a:extLst>
          </p:cNvPr>
          <p:cNvSpPr>
            <a:spLocks noGrp="1"/>
          </p:cNvSpPr>
          <p:nvPr/>
        </p:nvSpPr>
        <p:spPr>
          <a:xfrm>
            <a:off x="5829300" y="4933950"/>
            <a:ext cx="495300" cy="495300"/>
          </a:xfrm>
          <a:prstGeom prst="ellipse">
            <a:avLst/>
          </a:prstGeom>
          <a:solidFill>
            <a:srgbClr val="EAF7FB"/>
          </a:solidFill>
          <a:ln w="0">
            <a:solidFill>
              <a:srgbClr val="EAF7FB"/>
            </a:solidFill>
            <a:prstDash val="solid"/>
          </a:ln>
        </p:spPr>
        <p:txBody>
          <a:bodyPr/>
          <a:lstStyle/>
          <a:p>
            <a:endParaRPr lang="en-US"/>
          </a:p>
        </p:txBody>
      </p:sp>
      <p:pic>
        <p:nvPicPr>
          <p:cNvPr id="50" name="Graphic 49"/>
          <p:cNvPicPr>
            <a:picLocks noChangeAspect="1"/>
          </p:cNvPicPr>
          <p:nvPr/>
        </p:nvPicPr>
        <p:blipFill>
          <a:blip>
            <a:extLst>
              <a:ext uri="{96DAC541-7B7A-43D3-8B79-37D633B846F1}">
                <asvg:svgBlip xmlns:asvg="http://schemas.microsoft.com/office/drawing/2016/SVG/main" r:embed="rId7"/>
              </a:ext>
            </a:extLst>
          </a:blip>
          <a:stretch/>
        </p:blipFill>
        <p:spPr>
          <a:xfrm>
            <a:off x="5953125" y="5057775"/>
            <a:ext cx="247650" cy="247650"/>
          </a:xfrm>
          <a:prstGeom prst="rect">
            <a:avLst/>
          </a:prstGeom>
        </p:spPr>
      </p:pic>
      <p:sp>
        <p:nvSpPr>
          <p:cNvPr id="24" name="Rectangle 23">
            <a:extLst>
              <a:ext uri="{FF2B5EF4-FFF2-40B4-BE49-F238E27FC236}">
                <a16:creationId xmlns:a16="http://schemas.microsoft.com/office/drawing/2014/main" id="{561FE523-0B4B-458E-9EEA-DCF3F99E4239}"/>
              </a:ext>
            </a:extLst>
          </p:cNvPr>
          <p:cNvSpPr>
            <a:spLocks noGrp="1"/>
          </p:cNvSpPr>
          <p:nvPr/>
        </p:nvSpPr>
        <p:spPr>
          <a:xfrm>
            <a:off x="6515100" y="4897374"/>
            <a:ext cx="4229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Grounded response</a:t>
            </a:r>
          </a:p>
        </p:txBody>
      </p:sp>
      <p:sp>
        <p:nvSpPr>
          <p:cNvPr id="25" name="Rectangle 24">
            <a:extLst>
              <a:ext uri="{FF2B5EF4-FFF2-40B4-BE49-F238E27FC236}">
                <a16:creationId xmlns:a16="http://schemas.microsoft.com/office/drawing/2014/main" id="{06BFD001-EA40-4CD0-A94D-87E0D2F14B2D}"/>
              </a:ext>
            </a:extLst>
          </p:cNvPr>
          <p:cNvSpPr>
            <a:spLocks noGrp="1"/>
          </p:cNvSpPr>
          <p:nvPr/>
        </p:nvSpPr>
        <p:spPr>
          <a:xfrm>
            <a:off x="6515100" y="5175885"/>
            <a:ext cx="4229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Language model with context</a:t>
            </a:r>
          </a:p>
        </p:txBody>
      </p:sp>
      <p:sp>
        <p:nvSpPr>
          <p:cNvPr id="26" name="Rectangle 25">
            <a:extLst>
              <a:ext uri="{FF2B5EF4-FFF2-40B4-BE49-F238E27FC236}">
                <a16:creationId xmlns:a16="http://schemas.microsoft.com/office/drawing/2014/main" id="{60A73582-41F0-42F5-AAE6-72590553BBF0}"/>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27" name="Rectangle 26">
            <a:extLst>
              <a:ext uri="{FF2B5EF4-FFF2-40B4-BE49-F238E27FC236}">
                <a16:creationId xmlns:a16="http://schemas.microsoft.com/office/drawing/2014/main" id="{F47FB947-E855-4C00-953A-D3F5A61EFF31}"/>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07 / 11</a:t>
            </a:r>
          </a:p>
        </p:txBody>
      </p:sp>
      <p:pic>
        <p:nvPicPr>
          <p:cNvPr id="13" name="Picture 12">
            <a:extLst>
              <a:ext uri="{FF2B5EF4-FFF2-40B4-BE49-F238E27FC236}">
                <a16:creationId xmlns:a16="http://schemas.microsoft.com/office/drawing/2014/main" id="{38E7800E-04CF-5890-FD16-40E11B2EA8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630153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F6F53B-8F8F-4EDF-917B-5444BA2CE9DC}"/>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6361593D-1228-4539-8877-4FB3DE40F6CF}"/>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6</a:t>
            </a:r>
          </a:p>
        </p:txBody>
      </p:sp>
      <p:sp>
        <p:nvSpPr>
          <p:cNvPr id="3" name="Rectangle 2">
            <a:extLst>
              <a:ext uri="{FF2B5EF4-FFF2-40B4-BE49-F238E27FC236}">
                <a16:creationId xmlns:a16="http://schemas.microsoft.com/office/drawing/2014/main" id="{272CAA50-9266-46C8-9E62-08487D9A6C1A}"/>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Structure and Models</a:t>
            </a:r>
          </a:p>
        </p:txBody>
      </p:sp>
      <p:sp>
        <p:nvSpPr>
          <p:cNvPr id="4" name="Rectangle: Rounded Corners 3">
            <a:extLst>
              <a:ext uri="{FF2B5EF4-FFF2-40B4-BE49-F238E27FC236}">
                <a16:creationId xmlns:a16="http://schemas.microsoft.com/office/drawing/2014/main" id="{25D078D6-6948-468A-823F-75DC3A0EDBF5}"/>
              </a:ext>
            </a:extLst>
          </p:cNvPr>
          <p:cNvSpPr>
            <a:spLocks noGrp="1"/>
          </p:cNvSpPr>
          <p:nvPr/>
        </p:nvSpPr>
        <p:spPr>
          <a:xfrm>
            <a:off x="666750" y="1352550"/>
            <a:ext cx="4953000" cy="3143250"/>
          </a:xfrm>
          <a:prstGeom prst="roundRect">
            <a:avLst>
              <a:gd name="adj" fmla="val 3636"/>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1" name="Picture 30"/>
          <p:cNvPicPr>
            <a:picLocks noChangeAspect="1"/>
          </p:cNvPicPr>
          <p:nvPr/>
        </p:nvPicPr>
        <p:blipFill>
          <a:blip r:embed="rId3"/>
          <a:stretch/>
        </p:blipFill>
        <p:spPr>
          <a:xfrm>
            <a:off x="1071900" y="1524000"/>
            <a:ext cx="4142701" cy="2800350"/>
          </a:xfrm>
          <a:prstGeom prst="roundRect">
            <a:avLst>
              <a:gd name="adj" fmla="val 2721"/>
            </a:avLst>
          </a:prstGeom>
        </p:spPr>
      </p:pic>
      <p:sp>
        <p:nvSpPr>
          <p:cNvPr id="6" name="Rectangle: Rounded Corners 5">
            <a:extLst>
              <a:ext uri="{FF2B5EF4-FFF2-40B4-BE49-F238E27FC236}">
                <a16:creationId xmlns:a16="http://schemas.microsoft.com/office/drawing/2014/main" id="{AAE589E3-A2DB-4AD0-8F7A-0F2A7C3D44CA}"/>
              </a:ext>
            </a:extLst>
          </p:cNvPr>
          <p:cNvSpPr>
            <a:spLocks noGrp="1"/>
          </p:cNvSpPr>
          <p:nvPr/>
        </p:nvSpPr>
        <p:spPr>
          <a:xfrm>
            <a:off x="6210300" y="1352550"/>
            <a:ext cx="5334000" cy="3143250"/>
          </a:xfrm>
          <a:prstGeom prst="roundRect">
            <a:avLst>
              <a:gd name="adj" fmla="val 3636"/>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33" name="Picture 32"/>
          <p:cNvPicPr>
            <a:picLocks noChangeAspect="1"/>
          </p:cNvPicPr>
          <p:nvPr/>
        </p:nvPicPr>
        <p:blipFill>
          <a:blip r:embed="rId4"/>
          <a:stretch/>
        </p:blipFill>
        <p:spPr>
          <a:xfrm>
            <a:off x="6655187" y="1524000"/>
            <a:ext cx="4444226" cy="2800350"/>
          </a:xfrm>
          <a:prstGeom prst="roundRect">
            <a:avLst>
              <a:gd name="adj" fmla="val 2721"/>
            </a:avLst>
          </a:prstGeom>
        </p:spPr>
      </p:pic>
      <p:sp>
        <p:nvSpPr>
          <p:cNvPr id="8" name="Rectangle 7">
            <a:extLst>
              <a:ext uri="{FF2B5EF4-FFF2-40B4-BE49-F238E27FC236}">
                <a16:creationId xmlns:a16="http://schemas.microsoft.com/office/drawing/2014/main" id="{0606F605-A0F3-460B-9527-3523B9E4CC8E}"/>
              </a:ext>
            </a:extLst>
          </p:cNvPr>
          <p:cNvSpPr>
            <a:spLocks noGrp="1"/>
          </p:cNvSpPr>
          <p:nvPr/>
        </p:nvSpPr>
        <p:spPr>
          <a:xfrm>
            <a:off x="876300" y="4629150"/>
            <a:ext cx="1905000" cy="228600"/>
          </a:xfrm>
          <a:prstGeom prst="rect">
            <a:avLst/>
          </a:prstGeom>
          <a:noFill/>
          <a:ln w="0">
            <a:noFill/>
            <a:prstDash val="solid"/>
          </a:ln>
        </p:spPr>
        <p:txBody>
          <a:bodyPr/>
          <a:lstStyle/>
          <a:p>
            <a:pPr algn="l">
              <a:defRPr sz="1500" b="1">
                <a:solidFill>
                  <a:srgbClr val="0077B6"/>
                </a:solidFill>
              </a:defRPr>
            </a:pPr>
            <a:r>
              <a:rPr sz="1500" b="1">
                <a:solidFill>
                  <a:srgbClr val="0077B6"/>
                </a:solidFill>
              </a:rPr>
              <a:t>Use cases</a:t>
            </a:r>
          </a:p>
        </p:txBody>
      </p:sp>
      <p:sp>
        <p:nvSpPr>
          <p:cNvPr id="9" name="Rectangle 8">
            <a:extLst>
              <a:ext uri="{FF2B5EF4-FFF2-40B4-BE49-F238E27FC236}">
                <a16:creationId xmlns:a16="http://schemas.microsoft.com/office/drawing/2014/main" id="{50A15FA1-45DB-4946-A3B3-45CCFB6765B2}"/>
              </a:ext>
            </a:extLst>
          </p:cNvPr>
          <p:cNvSpPr>
            <a:spLocks noGrp="1"/>
          </p:cNvSpPr>
          <p:nvPr/>
        </p:nvSpPr>
        <p:spPr>
          <a:xfrm>
            <a:off x="6419850" y="4629150"/>
            <a:ext cx="2286000" cy="228600"/>
          </a:xfrm>
          <a:prstGeom prst="rect">
            <a:avLst/>
          </a:prstGeom>
          <a:noFill/>
          <a:ln w="0">
            <a:noFill/>
            <a:prstDash val="solid"/>
          </a:ln>
        </p:spPr>
        <p:txBody>
          <a:bodyPr/>
          <a:lstStyle/>
          <a:p>
            <a:pPr algn="l">
              <a:defRPr sz="1500" b="1">
                <a:solidFill>
                  <a:srgbClr val="009999"/>
                </a:solidFill>
              </a:defRPr>
            </a:pPr>
            <a:r>
              <a:rPr sz="1500" b="1">
                <a:solidFill>
                  <a:srgbClr val="009999"/>
                </a:solidFill>
              </a:rPr>
              <a:t>Database model</a:t>
            </a:r>
          </a:p>
        </p:txBody>
      </p:sp>
      <p:sp>
        <p:nvSpPr>
          <p:cNvPr id="10" name="Rectangle: Rounded Corners 9">
            <a:extLst>
              <a:ext uri="{FF2B5EF4-FFF2-40B4-BE49-F238E27FC236}">
                <a16:creationId xmlns:a16="http://schemas.microsoft.com/office/drawing/2014/main" id="{9A8E3787-6FF8-4D55-BE1F-6AF5549D955B}"/>
              </a:ext>
            </a:extLst>
          </p:cNvPr>
          <p:cNvSpPr>
            <a:spLocks noGrp="1"/>
          </p:cNvSpPr>
          <p:nvPr/>
        </p:nvSpPr>
        <p:spPr>
          <a:xfrm>
            <a:off x="876300" y="5276850"/>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7" name="Graphic 36"/>
          <p:cNvPicPr>
            <a:picLocks noChangeAspect="1"/>
          </p:cNvPicPr>
          <p:nvPr/>
        </p:nvPicPr>
        <p:blipFill>
          <a:blip>
            <a:extLst>
              <a:ext uri="{96DAC541-7B7A-43D3-8B79-37D633B846F1}">
                <asvg:svgBlip xmlns:asvg="http://schemas.microsoft.com/office/drawing/2016/SVG/main" r:embed="rId5"/>
              </a:ext>
            </a:extLst>
          </a:blip>
          <a:stretch/>
        </p:blipFill>
        <p:spPr>
          <a:xfrm>
            <a:off x="1028700" y="5391150"/>
            <a:ext cx="228600" cy="228600"/>
          </a:xfrm>
          <a:prstGeom prst="rect">
            <a:avLst/>
          </a:prstGeom>
        </p:spPr>
      </p:pic>
      <p:sp>
        <p:nvSpPr>
          <p:cNvPr id="12" name="Rectangle 11">
            <a:extLst>
              <a:ext uri="{FF2B5EF4-FFF2-40B4-BE49-F238E27FC236}">
                <a16:creationId xmlns:a16="http://schemas.microsoft.com/office/drawing/2014/main" id="{230C8F86-9F41-4D0D-B7A6-E3DE95B1F3CB}"/>
              </a:ext>
            </a:extLst>
          </p:cNvPr>
          <p:cNvSpPr>
            <a:spLocks noGrp="1"/>
          </p:cNvSpPr>
          <p:nvPr/>
        </p:nvSpPr>
        <p:spPr>
          <a:xfrm>
            <a:off x="1352550" y="5354574"/>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PHP</a:t>
            </a:r>
            <a:r>
              <a:rPr lang="de-DE" sz="1275" b="1" dirty="0">
                <a:solidFill>
                  <a:srgbClr val="083344"/>
                </a:solidFill>
              </a:rPr>
              <a:t> 8.3</a:t>
            </a:r>
            <a:endParaRPr sz="1275" b="1" dirty="0">
              <a:solidFill>
                <a:srgbClr val="083344"/>
              </a:solidFill>
            </a:endParaRPr>
          </a:p>
        </p:txBody>
      </p:sp>
      <p:sp>
        <p:nvSpPr>
          <p:cNvPr id="13" name="Rectangle: Rounded Corners 12">
            <a:extLst>
              <a:ext uri="{FF2B5EF4-FFF2-40B4-BE49-F238E27FC236}">
                <a16:creationId xmlns:a16="http://schemas.microsoft.com/office/drawing/2014/main" id="{ABDE01D7-F9D1-416A-97B2-02D0EC388924}"/>
              </a:ext>
            </a:extLst>
          </p:cNvPr>
          <p:cNvSpPr>
            <a:spLocks noGrp="1"/>
          </p:cNvSpPr>
          <p:nvPr/>
        </p:nvSpPr>
        <p:spPr>
          <a:xfrm>
            <a:off x="2990850" y="5276850"/>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6"/>
              </a:ext>
            </a:extLst>
          </a:blip>
          <a:stretch/>
        </p:blipFill>
        <p:spPr>
          <a:xfrm>
            <a:off x="3143250" y="5391150"/>
            <a:ext cx="228600" cy="228600"/>
          </a:xfrm>
          <a:prstGeom prst="rect">
            <a:avLst/>
          </a:prstGeom>
        </p:spPr>
      </p:pic>
      <p:sp>
        <p:nvSpPr>
          <p:cNvPr id="15" name="Rectangle 14">
            <a:extLst>
              <a:ext uri="{FF2B5EF4-FFF2-40B4-BE49-F238E27FC236}">
                <a16:creationId xmlns:a16="http://schemas.microsoft.com/office/drawing/2014/main" id="{D6C33BAB-AE75-4A66-900A-2EDE4BC986A6}"/>
              </a:ext>
            </a:extLst>
          </p:cNvPr>
          <p:cNvSpPr>
            <a:spLocks noGrp="1"/>
          </p:cNvSpPr>
          <p:nvPr/>
        </p:nvSpPr>
        <p:spPr>
          <a:xfrm>
            <a:off x="3467100" y="5354574"/>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Laravel </a:t>
            </a:r>
            <a:r>
              <a:rPr lang="de-DE" sz="1275" b="1" dirty="0">
                <a:solidFill>
                  <a:srgbClr val="083344"/>
                </a:solidFill>
              </a:rPr>
              <a:t>12</a:t>
            </a:r>
            <a:endParaRPr sz="1275" b="1" dirty="0">
              <a:solidFill>
                <a:srgbClr val="083344"/>
              </a:solidFill>
            </a:endParaRPr>
          </a:p>
        </p:txBody>
      </p:sp>
      <p:sp>
        <p:nvSpPr>
          <p:cNvPr id="16" name="Rectangle: Rounded Corners 15">
            <a:extLst>
              <a:ext uri="{FF2B5EF4-FFF2-40B4-BE49-F238E27FC236}">
                <a16:creationId xmlns:a16="http://schemas.microsoft.com/office/drawing/2014/main" id="{7E1E8E03-326F-4629-8A32-FDF9577C7BCD}"/>
              </a:ext>
            </a:extLst>
          </p:cNvPr>
          <p:cNvSpPr>
            <a:spLocks noGrp="1"/>
          </p:cNvSpPr>
          <p:nvPr/>
        </p:nvSpPr>
        <p:spPr>
          <a:xfrm>
            <a:off x="5105400" y="5276850"/>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3" name="Graphic 42"/>
          <p:cNvPicPr>
            <a:picLocks noChangeAspect="1"/>
          </p:cNvPicPr>
          <p:nvPr/>
        </p:nvPicPr>
        <p:blipFill>
          <a:blip>
            <a:extLst>
              <a:ext uri="{96DAC541-7B7A-43D3-8B79-37D633B846F1}">
                <asvg:svgBlip xmlns:asvg="http://schemas.microsoft.com/office/drawing/2016/SVG/main" r:embed="rId7"/>
              </a:ext>
            </a:extLst>
          </a:blip>
          <a:stretch/>
        </p:blipFill>
        <p:spPr>
          <a:xfrm>
            <a:off x="5257800" y="5391150"/>
            <a:ext cx="228600" cy="228600"/>
          </a:xfrm>
          <a:prstGeom prst="rect">
            <a:avLst/>
          </a:prstGeom>
        </p:spPr>
      </p:pic>
      <p:sp>
        <p:nvSpPr>
          <p:cNvPr id="18" name="Rectangle 17">
            <a:extLst>
              <a:ext uri="{FF2B5EF4-FFF2-40B4-BE49-F238E27FC236}">
                <a16:creationId xmlns:a16="http://schemas.microsoft.com/office/drawing/2014/main" id="{2E310419-5D60-4E20-A1F8-71F7DEAB68DF}"/>
              </a:ext>
            </a:extLst>
          </p:cNvPr>
          <p:cNvSpPr>
            <a:spLocks noGrp="1"/>
          </p:cNvSpPr>
          <p:nvPr/>
        </p:nvSpPr>
        <p:spPr>
          <a:xfrm>
            <a:off x="5581650" y="5354574"/>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PostgreSQL</a:t>
            </a:r>
          </a:p>
        </p:txBody>
      </p:sp>
      <p:sp>
        <p:nvSpPr>
          <p:cNvPr id="19" name="Rectangle: Rounded Corners 18">
            <a:extLst>
              <a:ext uri="{FF2B5EF4-FFF2-40B4-BE49-F238E27FC236}">
                <a16:creationId xmlns:a16="http://schemas.microsoft.com/office/drawing/2014/main" id="{8556DD89-684A-404B-A11E-7E87FC4FFE1A}"/>
              </a:ext>
            </a:extLst>
          </p:cNvPr>
          <p:cNvSpPr>
            <a:spLocks noGrp="1"/>
          </p:cNvSpPr>
          <p:nvPr/>
        </p:nvSpPr>
        <p:spPr>
          <a:xfrm>
            <a:off x="7219950" y="5276850"/>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6" name="Graphic 45"/>
          <p:cNvPicPr>
            <a:picLocks noChangeAspect="1"/>
          </p:cNvPicPr>
          <p:nvPr/>
        </p:nvPicPr>
        <p:blipFill>
          <a:blip>
            <a:extLst>
              <a:ext uri="{96DAC541-7B7A-43D3-8B79-37D633B846F1}">
                <asvg:svgBlip xmlns:asvg="http://schemas.microsoft.com/office/drawing/2016/SVG/main" r:embed="rId8"/>
              </a:ext>
            </a:extLst>
          </a:blip>
          <a:stretch/>
        </p:blipFill>
        <p:spPr>
          <a:xfrm>
            <a:off x="7372350" y="5391150"/>
            <a:ext cx="228600" cy="228600"/>
          </a:xfrm>
          <a:prstGeom prst="rect">
            <a:avLst/>
          </a:prstGeom>
        </p:spPr>
      </p:pic>
      <p:sp>
        <p:nvSpPr>
          <p:cNvPr id="21" name="Rectangle 20">
            <a:extLst>
              <a:ext uri="{FF2B5EF4-FFF2-40B4-BE49-F238E27FC236}">
                <a16:creationId xmlns:a16="http://schemas.microsoft.com/office/drawing/2014/main" id="{E042A703-CE3B-4368-B720-BD392E423794}"/>
              </a:ext>
            </a:extLst>
          </p:cNvPr>
          <p:cNvSpPr>
            <a:spLocks noGrp="1"/>
          </p:cNvSpPr>
          <p:nvPr/>
        </p:nvSpPr>
        <p:spPr>
          <a:xfrm>
            <a:off x="7696200" y="5354574"/>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JavaScript</a:t>
            </a:r>
          </a:p>
        </p:txBody>
      </p:sp>
      <p:sp>
        <p:nvSpPr>
          <p:cNvPr id="22" name="Rectangle: Rounded Corners 21">
            <a:extLst>
              <a:ext uri="{FF2B5EF4-FFF2-40B4-BE49-F238E27FC236}">
                <a16:creationId xmlns:a16="http://schemas.microsoft.com/office/drawing/2014/main" id="{641DCC36-6CF1-45E2-AD87-E054700BBEAF}"/>
              </a:ext>
            </a:extLst>
          </p:cNvPr>
          <p:cNvSpPr>
            <a:spLocks noGrp="1"/>
          </p:cNvSpPr>
          <p:nvPr/>
        </p:nvSpPr>
        <p:spPr>
          <a:xfrm>
            <a:off x="9334500" y="5276850"/>
            <a:ext cx="1809750" cy="4381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9" name="Graphic 48"/>
          <p:cNvPicPr>
            <a:picLocks noChangeAspect="1"/>
          </p:cNvPicPr>
          <p:nvPr/>
        </p:nvPicPr>
        <p:blipFill>
          <a:blip>
            <a:extLst>
              <a:ext uri="{96DAC541-7B7A-43D3-8B79-37D633B846F1}">
                <asvg:svgBlip xmlns:asvg="http://schemas.microsoft.com/office/drawing/2016/SVG/main" r:embed="rId9"/>
              </a:ext>
            </a:extLst>
          </a:blip>
          <a:stretch/>
        </p:blipFill>
        <p:spPr>
          <a:xfrm>
            <a:off x="9486900" y="5391150"/>
            <a:ext cx="228600" cy="228600"/>
          </a:xfrm>
          <a:prstGeom prst="rect">
            <a:avLst/>
          </a:prstGeom>
        </p:spPr>
      </p:pic>
      <p:sp>
        <p:nvSpPr>
          <p:cNvPr id="24" name="Rectangle 23">
            <a:extLst>
              <a:ext uri="{FF2B5EF4-FFF2-40B4-BE49-F238E27FC236}">
                <a16:creationId xmlns:a16="http://schemas.microsoft.com/office/drawing/2014/main" id="{8221900A-9EFD-4DD2-8893-E2552481A1AF}"/>
              </a:ext>
            </a:extLst>
          </p:cNvPr>
          <p:cNvSpPr>
            <a:spLocks noGrp="1"/>
          </p:cNvSpPr>
          <p:nvPr/>
        </p:nvSpPr>
        <p:spPr>
          <a:xfrm>
            <a:off x="9810750" y="5354574"/>
            <a:ext cx="12192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OCR pipeline</a:t>
            </a:r>
          </a:p>
        </p:txBody>
      </p:sp>
      <p:sp>
        <p:nvSpPr>
          <p:cNvPr id="25" name="Rectangle 24">
            <a:extLst>
              <a:ext uri="{FF2B5EF4-FFF2-40B4-BE49-F238E27FC236}">
                <a16:creationId xmlns:a16="http://schemas.microsoft.com/office/drawing/2014/main" id="{5B28DED5-816E-4D99-AC4E-9ED684D871E3}"/>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26" name="Rectangle 25">
            <a:extLst>
              <a:ext uri="{FF2B5EF4-FFF2-40B4-BE49-F238E27FC236}">
                <a16:creationId xmlns:a16="http://schemas.microsoft.com/office/drawing/2014/main" id="{5D53C423-3169-407F-A532-FA833B83038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08 / 11</a:t>
            </a:r>
          </a:p>
        </p:txBody>
      </p:sp>
      <p:pic>
        <p:nvPicPr>
          <p:cNvPr id="11" name="Picture 10">
            <a:extLst>
              <a:ext uri="{FF2B5EF4-FFF2-40B4-BE49-F238E27FC236}">
                <a16:creationId xmlns:a16="http://schemas.microsoft.com/office/drawing/2014/main" id="{62AC922F-F0C2-7CA2-3A6C-23933B96EB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72955928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8AD838-B984-4CF4-9FB4-B323BB1EAA1F}"/>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A9A52347-4934-4289-A001-CB22697585CD}"/>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MAIN SLIDE 7</a:t>
            </a:r>
          </a:p>
        </p:txBody>
      </p:sp>
      <p:sp>
        <p:nvSpPr>
          <p:cNvPr id="3" name="Rectangle 2">
            <a:extLst>
              <a:ext uri="{FF2B5EF4-FFF2-40B4-BE49-F238E27FC236}">
                <a16:creationId xmlns:a16="http://schemas.microsoft.com/office/drawing/2014/main" id="{D06112A8-4008-4E94-82D7-80E07B2A72B7}"/>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dirty="0">
                <a:solidFill>
                  <a:srgbClr val="083344"/>
                </a:solidFill>
              </a:rPr>
              <a:t>MVC and Hexagonal </a:t>
            </a:r>
            <a:r>
              <a:rPr lang="de-DE" sz="2850" b="1" dirty="0">
                <a:solidFill>
                  <a:srgbClr val="083344"/>
                </a:solidFill>
              </a:rPr>
              <a:t>Architecture</a:t>
            </a:r>
            <a:endParaRPr sz="2850" b="1" dirty="0">
              <a:solidFill>
                <a:srgbClr val="083344"/>
              </a:solidFill>
            </a:endParaRPr>
          </a:p>
        </p:txBody>
      </p:sp>
      <p:sp>
        <p:nvSpPr>
          <p:cNvPr id="4" name="Rectangle: Rounded Corners 3">
            <a:extLst>
              <a:ext uri="{FF2B5EF4-FFF2-40B4-BE49-F238E27FC236}">
                <a16:creationId xmlns:a16="http://schemas.microsoft.com/office/drawing/2014/main" id="{4663B33E-4B06-497E-8861-CE7EBF57DB08}"/>
              </a:ext>
            </a:extLst>
          </p:cNvPr>
          <p:cNvSpPr>
            <a:spLocks noGrp="1"/>
          </p:cNvSpPr>
          <p:nvPr/>
        </p:nvSpPr>
        <p:spPr>
          <a:xfrm>
            <a:off x="704850" y="1409700"/>
            <a:ext cx="4572000" cy="838200"/>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 name="Oval 4">
            <a:extLst>
              <a:ext uri="{FF2B5EF4-FFF2-40B4-BE49-F238E27FC236}">
                <a16:creationId xmlns:a16="http://schemas.microsoft.com/office/drawing/2014/main" id="{07FB43CD-1FB0-42A0-9E12-08C1339AA554}"/>
              </a:ext>
            </a:extLst>
          </p:cNvPr>
          <p:cNvSpPr>
            <a:spLocks noGrp="1"/>
          </p:cNvSpPr>
          <p:nvPr/>
        </p:nvSpPr>
        <p:spPr>
          <a:xfrm>
            <a:off x="914400" y="1638300"/>
            <a:ext cx="495300" cy="495300"/>
          </a:xfrm>
          <a:prstGeom prst="ellipse">
            <a:avLst/>
          </a:prstGeom>
          <a:solidFill>
            <a:srgbClr val="EAF7FB"/>
          </a:solidFill>
          <a:ln w="0">
            <a:solidFill>
              <a:srgbClr val="EAF7FB"/>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3"/>
              </a:ext>
            </a:extLst>
          </a:blip>
          <a:stretch/>
        </p:blipFill>
        <p:spPr>
          <a:xfrm>
            <a:off x="1038225" y="1762125"/>
            <a:ext cx="247650" cy="247650"/>
          </a:xfrm>
          <a:prstGeom prst="rect">
            <a:avLst/>
          </a:prstGeom>
        </p:spPr>
      </p:pic>
      <p:sp>
        <p:nvSpPr>
          <p:cNvPr id="7" name="Rectangle 6">
            <a:extLst>
              <a:ext uri="{FF2B5EF4-FFF2-40B4-BE49-F238E27FC236}">
                <a16:creationId xmlns:a16="http://schemas.microsoft.com/office/drawing/2014/main" id="{30491365-01C2-4B6F-945E-80947351FB99}"/>
              </a:ext>
            </a:extLst>
          </p:cNvPr>
          <p:cNvSpPr>
            <a:spLocks noGrp="1"/>
          </p:cNvSpPr>
          <p:nvPr/>
        </p:nvSpPr>
        <p:spPr>
          <a:xfrm>
            <a:off x="1600200" y="1601724"/>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MVC for web application</a:t>
            </a:r>
          </a:p>
        </p:txBody>
      </p:sp>
      <p:sp>
        <p:nvSpPr>
          <p:cNvPr id="8" name="Rectangle 7">
            <a:extLst>
              <a:ext uri="{FF2B5EF4-FFF2-40B4-BE49-F238E27FC236}">
                <a16:creationId xmlns:a16="http://schemas.microsoft.com/office/drawing/2014/main" id="{BC43BFA6-B547-45B2-8847-C480355766B7}"/>
              </a:ext>
            </a:extLst>
          </p:cNvPr>
          <p:cNvSpPr>
            <a:spLocks noGrp="1"/>
          </p:cNvSpPr>
          <p:nvPr/>
        </p:nvSpPr>
        <p:spPr>
          <a:xfrm>
            <a:off x="1600200" y="1898523"/>
            <a:ext cx="3467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Laravel separates interface and logic</a:t>
            </a:r>
          </a:p>
        </p:txBody>
      </p:sp>
      <p:sp>
        <p:nvSpPr>
          <p:cNvPr id="9" name="Rectangle: Rounded Corners 8">
            <a:extLst>
              <a:ext uri="{FF2B5EF4-FFF2-40B4-BE49-F238E27FC236}">
                <a16:creationId xmlns:a16="http://schemas.microsoft.com/office/drawing/2014/main" id="{6D7741CB-49E8-41F7-A18F-0F54058C5E82}"/>
              </a:ext>
            </a:extLst>
          </p:cNvPr>
          <p:cNvSpPr>
            <a:spLocks noGrp="1"/>
          </p:cNvSpPr>
          <p:nvPr/>
        </p:nvSpPr>
        <p:spPr>
          <a:xfrm>
            <a:off x="704850" y="2457450"/>
            <a:ext cx="4572000" cy="838200"/>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Oval 9">
            <a:extLst>
              <a:ext uri="{FF2B5EF4-FFF2-40B4-BE49-F238E27FC236}">
                <a16:creationId xmlns:a16="http://schemas.microsoft.com/office/drawing/2014/main" id="{005CFE31-290E-4E35-8686-7CDD92DA0D93}"/>
              </a:ext>
            </a:extLst>
          </p:cNvPr>
          <p:cNvSpPr>
            <a:spLocks noGrp="1"/>
          </p:cNvSpPr>
          <p:nvPr/>
        </p:nvSpPr>
        <p:spPr>
          <a:xfrm>
            <a:off x="914400" y="2686050"/>
            <a:ext cx="495300" cy="495300"/>
          </a:xfrm>
          <a:prstGeom prst="ellipse">
            <a:avLst/>
          </a:prstGeom>
          <a:solidFill>
            <a:srgbClr val="EAF7FB"/>
          </a:solidFill>
          <a:ln w="0">
            <a:solidFill>
              <a:srgbClr val="EAF7FB"/>
            </a:solidFill>
            <a:prstDash val="solid"/>
          </a:ln>
        </p:spPr>
        <p:txBody>
          <a:bodyPr/>
          <a:lstStyle/>
          <a:p>
            <a:endParaRPr lang="en-US"/>
          </a:p>
        </p:txBody>
      </p:sp>
      <p:pic>
        <p:nvPicPr>
          <p:cNvPr id="40" name="Graphic 39"/>
          <p:cNvPicPr>
            <a:picLocks noChangeAspect="1"/>
          </p:cNvPicPr>
          <p:nvPr/>
        </p:nvPicPr>
        <p:blipFill>
          <a:blip>
            <a:extLst>
              <a:ext uri="{96DAC541-7B7A-43D3-8B79-37D633B846F1}">
                <asvg:svgBlip xmlns:asvg="http://schemas.microsoft.com/office/drawing/2016/SVG/main" r:embed="rId4"/>
              </a:ext>
            </a:extLst>
          </a:blip>
          <a:stretch/>
        </p:blipFill>
        <p:spPr>
          <a:xfrm>
            <a:off x="1038225" y="2809875"/>
            <a:ext cx="247650" cy="247650"/>
          </a:xfrm>
          <a:prstGeom prst="rect">
            <a:avLst/>
          </a:prstGeom>
        </p:spPr>
      </p:pic>
      <p:sp>
        <p:nvSpPr>
          <p:cNvPr id="12" name="Rectangle 11">
            <a:extLst>
              <a:ext uri="{FF2B5EF4-FFF2-40B4-BE49-F238E27FC236}">
                <a16:creationId xmlns:a16="http://schemas.microsoft.com/office/drawing/2014/main" id="{13C1C05F-1140-494E-9957-0F90C3E0B7A4}"/>
              </a:ext>
            </a:extLst>
          </p:cNvPr>
          <p:cNvSpPr>
            <a:spLocks noGrp="1"/>
          </p:cNvSpPr>
          <p:nvPr/>
        </p:nvSpPr>
        <p:spPr>
          <a:xfrm>
            <a:off x="1600200" y="2649474"/>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Hexagonal service boundaries</a:t>
            </a:r>
          </a:p>
        </p:txBody>
      </p:sp>
      <p:sp>
        <p:nvSpPr>
          <p:cNvPr id="13" name="Rectangle 12">
            <a:extLst>
              <a:ext uri="{FF2B5EF4-FFF2-40B4-BE49-F238E27FC236}">
                <a16:creationId xmlns:a16="http://schemas.microsoft.com/office/drawing/2014/main" id="{BDAAB468-F2D7-4E23-A196-B510088DAEB6}"/>
              </a:ext>
            </a:extLst>
          </p:cNvPr>
          <p:cNvSpPr>
            <a:spLocks noGrp="1"/>
          </p:cNvSpPr>
          <p:nvPr/>
        </p:nvSpPr>
        <p:spPr>
          <a:xfrm>
            <a:off x="1600200" y="2946273"/>
            <a:ext cx="3467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External services remain replaceable</a:t>
            </a:r>
          </a:p>
        </p:txBody>
      </p:sp>
      <p:sp>
        <p:nvSpPr>
          <p:cNvPr id="14" name="Rectangle: Rounded Corners 13">
            <a:extLst>
              <a:ext uri="{FF2B5EF4-FFF2-40B4-BE49-F238E27FC236}">
                <a16:creationId xmlns:a16="http://schemas.microsoft.com/office/drawing/2014/main" id="{FB2B093D-40F8-45E9-A1EE-66CC4AC40845}"/>
              </a:ext>
            </a:extLst>
          </p:cNvPr>
          <p:cNvSpPr>
            <a:spLocks noGrp="1"/>
          </p:cNvSpPr>
          <p:nvPr/>
        </p:nvSpPr>
        <p:spPr>
          <a:xfrm>
            <a:off x="704850" y="3505200"/>
            <a:ext cx="4572000" cy="838200"/>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Oval 14">
            <a:extLst>
              <a:ext uri="{FF2B5EF4-FFF2-40B4-BE49-F238E27FC236}">
                <a16:creationId xmlns:a16="http://schemas.microsoft.com/office/drawing/2014/main" id="{F0B29D11-853A-4E21-A38A-832C2AC9C0D5}"/>
              </a:ext>
            </a:extLst>
          </p:cNvPr>
          <p:cNvSpPr>
            <a:spLocks noGrp="1"/>
          </p:cNvSpPr>
          <p:nvPr/>
        </p:nvSpPr>
        <p:spPr>
          <a:xfrm>
            <a:off x="914400" y="3733800"/>
            <a:ext cx="495300" cy="495300"/>
          </a:xfrm>
          <a:prstGeom prst="ellipse">
            <a:avLst/>
          </a:prstGeom>
          <a:solidFill>
            <a:srgbClr val="EAF7FB"/>
          </a:solidFill>
          <a:ln w="0">
            <a:solidFill>
              <a:srgbClr val="EAF7FB"/>
            </a:solidFill>
            <a:prstDash val="solid"/>
          </a:ln>
        </p:spPr>
        <p:txBody>
          <a:bodyPr/>
          <a:lstStyle/>
          <a:p>
            <a:endParaRPr lang="en-US"/>
          </a:p>
        </p:txBody>
      </p:sp>
      <p:pic>
        <p:nvPicPr>
          <p:cNvPr id="45" name="Graphic 44"/>
          <p:cNvPicPr>
            <a:picLocks noChangeAspect="1"/>
          </p:cNvPicPr>
          <p:nvPr/>
        </p:nvPicPr>
        <p:blipFill>
          <a:blip>
            <a:extLst>
              <a:ext uri="{96DAC541-7B7A-43D3-8B79-37D633B846F1}">
                <asvg:svgBlip xmlns:asvg="http://schemas.microsoft.com/office/drawing/2016/SVG/main" r:embed="rId5"/>
              </a:ext>
            </a:extLst>
          </a:blip>
          <a:stretch/>
        </p:blipFill>
        <p:spPr>
          <a:xfrm>
            <a:off x="1038225" y="3857625"/>
            <a:ext cx="247650" cy="247650"/>
          </a:xfrm>
          <a:prstGeom prst="rect">
            <a:avLst/>
          </a:prstGeom>
        </p:spPr>
      </p:pic>
      <p:sp>
        <p:nvSpPr>
          <p:cNvPr id="17" name="Rectangle 16">
            <a:extLst>
              <a:ext uri="{FF2B5EF4-FFF2-40B4-BE49-F238E27FC236}">
                <a16:creationId xmlns:a16="http://schemas.microsoft.com/office/drawing/2014/main" id="{5424D639-1CD0-440E-9E6B-2C7207FCDA7D}"/>
              </a:ext>
            </a:extLst>
          </p:cNvPr>
          <p:cNvSpPr>
            <a:spLocks noGrp="1"/>
          </p:cNvSpPr>
          <p:nvPr/>
        </p:nvSpPr>
        <p:spPr>
          <a:xfrm>
            <a:off x="1600200" y="3697224"/>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Queues isolate long tasks</a:t>
            </a:r>
          </a:p>
        </p:txBody>
      </p:sp>
      <p:sp>
        <p:nvSpPr>
          <p:cNvPr id="18" name="Rectangle 17">
            <a:extLst>
              <a:ext uri="{FF2B5EF4-FFF2-40B4-BE49-F238E27FC236}">
                <a16:creationId xmlns:a16="http://schemas.microsoft.com/office/drawing/2014/main" id="{45E8AAEA-DF04-4307-B86B-8E6E59EB9CCF}"/>
              </a:ext>
            </a:extLst>
          </p:cNvPr>
          <p:cNvSpPr>
            <a:spLocks noGrp="1"/>
          </p:cNvSpPr>
          <p:nvPr/>
        </p:nvSpPr>
        <p:spPr>
          <a:xfrm>
            <a:off x="1600200" y="3994023"/>
            <a:ext cx="3467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Processing continues in background</a:t>
            </a:r>
          </a:p>
        </p:txBody>
      </p:sp>
      <p:sp>
        <p:nvSpPr>
          <p:cNvPr id="19" name="Rectangle: Rounded Corners 18">
            <a:extLst>
              <a:ext uri="{FF2B5EF4-FFF2-40B4-BE49-F238E27FC236}">
                <a16:creationId xmlns:a16="http://schemas.microsoft.com/office/drawing/2014/main" id="{BF4F631C-3195-489C-AF09-DC162C3D99BA}"/>
              </a:ext>
            </a:extLst>
          </p:cNvPr>
          <p:cNvSpPr>
            <a:spLocks noGrp="1"/>
          </p:cNvSpPr>
          <p:nvPr/>
        </p:nvSpPr>
        <p:spPr>
          <a:xfrm>
            <a:off x="704850" y="4552950"/>
            <a:ext cx="4572000" cy="838200"/>
          </a:xfrm>
          <a:prstGeom prst="roundRect">
            <a:avLst>
              <a:gd name="adj" fmla="val 136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Oval 19">
            <a:extLst>
              <a:ext uri="{FF2B5EF4-FFF2-40B4-BE49-F238E27FC236}">
                <a16:creationId xmlns:a16="http://schemas.microsoft.com/office/drawing/2014/main" id="{D6CAD516-6447-4B73-99FC-51C2742BF98E}"/>
              </a:ext>
            </a:extLst>
          </p:cNvPr>
          <p:cNvSpPr>
            <a:spLocks noGrp="1"/>
          </p:cNvSpPr>
          <p:nvPr/>
        </p:nvSpPr>
        <p:spPr>
          <a:xfrm>
            <a:off x="914400" y="4781550"/>
            <a:ext cx="495300" cy="495300"/>
          </a:xfrm>
          <a:prstGeom prst="ellipse">
            <a:avLst/>
          </a:prstGeom>
          <a:solidFill>
            <a:srgbClr val="EAF7FB"/>
          </a:solidFill>
          <a:ln w="0">
            <a:solidFill>
              <a:srgbClr val="EAF7FB"/>
            </a:solidFill>
            <a:prstDash val="solid"/>
          </a:ln>
        </p:spPr>
        <p:txBody>
          <a:bodyPr/>
          <a:lstStyle/>
          <a:p>
            <a:endParaRPr lang="en-US"/>
          </a:p>
        </p:txBody>
      </p:sp>
      <p:pic>
        <p:nvPicPr>
          <p:cNvPr id="50" name="Graphic 49"/>
          <p:cNvPicPr>
            <a:picLocks noChangeAspect="1"/>
          </p:cNvPicPr>
          <p:nvPr/>
        </p:nvPicPr>
        <p:blipFill>
          <a:blip>
            <a:extLst>
              <a:ext uri="{96DAC541-7B7A-43D3-8B79-37D633B846F1}">
                <asvg:svgBlip xmlns:asvg="http://schemas.microsoft.com/office/drawing/2016/SVG/main" r:embed="rId6"/>
              </a:ext>
            </a:extLst>
          </a:blip>
          <a:stretch/>
        </p:blipFill>
        <p:spPr>
          <a:xfrm>
            <a:off x="1038225" y="4905375"/>
            <a:ext cx="247650" cy="247650"/>
          </a:xfrm>
          <a:prstGeom prst="rect">
            <a:avLst/>
          </a:prstGeom>
        </p:spPr>
      </p:pic>
      <p:sp>
        <p:nvSpPr>
          <p:cNvPr id="22" name="Rectangle 21">
            <a:extLst>
              <a:ext uri="{FF2B5EF4-FFF2-40B4-BE49-F238E27FC236}">
                <a16:creationId xmlns:a16="http://schemas.microsoft.com/office/drawing/2014/main" id="{907B0087-C441-4BB3-AE4C-4A7DDA3CCEC5}"/>
              </a:ext>
            </a:extLst>
          </p:cNvPr>
          <p:cNvSpPr>
            <a:spLocks noGrp="1"/>
          </p:cNvSpPr>
          <p:nvPr/>
        </p:nvSpPr>
        <p:spPr>
          <a:xfrm>
            <a:off x="1600200" y="4744974"/>
            <a:ext cx="3467100" cy="285750"/>
          </a:xfrm>
          <a:prstGeom prst="rect">
            <a:avLst/>
          </a:prstGeom>
          <a:noFill/>
          <a:ln w="0">
            <a:noFill/>
            <a:prstDash val="solid"/>
          </a:ln>
        </p:spPr>
        <p:txBody>
          <a:bodyPr/>
          <a:lstStyle/>
          <a:p>
            <a:pPr algn="l">
              <a:defRPr sz="1575" b="1">
                <a:solidFill>
                  <a:srgbClr val="083344"/>
                </a:solidFill>
              </a:defRPr>
            </a:pPr>
            <a:r>
              <a:rPr sz="1575" b="1" dirty="0">
                <a:solidFill>
                  <a:srgbClr val="083344"/>
                </a:solidFill>
              </a:rPr>
              <a:t>RBAC protects enterprise data</a:t>
            </a:r>
          </a:p>
        </p:txBody>
      </p:sp>
      <p:sp>
        <p:nvSpPr>
          <p:cNvPr id="23" name="Rectangle 22">
            <a:extLst>
              <a:ext uri="{FF2B5EF4-FFF2-40B4-BE49-F238E27FC236}">
                <a16:creationId xmlns:a16="http://schemas.microsoft.com/office/drawing/2014/main" id="{1F1E2621-C119-4DBE-879E-2EE4715C6615}"/>
              </a:ext>
            </a:extLst>
          </p:cNvPr>
          <p:cNvSpPr>
            <a:spLocks noGrp="1"/>
          </p:cNvSpPr>
          <p:nvPr/>
        </p:nvSpPr>
        <p:spPr>
          <a:xfrm>
            <a:off x="1600200" y="5041773"/>
            <a:ext cx="3467100" cy="514350"/>
          </a:xfrm>
          <a:prstGeom prst="rect">
            <a:avLst/>
          </a:prstGeom>
          <a:noFill/>
          <a:ln w="0">
            <a:noFill/>
            <a:prstDash val="solid"/>
          </a:ln>
        </p:spPr>
        <p:txBody>
          <a:bodyPr/>
          <a:lstStyle/>
          <a:p>
            <a:pPr algn="l">
              <a:defRPr sz="1275" b="0">
                <a:solidFill>
                  <a:srgbClr val="5B6B78"/>
                </a:solidFill>
              </a:defRPr>
            </a:pPr>
            <a:r>
              <a:rPr sz="1275" b="0" dirty="0">
                <a:solidFill>
                  <a:srgbClr val="5B6B78"/>
                </a:solidFill>
              </a:rPr>
              <a:t>Access follows user responsibilities</a:t>
            </a:r>
          </a:p>
        </p:txBody>
      </p:sp>
      <p:sp>
        <p:nvSpPr>
          <p:cNvPr id="24" name="Rectangle: Rounded Corners 23">
            <a:extLst>
              <a:ext uri="{FF2B5EF4-FFF2-40B4-BE49-F238E27FC236}">
                <a16:creationId xmlns:a16="http://schemas.microsoft.com/office/drawing/2014/main" id="{212AD741-8871-40D6-BE29-56040DF51D21}"/>
              </a:ext>
            </a:extLst>
          </p:cNvPr>
          <p:cNvSpPr>
            <a:spLocks noGrp="1"/>
          </p:cNvSpPr>
          <p:nvPr/>
        </p:nvSpPr>
        <p:spPr>
          <a:xfrm>
            <a:off x="5886450" y="1466850"/>
            <a:ext cx="5372100" cy="3257550"/>
          </a:xfrm>
          <a:prstGeom prst="roundRect">
            <a:avLst>
              <a:gd name="adj" fmla="val 3509"/>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54" name="Picture 53"/>
          <p:cNvPicPr>
            <a:picLocks noChangeAspect="1"/>
          </p:cNvPicPr>
          <p:nvPr/>
        </p:nvPicPr>
        <p:blipFill>
          <a:blip r:embed="rId7"/>
          <a:stretch/>
        </p:blipFill>
        <p:spPr>
          <a:xfrm>
            <a:off x="6216824" y="1638300"/>
            <a:ext cx="4711352" cy="2914650"/>
          </a:xfrm>
          <a:prstGeom prst="roundRect">
            <a:avLst>
              <a:gd name="adj" fmla="val 2614"/>
            </a:avLst>
          </a:prstGeom>
        </p:spPr>
      </p:pic>
      <p:sp>
        <p:nvSpPr>
          <p:cNvPr id="26" name="Rectangle 25">
            <a:extLst>
              <a:ext uri="{FF2B5EF4-FFF2-40B4-BE49-F238E27FC236}">
                <a16:creationId xmlns:a16="http://schemas.microsoft.com/office/drawing/2014/main" id="{AB40A742-191F-40E6-BD9E-FE2563E68BDF}"/>
              </a:ext>
            </a:extLst>
          </p:cNvPr>
          <p:cNvSpPr>
            <a:spLocks noGrp="1"/>
          </p:cNvSpPr>
          <p:nvPr/>
        </p:nvSpPr>
        <p:spPr>
          <a:xfrm>
            <a:off x="6076950" y="4972050"/>
            <a:ext cx="4953000" cy="285750"/>
          </a:xfrm>
          <a:prstGeom prst="rect">
            <a:avLst/>
          </a:prstGeom>
          <a:noFill/>
          <a:ln w="0">
            <a:noFill/>
            <a:prstDash val="solid"/>
          </a:ln>
        </p:spPr>
        <p:txBody>
          <a:bodyPr/>
          <a:lstStyle/>
          <a:p>
            <a:pPr algn="ctr">
              <a:defRPr sz="1575" b="1">
                <a:solidFill>
                  <a:srgbClr val="083344"/>
                </a:solidFill>
              </a:defRPr>
            </a:pPr>
            <a:r>
              <a:rPr sz="1575" b="1">
                <a:solidFill>
                  <a:srgbClr val="083344"/>
                </a:solidFill>
              </a:rPr>
              <a:t>Component view supports modular reasoning.</a:t>
            </a:r>
          </a:p>
        </p:txBody>
      </p:sp>
      <p:sp>
        <p:nvSpPr>
          <p:cNvPr id="27" name="Rectangle 26">
            <a:extLst>
              <a:ext uri="{FF2B5EF4-FFF2-40B4-BE49-F238E27FC236}">
                <a16:creationId xmlns:a16="http://schemas.microsoft.com/office/drawing/2014/main" id="{83365F90-DB3B-45E7-A273-E8F340872D63}"/>
              </a:ext>
            </a:extLst>
          </p:cNvPr>
          <p:cNvSpPr>
            <a:spLocks noGrp="1"/>
          </p:cNvSpPr>
          <p:nvPr/>
        </p:nvSpPr>
        <p:spPr>
          <a:xfrm>
            <a:off x="6286500" y="5314950"/>
            <a:ext cx="4533900" cy="266700"/>
          </a:xfrm>
          <a:prstGeom prst="rect">
            <a:avLst/>
          </a:prstGeom>
          <a:noFill/>
          <a:ln w="0">
            <a:noFill/>
            <a:prstDash val="solid"/>
          </a:ln>
        </p:spPr>
        <p:txBody>
          <a:bodyPr/>
          <a:lstStyle/>
          <a:p>
            <a:pPr algn="ctr">
              <a:defRPr sz="1350" b="0">
                <a:solidFill>
                  <a:srgbClr val="5B6B78"/>
                </a:solidFill>
              </a:defRPr>
            </a:pPr>
            <a:r>
              <a:rPr sz="1350" b="0">
                <a:solidFill>
                  <a:srgbClr val="5B6B78"/>
                </a:solidFill>
              </a:rPr>
              <a:t>Class model kept as supporting design evidence.</a:t>
            </a:r>
          </a:p>
        </p:txBody>
      </p:sp>
      <p:sp>
        <p:nvSpPr>
          <p:cNvPr id="28" name="Rectangle 27">
            <a:extLst>
              <a:ext uri="{FF2B5EF4-FFF2-40B4-BE49-F238E27FC236}">
                <a16:creationId xmlns:a16="http://schemas.microsoft.com/office/drawing/2014/main" id="{E13CB8F2-8ED1-40D6-8E15-ECDE9BCD53CC}"/>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29" name="Rectangle 28">
            <a:extLst>
              <a:ext uri="{FF2B5EF4-FFF2-40B4-BE49-F238E27FC236}">
                <a16:creationId xmlns:a16="http://schemas.microsoft.com/office/drawing/2014/main" id="{CE6B560A-FCBF-405A-87FB-82568322AB06}"/>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09 / 11</a:t>
            </a:r>
          </a:p>
        </p:txBody>
      </p:sp>
      <p:pic>
        <p:nvPicPr>
          <p:cNvPr id="16" name="Picture 15">
            <a:extLst>
              <a:ext uri="{FF2B5EF4-FFF2-40B4-BE49-F238E27FC236}">
                <a16:creationId xmlns:a16="http://schemas.microsoft.com/office/drawing/2014/main" id="{9855D3D0-2824-1F73-0CE7-A977BA5106C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13811268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0606B7-0AD7-4EE6-803A-2B47A0AAA95D}"/>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sp>
        <p:nvSpPr>
          <p:cNvPr id="2" name="Rectangle 1">
            <a:extLst>
              <a:ext uri="{FF2B5EF4-FFF2-40B4-BE49-F238E27FC236}">
                <a16:creationId xmlns:a16="http://schemas.microsoft.com/office/drawing/2014/main" id="{798C2021-80B1-4D95-977D-1E3523B75A9D}"/>
              </a:ext>
            </a:extLst>
          </p:cNvPr>
          <p:cNvSpPr>
            <a:spLocks noGrp="1"/>
          </p:cNvSpPr>
          <p:nvPr/>
        </p:nvSpPr>
        <p:spPr>
          <a:xfrm>
            <a:off x="685800" y="342900"/>
            <a:ext cx="4000500" cy="209550"/>
          </a:xfrm>
          <a:prstGeom prst="rect">
            <a:avLst/>
          </a:prstGeom>
          <a:noFill/>
          <a:ln w="0">
            <a:noFill/>
            <a:prstDash val="solid"/>
          </a:ln>
        </p:spPr>
        <p:txBody>
          <a:bodyPr/>
          <a:lstStyle/>
          <a:p>
            <a:pPr algn="l">
              <a:defRPr sz="900" b="1">
                <a:solidFill>
                  <a:srgbClr val="009999"/>
                </a:solidFill>
              </a:defRPr>
            </a:pPr>
            <a:r>
              <a:rPr sz="900" b="1">
                <a:solidFill>
                  <a:srgbClr val="009999"/>
                </a:solidFill>
              </a:rPr>
              <a:t>CLOSING</a:t>
            </a:r>
          </a:p>
        </p:txBody>
      </p:sp>
      <p:sp>
        <p:nvSpPr>
          <p:cNvPr id="3" name="Rectangle 2">
            <a:extLst>
              <a:ext uri="{FF2B5EF4-FFF2-40B4-BE49-F238E27FC236}">
                <a16:creationId xmlns:a16="http://schemas.microsoft.com/office/drawing/2014/main" id="{996C79EB-ACFB-463C-BB5E-3A0C367D998D}"/>
              </a:ext>
            </a:extLst>
          </p:cNvPr>
          <p:cNvSpPr>
            <a:spLocks noGrp="1"/>
          </p:cNvSpPr>
          <p:nvPr/>
        </p:nvSpPr>
        <p:spPr>
          <a:xfrm>
            <a:off x="685800" y="609600"/>
            <a:ext cx="7810500" cy="495300"/>
          </a:xfrm>
          <a:prstGeom prst="rect">
            <a:avLst/>
          </a:prstGeom>
          <a:noFill/>
          <a:ln w="0">
            <a:noFill/>
            <a:prstDash val="solid"/>
          </a:ln>
        </p:spPr>
        <p:txBody>
          <a:bodyPr/>
          <a:lstStyle/>
          <a:p>
            <a:pPr algn="l">
              <a:defRPr sz="2850" b="1">
                <a:solidFill>
                  <a:srgbClr val="083344"/>
                </a:solidFill>
              </a:defRPr>
            </a:pPr>
            <a:r>
              <a:rPr sz="2850" b="1">
                <a:solidFill>
                  <a:srgbClr val="083344"/>
                </a:solidFill>
              </a:rPr>
              <a:t>Conclusion</a:t>
            </a:r>
          </a:p>
        </p:txBody>
      </p:sp>
      <p:sp>
        <p:nvSpPr>
          <p:cNvPr id="4" name="Rectangle: Rounded Corners 3">
            <a:extLst>
              <a:ext uri="{FF2B5EF4-FFF2-40B4-BE49-F238E27FC236}">
                <a16:creationId xmlns:a16="http://schemas.microsoft.com/office/drawing/2014/main" id="{20F413A2-9496-42B7-B4F8-7BA558792E5F}"/>
              </a:ext>
            </a:extLst>
          </p:cNvPr>
          <p:cNvSpPr>
            <a:spLocks noGrp="1"/>
          </p:cNvSpPr>
          <p:nvPr/>
        </p:nvSpPr>
        <p:spPr>
          <a:xfrm>
            <a:off x="1447800" y="1638300"/>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26" name="Graphic 25"/>
          <p:cNvPicPr>
            <a:picLocks noChangeAspect="1"/>
          </p:cNvPicPr>
          <p:nvPr/>
        </p:nvPicPr>
        <p:blipFill>
          <a:blip>
            <a:extLst>
              <a:ext uri="{96DAC541-7B7A-43D3-8B79-37D633B846F1}">
                <asvg:svgBlip xmlns:asvg="http://schemas.microsoft.com/office/drawing/2016/SVG/main" r:embed="rId3"/>
              </a:ext>
            </a:extLst>
          </a:blip>
          <a:stretch/>
        </p:blipFill>
        <p:spPr>
          <a:xfrm>
            <a:off x="1600200" y="1789176"/>
            <a:ext cx="228600" cy="228600"/>
          </a:xfrm>
          <a:prstGeom prst="rect">
            <a:avLst/>
          </a:prstGeom>
        </p:spPr>
      </p:pic>
      <p:sp>
        <p:nvSpPr>
          <p:cNvPr id="6" name="Rectangle 5">
            <a:extLst>
              <a:ext uri="{FF2B5EF4-FFF2-40B4-BE49-F238E27FC236}">
                <a16:creationId xmlns:a16="http://schemas.microsoft.com/office/drawing/2014/main" id="{39E9A281-CD65-468A-9726-228B6EF78227}"/>
              </a:ext>
            </a:extLst>
          </p:cNvPr>
          <p:cNvSpPr>
            <a:spLocks noGrp="1"/>
          </p:cNvSpPr>
          <p:nvPr/>
        </p:nvSpPr>
        <p:spPr>
          <a:xfrm>
            <a:off x="1924050" y="1752600"/>
            <a:ext cx="3219450" cy="247650"/>
          </a:xfrm>
          <a:prstGeom prst="rect">
            <a:avLst/>
          </a:prstGeom>
          <a:noFill/>
          <a:ln w="0">
            <a:noFill/>
            <a:prstDash val="solid"/>
          </a:ln>
        </p:spPr>
        <p:txBody>
          <a:bodyPr/>
          <a:lstStyle/>
          <a:p>
            <a:pPr algn="l">
              <a:defRPr sz="1275" b="1">
                <a:solidFill>
                  <a:srgbClr val="083344"/>
                </a:solidFill>
              </a:defRPr>
            </a:pPr>
            <a:r>
              <a:rPr sz="1275" b="1">
                <a:solidFill>
                  <a:srgbClr val="083344"/>
                </a:solidFill>
              </a:rPr>
              <a:t>Secure document management</a:t>
            </a:r>
          </a:p>
        </p:txBody>
      </p:sp>
      <p:sp>
        <p:nvSpPr>
          <p:cNvPr id="7" name="Rectangle: Rounded Corners 6">
            <a:extLst>
              <a:ext uri="{FF2B5EF4-FFF2-40B4-BE49-F238E27FC236}">
                <a16:creationId xmlns:a16="http://schemas.microsoft.com/office/drawing/2014/main" id="{26AC86C3-AD1E-4302-A343-0826FCC58265}"/>
              </a:ext>
            </a:extLst>
          </p:cNvPr>
          <p:cNvSpPr>
            <a:spLocks noGrp="1"/>
          </p:cNvSpPr>
          <p:nvPr/>
        </p:nvSpPr>
        <p:spPr>
          <a:xfrm>
            <a:off x="5924550" y="1638300"/>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29" name="Graphic 28"/>
          <p:cNvPicPr>
            <a:picLocks noChangeAspect="1"/>
          </p:cNvPicPr>
          <p:nvPr/>
        </p:nvPicPr>
        <p:blipFill>
          <a:blip>
            <a:extLst>
              <a:ext uri="{96DAC541-7B7A-43D3-8B79-37D633B846F1}">
                <asvg:svgBlip xmlns:asvg="http://schemas.microsoft.com/office/drawing/2016/SVG/main" r:embed="rId4"/>
              </a:ext>
            </a:extLst>
          </a:blip>
          <a:stretch/>
        </p:blipFill>
        <p:spPr>
          <a:xfrm>
            <a:off x="6076950" y="1789176"/>
            <a:ext cx="228600" cy="228600"/>
          </a:xfrm>
          <a:prstGeom prst="rect">
            <a:avLst/>
          </a:prstGeom>
        </p:spPr>
      </p:pic>
      <p:sp>
        <p:nvSpPr>
          <p:cNvPr id="9" name="Rectangle 8">
            <a:extLst>
              <a:ext uri="{FF2B5EF4-FFF2-40B4-BE49-F238E27FC236}">
                <a16:creationId xmlns:a16="http://schemas.microsoft.com/office/drawing/2014/main" id="{8E00972E-5159-4403-892E-0CAB996A3604}"/>
              </a:ext>
            </a:extLst>
          </p:cNvPr>
          <p:cNvSpPr>
            <a:spLocks noGrp="1"/>
          </p:cNvSpPr>
          <p:nvPr/>
        </p:nvSpPr>
        <p:spPr>
          <a:xfrm>
            <a:off x="6400800" y="1752600"/>
            <a:ext cx="3219450" cy="247650"/>
          </a:xfrm>
          <a:prstGeom prst="rect">
            <a:avLst/>
          </a:prstGeom>
          <a:noFill/>
          <a:ln w="0">
            <a:noFill/>
            <a:prstDash val="solid"/>
          </a:ln>
        </p:spPr>
        <p:txBody>
          <a:bodyPr/>
          <a:lstStyle/>
          <a:p>
            <a:pPr algn="l">
              <a:defRPr sz="1275" b="1">
                <a:solidFill>
                  <a:srgbClr val="083344"/>
                </a:solidFill>
              </a:defRPr>
            </a:pPr>
            <a:r>
              <a:rPr sz="1275" b="1">
                <a:solidFill>
                  <a:srgbClr val="083344"/>
                </a:solidFill>
              </a:rPr>
              <a:t>Automated processing pipeline</a:t>
            </a:r>
          </a:p>
        </p:txBody>
      </p:sp>
      <p:sp>
        <p:nvSpPr>
          <p:cNvPr id="10" name="Rectangle: Rounded Corners 9">
            <a:extLst>
              <a:ext uri="{FF2B5EF4-FFF2-40B4-BE49-F238E27FC236}">
                <a16:creationId xmlns:a16="http://schemas.microsoft.com/office/drawing/2014/main" id="{347FBBCC-FB51-457B-BA7E-16F7532D25DA}"/>
              </a:ext>
            </a:extLst>
          </p:cNvPr>
          <p:cNvSpPr>
            <a:spLocks noGrp="1"/>
          </p:cNvSpPr>
          <p:nvPr/>
        </p:nvSpPr>
        <p:spPr>
          <a:xfrm>
            <a:off x="1447800" y="2552700"/>
            <a:ext cx="3810000" cy="552450"/>
          </a:xfrm>
          <a:prstGeom prst="roundRect">
            <a:avLst>
              <a:gd name="adj" fmla="val 50000"/>
            </a:avLst>
          </a:prstGeom>
          <a:solidFill>
            <a:srgbClr val="FFFFFF"/>
          </a:solidFill>
          <a:ln w="9525">
            <a:solidFill>
              <a:srgbClr val="CBE4EC"/>
            </a:solidFill>
            <a:prstDash val="solid"/>
          </a:ln>
        </p:spPr>
        <p:txBody>
          <a:bodyPr/>
          <a:lstStyle/>
          <a:p>
            <a:endParaRPr lang="en-US" dirty="0"/>
          </a:p>
        </p:txBody>
      </p:sp>
      <p:pic>
        <p:nvPicPr>
          <p:cNvPr id="32" name="Graphic 31"/>
          <p:cNvPicPr>
            <a:picLocks noChangeAspect="1"/>
          </p:cNvPicPr>
          <p:nvPr/>
        </p:nvPicPr>
        <p:blipFill>
          <a:blip>
            <a:extLst>
              <a:ext uri="{96DAC541-7B7A-43D3-8B79-37D633B846F1}">
                <asvg:svgBlip xmlns:asvg="http://schemas.microsoft.com/office/drawing/2016/SVG/main" r:embed="rId5"/>
              </a:ext>
            </a:extLst>
          </a:blip>
          <a:stretch/>
        </p:blipFill>
        <p:spPr>
          <a:xfrm>
            <a:off x="1600200" y="2703576"/>
            <a:ext cx="228600" cy="228600"/>
          </a:xfrm>
          <a:prstGeom prst="rect">
            <a:avLst/>
          </a:prstGeom>
        </p:spPr>
      </p:pic>
      <p:sp>
        <p:nvSpPr>
          <p:cNvPr id="12" name="Rectangle 11">
            <a:extLst>
              <a:ext uri="{FF2B5EF4-FFF2-40B4-BE49-F238E27FC236}">
                <a16:creationId xmlns:a16="http://schemas.microsoft.com/office/drawing/2014/main" id="{3471C105-3B22-45EE-A2C1-2950235358F0}"/>
              </a:ext>
            </a:extLst>
          </p:cNvPr>
          <p:cNvSpPr>
            <a:spLocks noGrp="1"/>
          </p:cNvSpPr>
          <p:nvPr/>
        </p:nvSpPr>
        <p:spPr>
          <a:xfrm>
            <a:off x="1924050" y="2667000"/>
            <a:ext cx="3219450" cy="247650"/>
          </a:xfrm>
          <a:prstGeom prst="rect">
            <a:avLst/>
          </a:prstGeom>
          <a:noFill/>
          <a:ln w="0">
            <a:noFill/>
            <a:prstDash val="solid"/>
          </a:ln>
        </p:spPr>
        <p:txBody>
          <a:bodyPr/>
          <a:lstStyle/>
          <a:p>
            <a:pPr algn="l">
              <a:defRPr sz="1275" b="1">
                <a:solidFill>
                  <a:srgbClr val="083344"/>
                </a:solidFill>
              </a:defRPr>
            </a:pPr>
            <a:r>
              <a:rPr sz="1275" b="1">
                <a:solidFill>
                  <a:srgbClr val="083344"/>
                </a:solidFill>
              </a:rPr>
              <a:t>Semantic document retrieval</a:t>
            </a:r>
          </a:p>
        </p:txBody>
      </p:sp>
      <p:sp>
        <p:nvSpPr>
          <p:cNvPr id="13" name="Rectangle: Rounded Corners 12">
            <a:extLst>
              <a:ext uri="{FF2B5EF4-FFF2-40B4-BE49-F238E27FC236}">
                <a16:creationId xmlns:a16="http://schemas.microsoft.com/office/drawing/2014/main" id="{F370BAD4-89E2-42BC-A554-00B54527CDC0}"/>
              </a:ext>
            </a:extLst>
          </p:cNvPr>
          <p:cNvSpPr>
            <a:spLocks noGrp="1"/>
          </p:cNvSpPr>
          <p:nvPr/>
        </p:nvSpPr>
        <p:spPr>
          <a:xfrm>
            <a:off x="5924550" y="2552700"/>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5" name="Graphic 34"/>
          <p:cNvPicPr>
            <a:picLocks noChangeAspect="1"/>
          </p:cNvPicPr>
          <p:nvPr/>
        </p:nvPicPr>
        <p:blipFill>
          <a:blip>
            <a:extLst>
              <a:ext uri="{96DAC541-7B7A-43D3-8B79-37D633B846F1}">
                <asvg:svgBlip xmlns:asvg="http://schemas.microsoft.com/office/drawing/2016/SVG/main" r:embed="rId6"/>
              </a:ext>
            </a:extLst>
          </a:blip>
          <a:stretch/>
        </p:blipFill>
        <p:spPr>
          <a:xfrm>
            <a:off x="6076950" y="2703576"/>
            <a:ext cx="228600" cy="228600"/>
          </a:xfrm>
          <a:prstGeom prst="rect">
            <a:avLst/>
          </a:prstGeom>
        </p:spPr>
      </p:pic>
      <p:sp>
        <p:nvSpPr>
          <p:cNvPr id="15" name="Rectangle 14">
            <a:extLst>
              <a:ext uri="{FF2B5EF4-FFF2-40B4-BE49-F238E27FC236}">
                <a16:creationId xmlns:a16="http://schemas.microsoft.com/office/drawing/2014/main" id="{41DAC80F-F257-49E5-BCDD-DDA807A52C00}"/>
              </a:ext>
            </a:extLst>
          </p:cNvPr>
          <p:cNvSpPr>
            <a:spLocks noGrp="1"/>
          </p:cNvSpPr>
          <p:nvPr/>
        </p:nvSpPr>
        <p:spPr>
          <a:xfrm>
            <a:off x="6400800" y="2667000"/>
            <a:ext cx="3219450" cy="247650"/>
          </a:xfrm>
          <a:prstGeom prst="rect">
            <a:avLst/>
          </a:prstGeom>
          <a:noFill/>
          <a:ln w="0">
            <a:noFill/>
            <a:prstDash val="solid"/>
          </a:ln>
        </p:spPr>
        <p:txBody>
          <a:bodyPr/>
          <a:lstStyle/>
          <a:p>
            <a:pPr algn="l">
              <a:defRPr sz="1275" b="1">
                <a:solidFill>
                  <a:srgbClr val="083344"/>
                </a:solidFill>
              </a:defRPr>
            </a:pPr>
            <a:r>
              <a:rPr sz="1275" b="1">
                <a:solidFill>
                  <a:srgbClr val="083344"/>
                </a:solidFill>
              </a:rPr>
              <a:t>Grounded response generation</a:t>
            </a:r>
          </a:p>
        </p:txBody>
      </p:sp>
      <p:sp>
        <p:nvSpPr>
          <p:cNvPr id="16" name="Rectangle: Rounded Corners 15">
            <a:extLst>
              <a:ext uri="{FF2B5EF4-FFF2-40B4-BE49-F238E27FC236}">
                <a16:creationId xmlns:a16="http://schemas.microsoft.com/office/drawing/2014/main" id="{EEC6CA41-1BD2-49A1-894C-FB339C37270B}"/>
              </a:ext>
            </a:extLst>
          </p:cNvPr>
          <p:cNvSpPr>
            <a:spLocks noGrp="1"/>
          </p:cNvSpPr>
          <p:nvPr/>
        </p:nvSpPr>
        <p:spPr>
          <a:xfrm>
            <a:off x="1447800" y="3467100"/>
            <a:ext cx="3810000" cy="55245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8" name="Graphic 37"/>
          <p:cNvPicPr>
            <a:picLocks noChangeAspect="1"/>
          </p:cNvPicPr>
          <p:nvPr/>
        </p:nvPicPr>
        <p:blipFill>
          <a:blip>
            <a:extLst>
              <a:ext uri="{96DAC541-7B7A-43D3-8B79-37D633B846F1}">
                <asvg:svgBlip xmlns:asvg="http://schemas.microsoft.com/office/drawing/2016/SVG/main" r:embed="rId7"/>
              </a:ext>
            </a:extLst>
          </a:blip>
          <a:stretch/>
        </p:blipFill>
        <p:spPr>
          <a:xfrm>
            <a:off x="1600200" y="3617976"/>
            <a:ext cx="228600" cy="228600"/>
          </a:xfrm>
          <a:prstGeom prst="rect">
            <a:avLst/>
          </a:prstGeom>
        </p:spPr>
      </p:pic>
      <p:sp>
        <p:nvSpPr>
          <p:cNvPr id="18" name="Rectangle 17">
            <a:extLst>
              <a:ext uri="{FF2B5EF4-FFF2-40B4-BE49-F238E27FC236}">
                <a16:creationId xmlns:a16="http://schemas.microsoft.com/office/drawing/2014/main" id="{B7698AED-3ABA-42B9-ABBB-E2606E284416}"/>
              </a:ext>
            </a:extLst>
          </p:cNvPr>
          <p:cNvSpPr>
            <a:spLocks noGrp="1"/>
          </p:cNvSpPr>
          <p:nvPr/>
        </p:nvSpPr>
        <p:spPr>
          <a:xfrm>
            <a:off x="1924050" y="3581400"/>
            <a:ext cx="3219450" cy="247650"/>
          </a:xfrm>
          <a:prstGeom prst="rect">
            <a:avLst/>
          </a:prstGeom>
          <a:noFill/>
          <a:ln w="0">
            <a:noFill/>
            <a:prstDash val="solid"/>
          </a:ln>
        </p:spPr>
        <p:txBody>
          <a:bodyPr/>
          <a:lstStyle/>
          <a:p>
            <a:pPr algn="l">
              <a:defRPr sz="1275" b="1">
                <a:solidFill>
                  <a:srgbClr val="083344"/>
                </a:solidFill>
              </a:defRPr>
            </a:pPr>
            <a:r>
              <a:rPr sz="1275" b="1">
                <a:solidFill>
                  <a:srgbClr val="083344"/>
                </a:solidFill>
              </a:rPr>
              <a:t>Extensible enterprise architecture</a:t>
            </a:r>
          </a:p>
        </p:txBody>
      </p:sp>
      <p:sp>
        <p:nvSpPr>
          <p:cNvPr id="19" name="Rectangle 18">
            <a:extLst>
              <a:ext uri="{FF2B5EF4-FFF2-40B4-BE49-F238E27FC236}">
                <a16:creationId xmlns:a16="http://schemas.microsoft.com/office/drawing/2014/main" id="{ECE9E0A6-6B31-4EB9-94EF-854B5F2116D7}"/>
              </a:ext>
            </a:extLst>
          </p:cNvPr>
          <p:cNvSpPr>
            <a:spLocks noGrp="1"/>
          </p:cNvSpPr>
          <p:nvPr/>
        </p:nvSpPr>
        <p:spPr>
          <a:xfrm>
            <a:off x="1809750" y="4819650"/>
            <a:ext cx="8572500" cy="704850"/>
          </a:xfrm>
          <a:prstGeom prst="rect">
            <a:avLst/>
          </a:prstGeom>
          <a:noFill/>
          <a:ln w="0">
            <a:noFill/>
            <a:prstDash val="solid"/>
          </a:ln>
        </p:spPr>
        <p:txBody>
          <a:bodyPr/>
          <a:lstStyle/>
          <a:p>
            <a:pPr algn="ctr">
              <a:defRPr sz="2325" b="1">
                <a:solidFill>
                  <a:srgbClr val="083344"/>
                </a:solidFill>
              </a:defRPr>
            </a:pPr>
            <a:r>
              <a:rPr sz="2325" b="1">
                <a:solidFill>
                  <a:srgbClr val="083344"/>
                </a:solidFill>
              </a:rPr>
              <a:t>The project translated enterprise knowledge needs</a:t>
            </a:r>
          </a:p>
          <a:p>
            <a:pPr algn="ctr">
              <a:defRPr sz="2325" b="1">
                <a:solidFill>
                  <a:srgbClr val="083344"/>
                </a:solidFill>
              </a:defRPr>
            </a:pPr>
            <a:r>
              <a:rPr sz="2325" b="1">
                <a:solidFill>
                  <a:srgbClr val="083344"/>
                </a:solidFill>
              </a:rPr>
              <a:t>into a maintainable software architecture.</a:t>
            </a:r>
          </a:p>
        </p:txBody>
      </p:sp>
      <p:sp>
        <p:nvSpPr>
          <p:cNvPr id="20" name="Rectangle 19">
            <a:extLst>
              <a:ext uri="{FF2B5EF4-FFF2-40B4-BE49-F238E27FC236}">
                <a16:creationId xmlns:a16="http://schemas.microsoft.com/office/drawing/2014/main" id="{F9C90403-F945-4DBB-836F-7C38DDC3969F}"/>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21" name="Rectangle 20">
            <a:extLst>
              <a:ext uri="{FF2B5EF4-FFF2-40B4-BE49-F238E27FC236}">
                <a16:creationId xmlns:a16="http://schemas.microsoft.com/office/drawing/2014/main" id="{4F5F509E-BB67-475C-B801-32B16373DF1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10 / 11</a:t>
            </a:r>
          </a:p>
        </p:txBody>
      </p:sp>
      <p:pic>
        <p:nvPicPr>
          <p:cNvPr id="11" name="Picture 10">
            <a:extLst>
              <a:ext uri="{FF2B5EF4-FFF2-40B4-BE49-F238E27FC236}">
                <a16:creationId xmlns:a16="http://schemas.microsoft.com/office/drawing/2014/main" id="{C7667823-285F-B107-02EE-26683B29C0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54399121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622AC-99C7-41AC-B7E0-39F51FB2AB5E}"/>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lang="en-US"/>
          </a:p>
        </p:txBody>
      </p:sp>
      <p:pic>
        <p:nvPicPr>
          <p:cNvPr id="9" name="Graphic 8"/>
          <p:cNvPicPr>
            <a:picLocks noChangeAspect="1"/>
          </p:cNvPicPr>
          <p:nvPr/>
        </p:nvPicPr>
        <p:blipFill>
          <a:blip>
            <a:extLst>
              <a:ext uri="{96DAC541-7B7A-43D3-8B79-37D633B846F1}">
                <asvg:svgBlip xmlns:asvg="http://schemas.microsoft.com/office/drawing/2016/SVG/main" r:embed="rId3"/>
              </a:ext>
            </a:extLst>
          </a:blip>
          <a:stretch/>
        </p:blipFill>
        <p:spPr>
          <a:xfrm>
            <a:off x="5372100" y="1276350"/>
            <a:ext cx="1447800" cy="1447800"/>
          </a:xfrm>
          <a:prstGeom prst="rect">
            <a:avLst/>
          </a:prstGeom>
        </p:spPr>
      </p:pic>
      <p:sp>
        <p:nvSpPr>
          <p:cNvPr id="3" name="Rectangle 2">
            <a:extLst>
              <a:ext uri="{FF2B5EF4-FFF2-40B4-BE49-F238E27FC236}">
                <a16:creationId xmlns:a16="http://schemas.microsoft.com/office/drawing/2014/main" id="{0B82B446-B0B6-4A78-B568-52EEAE34EEDA}"/>
              </a:ext>
            </a:extLst>
          </p:cNvPr>
          <p:cNvSpPr>
            <a:spLocks noGrp="1"/>
          </p:cNvSpPr>
          <p:nvPr/>
        </p:nvSpPr>
        <p:spPr>
          <a:xfrm>
            <a:off x="2571750" y="3124200"/>
            <a:ext cx="7048500" cy="685800"/>
          </a:xfrm>
          <a:prstGeom prst="rect">
            <a:avLst/>
          </a:prstGeom>
          <a:noFill/>
          <a:ln w="0">
            <a:noFill/>
            <a:prstDash val="solid"/>
          </a:ln>
        </p:spPr>
        <p:txBody>
          <a:bodyPr/>
          <a:lstStyle/>
          <a:p>
            <a:pPr algn="ctr">
              <a:defRPr sz="4350" b="1">
                <a:solidFill>
                  <a:srgbClr val="083344"/>
                </a:solidFill>
              </a:defRPr>
            </a:pPr>
            <a:r>
              <a:rPr sz="4350" b="1">
                <a:solidFill>
                  <a:srgbClr val="083344"/>
                </a:solidFill>
              </a:rPr>
              <a:t>Questions?</a:t>
            </a:r>
          </a:p>
        </p:txBody>
      </p:sp>
      <p:sp>
        <p:nvSpPr>
          <p:cNvPr id="4" name="Rectangle 3">
            <a:extLst>
              <a:ext uri="{FF2B5EF4-FFF2-40B4-BE49-F238E27FC236}">
                <a16:creationId xmlns:a16="http://schemas.microsoft.com/office/drawing/2014/main" id="{0ECF2335-BFA8-4A15-83CE-C3ABD3B4C6C4}"/>
              </a:ext>
            </a:extLst>
          </p:cNvPr>
          <p:cNvSpPr>
            <a:spLocks noGrp="1"/>
          </p:cNvSpPr>
          <p:nvPr/>
        </p:nvSpPr>
        <p:spPr>
          <a:xfrm>
            <a:off x="3143250" y="3943350"/>
            <a:ext cx="5905500" cy="342900"/>
          </a:xfrm>
          <a:prstGeom prst="rect">
            <a:avLst/>
          </a:prstGeom>
          <a:noFill/>
          <a:ln w="0">
            <a:noFill/>
            <a:prstDash val="solid"/>
          </a:ln>
        </p:spPr>
        <p:txBody>
          <a:bodyPr/>
          <a:lstStyle/>
          <a:p>
            <a:pPr algn="ctr">
              <a:defRPr sz="1950" b="0">
                <a:solidFill>
                  <a:srgbClr val="5B6B78"/>
                </a:solidFill>
              </a:defRPr>
            </a:pPr>
            <a:r>
              <a:rPr sz="1950" b="0">
                <a:solidFill>
                  <a:srgbClr val="5B6B78"/>
                </a:solidFill>
              </a:rPr>
              <a:t>Thank you for your attention</a:t>
            </a:r>
          </a:p>
        </p:txBody>
      </p:sp>
      <p:sp>
        <p:nvSpPr>
          <p:cNvPr id="5" name="Rectangle 4">
            <a:extLst>
              <a:ext uri="{FF2B5EF4-FFF2-40B4-BE49-F238E27FC236}">
                <a16:creationId xmlns:a16="http://schemas.microsoft.com/office/drawing/2014/main" id="{CC226F91-37F0-4849-941C-B59A6E4BB065}"/>
              </a:ext>
            </a:extLst>
          </p:cNvPr>
          <p:cNvSpPr>
            <a:spLocks noGrp="1"/>
          </p:cNvSpPr>
          <p:nvPr/>
        </p:nvSpPr>
        <p:spPr>
          <a:xfrm>
            <a:off x="2381250" y="4895850"/>
            <a:ext cx="7429500" cy="304800"/>
          </a:xfrm>
          <a:prstGeom prst="rect">
            <a:avLst/>
          </a:prstGeom>
          <a:noFill/>
          <a:ln w="0">
            <a:noFill/>
            <a:prstDash val="solid"/>
          </a:ln>
        </p:spPr>
        <p:txBody>
          <a:bodyPr/>
          <a:lstStyle/>
          <a:p>
            <a:pPr algn="ctr">
              <a:defRPr sz="1500" b="1">
                <a:solidFill>
                  <a:srgbClr val="009999"/>
                </a:solidFill>
              </a:defRPr>
            </a:pPr>
            <a:r>
              <a:rPr sz="1500" b="1">
                <a:solidFill>
                  <a:srgbClr val="009999"/>
                </a:solidFill>
              </a:rPr>
              <a:t>Enterprise RAG system | Master's internship presentation</a:t>
            </a:r>
          </a:p>
        </p:txBody>
      </p:sp>
      <p:sp>
        <p:nvSpPr>
          <p:cNvPr id="6" name="Rectangle 5">
            <a:extLst>
              <a:ext uri="{FF2B5EF4-FFF2-40B4-BE49-F238E27FC236}">
                <a16:creationId xmlns:a16="http://schemas.microsoft.com/office/drawing/2014/main" id="{6B782F88-E526-4346-A96A-1F1A8ABDAA19}"/>
              </a:ext>
            </a:extLst>
          </p:cNvPr>
          <p:cNvSpPr>
            <a:spLocks noGrp="1"/>
          </p:cNvSpPr>
          <p:nvPr/>
        </p:nvSpPr>
        <p:spPr>
          <a:xfrm>
            <a:off x="685800" y="6419850"/>
            <a:ext cx="5905500" cy="228600"/>
          </a:xfrm>
          <a:prstGeom prst="rect">
            <a:avLst/>
          </a:prstGeom>
          <a:noFill/>
          <a:ln w="0">
            <a:noFill/>
            <a:prstDash val="solid"/>
          </a:ln>
        </p:spPr>
        <p:txBody>
          <a:bodyPr/>
          <a:lstStyle/>
          <a:p>
            <a:pPr algn="l">
              <a:defRPr sz="900" b="0">
                <a:solidFill>
                  <a:srgbClr val="5B6B78"/>
                </a:solidFill>
              </a:defRPr>
            </a:pPr>
            <a:r>
              <a:rPr sz="900" b="0">
                <a:solidFill>
                  <a:srgbClr val="5B6B78"/>
                </a:solidFill>
              </a:rPr>
              <a:t>AI-powered enterprise document retrieval system</a:t>
            </a:r>
          </a:p>
        </p:txBody>
      </p:sp>
      <p:sp>
        <p:nvSpPr>
          <p:cNvPr id="7" name="Rectangle 6">
            <a:extLst>
              <a:ext uri="{FF2B5EF4-FFF2-40B4-BE49-F238E27FC236}">
                <a16:creationId xmlns:a16="http://schemas.microsoft.com/office/drawing/2014/main" id="{7143FD8A-7577-44EE-867E-9069A381222A}"/>
              </a:ext>
            </a:extLst>
          </p:cNvPr>
          <p:cNvSpPr>
            <a:spLocks noGrp="1"/>
          </p:cNvSpPr>
          <p:nvPr/>
        </p:nvSpPr>
        <p:spPr>
          <a:xfrm>
            <a:off x="10820400" y="6419850"/>
            <a:ext cx="685800" cy="228600"/>
          </a:xfrm>
          <a:prstGeom prst="rect">
            <a:avLst/>
          </a:prstGeom>
          <a:noFill/>
          <a:ln w="0">
            <a:noFill/>
            <a:prstDash val="solid"/>
          </a:ln>
        </p:spPr>
        <p:txBody>
          <a:bodyPr/>
          <a:lstStyle/>
          <a:p>
            <a:pPr algn="r">
              <a:defRPr sz="900" b="1">
                <a:solidFill>
                  <a:srgbClr val="0077B6"/>
                </a:solidFill>
              </a:defRPr>
            </a:pPr>
            <a:r>
              <a:rPr sz="900" b="1">
                <a:solidFill>
                  <a:srgbClr val="0077B6"/>
                </a:solidFill>
              </a:rPr>
              <a:t>11 / 11</a:t>
            </a:r>
          </a:p>
        </p:txBody>
      </p:sp>
    </p:spTree>
    <p:extLst>
      <p:ext uri="{BB962C8B-B14F-4D97-AF65-F5344CB8AC3E}">
        <p14:creationId xmlns:p14="http://schemas.microsoft.com/office/powerpoint/2010/main" val="428664023"/>
      </p:ext>
    </p:extLst>
  </p:cSld>
  <p:clrMapOvr>
    <a:masterClrMapping/>
  </p:clrMapOvr>
  <p:transition>
    <p:fade/>
  </p:transition>
</p:sld>
</file>

<file path=ppt/theme/theme1.xml><?xml version="1.0" encoding="utf-8"?>
<a:theme xmlns:a="http://schemas.openxmlformats.org/drawingml/2006/main" name="Enterprise Theme">
  <a:themeElements>
    <a:clrScheme name="Enterpris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Enterprise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Enterprise Theme">
  <a:themeElements>
    <a:clrScheme name="Enterpris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Enterprise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1337</Words>
  <Application>Microsoft Office PowerPoint</Application>
  <DocSecurity>0</DocSecurity>
  <PresentationFormat>Widescreen</PresentationFormat>
  <Paragraphs>149</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Calibri</vt:lpstr>
      <vt:lpstr>Enterprise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 Fahim Hossain</cp:lastModifiedBy>
  <cp:revision>43</cp:revision>
  <dcterms:created xsi:type="dcterms:W3CDTF">2026-07-06T13:23:52Z</dcterms:created>
  <dcterms:modified xsi:type="dcterms:W3CDTF">2026-07-09T10:16:21Z</dcterms:modified>
</cp:coreProperties>
</file>