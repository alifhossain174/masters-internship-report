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409" autoAdjust="0"/>
  </p:normalViewPr>
  <p:slideViewPr>
    <p:cSldViewPr snapToGrid="0">
      <p:cViewPr varScale="1">
        <p:scale>
          <a:sx n="97" d="100"/>
          <a:sy n="97" d="100"/>
        </p:scale>
        <p:origin x="107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will introduce the internship project as an AI-powered enterprise document retrieval system. The main idea is to help users work with large internal documents through secure upload, processing, semantic search, and document-grounded responses. I will keep the presentation focused on software engineering decisions rather than product marketing, and I will explain how the system design connects the requirements, architecture, data model, and implementation choices.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agenda follows the required structure for the internship presentation. I start with context, then move into the epic or big story behind the project. After that I describe user stories, requirements, architecture, models, and design decisions. The goal is to make the flow easy to follow: first the problem and stakeholders, then what the system must do, and finally how the software design supports those goals.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internship was carried out in an industrial software environment at Siemens Energy, within a department involved in digitalization and process support. My role focused on software engineering work around an enterprise document retrieval system. This included requirement analysis, system design, backend development, interface implementation, and technical documentation. The company context matters because the system needed to fit enterprise expectations around security, maintainability, and reliable access to internal knowledge.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epic behind the project is the movement from static document storage to guided knowledge retrieval. In many organizations, useful information exists, but it is distributed across reports, manuals, and technical files. The system addresses that gap by processing documents, creating searchable representations, retrieving relevant sections, and generating responses grounded in those sections. I present this as a software engineering story: clear problem, defined users, and a maintainable technical 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user stories were written in a standard software engineering format: as a role, I want a capability, so that a value is achieved. This helped translate stakeholder needs into implementable features. For normal users, the focus is asking questions across selected documents and receiving referenced answers. For administrators, the focus is controlled access and monitoring. For document owners, the important workflow is upload, processing status, and making documents searchable.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requirements combine user-facing functions and quality attributes. Functionally, the system needs authentication, role-based access, document upload, processing, semantic search, conversation management, and response references. Non-functional requirements are equally important in an enterprise setting. Processing should run asynchronously so users are not blocked. The architecture should scale, preserve data isolation, remain reliable, and stay maintainable through clear separation of responsibilities and documentation.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high-level architecture extracted directly from the report. The system uses a Laravel web application as the central coordination layer. Users interact through the web interface, documents enter a processing pipeline with text extraction and OCR, chunks are stored with vector representations, and semantic search retrieves relevant context. The response generation step is document-grounded, meaning the answer is based on selected retrieved content rather than unsupported general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structure slide connects three views of the same system. The use case diagram summarizes the actors and interactions, such as uploading documents, monitoring processing, asking questions, and viewing references. The ER diagram shows how users, documents, chunks, conversations, messages, and usage logs are stored. The implementation stack is Laravel with PHP, PostgreSQL with vector storage, JavaScript for interface behavior, and an OCR-enabled document processing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implementation used Laravel's MVC pattern for the web application, while the design also follows hexagonal thinking around external services. The core application should coordinate workflows without being tightly coupled to document extraction, embedding, retrieval, or response generation details. Background queues were chosen for long-running document processing. PostgreSQL with vector storage supports both relational data and semantic retrieval, while role-based access control protects enterprise documents and conversations.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the project delivered a complete specification and design foundation for an AI-assisted enterprise document retrieval system. The work combined secure document management, automated processing, semantic retrieval, conversation management, and document-grounded response generation. From a software engineering perspective, the most important outcome is the maintainable structure: clear requirements, modular architecture, defined data relationships, and design decisions that support future extension without exposing unnecessary implementation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final slide is intended to leave space for discussion. I would invite questions about the requirements, architecture, model design, or implementation decisions. If asked about details, I would keep the explanation at an appropriate engineering level: Laravel-based MVC application, background processing, PostgreSQL with vector storage, semantic search, conversation management, and document-grounded responses. I would avoid vendor-specific or confidential implementation details and focus on design reasoning.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svg"/><Relationship Id="rId7" Type="http://schemas.openxmlformats.org/officeDocument/2006/relationships/image" Target="../media/image14.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 Id="rId9" Type="http://schemas.openxmlformats.org/officeDocument/2006/relationships/image" Target="../media/image16.svg"/></Relationships>
</file>

<file path=ppt/slides/_rels/slide4.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9.svg"/><Relationship Id="rId7" Type="http://schemas.openxmlformats.org/officeDocument/2006/relationships/image" Target="../media/image22.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image" Target="../media/image21.svg"/><Relationship Id="rId4" Type="http://schemas.openxmlformats.org/officeDocument/2006/relationships/image" Target="../media/image20.svg"/></Relationships>
</file>

<file path=ppt/slides/_rels/slide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4.svg"/><Relationship Id="rId7" Type="http://schemas.openxmlformats.org/officeDocument/2006/relationships/image" Target="../media/image27.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6.svg"/><Relationship Id="rId5" Type="http://schemas.openxmlformats.org/officeDocument/2006/relationships/image" Target="../media/image1.svg"/><Relationship Id="rId10" Type="http://schemas.openxmlformats.org/officeDocument/2006/relationships/image" Target="../media/image21.svg"/><Relationship Id="rId4" Type="http://schemas.openxmlformats.org/officeDocument/2006/relationships/image" Target="../media/image25.svg"/><Relationship Id="rId9" Type="http://schemas.openxmlformats.org/officeDocument/2006/relationships/image" Target="../media/image29.svg"/></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svg"/><Relationship Id="rId5" Type="http://schemas.openxmlformats.org/officeDocument/2006/relationships/image" Target="../media/image32.svg"/><Relationship Id="rId4" Type="http://schemas.openxmlformats.org/officeDocument/2006/relationships/image" Target="../media/image31.svg"/></Relationships>
</file>

<file path=ppt/slides/_rels/slide8.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3.png"/><Relationship Id="rId7" Type="http://schemas.openxmlformats.org/officeDocument/2006/relationships/image" Target="../media/image17.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png"/><Relationship Id="rId9" Type="http://schemas.openxmlformats.org/officeDocument/2006/relationships/image" Target="../media/image38.svg"/></Relationships>
</file>

<file path=ppt/slides/_rels/slide9.xml.rels><?xml version="1.0" encoding="UTF-8" standalone="yes"?>
<Relationships xmlns="http://schemas.openxmlformats.org/package/2006/relationships"><Relationship Id="rId3" Type="http://schemas.openxmlformats.org/officeDocument/2006/relationships/image" Target="../media/image39.svg"/><Relationship Id="rId7"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41.svg"/><Relationship Id="rId4" Type="http://schemas.openxmlformats.org/officeDocument/2006/relationships/image" Target="../media/image40.svg"/></Relationships>
</file>

<file path=ppt/slides/_rels/slide10.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9.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44.svg"/><Relationship Id="rId4" Type="http://schemas.openxmlformats.org/officeDocument/2006/relationships/image" Target="../media/image32.svg"/></Relationships>
</file>

<file path=ppt/slides/_rels/slide11.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lang="en-US"/>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lang="en-US"/>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lang="en-US"/>
          </a:p>
        </p:txBody>
      </p:sp>
      <p:pic>
        <p:nvPicPr>
          <p:cNvPr id="17"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19"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defRPr sz="1350" b="1">
                <a:solidFill>
                  <a:srgbClr val="009999"/>
                </a:solidFill>
              </a:defRPr>
            </a:pPr>
            <a:r>
              <a:rPr sz="1350" b="1" dirty="0">
                <a:solidFill>
                  <a:srgbClr val="009999"/>
                </a:solidFill>
              </a:rPr>
              <a:t>Master's Internship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defRPr sz="4050" b="1">
                <a:solidFill>
                  <a:srgbClr val="083344"/>
                </a:solidFill>
              </a:defRPr>
            </a:pPr>
            <a:r>
              <a:rPr sz="4050" b="1">
                <a:solidFill>
                  <a:srgbClr val="083344"/>
                </a:solidFill>
              </a:rPr>
              <a:t>AI-Powered Enterprise</a:t>
            </a:r>
          </a:p>
          <a:p>
            <a:pPr algn="l">
              <a:defRPr sz="4050" b="1">
                <a:solidFill>
                  <a:srgbClr val="083344"/>
                </a:solidFill>
              </a:defRPr>
            </a:pPr>
            <a:r>
              <a:rPr sz="4050" b="1">
                <a:solidFill>
                  <a:srgbClr val="083344"/>
                </a:solidFill>
              </a:rPr>
              <a:t>Document 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219450"/>
            <a:ext cx="6858000" cy="323850"/>
          </a:xfrm>
          <a:prstGeom prst="rect">
            <a:avLst/>
          </a:prstGeom>
          <a:noFill/>
          <a:ln w="0">
            <a:noFill/>
            <a:prstDash val="solid"/>
          </a:ln>
        </p:spPr>
        <p:txBody>
          <a:bodyPr/>
          <a:lstStyle/>
          <a:p>
            <a:pPr algn="l">
              <a:defRPr sz="1800" b="0">
                <a:solidFill>
                  <a:srgbClr val="5B6B78"/>
                </a:solidFill>
              </a:defRPr>
            </a:pPr>
            <a:r>
              <a:rPr sz="1800" b="0" dirty="0">
                <a:solidFill>
                  <a:srgbClr val="5B6B78"/>
                </a:solidFill>
              </a:rPr>
              <a:t>Enterprise RAG system for secure knowledge access</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857750"/>
            <a:ext cx="4762500" cy="304800"/>
          </a:xfrm>
          <a:prstGeom prst="rect">
            <a:avLst/>
          </a:prstGeom>
          <a:noFill/>
          <a:ln w="0">
            <a:noFill/>
            <a:prstDash val="solid"/>
          </a:ln>
        </p:spPr>
        <p:txBody>
          <a:bodyPr/>
          <a:lstStyle/>
          <a:p>
            <a:pPr algn="l">
              <a:defRPr sz="1650" b="1">
                <a:solidFill>
                  <a:srgbClr val="102A3A"/>
                </a:solidFill>
              </a:defRPr>
            </a:pPr>
            <a:r>
              <a:rPr sz="1650" b="1">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5219700"/>
            <a:ext cx="5334000" cy="266700"/>
          </a:xfrm>
          <a:prstGeom prst="rect">
            <a:avLst/>
          </a:prstGeom>
          <a:noFill/>
          <a:ln w="0">
            <a:noFill/>
            <a:prstDash val="solid"/>
          </a:ln>
        </p:spPr>
        <p:txBody>
          <a:bodyPr/>
          <a:lstStyle/>
          <a:p>
            <a:pPr algn="l">
              <a:defRPr sz="1350" b="0">
                <a:solidFill>
                  <a:srgbClr val="5B6B78"/>
                </a:solidFill>
              </a:defRPr>
            </a:pPr>
            <a:r>
              <a:rPr sz="1350" b="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01 / 11</a:t>
            </a:r>
          </a:p>
        </p:txBody>
      </p:sp>
    </p:spTree>
    <p:extLst>
      <p:ext uri="{BB962C8B-B14F-4D97-AF65-F5344CB8AC3E}">
        <p14:creationId xmlns:p14="http://schemas.microsoft.com/office/powerpoint/2010/main" val="87704947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PRESENTATION CONTEXT</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1047750" y="14859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Graphic 30"/>
          <p:cNvPicPr>
            <a:picLocks noChangeAspect="1"/>
          </p:cNvPicPr>
          <p:nvPr/>
        </p:nvPicPr>
        <p:blipFill>
          <a:blip>
            <a:extLst>
              <a:ext uri="{96DAC541-7B7A-43D3-8B79-37D633B846F1}">
                <asvg:svgBlip xmlns:asvg="http://schemas.microsoft.com/office/drawing/2016/SVG/main" r:embed="rId3"/>
              </a:ext>
            </a:extLst>
          </a:blip>
          <a:stretch/>
        </p:blipFill>
        <p:spPr>
          <a:xfrm>
            <a:off x="1257300" y="1695450"/>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752600" y="1704975"/>
            <a:ext cx="20002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Company context</a:t>
            </a: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4857750" y="14859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4" name="Graphic 33"/>
          <p:cNvPicPr>
            <a:picLocks noChangeAspect="1"/>
          </p:cNvPicPr>
          <p:nvPr/>
        </p:nvPicPr>
        <p:blipFill>
          <a:blip>
            <a:extLst>
              <a:ext uri="{96DAC541-7B7A-43D3-8B79-37D633B846F1}">
                <asvg:svgBlip xmlns:asvg="http://schemas.microsoft.com/office/drawing/2016/SVG/main" r:embed="rId4"/>
              </a:ext>
            </a:extLst>
          </a:blip>
          <a:stretch/>
        </p:blipFill>
        <p:spPr>
          <a:xfrm>
            <a:off x="5067300" y="1695450"/>
            <a:ext cx="304800" cy="304800"/>
          </a:xfrm>
          <a:prstGeom prst="rect">
            <a:avLst/>
          </a:prstGeom>
        </p:spPr>
      </p:pic>
      <p:sp>
        <p:nvSpPr>
          <p:cNvPr id="9" name="Rectangle 8">
            <a:extLst>
              <a:ext uri="{FF2B5EF4-FFF2-40B4-BE49-F238E27FC236}">
                <a16:creationId xmlns:a16="http://schemas.microsoft.com/office/drawing/2014/main" id="{9194A74B-0B93-420B-A90D-F08480166747}"/>
              </a:ext>
            </a:extLst>
          </p:cNvPr>
          <p:cNvSpPr>
            <a:spLocks noGrp="1"/>
          </p:cNvSpPr>
          <p:nvPr/>
        </p:nvSpPr>
        <p:spPr>
          <a:xfrm>
            <a:off x="5562600" y="1704975"/>
            <a:ext cx="20002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Project story</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1047750" y="23812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1257300" y="2590800"/>
            <a:ext cx="304800" cy="304800"/>
          </a:xfrm>
          <a:prstGeom prst="rect">
            <a:avLst/>
          </a:prstGeom>
        </p:spPr>
      </p:pic>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752600" y="2600325"/>
            <a:ext cx="20002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 stories</a:t>
            </a: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4857750" y="23812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5067300" y="2590800"/>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5562600" y="2600325"/>
            <a:ext cx="20002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Requirements</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1047750" y="32766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1257300" y="3486150"/>
            <a:ext cx="304800" cy="304800"/>
          </a:xfrm>
          <a:prstGeom prst="rect">
            <a:avLst/>
          </a:prstGeom>
        </p:spPr>
      </p:pic>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752600" y="3495675"/>
            <a:ext cx="20002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Architecture</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4857750" y="327660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5067300" y="3486150"/>
            <a:ext cx="304800" cy="304800"/>
          </a:xfrm>
          <a:prstGeom prst="rect">
            <a:avLst/>
          </a:prstGeom>
        </p:spPr>
      </p:pic>
      <p:sp>
        <p:nvSpPr>
          <p:cNvPr id="21" name="Rectangle 20">
            <a:extLst>
              <a:ext uri="{FF2B5EF4-FFF2-40B4-BE49-F238E27FC236}">
                <a16:creationId xmlns:a16="http://schemas.microsoft.com/office/drawing/2014/main" id="{C8885E05-177C-4E7C-8BD6-12312FBE9DAB}"/>
              </a:ext>
            </a:extLst>
          </p:cNvPr>
          <p:cNvSpPr>
            <a:spLocks noGrp="1"/>
          </p:cNvSpPr>
          <p:nvPr/>
        </p:nvSpPr>
        <p:spPr>
          <a:xfrm>
            <a:off x="5562600" y="3476625"/>
            <a:ext cx="234315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Structure and models</a:t>
            </a:r>
          </a:p>
        </p:txBody>
      </p:sp>
      <p:sp>
        <p:nvSpPr>
          <p:cNvPr id="22" name="Rectangle: Rounded Corners 21">
            <a:extLst>
              <a:ext uri="{FF2B5EF4-FFF2-40B4-BE49-F238E27FC236}">
                <a16:creationId xmlns:a16="http://schemas.microsoft.com/office/drawing/2014/main" id="{0AC4838B-D99D-48EC-8590-8816CA0A2DC5}"/>
              </a:ext>
            </a:extLst>
          </p:cNvPr>
          <p:cNvSpPr>
            <a:spLocks noGrp="1"/>
          </p:cNvSpPr>
          <p:nvPr/>
        </p:nvSpPr>
        <p:spPr>
          <a:xfrm>
            <a:off x="1047750" y="4171950"/>
            <a:ext cx="3048000" cy="72390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1257300" y="4381500"/>
            <a:ext cx="304800" cy="304800"/>
          </a:xfrm>
          <a:prstGeom prst="rect">
            <a:avLst/>
          </a:prstGeom>
        </p:spPr>
      </p:pic>
      <p:sp>
        <p:nvSpPr>
          <p:cNvPr id="24" name="Rectangle 23">
            <a:extLst>
              <a:ext uri="{FF2B5EF4-FFF2-40B4-BE49-F238E27FC236}">
                <a16:creationId xmlns:a16="http://schemas.microsoft.com/office/drawing/2014/main" id="{2C4AFCC9-B5F4-4BA0-9D5B-F6A1BAAEA19F}"/>
              </a:ext>
            </a:extLst>
          </p:cNvPr>
          <p:cNvSpPr>
            <a:spLocks noGrp="1"/>
          </p:cNvSpPr>
          <p:nvPr/>
        </p:nvSpPr>
        <p:spPr>
          <a:xfrm>
            <a:off x="1752600" y="4391025"/>
            <a:ext cx="20002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Design decisions</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02 / 11</a:t>
            </a:r>
          </a:p>
        </p:txBody>
      </p:sp>
    </p:spTree>
    <p:extLst>
      <p:ext uri="{BB962C8B-B14F-4D97-AF65-F5344CB8AC3E}">
        <p14:creationId xmlns:p14="http://schemas.microsoft.com/office/powerpoint/2010/main" val="17610326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1</a:t>
            </a: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Company Context</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335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573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Siemens Energy</a:t>
            </a:r>
          </a:p>
        </p:txBody>
      </p:sp>
      <p:sp>
        <p:nvSpPr>
          <p:cNvPr id="8" name="Rectangle 7">
            <a:extLst>
              <a:ext uri="{FF2B5EF4-FFF2-40B4-BE49-F238E27FC236}">
                <a16:creationId xmlns:a16="http://schemas.microsoft.com/office/drawing/2014/main" id="{EF21B9B1-97D0-4D33-9C96-1A82C79B9492}"/>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Industrial digitalization environment</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432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2670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SE GT DG OE</a:t>
            </a:r>
          </a:p>
        </p:txBody>
      </p:sp>
      <p:sp>
        <p:nvSpPr>
          <p:cNvPr id="13" name="Rectangle 12">
            <a:extLst>
              <a:ext uri="{FF2B5EF4-FFF2-40B4-BE49-F238E27FC236}">
                <a16:creationId xmlns:a16="http://schemas.microsoft.com/office/drawing/2014/main" id="{151B0213-D106-4012-813D-7BCE1A45438C}"/>
              </a:ext>
            </a:extLst>
          </p:cNvPr>
          <p:cNvSpPr>
            <a:spLocks noGrp="1"/>
          </p:cNvSpPr>
          <p:nvPr/>
        </p:nvSpPr>
        <p:spPr>
          <a:xfrm>
            <a:off x="1676400" y="34766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Department supporting digital solutions</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529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6767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Internship Role</a:t>
            </a:r>
          </a:p>
        </p:txBody>
      </p:sp>
      <p:sp>
        <p:nvSpPr>
          <p:cNvPr id="18" name="Rectangle 17">
            <a:extLst>
              <a:ext uri="{FF2B5EF4-FFF2-40B4-BE49-F238E27FC236}">
                <a16:creationId xmlns:a16="http://schemas.microsoft.com/office/drawing/2014/main" id="{73F0CACA-8BCF-42C3-B6F0-2791D8A0E559}"/>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275" b="0">
                <a:solidFill>
                  <a:srgbClr val="5B6B78"/>
                </a:solidFill>
              </a:rPr>
              <a:t>Software engineering and documentation</a:t>
            </a: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Rectangle 19">
            <a:extLst>
              <a:ext uri="{FF2B5EF4-FFF2-40B4-BE49-F238E27FC236}">
                <a16:creationId xmlns:a16="http://schemas.microsoft.com/office/drawing/2014/main" id="{8B8F13A1-8EED-4EF6-8504-73AF4F957410}"/>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Project Environment</a:t>
            </a:r>
          </a:p>
        </p:txBody>
      </p:sp>
      <p:sp>
        <p:nvSpPr>
          <p:cNvPr id="21" name="Rectangle: Rounded Corners 20">
            <a:extLst>
              <a:ext uri="{FF2B5EF4-FFF2-40B4-BE49-F238E27FC236}">
                <a16:creationId xmlns:a16="http://schemas.microsoft.com/office/drawing/2014/main" id="{87C400D3-2AF3-4023-85F5-EA748DD77F3A}"/>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p:cNvPicPr>
            <a:picLocks noChangeAspect="1"/>
          </p:cNvPicPr>
          <p:nvPr/>
        </p:nvPicPr>
        <p:blipFill>
          <a:blip>
            <a:extLst>
              <a:ext uri="{96DAC541-7B7A-43D3-8B79-37D633B846F1}">
                <asvg:svgBlip xmlns:asvg="http://schemas.microsoft.com/office/drawing/2016/SVG/main" r:embed="rId6"/>
              </a:ext>
            </a:extLst>
          </a:blip>
          <a:stretch/>
        </p:blipFill>
        <p:spPr>
          <a:xfrm>
            <a:off x="6819900" y="2724150"/>
            <a:ext cx="228600" cy="228600"/>
          </a:xfrm>
          <a:prstGeom prst="rect">
            <a:avLst/>
          </a:prstGeom>
        </p:spPr>
      </p:pic>
      <p:sp>
        <p:nvSpPr>
          <p:cNvPr id="23" name="Rectangle 22">
            <a:extLst>
              <a:ext uri="{FF2B5EF4-FFF2-40B4-BE49-F238E27FC236}">
                <a16:creationId xmlns:a16="http://schemas.microsoft.com/office/drawing/2014/main" id="{16C40B16-21B3-4F10-AC3E-08AE68F6EC69}"/>
              </a:ext>
            </a:extLst>
          </p:cNvPr>
          <p:cNvSpPr>
            <a:spLocks noGrp="1"/>
          </p:cNvSpPr>
          <p:nvPr/>
        </p:nvSpPr>
        <p:spPr>
          <a:xfrm>
            <a:off x="7143750" y="2724150"/>
            <a:ext cx="29337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Enterprise documents</a:t>
            </a:r>
          </a:p>
        </p:txBody>
      </p:sp>
      <p:sp>
        <p:nvSpPr>
          <p:cNvPr id="24" name="Rectangle: Rounded Corners 23">
            <a:extLst>
              <a:ext uri="{FF2B5EF4-FFF2-40B4-BE49-F238E27FC236}">
                <a16:creationId xmlns:a16="http://schemas.microsoft.com/office/drawing/2014/main" id="{58B4ED0F-94E4-4188-9B43-B904FFDA057E}"/>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9" name="Graphic 58"/>
          <p:cNvPicPr>
            <a:picLocks noChangeAspect="1"/>
          </p:cNvPicPr>
          <p:nvPr/>
        </p:nvPicPr>
        <p:blipFill>
          <a:blip>
            <a:extLst>
              <a:ext uri="{96DAC541-7B7A-43D3-8B79-37D633B846F1}">
                <asvg:svgBlip xmlns:asvg="http://schemas.microsoft.com/office/drawing/2016/SVG/main" r:embed="rId7"/>
              </a:ext>
            </a:extLst>
          </a:blip>
          <a:stretch/>
        </p:blipFill>
        <p:spPr>
          <a:xfrm>
            <a:off x="6819900" y="3276600"/>
            <a:ext cx="228600" cy="228600"/>
          </a:xfrm>
          <a:prstGeom prst="rect">
            <a:avLst/>
          </a:prstGeom>
        </p:spPr>
      </p:pic>
      <p:sp>
        <p:nvSpPr>
          <p:cNvPr id="26" name="Rectangle 25">
            <a:extLst>
              <a:ext uri="{FF2B5EF4-FFF2-40B4-BE49-F238E27FC236}">
                <a16:creationId xmlns:a16="http://schemas.microsoft.com/office/drawing/2014/main" id="{9C56536A-D501-4AD3-904E-5CCBDB773867}"/>
              </a:ext>
            </a:extLst>
          </p:cNvPr>
          <p:cNvSpPr>
            <a:spLocks noGrp="1"/>
          </p:cNvSpPr>
          <p:nvPr/>
        </p:nvSpPr>
        <p:spPr>
          <a:xfrm>
            <a:off x="7143750" y="3276600"/>
            <a:ext cx="29337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Knowledge retrieval</a:t>
            </a:r>
          </a:p>
        </p:txBody>
      </p:sp>
      <p:sp>
        <p:nvSpPr>
          <p:cNvPr id="27" name="Rectangle: Rounded Corners 26">
            <a:extLst>
              <a:ext uri="{FF2B5EF4-FFF2-40B4-BE49-F238E27FC236}">
                <a16:creationId xmlns:a16="http://schemas.microsoft.com/office/drawing/2014/main" id="{303ABE9C-431B-49A3-B397-88EA9189DF14}"/>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2" name="Graphic 61"/>
          <p:cNvPicPr>
            <a:picLocks noChangeAspect="1"/>
          </p:cNvPicPr>
          <p:nvPr/>
        </p:nvPicPr>
        <p:blipFill>
          <a:blip>
            <a:extLst>
              <a:ext uri="{96DAC541-7B7A-43D3-8B79-37D633B846F1}">
                <asvg:svgBlip xmlns:asvg="http://schemas.microsoft.com/office/drawing/2016/SVG/main" r:embed="rId8"/>
              </a:ext>
            </a:extLst>
          </a:blip>
          <a:stretch/>
        </p:blipFill>
        <p:spPr>
          <a:xfrm>
            <a:off x="6819900" y="3829050"/>
            <a:ext cx="228600" cy="228600"/>
          </a:xfrm>
          <a:prstGeom prst="rect">
            <a:avLst/>
          </a:prstGeom>
        </p:spPr>
      </p:pic>
      <p:sp>
        <p:nvSpPr>
          <p:cNvPr id="29" name="Rectangle 28">
            <a:extLst>
              <a:ext uri="{FF2B5EF4-FFF2-40B4-BE49-F238E27FC236}">
                <a16:creationId xmlns:a16="http://schemas.microsoft.com/office/drawing/2014/main" id="{5F422940-2E28-4FFD-946C-8B7310A89086}"/>
              </a:ext>
            </a:extLst>
          </p:cNvPr>
          <p:cNvSpPr>
            <a:spLocks noGrp="1"/>
          </p:cNvSpPr>
          <p:nvPr/>
        </p:nvSpPr>
        <p:spPr>
          <a:xfrm>
            <a:off x="7143750" y="3829050"/>
            <a:ext cx="29337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Secure access</a:t>
            </a:r>
          </a:p>
        </p:txBody>
      </p:sp>
      <p:sp>
        <p:nvSpPr>
          <p:cNvPr id="30" name="Rectangle: Rounded Corners 29">
            <a:extLst>
              <a:ext uri="{FF2B5EF4-FFF2-40B4-BE49-F238E27FC236}">
                <a16:creationId xmlns:a16="http://schemas.microsoft.com/office/drawing/2014/main" id="{36F5C15A-6F16-475B-9F9D-A455ADE66547}"/>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5" name="Graphic 64"/>
          <p:cNvPicPr>
            <a:picLocks noChangeAspect="1"/>
          </p:cNvPicPr>
          <p:nvPr/>
        </p:nvPicPr>
        <p:blipFill>
          <a:blip>
            <a:extLst>
              <a:ext uri="{96DAC541-7B7A-43D3-8B79-37D633B846F1}">
                <asvg:svgBlip xmlns:asvg="http://schemas.microsoft.com/office/drawing/2016/SVG/main" r:embed="rId9"/>
              </a:ext>
            </a:extLst>
          </a:blip>
          <a:stretch/>
        </p:blipFill>
        <p:spPr>
          <a:xfrm>
            <a:off x="6819900" y="4381500"/>
            <a:ext cx="228600" cy="228600"/>
          </a:xfrm>
          <a:prstGeom prst="rect">
            <a:avLst/>
          </a:prstGeom>
        </p:spPr>
      </p:pic>
      <p:sp>
        <p:nvSpPr>
          <p:cNvPr id="32" name="Rectangle 31">
            <a:extLst>
              <a:ext uri="{FF2B5EF4-FFF2-40B4-BE49-F238E27FC236}">
                <a16:creationId xmlns:a16="http://schemas.microsoft.com/office/drawing/2014/main" id="{E547ECE9-E96F-4802-95EA-7CBA32179D8D}"/>
              </a:ext>
            </a:extLst>
          </p:cNvPr>
          <p:cNvSpPr>
            <a:spLocks noGrp="1"/>
          </p:cNvSpPr>
          <p:nvPr/>
        </p:nvSpPr>
        <p:spPr>
          <a:xfrm>
            <a:off x="7143750" y="4381500"/>
            <a:ext cx="29337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Academic reporting</a:t>
            </a: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03 / 11</a:t>
            </a:r>
          </a:p>
        </p:txBody>
      </p:sp>
    </p:spTree>
    <p:extLst>
      <p:ext uri="{BB962C8B-B14F-4D97-AF65-F5344CB8AC3E}">
        <p14:creationId xmlns:p14="http://schemas.microsoft.com/office/powerpoint/2010/main" val="17921058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2</a:t>
            </a: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Project Epic</a:t>
            </a:r>
          </a:p>
        </p:txBody>
      </p:sp>
      <p:sp>
        <p:nvSpPr>
          <p:cNvPr id="4" name="Rectangle: Rounded Corners 3">
            <a:extLst>
              <a:ext uri="{FF2B5EF4-FFF2-40B4-BE49-F238E27FC236}">
                <a16:creationId xmlns:a16="http://schemas.microsoft.com/office/drawing/2014/main" id="{6B1175BE-4AD1-419F-8F60-A75D997B8A7D}"/>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FE0B6FD-8EE7-408F-967C-175A703627F8}"/>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6" name="Rectangle 5">
            <a:extLst>
              <a:ext uri="{FF2B5EF4-FFF2-40B4-BE49-F238E27FC236}">
                <a16:creationId xmlns:a16="http://schemas.microsoft.com/office/drawing/2014/main" id="{2FE1054B-7864-4C2F-A636-884420F757A9}"/>
              </a:ext>
            </a:extLst>
          </p:cNvPr>
          <p:cNvSpPr>
            <a:spLocks noGrp="1"/>
          </p:cNvSpPr>
          <p:nvPr/>
        </p:nvSpPr>
        <p:spPr>
          <a:xfrm>
            <a:off x="857250" y="2162175"/>
            <a:ext cx="400050" cy="228600"/>
          </a:xfrm>
          <a:prstGeom prst="rect">
            <a:avLst/>
          </a:prstGeom>
          <a:noFill/>
          <a:ln w="0">
            <a:noFill/>
            <a:prstDash val="solid"/>
          </a:ln>
        </p:spPr>
        <p:txBody>
          <a:bodyPr/>
          <a:lstStyle/>
          <a:p>
            <a:pPr algn="ctr">
              <a:defRPr sz="1350" b="1">
                <a:solidFill>
                  <a:srgbClr val="FFFFFF"/>
                </a:solidFill>
              </a:defRPr>
            </a:pPr>
            <a:r>
              <a:rPr sz="1350" b="1">
                <a:solidFill>
                  <a:srgbClr val="FFFFFF"/>
                </a:solidFill>
              </a:rPr>
              <a:t>1</a:t>
            </a:r>
          </a:p>
        </p:txBody>
      </p:sp>
      <p:pic>
        <p:nvPicPr>
          <p:cNvPr id="41" name="Graphic 40"/>
          <p:cNvPicPr>
            <a:picLocks noChangeAspect="1"/>
          </p:cNvPicPr>
          <p:nvPr/>
        </p:nvPicPr>
        <p:blipFill>
          <a:blip>
            <a:extLst>
              <a:ext uri="{96DAC541-7B7A-43D3-8B79-37D633B846F1}">
                <asvg:svgBlip xmlns:asvg="http://schemas.microsoft.com/office/drawing/2016/SVG/main" r:embed="rId3"/>
              </a:ext>
            </a:extLst>
          </a:blip>
          <a:stretch/>
        </p:blipFill>
        <p:spPr>
          <a:xfrm>
            <a:off x="2476500" y="2133600"/>
            <a:ext cx="323850" cy="323850"/>
          </a:xfrm>
          <a:prstGeom prst="rect">
            <a:avLst/>
          </a:prstGeom>
        </p:spPr>
      </p:pic>
      <p:sp>
        <p:nvSpPr>
          <p:cNvPr id="8" name="Rectangle 7">
            <a:extLst>
              <a:ext uri="{FF2B5EF4-FFF2-40B4-BE49-F238E27FC236}">
                <a16:creationId xmlns:a16="http://schemas.microsoft.com/office/drawing/2014/main" id="{F96EED51-0106-4D82-8C34-715CBB6EAFE5}"/>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9" name="Rectangle 8">
            <a:extLst>
              <a:ext uri="{FF2B5EF4-FFF2-40B4-BE49-F238E27FC236}">
                <a16:creationId xmlns:a16="http://schemas.microsoft.com/office/drawing/2014/main" id="{46BCCB0B-CC78-42D3-806E-F0B0E027214F}"/>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Knowledge became hard to locate</a:t>
            </a:r>
          </a:p>
        </p:txBody>
      </p:sp>
      <p:sp>
        <p:nvSpPr>
          <p:cNvPr id="10" name="Arrow: Right 9">
            <a:extLst>
              <a:ext uri="{FF2B5EF4-FFF2-40B4-BE49-F238E27FC236}">
                <a16:creationId xmlns:a16="http://schemas.microsoft.com/office/drawing/2014/main" id="{E3900F90-1E00-4B44-A6F8-EE02D1BD1700}"/>
              </a:ext>
            </a:extLst>
          </p:cNvPr>
          <p:cNvSpPr>
            <a:spLocks noGrp="1"/>
          </p:cNvSpPr>
          <p:nvPr/>
        </p:nvSpPr>
        <p:spPr>
          <a:xfrm>
            <a:off x="3257550"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11" name="Rectangle: Rounded Corners 10">
            <a:extLst>
              <a:ext uri="{FF2B5EF4-FFF2-40B4-BE49-F238E27FC236}">
                <a16:creationId xmlns:a16="http://schemas.microsoft.com/office/drawing/2014/main" id="{B226D409-25DA-4A9D-855E-518D408A323D}"/>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D9B7464A-3D70-414F-BF95-8A9BD5EBE91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13" name="Rectangle 12">
            <a:extLst>
              <a:ext uri="{FF2B5EF4-FFF2-40B4-BE49-F238E27FC236}">
                <a16:creationId xmlns:a16="http://schemas.microsoft.com/office/drawing/2014/main" id="{B19D7104-1F80-496C-9062-5B577271E044}"/>
              </a:ext>
            </a:extLst>
          </p:cNvPr>
          <p:cNvSpPr>
            <a:spLocks noGrp="1"/>
          </p:cNvSpPr>
          <p:nvPr/>
        </p:nvSpPr>
        <p:spPr>
          <a:xfrm>
            <a:off x="3638550" y="2162175"/>
            <a:ext cx="400050" cy="228600"/>
          </a:xfrm>
          <a:prstGeom prst="rect">
            <a:avLst/>
          </a:prstGeom>
          <a:noFill/>
          <a:ln w="0">
            <a:noFill/>
            <a:prstDash val="solid"/>
          </a:ln>
        </p:spPr>
        <p:txBody>
          <a:bodyPr/>
          <a:lstStyle/>
          <a:p>
            <a:pPr algn="ctr">
              <a:defRPr sz="1350" b="1">
                <a:solidFill>
                  <a:srgbClr val="FFFFFF"/>
                </a:solidFill>
              </a:defRPr>
            </a:pPr>
            <a:r>
              <a:rPr sz="1350" b="1">
                <a:solidFill>
                  <a:srgbClr val="FFFFFF"/>
                </a:solidFill>
              </a:rPr>
              <a:t>2</a:t>
            </a:r>
          </a:p>
        </p:txBody>
      </p:sp>
      <p:pic>
        <p:nvPicPr>
          <p:cNvPr id="48" name="Graphic 47"/>
          <p:cNvPicPr>
            <a:picLocks noChangeAspect="1"/>
          </p:cNvPicPr>
          <p:nvPr/>
        </p:nvPicPr>
        <p:blipFill>
          <a:blip>
            <a:extLst>
              <a:ext uri="{96DAC541-7B7A-43D3-8B79-37D633B846F1}">
                <asvg:svgBlip xmlns:asvg="http://schemas.microsoft.com/office/drawing/2016/SVG/main" r:embed="rId4"/>
              </a:ext>
            </a:extLst>
          </a:blip>
          <a:stretch/>
        </p:blipFill>
        <p:spPr>
          <a:xfrm>
            <a:off x="5257800" y="2133600"/>
            <a:ext cx="323850" cy="323850"/>
          </a:xfrm>
          <a:prstGeom prst="rect">
            <a:avLst/>
          </a:prstGeom>
        </p:spPr>
      </p:pic>
      <p:sp>
        <p:nvSpPr>
          <p:cNvPr id="15" name="Rectangle 14">
            <a:extLst>
              <a:ext uri="{FF2B5EF4-FFF2-40B4-BE49-F238E27FC236}">
                <a16:creationId xmlns:a16="http://schemas.microsoft.com/office/drawing/2014/main" id="{6E90AA83-7EAA-451E-BF73-8C4747B10C98}"/>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16" name="Rectangle 15">
            <a:extLst>
              <a:ext uri="{FF2B5EF4-FFF2-40B4-BE49-F238E27FC236}">
                <a16:creationId xmlns:a16="http://schemas.microsoft.com/office/drawing/2014/main" id="{87A49B07-9C79-44F0-97DF-4109D587519C}"/>
              </a:ext>
            </a:extLst>
          </p:cNvPr>
          <p:cNvSpPr>
            <a:spLocks noGrp="1"/>
          </p:cNvSpPr>
          <p:nvPr/>
        </p:nvSpPr>
        <p:spPr>
          <a:xfrm>
            <a:off x="36957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Natural questions needed answers</a:t>
            </a:r>
          </a:p>
        </p:txBody>
      </p:sp>
      <p:sp>
        <p:nvSpPr>
          <p:cNvPr id="17" name="Arrow: Right 16">
            <a:extLst>
              <a:ext uri="{FF2B5EF4-FFF2-40B4-BE49-F238E27FC236}">
                <a16:creationId xmlns:a16="http://schemas.microsoft.com/office/drawing/2014/main" id="{B7FE29AC-FD2C-4E2D-B822-B6326C7D0798}"/>
              </a:ext>
            </a:extLst>
          </p:cNvPr>
          <p:cNvSpPr>
            <a:spLocks noGrp="1"/>
          </p:cNvSpPr>
          <p:nvPr/>
        </p:nvSpPr>
        <p:spPr>
          <a:xfrm>
            <a:off x="6038850"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18" name="Rectangle: Rounded Corners 17">
            <a:extLst>
              <a:ext uri="{FF2B5EF4-FFF2-40B4-BE49-F238E27FC236}">
                <a16:creationId xmlns:a16="http://schemas.microsoft.com/office/drawing/2014/main" id="{EF60FF19-DCC9-4F75-B86E-A0EA5F22B798}"/>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Oval 18">
            <a:extLst>
              <a:ext uri="{FF2B5EF4-FFF2-40B4-BE49-F238E27FC236}">
                <a16:creationId xmlns:a16="http://schemas.microsoft.com/office/drawing/2014/main" id="{BBCB3DCC-21BB-45E5-9AFF-CB121DD117F8}"/>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20" name="Rectangle 19">
            <a:extLst>
              <a:ext uri="{FF2B5EF4-FFF2-40B4-BE49-F238E27FC236}">
                <a16:creationId xmlns:a16="http://schemas.microsoft.com/office/drawing/2014/main" id="{1BE8EF51-887C-4090-9502-89CBCB088A29}"/>
              </a:ext>
            </a:extLst>
          </p:cNvPr>
          <p:cNvSpPr>
            <a:spLocks noGrp="1"/>
          </p:cNvSpPr>
          <p:nvPr/>
        </p:nvSpPr>
        <p:spPr>
          <a:xfrm>
            <a:off x="6419850" y="2162175"/>
            <a:ext cx="400050" cy="228600"/>
          </a:xfrm>
          <a:prstGeom prst="rect">
            <a:avLst/>
          </a:prstGeom>
          <a:noFill/>
          <a:ln w="0">
            <a:noFill/>
            <a:prstDash val="solid"/>
          </a:ln>
        </p:spPr>
        <p:txBody>
          <a:bodyPr/>
          <a:lstStyle/>
          <a:p>
            <a:pPr algn="ctr">
              <a:defRPr sz="1350" b="1">
                <a:solidFill>
                  <a:srgbClr val="FFFFFF"/>
                </a:solidFill>
              </a:defRPr>
            </a:pPr>
            <a:r>
              <a:rPr sz="1350" b="1">
                <a:solidFill>
                  <a:srgbClr val="FFFFFF"/>
                </a:solidFill>
              </a:rPr>
              <a:t>3</a:t>
            </a:r>
          </a:p>
        </p:txBody>
      </p:sp>
      <p:pic>
        <p:nvPicPr>
          <p:cNvPr id="55" name="Graphic 54"/>
          <p:cNvPicPr>
            <a:picLocks noChangeAspect="1"/>
          </p:cNvPicPr>
          <p:nvPr/>
        </p:nvPicPr>
        <p:blipFill>
          <a:blip>
            <a:extLst>
              <a:ext uri="{96DAC541-7B7A-43D3-8B79-37D633B846F1}">
                <asvg:svgBlip xmlns:asvg="http://schemas.microsoft.com/office/drawing/2016/SVG/main" r:embed="rId5"/>
              </a:ext>
            </a:extLst>
          </a:blip>
          <a:stretch/>
        </p:blipFill>
        <p:spPr>
          <a:xfrm>
            <a:off x="8039100" y="2133600"/>
            <a:ext cx="323850" cy="323850"/>
          </a:xfrm>
          <a:prstGeom prst="rect">
            <a:avLst/>
          </a:prstGeom>
        </p:spPr>
      </p:pic>
      <p:sp>
        <p:nvSpPr>
          <p:cNvPr id="22" name="Rectangle 21">
            <a:extLst>
              <a:ext uri="{FF2B5EF4-FFF2-40B4-BE49-F238E27FC236}">
                <a16:creationId xmlns:a16="http://schemas.microsoft.com/office/drawing/2014/main" id="{E01F9ACE-A7C6-48BE-869B-49EA82233949}"/>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23" name="Rectangle 22">
            <a:extLst>
              <a:ext uri="{FF2B5EF4-FFF2-40B4-BE49-F238E27FC236}">
                <a16:creationId xmlns:a16="http://schemas.microsoft.com/office/drawing/2014/main" id="{B0531957-0024-4B1A-9BD7-8C605A9CEC72}"/>
              </a:ext>
            </a:extLst>
          </p:cNvPr>
          <p:cNvSpPr>
            <a:spLocks noGrp="1"/>
          </p:cNvSpPr>
          <p:nvPr/>
        </p:nvSpPr>
        <p:spPr>
          <a:xfrm>
            <a:off x="64770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Relevant chunks provided context</a:t>
            </a:r>
          </a:p>
        </p:txBody>
      </p:sp>
      <p:sp>
        <p:nvSpPr>
          <p:cNvPr id="24" name="Arrow: Right 23">
            <a:extLst>
              <a:ext uri="{FF2B5EF4-FFF2-40B4-BE49-F238E27FC236}">
                <a16:creationId xmlns:a16="http://schemas.microsoft.com/office/drawing/2014/main" id="{A9B40163-4B58-4441-A5E6-277B0266E60B}"/>
              </a:ext>
            </a:extLst>
          </p:cNvPr>
          <p:cNvSpPr>
            <a:spLocks noGrp="1"/>
          </p:cNvSpPr>
          <p:nvPr/>
        </p:nvSpPr>
        <p:spPr>
          <a:xfrm>
            <a:off x="8820150" y="2743200"/>
            <a:ext cx="438150" cy="266700"/>
          </a:xfrm>
          <a:prstGeom prst="rightArrow">
            <a:avLst/>
          </a:prstGeom>
          <a:solidFill>
            <a:srgbClr val="00A3AD"/>
          </a:solidFill>
          <a:ln w="0">
            <a:solidFill>
              <a:srgbClr val="00A3AD"/>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3F2D865A-98BB-4C0B-A037-55127A6FB68C}"/>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Oval 25">
            <a:extLst>
              <a:ext uri="{FF2B5EF4-FFF2-40B4-BE49-F238E27FC236}">
                <a16:creationId xmlns:a16="http://schemas.microsoft.com/office/drawing/2014/main" id="{68F00346-007C-41AF-9AEF-81CF16961F49}"/>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27" name="Rectangle 26">
            <a:extLst>
              <a:ext uri="{FF2B5EF4-FFF2-40B4-BE49-F238E27FC236}">
                <a16:creationId xmlns:a16="http://schemas.microsoft.com/office/drawing/2014/main" id="{2AF0B496-42EA-4A33-91E7-C64E5ED3DAEE}"/>
              </a:ext>
            </a:extLst>
          </p:cNvPr>
          <p:cNvSpPr>
            <a:spLocks noGrp="1"/>
          </p:cNvSpPr>
          <p:nvPr/>
        </p:nvSpPr>
        <p:spPr>
          <a:xfrm>
            <a:off x="9201150" y="2162175"/>
            <a:ext cx="400050" cy="228600"/>
          </a:xfrm>
          <a:prstGeom prst="rect">
            <a:avLst/>
          </a:prstGeom>
          <a:noFill/>
          <a:ln w="0">
            <a:noFill/>
            <a:prstDash val="solid"/>
          </a:ln>
        </p:spPr>
        <p:txBody>
          <a:bodyPr/>
          <a:lstStyle/>
          <a:p>
            <a:pPr algn="ctr">
              <a:defRPr sz="1350" b="1">
                <a:solidFill>
                  <a:srgbClr val="FFFFFF"/>
                </a:solidFill>
              </a:defRPr>
            </a:pPr>
            <a:r>
              <a:rPr sz="1350" b="1">
                <a:solidFill>
                  <a:srgbClr val="FFFFFF"/>
                </a:solidFill>
              </a:rPr>
              <a:t>4</a:t>
            </a:r>
          </a:p>
        </p:txBody>
      </p:sp>
      <p:pic>
        <p:nvPicPr>
          <p:cNvPr id="62" name="Graphic 61"/>
          <p:cNvPicPr>
            <a:picLocks noChangeAspect="1"/>
          </p:cNvPicPr>
          <p:nvPr/>
        </p:nvPicPr>
        <p:blipFill>
          <a:blip>
            <a:extLst>
              <a:ext uri="{96DAC541-7B7A-43D3-8B79-37D633B846F1}">
                <asvg:svgBlip xmlns:asvg="http://schemas.microsoft.com/office/drawing/2016/SVG/main" r:embed="rId6"/>
              </a:ext>
            </a:extLst>
          </a:blip>
          <a:stretch/>
        </p:blipFill>
        <p:spPr>
          <a:xfrm>
            <a:off x="10820400" y="2133600"/>
            <a:ext cx="323850" cy="323850"/>
          </a:xfrm>
          <a:prstGeom prst="rect">
            <a:avLst/>
          </a:prstGeom>
        </p:spPr>
      </p:pic>
      <p:sp>
        <p:nvSpPr>
          <p:cNvPr id="29" name="Rectangle 28">
            <a:extLst>
              <a:ext uri="{FF2B5EF4-FFF2-40B4-BE49-F238E27FC236}">
                <a16:creationId xmlns:a16="http://schemas.microsoft.com/office/drawing/2014/main" id="{137AF8CF-FFBC-4AEE-B891-620235C31F1D}"/>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30" name="Rectangle 29">
            <a:extLst>
              <a:ext uri="{FF2B5EF4-FFF2-40B4-BE49-F238E27FC236}">
                <a16:creationId xmlns:a16="http://schemas.microsoft.com/office/drawing/2014/main" id="{9BEEF977-B0C1-4432-A28C-614C716C5874}"/>
              </a:ext>
            </a:extLst>
          </p:cNvPr>
          <p:cNvSpPr>
            <a:spLocks noGrp="1"/>
          </p:cNvSpPr>
          <p:nvPr/>
        </p:nvSpPr>
        <p:spPr>
          <a:xfrm>
            <a:off x="9258300" y="3067050"/>
            <a:ext cx="1924050" cy="457200"/>
          </a:xfrm>
          <a:prstGeom prst="rect">
            <a:avLst/>
          </a:prstGeom>
          <a:noFill/>
          <a:ln w="0">
            <a:noFill/>
            <a:prstDash val="solid"/>
          </a:ln>
        </p:spPr>
        <p:txBody>
          <a:bodyPr/>
          <a:lstStyle/>
          <a:p>
            <a:pPr algn="l">
              <a:defRPr sz="1275" b="0">
                <a:solidFill>
                  <a:srgbClr val="5B6B78"/>
                </a:solidFill>
              </a:defRPr>
            </a:pPr>
            <a:r>
              <a:rPr sz="1275" b="0">
                <a:solidFill>
                  <a:srgbClr val="5B6B78"/>
                </a:solidFill>
              </a:rPr>
              <a:t>Answers referenced document sources</a:t>
            </a:r>
          </a:p>
        </p:txBody>
      </p:sp>
      <p:sp>
        <p:nvSpPr>
          <p:cNvPr id="31" name="Rectangle 30">
            <a:extLst>
              <a:ext uri="{FF2B5EF4-FFF2-40B4-BE49-F238E27FC236}">
                <a16:creationId xmlns:a16="http://schemas.microsoft.com/office/drawing/2014/main" id="{511533FE-E66B-4139-850D-0FF520DA6D16}"/>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32" name="Rectangle 31">
            <a:extLst>
              <a:ext uri="{FF2B5EF4-FFF2-40B4-BE49-F238E27FC236}">
                <a16:creationId xmlns:a16="http://schemas.microsoft.com/office/drawing/2014/main" id="{71626A23-5BCD-4A97-9B96-72E6CC795393}"/>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04 / 11</a:t>
            </a:r>
          </a:p>
        </p:txBody>
      </p:sp>
    </p:spTree>
    <p:extLst>
      <p:ext uri="{BB962C8B-B14F-4D97-AF65-F5344CB8AC3E}">
        <p14:creationId xmlns:p14="http://schemas.microsoft.com/office/powerpoint/2010/main" val="14776490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3BE474-8343-44E1-B6F4-9FAB76477366}"/>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515F9E58-7E39-4703-841E-14A40BDFFB77}"/>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3</a:t>
            </a:r>
          </a:p>
        </p:txBody>
      </p:sp>
      <p:sp>
        <p:nvSpPr>
          <p:cNvPr id="3" name="Rectangle 2">
            <a:extLst>
              <a:ext uri="{FF2B5EF4-FFF2-40B4-BE49-F238E27FC236}">
                <a16:creationId xmlns:a16="http://schemas.microsoft.com/office/drawing/2014/main" id="{9314D284-CC76-4542-8200-2ADF8D5CDD2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User Stories</a:t>
            </a:r>
          </a:p>
        </p:txBody>
      </p:sp>
      <p:sp>
        <p:nvSpPr>
          <p:cNvPr id="4" name="Rectangle: Rounded Corners 3">
            <a:extLst>
              <a:ext uri="{FF2B5EF4-FFF2-40B4-BE49-F238E27FC236}">
                <a16:creationId xmlns:a16="http://schemas.microsoft.com/office/drawing/2014/main" id="{1209B250-8FFE-482B-AD05-FCAA63EB6531}"/>
              </a:ext>
            </a:extLst>
          </p:cNvPr>
          <p:cNvSpPr>
            <a:spLocks noGrp="1"/>
          </p:cNvSpPr>
          <p:nvPr/>
        </p:nvSpPr>
        <p:spPr>
          <a:xfrm>
            <a:off x="781050" y="1524000"/>
            <a:ext cx="3905250" cy="3505200"/>
          </a:xfrm>
          <a:prstGeom prst="roundRect">
            <a:avLst>
              <a:gd name="adj" fmla="val 326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4">
            <a:extLst>
              <a:ext uri="{FF2B5EF4-FFF2-40B4-BE49-F238E27FC236}">
                <a16:creationId xmlns:a16="http://schemas.microsoft.com/office/drawing/2014/main" id="{053F2EA2-33AA-4566-A860-D213BA8BEC32}"/>
              </a:ext>
            </a:extLst>
          </p:cNvPr>
          <p:cNvSpPr>
            <a:spLocks noGrp="1"/>
          </p:cNvSpPr>
          <p:nvPr/>
        </p:nvSpPr>
        <p:spPr>
          <a:xfrm>
            <a:off x="1162050" y="1943100"/>
            <a:ext cx="24765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Template Format</a:t>
            </a:r>
          </a:p>
        </p:txBody>
      </p:sp>
      <p:sp>
        <p:nvSpPr>
          <p:cNvPr id="6" name="Rectangle: Rounded Corners 5">
            <a:extLst>
              <a:ext uri="{FF2B5EF4-FFF2-40B4-BE49-F238E27FC236}">
                <a16:creationId xmlns:a16="http://schemas.microsoft.com/office/drawing/2014/main" id="{11BC3611-9B9B-44AE-850F-C434D000135F}"/>
              </a:ext>
            </a:extLst>
          </p:cNvPr>
          <p:cNvSpPr>
            <a:spLocks noGrp="1"/>
          </p:cNvSpPr>
          <p:nvPr/>
        </p:nvSpPr>
        <p:spPr>
          <a:xfrm>
            <a:off x="1162050" y="25717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3"/>
              </a:ext>
            </a:extLst>
          </a:blip>
          <a:stretch/>
        </p:blipFill>
        <p:spPr>
          <a:xfrm>
            <a:off x="1314450" y="2686050"/>
            <a:ext cx="228600" cy="228600"/>
          </a:xfrm>
          <a:prstGeom prst="rect">
            <a:avLst/>
          </a:prstGeom>
        </p:spPr>
      </p:pic>
      <p:sp>
        <p:nvSpPr>
          <p:cNvPr id="8" name="Rectangle 7">
            <a:extLst>
              <a:ext uri="{FF2B5EF4-FFF2-40B4-BE49-F238E27FC236}">
                <a16:creationId xmlns:a16="http://schemas.microsoft.com/office/drawing/2014/main" id="{1325F530-973F-4F98-B43D-1F206FCB7EE9}"/>
              </a:ext>
            </a:extLst>
          </p:cNvPr>
          <p:cNvSpPr>
            <a:spLocks noGrp="1"/>
          </p:cNvSpPr>
          <p:nvPr/>
        </p:nvSpPr>
        <p:spPr>
          <a:xfrm>
            <a:off x="1638300" y="2686050"/>
            <a:ext cx="2076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As a role</a:t>
            </a:r>
          </a:p>
        </p:txBody>
      </p:sp>
      <p:sp>
        <p:nvSpPr>
          <p:cNvPr id="9" name="Rectangle: Rounded Corners 8">
            <a:extLst>
              <a:ext uri="{FF2B5EF4-FFF2-40B4-BE49-F238E27FC236}">
                <a16:creationId xmlns:a16="http://schemas.microsoft.com/office/drawing/2014/main" id="{12193414-E8CC-4E17-BB52-86D46B1BF1E0}"/>
              </a:ext>
            </a:extLst>
          </p:cNvPr>
          <p:cNvSpPr>
            <a:spLocks noGrp="1"/>
          </p:cNvSpPr>
          <p:nvPr/>
        </p:nvSpPr>
        <p:spPr>
          <a:xfrm>
            <a:off x="1162050" y="327660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p:cNvPicPr>
            <a:picLocks noChangeAspect="1"/>
          </p:cNvPicPr>
          <p:nvPr/>
        </p:nvPicPr>
        <p:blipFill>
          <a:blip>
            <a:extLst>
              <a:ext uri="{96DAC541-7B7A-43D3-8B79-37D633B846F1}">
                <asvg:svgBlip xmlns:asvg="http://schemas.microsoft.com/office/drawing/2016/SVG/main" r:embed="rId4"/>
              </a:ext>
            </a:extLst>
          </a:blip>
          <a:stretch/>
        </p:blipFill>
        <p:spPr>
          <a:xfrm>
            <a:off x="1314450" y="3390900"/>
            <a:ext cx="228600" cy="228600"/>
          </a:xfrm>
          <a:prstGeom prst="rect">
            <a:avLst/>
          </a:prstGeom>
        </p:spPr>
      </p:pic>
      <p:sp>
        <p:nvSpPr>
          <p:cNvPr id="11" name="Rectangle 10">
            <a:extLst>
              <a:ext uri="{FF2B5EF4-FFF2-40B4-BE49-F238E27FC236}">
                <a16:creationId xmlns:a16="http://schemas.microsoft.com/office/drawing/2014/main" id="{CC0A73CF-078C-4A82-B6D4-D3407F40B58B}"/>
              </a:ext>
            </a:extLst>
          </p:cNvPr>
          <p:cNvSpPr>
            <a:spLocks noGrp="1"/>
          </p:cNvSpPr>
          <p:nvPr/>
        </p:nvSpPr>
        <p:spPr>
          <a:xfrm>
            <a:off x="1638300" y="3381068"/>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I want capability</a:t>
            </a:r>
          </a:p>
        </p:txBody>
      </p:sp>
      <p:sp>
        <p:nvSpPr>
          <p:cNvPr id="12" name="Rectangle: Rounded Corners 11">
            <a:extLst>
              <a:ext uri="{FF2B5EF4-FFF2-40B4-BE49-F238E27FC236}">
                <a16:creationId xmlns:a16="http://schemas.microsoft.com/office/drawing/2014/main" id="{417C0282-EDD6-408B-B6E6-8AB439804C8D}"/>
              </a:ext>
            </a:extLst>
          </p:cNvPr>
          <p:cNvSpPr>
            <a:spLocks noGrp="1"/>
          </p:cNvSpPr>
          <p:nvPr/>
        </p:nvSpPr>
        <p:spPr>
          <a:xfrm>
            <a:off x="1162050" y="39814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4" name="Graphic 43"/>
          <p:cNvPicPr>
            <a:picLocks noChangeAspect="1"/>
          </p:cNvPicPr>
          <p:nvPr/>
        </p:nvPicPr>
        <p:blipFill>
          <a:blip>
            <a:extLst>
              <a:ext uri="{96DAC541-7B7A-43D3-8B79-37D633B846F1}">
                <asvg:svgBlip xmlns:asvg="http://schemas.microsoft.com/office/drawing/2016/SVG/main" r:embed="rId5"/>
              </a:ext>
            </a:extLst>
          </a:blip>
          <a:stretch/>
        </p:blipFill>
        <p:spPr>
          <a:xfrm>
            <a:off x="1314450" y="4095750"/>
            <a:ext cx="228600" cy="228600"/>
          </a:xfrm>
          <a:prstGeom prst="rect">
            <a:avLst/>
          </a:prstGeom>
        </p:spPr>
      </p:pic>
      <p:sp>
        <p:nvSpPr>
          <p:cNvPr id="14" name="Rectangle 13">
            <a:extLst>
              <a:ext uri="{FF2B5EF4-FFF2-40B4-BE49-F238E27FC236}">
                <a16:creationId xmlns:a16="http://schemas.microsoft.com/office/drawing/2014/main" id="{DCC47E5F-1CA7-4205-A121-A5AD70A9CB91}"/>
              </a:ext>
            </a:extLst>
          </p:cNvPr>
          <p:cNvSpPr>
            <a:spLocks noGrp="1"/>
          </p:cNvSpPr>
          <p:nvPr/>
        </p:nvSpPr>
        <p:spPr>
          <a:xfrm>
            <a:off x="1638300" y="4085918"/>
            <a:ext cx="207645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So that value</a:t>
            </a:r>
          </a:p>
        </p:txBody>
      </p:sp>
      <p:sp>
        <p:nvSpPr>
          <p:cNvPr id="15" name="Rectangle: Rounded Corners 14">
            <a:extLst>
              <a:ext uri="{FF2B5EF4-FFF2-40B4-BE49-F238E27FC236}">
                <a16:creationId xmlns:a16="http://schemas.microsoft.com/office/drawing/2014/main" id="{46FF8719-21DA-4CB8-B078-1BF1A03A65A8}"/>
              </a:ext>
            </a:extLst>
          </p:cNvPr>
          <p:cNvSpPr>
            <a:spLocks noGrp="1"/>
          </p:cNvSpPr>
          <p:nvPr/>
        </p:nvSpPr>
        <p:spPr>
          <a:xfrm>
            <a:off x="5219700" y="15240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7" name="Graphic 46"/>
          <p:cNvPicPr>
            <a:picLocks noChangeAspect="1"/>
          </p:cNvPicPr>
          <p:nvPr/>
        </p:nvPicPr>
        <p:blipFill>
          <a:blip>
            <a:extLst>
              <a:ext uri="{96DAC541-7B7A-43D3-8B79-37D633B846F1}">
                <asvg:svgBlip xmlns:asvg="http://schemas.microsoft.com/office/drawing/2016/SVG/main" r:embed="rId6"/>
              </a:ext>
            </a:extLst>
          </a:blip>
          <a:stretch/>
        </p:blipFill>
        <p:spPr>
          <a:xfrm>
            <a:off x="5448300" y="1790700"/>
            <a:ext cx="381000" cy="381000"/>
          </a:xfrm>
          <a:prstGeom prst="rect">
            <a:avLst/>
          </a:prstGeom>
        </p:spPr>
      </p:pic>
      <p:sp>
        <p:nvSpPr>
          <p:cNvPr id="17" name="Rectangle 16">
            <a:extLst>
              <a:ext uri="{FF2B5EF4-FFF2-40B4-BE49-F238E27FC236}">
                <a16:creationId xmlns:a16="http://schemas.microsoft.com/office/drawing/2014/main" id="{3E7F1588-E884-4E37-AFC6-4C41AF34046E}"/>
              </a:ext>
            </a:extLst>
          </p:cNvPr>
          <p:cNvSpPr>
            <a:spLocks noGrp="1"/>
          </p:cNvSpPr>
          <p:nvPr/>
        </p:nvSpPr>
        <p:spPr>
          <a:xfrm>
            <a:off x="6019800" y="1641348"/>
            <a:ext cx="2095500" cy="228600"/>
          </a:xfrm>
          <a:prstGeom prst="rect">
            <a:avLst/>
          </a:prstGeom>
          <a:noFill/>
          <a:ln w="0">
            <a:noFill/>
            <a:prstDash val="solid"/>
          </a:ln>
        </p:spPr>
        <p:txBody>
          <a:bodyPr/>
          <a:lstStyle/>
          <a:p>
            <a:pPr algn="l">
              <a:defRPr sz="1350" b="1">
                <a:solidFill>
                  <a:srgbClr val="0077B6"/>
                </a:solidFill>
              </a:defRPr>
            </a:pPr>
            <a:r>
              <a:rPr sz="1350" b="1" dirty="0">
                <a:solidFill>
                  <a:srgbClr val="0077B6"/>
                </a:solidFill>
              </a:rPr>
              <a:t>Users</a:t>
            </a:r>
          </a:p>
        </p:txBody>
      </p:sp>
      <p:sp>
        <p:nvSpPr>
          <p:cNvPr id="18" name="Rectangle 17">
            <a:extLst>
              <a:ext uri="{FF2B5EF4-FFF2-40B4-BE49-F238E27FC236}">
                <a16:creationId xmlns:a16="http://schemas.microsoft.com/office/drawing/2014/main" id="{AF7FA960-A816-441B-B012-97ADA32882DA}"/>
              </a:ext>
            </a:extLst>
          </p:cNvPr>
          <p:cNvSpPr>
            <a:spLocks noGrp="1"/>
          </p:cNvSpPr>
          <p:nvPr/>
        </p:nvSpPr>
        <p:spPr>
          <a:xfrm>
            <a:off x="6019800" y="18897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Ask across selected documents</a:t>
            </a:r>
          </a:p>
        </p:txBody>
      </p:sp>
      <p:sp>
        <p:nvSpPr>
          <p:cNvPr id="19" name="Rectangle 18">
            <a:extLst>
              <a:ext uri="{FF2B5EF4-FFF2-40B4-BE49-F238E27FC236}">
                <a16:creationId xmlns:a16="http://schemas.microsoft.com/office/drawing/2014/main" id="{24D0A9EC-436A-44C2-8588-B1054A78979C}"/>
              </a:ext>
            </a:extLst>
          </p:cNvPr>
          <p:cNvSpPr>
            <a:spLocks noGrp="1"/>
          </p:cNvSpPr>
          <p:nvPr/>
        </p:nvSpPr>
        <p:spPr>
          <a:xfrm>
            <a:off x="6019800" y="21747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Grounded answers with references</a:t>
            </a:r>
          </a:p>
        </p:txBody>
      </p:sp>
      <p:sp>
        <p:nvSpPr>
          <p:cNvPr id="20" name="Rectangle: Rounded Corners 19">
            <a:extLst>
              <a:ext uri="{FF2B5EF4-FFF2-40B4-BE49-F238E27FC236}">
                <a16:creationId xmlns:a16="http://schemas.microsoft.com/office/drawing/2014/main" id="{80152800-EB7E-432C-816F-ACE9ACA5D140}"/>
              </a:ext>
            </a:extLst>
          </p:cNvPr>
          <p:cNvSpPr>
            <a:spLocks noGrp="1"/>
          </p:cNvSpPr>
          <p:nvPr/>
        </p:nvSpPr>
        <p:spPr>
          <a:xfrm>
            <a:off x="5219700" y="27432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2" name="Graphic 51"/>
          <p:cNvPicPr>
            <a:picLocks noChangeAspect="1"/>
          </p:cNvPicPr>
          <p:nvPr/>
        </p:nvPicPr>
        <p:blipFill>
          <a:blip>
            <a:extLst>
              <a:ext uri="{96DAC541-7B7A-43D3-8B79-37D633B846F1}">
                <asvg:svgBlip xmlns:asvg="http://schemas.microsoft.com/office/drawing/2016/SVG/main" r:embed="rId7"/>
              </a:ext>
            </a:extLst>
          </a:blip>
          <a:stretch/>
        </p:blipFill>
        <p:spPr>
          <a:xfrm>
            <a:off x="5448300" y="3009900"/>
            <a:ext cx="381000" cy="381000"/>
          </a:xfrm>
          <a:prstGeom prst="rect">
            <a:avLst/>
          </a:prstGeom>
        </p:spPr>
      </p:pic>
      <p:sp>
        <p:nvSpPr>
          <p:cNvPr id="22" name="Rectangle 21">
            <a:extLst>
              <a:ext uri="{FF2B5EF4-FFF2-40B4-BE49-F238E27FC236}">
                <a16:creationId xmlns:a16="http://schemas.microsoft.com/office/drawing/2014/main" id="{E9FBF2FE-E32C-4988-969B-CFA579070E54}"/>
              </a:ext>
            </a:extLst>
          </p:cNvPr>
          <p:cNvSpPr>
            <a:spLocks noGrp="1"/>
          </p:cNvSpPr>
          <p:nvPr/>
        </p:nvSpPr>
        <p:spPr>
          <a:xfrm>
            <a:off x="6019800" y="2860548"/>
            <a:ext cx="2095500" cy="228600"/>
          </a:xfrm>
          <a:prstGeom prst="rect">
            <a:avLst/>
          </a:prstGeom>
          <a:noFill/>
          <a:ln w="0">
            <a:noFill/>
            <a:prstDash val="solid"/>
          </a:ln>
        </p:spPr>
        <p:txBody>
          <a:bodyPr/>
          <a:lstStyle/>
          <a:p>
            <a:pPr algn="l">
              <a:defRPr sz="1350" b="1">
                <a:solidFill>
                  <a:srgbClr val="009999"/>
                </a:solidFill>
              </a:defRPr>
            </a:pPr>
            <a:r>
              <a:rPr sz="1350" b="1" dirty="0">
                <a:solidFill>
                  <a:srgbClr val="009999"/>
                </a:solidFill>
              </a:rPr>
              <a:t>Administrators</a:t>
            </a:r>
          </a:p>
        </p:txBody>
      </p:sp>
      <p:sp>
        <p:nvSpPr>
          <p:cNvPr id="23" name="Rectangle 22">
            <a:extLst>
              <a:ext uri="{FF2B5EF4-FFF2-40B4-BE49-F238E27FC236}">
                <a16:creationId xmlns:a16="http://schemas.microsoft.com/office/drawing/2014/main" id="{C22FF745-98A1-46AE-A1CC-E53D7427EF96}"/>
              </a:ext>
            </a:extLst>
          </p:cNvPr>
          <p:cNvSpPr>
            <a:spLocks noGrp="1"/>
          </p:cNvSpPr>
          <p:nvPr/>
        </p:nvSpPr>
        <p:spPr>
          <a:xfrm>
            <a:off x="6019800" y="31089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Manage users and activity</a:t>
            </a:r>
          </a:p>
        </p:txBody>
      </p:sp>
      <p:sp>
        <p:nvSpPr>
          <p:cNvPr id="24" name="Rectangle 23">
            <a:extLst>
              <a:ext uri="{FF2B5EF4-FFF2-40B4-BE49-F238E27FC236}">
                <a16:creationId xmlns:a16="http://schemas.microsoft.com/office/drawing/2014/main" id="{06C5B25B-9E6D-4B75-A7F0-E86CA456B3FB}"/>
              </a:ext>
            </a:extLst>
          </p:cNvPr>
          <p:cNvSpPr>
            <a:spLocks noGrp="1"/>
          </p:cNvSpPr>
          <p:nvPr/>
        </p:nvSpPr>
        <p:spPr>
          <a:xfrm>
            <a:off x="6019800" y="33939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Secure and reliable platform</a:t>
            </a:r>
          </a:p>
        </p:txBody>
      </p:sp>
      <p:sp>
        <p:nvSpPr>
          <p:cNvPr id="25" name="Rectangle: Rounded Corners 24">
            <a:extLst>
              <a:ext uri="{FF2B5EF4-FFF2-40B4-BE49-F238E27FC236}">
                <a16:creationId xmlns:a16="http://schemas.microsoft.com/office/drawing/2014/main" id="{353A9395-4FBC-4A3D-B684-AC2E7877249C}"/>
              </a:ext>
            </a:extLst>
          </p:cNvPr>
          <p:cNvSpPr>
            <a:spLocks noGrp="1"/>
          </p:cNvSpPr>
          <p:nvPr/>
        </p:nvSpPr>
        <p:spPr>
          <a:xfrm>
            <a:off x="5219700" y="39624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5448300" y="4229100"/>
            <a:ext cx="381000" cy="381000"/>
          </a:xfrm>
          <a:prstGeom prst="rect">
            <a:avLst/>
          </a:prstGeom>
        </p:spPr>
      </p:pic>
      <p:sp>
        <p:nvSpPr>
          <p:cNvPr id="27" name="Rectangle 26">
            <a:extLst>
              <a:ext uri="{FF2B5EF4-FFF2-40B4-BE49-F238E27FC236}">
                <a16:creationId xmlns:a16="http://schemas.microsoft.com/office/drawing/2014/main" id="{CE77BFD5-C954-4C9F-919A-2A7FB9942A66}"/>
              </a:ext>
            </a:extLst>
          </p:cNvPr>
          <p:cNvSpPr>
            <a:spLocks noGrp="1"/>
          </p:cNvSpPr>
          <p:nvPr/>
        </p:nvSpPr>
        <p:spPr>
          <a:xfrm>
            <a:off x="6019800" y="4079748"/>
            <a:ext cx="2095500" cy="228600"/>
          </a:xfrm>
          <a:prstGeom prst="rect">
            <a:avLst/>
          </a:prstGeom>
          <a:noFill/>
          <a:ln w="0">
            <a:noFill/>
            <a:prstDash val="solid"/>
          </a:ln>
        </p:spPr>
        <p:txBody>
          <a:bodyPr/>
          <a:lstStyle/>
          <a:p>
            <a:pPr algn="l">
              <a:defRPr sz="1350" b="1">
                <a:solidFill>
                  <a:srgbClr val="2CA58D"/>
                </a:solidFill>
              </a:defRPr>
            </a:pPr>
            <a:r>
              <a:rPr sz="1350" b="1" dirty="0">
                <a:solidFill>
                  <a:srgbClr val="2CA58D"/>
                </a:solidFill>
              </a:rPr>
              <a:t>Document owners</a:t>
            </a:r>
          </a:p>
        </p:txBody>
      </p:sp>
      <p:sp>
        <p:nvSpPr>
          <p:cNvPr id="28" name="Rectangle 27">
            <a:extLst>
              <a:ext uri="{FF2B5EF4-FFF2-40B4-BE49-F238E27FC236}">
                <a16:creationId xmlns:a16="http://schemas.microsoft.com/office/drawing/2014/main" id="{05E24E8B-EB6D-40A1-A5BD-E05DA784D06A}"/>
              </a:ext>
            </a:extLst>
          </p:cNvPr>
          <p:cNvSpPr>
            <a:spLocks noGrp="1"/>
          </p:cNvSpPr>
          <p:nvPr/>
        </p:nvSpPr>
        <p:spPr>
          <a:xfrm>
            <a:off x="6019800" y="43281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Upload and monitor processing</a:t>
            </a:r>
          </a:p>
        </p:txBody>
      </p:sp>
      <p:sp>
        <p:nvSpPr>
          <p:cNvPr id="29" name="Rectangle 28">
            <a:extLst>
              <a:ext uri="{FF2B5EF4-FFF2-40B4-BE49-F238E27FC236}">
                <a16:creationId xmlns:a16="http://schemas.microsoft.com/office/drawing/2014/main" id="{1205B6EC-86EA-4BB8-9A6F-D5A0509CA9D0}"/>
              </a:ext>
            </a:extLst>
          </p:cNvPr>
          <p:cNvSpPr>
            <a:spLocks noGrp="1"/>
          </p:cNvSpPr>
          <p:nvPr/>
        </p:nvSpPr>
        <p:spPr>
          <a:xfrm>
            <a:off x="6019800" y="4613148"/>
            <a:ext cx="4000500" cy="209550"/>
          </a:xfrm>
          <a:prstGeom prst="rect">
            <a:avLst/>
          </a:prstGeom>
          <a:noFill/>
          <a:ln w="0">
            <a:noFill/>
            <a:prstDash val="solid"/>
          </a:ln>
        </p:spPr>
        <p:txBody>
          <a:bodyPr/>
          <a:lstStyle/>
          <a:p>
            <a:pPr algn="l">
              <a:defRPr sz="1200" b="0">
                <a:solidFill>
                  <a:srgbClr val="5B6B78"/>
                </a:solidFill>
              </a:defRPr>
            </a:pPr>
            <a:r>
              <a:rPr sz="1200" b="0" dirty="0">
                <a:solidFill>
                  <a:srgbClr val="5B6B78"/>
                </a:solidFill>
              </a:rPr>
              <a:t>Knowledge becomes searchable</a:t>
            </a:r>
          </a:p>
        </p:txBody>
      </p:sp>
      <p:sp>
        <p:nvSpPr>
          <p:cNvPr id="30" name="Rectangle 29">
            <a:extLst>
              <a:ext uri="{FF2B5EF4-FFF2-40B4-BE49-F238E27FC236}">
                <a16:creationId xmlns:a16="http://schemas.microsoft.com/office/drawing/2014/main" id="{3607C623-7EE8-41F1-A979-2A587D14FF5B}"/>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31" name="Rectangle 30">
            <a:extLst>
              <a:ext uri="{FF2B5EF4-FFF2-40B4-BE49-F238E27FC236}">
                <a16:creationId xmlns:a16="http://schemas.microsoft.com/office/drawing/2014/main" id="{832271AD-715F-412F-9814-FA426CDC9D79}"/>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05 / 11</a:t>
            </a:r>
          </a:p>
        </p:txBody>
      </p:sp>
    </p:spTree>
    <p:extLst>
      <p:ext uri="{BB962C8B-B14F-4D97-AF65-F5344CB8AC3E}">
        <p14:creationId xmlns:p14="http://schemas.microsoft.com/office/powerpoint/2010/main" val="2100834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4</a:t>
            </a: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4579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896100" y="1905000"/>
            <a:ext cx="28575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200" y="253365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2" name="Graphic 41"/>
          <p:cNvPicPr>
            <a:picLocks noChangeAspect="1"/>
          </p:cNvPicPr>
          <p:nvPr/>
        </p:nvPicPr>
        <p:blipFill>
          <a:blip>
            <a:extLst>
              <a:ext uri="{96DAC541-7B7A-43D3-8B79-37D633B846F1}">
                <asvg:svgBlip xmlns:asvg="http://schemas.microsoft.com/office/drawing/2016/SVG/main" r:embed="rId3"/>
              </a:ext>
            </a:extLst>
          </a:blip>
          <a:stretch/>
        </p:blipFill>
        <p:spPr>
          <a:xfrm>
            <a:off x="1371600" y="2647950"/>
            <a:ext cx="228600" cy="228600"/>
          </a:xfrm>
          <a:prstGeom prst="rect">
            <a:avLst/>
          </a:prstGeom>
        </p:spPr>
      </p:pic>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95450" y="2647950"/>
            <a:ext cx="2838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Secure login and roles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371600" y="3200400"/>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95450" y="3200400"/>
            <a:ext cx="2838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Upload and process documents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p:cNvPicPr>
            <a:picLocks noChangeAspect="1"/>
          </p:cNvPicPr>
          <p:nvPr/>
        </p:nvPicPr>
        <p:blipFill>
          <a:blip>
            <a:extLst>
              <a:ext uri="{96DAC541-7B7A-43D3-8B79-37D633B846F1}">
                <asvg:svgBlip xmlns:asvg="http://schemas.microsoft.com/office/drawing/2016/SVG/main" r:embed="rId5"/>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95450" y="3752850"/>
            <a:ext cx="2838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Semantic search conversations</a:t>
            </a: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4290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1" name="Graphic 50"/>
          <p:cNvPicPr>
            <a:picLocks noChangeAspect="1"/>
          </p:cNvPicPr>
          <p:nvPr/>
        </p:nvPicPr>
        <p:blipFill>
          <a:blip>
            <a:extLst>
              <a:ext uri="{96DAC541-7B7A-43D3-8B79-37D633B846F1}">
                <asvg:svgBlip xmlns:asvg="http://schemas.microsoft.com/office/drawing/2016/SVG/main" r:embed="rId6"/>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95450" y="4305300"/>
            <a:ext cx="2838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References with generated responses</a:t>
            </a: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896100" y="25336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4" name="Graphic 53"/>
          <p:cNvPicPr>
            <a:picLocks noChangeAspect="1"/>
          </p:cNvPicPr>
          <p:nvPr/>
        </p:nvPicPr>
        <p:blipFill>
          <a:blip>
            <a:extLst>
              <a:ext uri="{96DAC541-7B7A-43D3-8B79-37D633B846F1}">
                <asvg:svgBlip xmlns:asvg="http://schemas.microsoft.com/office/drawing/2016/SVG/main" r:embed="rId7"/>
              </a:ext>
            </a:extLst>
          </a:blip>
          <a:stretch/>
        </p:blipFill>
        <p:spPr>
          <a:xfrm>
            <a:off x="7048500"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372350" y="2647950"/>
            <a:ext cx="30480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Responsive asynchronous processing</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896100" y="30861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7048500" y="3200400"/>
            <a:ext cx="228600" cy="228600"/>
          </a:xfrm>
          <a:prstGeom prst="rect">
            <a:avLst/>
          </a:prstGeom>
        </p:spPr>
      </p:pic>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372350" y="3200400"/>
            <a:ext cx="30480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Scalable modular architecture</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896100" y="36385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0" name="Graphic 59"/>
          <p:cNvPicPr>
            <a:picLocks noChangeAspect="1"/>
          </p:cNvPicPr>
          <p:nvPr/>
        </p:nvPicPr>
        <p:blipFill>
          <a:blip>
            <a:extLst>
              <a:ext uri="{96DAC541-7B7A-43D3-8B79-37D633B846F1}">
                <asvg:svgBlip xmlns:asvg="http://schemas.microsoft.com/office/drawing/2016/SVG/main" r:embed="rId9"/>
              </a:ext>
            </a:extLst>
          </a:blip>
          <a:stretch/>
        </p:blipFill>
        <p:spPr>
          <a:xfrm>
            <a:off x="7048500" y="3752850"/>
            <a:ext cx="228600" cy="228600"/>
          </a:xfrm>
          <a:prstGeom prst="rect">
            <a:avLst/>
          </a:prstGeom>
        </p:spPr>
      </p:pic>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372350" y="3752850"/>
            <a:ext cx="30480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Data isolation and reliability</a:t>
            </a:r>
          </a:p>
        </p:txBody>
      </p:sp>
      <p:sp>
        <p:nvSpPr>
          <p:cNvPr id="29" name="Rectangle: Rounded Corners 28">
            <a:extLst>
              <a:ext uri="{FF2B5EF4-FFF2-40B4-BE49-F238E27FC236}">
                <a16:creationId xmlns:a16="http://schemas.microsoft.com/office/drawing/2014/main" id="{1B5E3E0F-9E7C-407D-B14A-CF8D96A781B1}"/>
              </a:ext>
            </a:extLst>
          </p:cNvPr>
          <p:cNvSpPr>
            <a:spLocks noGrp="1"/>
          </p:cNvSpPr>
          <p:nvPr/>
        </p:nvSpPr>
        <p:spPr>
          <a:xfrm>
            <a:off x="6896100" y="41910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3" name="Graphic 62"/>
          <p:cNvPicPr>
            <a:picLocks noChangeAspect="1"/>
          </p:cNvPicPr>
          <p:nvPr/>
        </p:nvPicPr>
        <p:blipFill>
          <a:blip>
            <a:extLst>
              <a:ext uri="{96DAC541-7B7A-43D3-8B79-37D633B846F1}">
                <asvg:svgBlip xmlns:asvg="http://schemas.microsoft.com/office/drawing/2016/SVG/main" r:embed="rId10"/>
              </a:ext>
            </a:extLst>
          </a:blip>
          <a:stretch/>
        </p:blipFill>
        <p:spPr>
          <a:xfrm>
            <a:off x="7048500" y="4305300"/>
            <a:ext cx="228600" cy="228600"/>
          </a:xfrm>
          <a:prstGeom prst="rect">
            <a:avLst/>
          </a:prstGeom>
        </p:spPr>
      </p:pic>
      <p:sp>
        <p:nvSpPr>
          <p:cNvPr id="31" name="Rectangle 30">
            <a:extLst>
              <a:ext uri="{FF2B5EF4-FFF2-40B4-BE49-F238E27FC236}">
                <a16:creationId xmlns:a16="http://schemas.microsoft.com/office/drawing/2014/main" id="{47DE74D8-B875-4264-9943-A4ECFDD6923A}"/>
              </a:ext>
            </a:extLst>
          </p:cNvPr>
          <p:cNvSpPr>
            <a:spLocks noGrp="1"/>
          </p:cNvSpPr>
          <p:nvPr/>
        </p:nvSpPr>
        <p:spPr>
          <a:xfrm>
            <a:off x="7372350" y="4305300"/>
            <a:ext cx="304800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Maintainable documented design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06 / 11</a:t>
            </a:r>
          </a:p>
        </p:txBody>
      </p:sp>
    </p:spTree>
    <p:extLst>
      <p:ext uri="{BB962C8B-B14F-4D97-AF65-F5344CB8AC3E}">
        <p14:creationId xmlns:p14="http://schemas.microsoft.com/office/powerpoint/2010/main" val="13449625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63CF1E-E4E2-4485-8C79-20EDC4CFB352}"/>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F4DA0906-0D9E-48D9-8414-79242D4CAD8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5</a:t>
            </a:r>
          </a:p>
        </p:txBody>
      </p:sp>
      <p:sp>
        <p:nvSpPr>
          <p:cNvPr id="3" name="Rectangle 2">
            <a:extLst>
              <a:ext uri="{FF2B5EF4-FFF2-40B4-BE49-F238E27FC236}">
                <a16:creationId xmlns:a16="http://schemas.microsoft.com/office/drawing/2014/main" id="{5A17D017-3DFE-4731-8414-8AA9748E1F28}"/>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System Architecture</a:t>
            </a:r>
          </a:p>
        </p:txBody>
      </p:sp>
      <p:sp>
        <p:nvSpPr>
          <p:cNvPr id="4" name="Rectangle: Rounded Corners 3">
            <a:extLst>
              <a:ext uri="{FF2B5EF4-FFF2-40B4-BE49-F238E27FC236}">
                <a16:creationId xmlns:a16="http://schemas.microsoft.com/office/drawing/2014/main" id="{C13510B5-EE12-45F0-AFDD-657F2AB5E316}"/>
              </a:ext>
            </a:extLst>
          </p:cNvPr>
          <p:cNvSpPr>
            <a:spLocks noGrp="1"/>
          </p:cNvSpPr>
          <p:nvPr/>
        </p:nvSpPr>
        <p:spPr>
          <a:xfrm>
            <a:off x="895350" y="1314450"/>
            <a:ext cx="4095750" cy="4800600"/>
          </a:xfrm>
          <a:prstGeom prst="roundRect">
            <a:avLst>
              <a:gd name="adj" fmla="val 2791"/>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2" name="Picture 31"/>
          <p:cNvPicPr>
            <a:picLocks noChangeAspect="1"/>
          </p:cNvPicPr>
          <p:nvPr/>
        </p:nvPicPr>
        <p:blipFill>
          <a:blip r:embed="rId3"/>
          <a:stretch/>
        </p:blipFill>
        <p:spPr>
          <a:xfrm>
            <a:off x="1433680" y="1485900"/>
            <a:ext cx="3019090" cy="4457700"/>
          </a:xfrm>
          <a:prstGeom prst="roundRect">
            <a:avLst>
              <a:gd name="adj" fmla="val 2030"/>
            </a:avLst>
          </a:prstGeom>
        </p:spPr>
      </p:pic>
      <p:sp>
        <p:nvSpPr>
          <p:cNvPr id="6" name="Rectangle: Rounded Corners 5">
            <a:extLst>
              <a:ext uri="{FF2B5EF4-FFF2-40B4-BE49-F238E27FC236}">
                <a16:creationId xmlns:a16="http://schemas.microsoft.com/office/drawing/2014/main" id="{3B9E8FC8-9E72-4842-9034-C6F9C1927F2D}"/>
              </a:ext>
            </a:extLst>
          </p:cNvPr>
          <p:cNvSpPr>
            <a:spLocks noGrp="1"/>
          </p:cNvSpPr>
          <p:nvPr/>
        </p:nvSpPr>
        <p:spPr>
          <a:xfrm>
            <a:off x="5619750" y="13906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Oval 6">
            <a:extLst>
              <a:ext uri="{FF2B5EF4-FFF2-40B4-BE49-F238E27FC236}">
                <a16:creationId xmlns:a16="http://schemas.microsoft.com/office/drawing/2014/main" id="{71A7EB81-793F-4042-98B4-C0946AE92603}"/>
              </a:ext>
            </a:extLst>
          </p:cNvPr>
          <p:cNvSpPr>
            <a:spLocks noGrp="1"/>
          </p:cNvSpPr>
          <p:nvPr/>
        </p:nvSpPr>
        <p:spPr>
          <a:xfrm>
            <a:off x="5829300" y="161925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4"/>
              </a:ext>
            </a:extLst>
          </a:blip>
          <a:stretch/>
        </p:blipFill>
        <p:spPr>
          <a:xfrm>
            <a:off x="5953125" y="1743075"/>
            <a:ext cx="247650" cy="247650"/>
          </a:xfrm>
          <a:prstGeom prst="rect">
            <a:avLst/>
          </a:prstGeom>
        </p:spPr>
      </p:pic>
      <p:sp>
        <p:nvSpPr>
          <p:cNvPr id="9" name="Rectangle 8">
            <a:extLst>
              <a:ext uri="{FF2B5EF4-FFF2-40B4-BE49-F238E27FC236}">
                <a16:creationId xmlns:a16="http://schemas.microsoft.com/office/drawing/2014/main" id="{4A116418-3E48-48C9-8FF0-3CEE97630E21}"/>
              </a:ext>
            </a:extLst>
          </p:cNvPr>
          <p:cNvSpPr>
            <a:spLocks noGrp="1"/>
          </p:cNvSpPr>
          <p:nvPr/>
        </p:nvSpPr>
        <p:spPr>
          <a:xfrm>
            <a:off x="6515100" y="15826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Web interface</a:t>
            </a:r>
          </a:p>
        </p:txBody>
      </p:sp>
      <p:sp>
        <p:nvSpPr>
          <p:cNvPr id="10" name="Rectangle 9">
            <a:extLst>
              <a:ext uri="{FF2B5EF4-FFF2-40B4-BE49-F238E27FC236}">
                <a16:creationId xmlns:a16="http://schemas.microsoft.com/office/drawing/2014/main" id="{E9C071ED-B86B-4D7A-8279-89BF68FCF47E}"/>
              </a:ext>
            </a:extLst>
          </p:cNvPr>
          <p:cNvSpPr>
            <a:spLocks noGrp="1"/>
          </p:cNvSpPr>
          <p:nvPr/>
        </p:nvSpPr>
        <p:spPr>
          <a:xfrm>
            <a:off x="6515100" y="18611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Blade and JavaScript</a:t>
            </a:r>
          </a:p>
        </p:txBody>
      </p:sp>
      <p:sp>
        <p:nvSpPr>
          <p:cNvPr id="11" name="Rectangle: Rounded Corners 10">
            <a:extLst>
              <a:ext uri="{FF2B5EF4-FFF2-40B4-BE49-F238E27FC236}">
                <a16:creationId xmlns:a16="http://schemas.microsoft.com/office/drawing/2014/main" id="{20A60934-387B-447E-A0CF-4D65978F4863}"/>
              </a:ext>
            </a:extLst>
          </p:cNvPr>
          <p:cNvSpPr>
            <a:spLocks noGrp="1"/>
          </p:cNvSpPr>
          <p:nvPr/>
        </p:nvSpPr>
        <p:spPr>
          <a:xfrm>
            <a:off x="5619750" y="24955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9021696A-5F63-4128-B70B-4ED565C5BDDF}"/>
              </a:ext>
            </a:extLst>
          </p:cNvPr>
          <p:cNvSpPr>
            <a:spLocks noGrp="1"/>
          </p:cNvSpPr>
          <p:nvPr/>
        </p:nvSpPr>
        <p:spPr>
          <a:xfrm>
            <a:off x="5829300" y="27241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5"/>
              </a:ext>
            </a:extLst>
          </a:blip>
          <a:stretch/>
        </p:blipFill>
        <p:spPr>
          <a:xfrm>
            <a:off x="5953125" y="2847975"/>
            <a:ext cx="247650" cy="247650"/>
          </a:xfrm>
          <a:prstGeom prst="rect">
            <a:avLst/>
          </a:prstGeom>
        </p:spPr>
      </p:pic>
      <p:sp>
        <p:nvSpPr>
          <p:cNvPr id="14" name="Rectangle 13">
            <a:extLst>
              <a:ext uri="{FF2B5EF4-FFF2-40B4-BE49-F238E27FC236}">
                <a16:creationId xmlns:a16="http://schemas.microsoft.com/office/drawing/2014/main" id="{A1AACCBD-EFCC-4F7B-962F-7991CF2ED3A2}"/>
              </a:ext>
            </a:extLst>
          </p:cNvPr>
          <p:cNvSpPr>
            <a:spLocks noGrp="1"/>
          </p:cNvSpPr>
          <p:nvPr/>
        </p:nvSpPr>
        <p:spPr>
          <a:xfrm>
            <a:off x="6515100" y="26875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Processing pipeline</a:t>
            </a:r>
          </a:p>
        </p:txBody>
      </p:sp>
      <p:sp>
        <p:nvSpPr>
          <p:cNvPr id="15" name="Rectangle 14">
            <a:extLst>
              <a:ext uri="{FF2B5EF4-FFF2-40B4-BE49-F238E27FC236}">
                <a16:creationId xmlns:a16="http://schemas.microsoft.com/office/drawing/2014/main" id="{E6F19451-0F03-4B58-94EA-54183FA9D374}"/>
              </a:ext>
            </a:extLst>
          </p:cNvPr>
          <p:cNvSpPr>
            <a:spLocks noGrp="1"/>
          </p:cNvSpPr>
          <p:nvPr/>
        </p:nvSpPr>
        <p:spPr>
          <a:xfrm>
            <a:off x="6515100" y="29660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OCR and text extraction</a:t>
            </a:r>
          </a:p>
        </p:txBody>
      </p:sp>
      <p:sp>
        <p:nvSpPr>
          <p:cNvPr id="16" name="Rectangle: Rounded Corners 15">
            <a:extLst>
              <a:ext uri="{FF2B5EF4-FFF2-40B4-BE49-F238E27FC236}">
                <a16:creationId xmlns:a16="http://schemas.microsoft.com/office/drawing/2014/main" id="{2B2A3434-83F1-4B22-9102-0E42B23C16A1}"/>
              </a:ext>
            </a:extLst>
          </p:cNvPr>
          <p:cNvSpPr>
            <a:spLocks noGrp="1"/>
          </p:cNvSpPr>
          <p:nvPr/>
        </p:nvSpPr>
        <p:spPr>
          <a:xfrm>
            <a:off x="5619750" y="36004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Oval 16">
            <a:extLst>
              <a:ext uri="{FF2B5EF4-FFF2-40B4-BE49-F238E27FC236}">
                <a16:creationId xmlns:a16="http://schemas.microsoft.com/office/drawing/2014/main" id="{BEF28F4C-8209-4CFD-9BBA-DAAAC25C3476}"/>
              </a:ext>
            </a:extLst>
          </p:cNvPr>
          <p:cNvSpPr>
            <a:spLocks noGrp="1"/>
          </p:cNvSpPr>
          <p:nvPr/>
        </p:nvSpPr>
        <p:spPr>
          <a:xfrm>
            <a:off x="5829300" y="38290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6"/>
              </a:ext>
            </a:extLst>
          </a:blip>
          <a:stretch/>
        </p:blipFill>
        <p:spPr>
          <a:xfrm>
            <a:off x="5953125" y="3952875"/>
            <a:ext cx="247650" cy="247650"/>
          </a:xfrm>
          <a:prstGeom prst="rect">
            <a:avLst/>
          </a:prstGeom>
        </p:spPr>
      </p:pic>
      <p:sp>
        <p:nvSpPr>
          <p:cNvPr id="19" name="Rectangle 18">
            <a:extLst>
              <a:ext uri="{FF2B5EF4-FFF2-40B4-BE49-F238E27FC236}">
                <a16:creationId xmlns:a16="http://schemas.microsoft.com/office/drawing/2014/main" id="{78DF24FD-038A-46DF-8E14-1B964CC08A51}"/>
              </a:ext>
            </a:extLst>
          </p:cNvPr>
          <p:cNvSpPr>
            <a:spLocks noGrp="1"/>
          </p:cNvSpPr>
          <p:nvPr/>
        </p:nvSpPr>
        <p:spPr>
          <a:xfrm>
            <a:off x="6515100" y="37924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Vector storage</a:t>
            </a:r>
          </a:p>
        </p:txBody>
      </p:sp>
      <p:sp>
        <p:nvSpPr>
          <p:cNvPr id="20" name="Rectangle 19">
            <a:extLst>
              <a:ext uri="{FF2B5EF4-FFF2-40B4-BE49-F238E27FC236}">
                <a16:creationId xmlns:a16="http://schemas.microsoft.com/office/drawing/2014/main" id="{FC8CAE58-9CED-41BC-BE54-5B454F0B4F05}"/>
              </a:ext>
            </a:extLst>
          </p:cNvPr>
          <p:cNvSpPr>
            <a:spLocks noGrp="1"/>
          </p:cNvSpPr>
          <p:nvPr/>
        </p:nvSpPr>
        <p:spPr>
          <a:xfrm>
            <a:off x="6515100" y="40709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PostgreSQL with vectors</a:t>
            </a:r>
          </a:p>
        </p:txBody>
      </p:sp>
      <p:sp>
        <p:nvSpPr>
          <p:cNvPr id="21" name="Rectangle: Rounded Corners 20">
            <a:extLst>
              <a:ext uri="{FF2B5EF4-FFF2-40B4-BE49-F238E27FC236}">
                <a16:creationId xmlns:a16="http://schemas.microsoft.com/office/drawing/2014/main" id="{EB50800F-8704-4749-BFD3-B2CAFAAA2FC5}"/>
              </a:ext>
            </a:extLst>
          </p:cNvPr>
          <p:cNvSpPr>
            <a:spLocks noGrp="1"/>
          </p:cNvSpPr>
          <p:nvPr/>
        </p:nvSpPr>
        <p:spPr>
          <a:xfrm>
            <a:off x="5619750" y="4705350"/>
            <a:ext cx="53340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Oval 21">
            <a:extLst>
              <a:ext uri="{FF2B5EF4-FFF2-40B4-BE49-F238E27FC236}">
                <a16:creationId xmlns:a16="http://schemas.microsoft.com/office/drawing/2014/main" id="{49308DDA-4998-430E-A04E-A42C2336522A}"/>
              </a:ext>
            </a:extLst>
          </p:cNvPr>
          <p:cNvSpPr>
            <a:spLocks noGrp="1"/>
          </p:cNvSpPr>
          <p:nvPr/>
        </p:nvSpPr>
        <p:spPr>
          <a:xfrm>
            <a:off x="5829300" y="49339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7"/>
              </a:ext>
            </a:extLst>
          </a:blip>
          <a:stretch/>
        </p:blipFill>
        <p:spPr>
          <a:xfrm>
            <a:off x="5953125" y="5057775"/>
            <a:ext cx="247650" cy="247650"/>
          </a:xfrm>
          <a:prstGeom prst="rect">
            <a:avLst/>
          </a:prstGeom>
        </p:spPr>
      </p:pic>
      <p:sp>
        <p:nvSpPr>
          <p:cNvPr id="24" name="Rectangle 23">
            <a:extLst>
              <a:ext uri="{FF2B5EF4-FFF2-40B4-BE49-F238E27FC236}">
                <a16:creationId xmlns:a16="http://schemas.microsoft.com/office/drawing/2014/main" id="{561FE523-0B4B-458E-9EEA-DCF3F99E4239}"/>
              </a:ext>
            </a:extLst>
          </p:cNvPr>
          <p:cNvSpPr>
            <a:spLocks noGrp="1"/>
          </p:cNvSpPr>
          <p:nvPr/>
        </p:nvSpPr>
        <p:spPr>
          <a:xfrm>
            <a:off x="6515100" y="4897374"/>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Grounded response</a:t>
            </a:r>
          </a:p>
        </p:txBody>
      </p:sp>
      <p:sp>
        <p:nvSpPr>
          <p:cNvPr id="25" name="Rectangle 24">
            <a:extLst>
              <a:ext uri="{FF2B5EF4-FFF2-40B4-BE49-F238E27FC236}">
                <a16:creationId xmlns:a16="http://schemas.microsoft.com/office/drawing/2014/main" id="{06BFD001-EA40-4CD0-A94D-87E0D2F14B2D}"/>
              </a:ext>
            </a:extLst>
          </p:cNvPr>
          <p:cNvSpPr>
            <a:spLocks noGrp="1"/>
          </p:cNvSpPr>
          <p:nvPr/>
        </p:nvSpPr>
        <p:spPr>
          <a:xfrm>
            <a:off x="6515100" y="5175885"/>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Language model with context</a:t>
            </a:r>
          </a:p>
        </p:txBody>
      </p:sp>
      <p:sp>
        <p:nvSpPr>
          <p:cNvPr id="26" name="Rectangle 25">
            <a:extLst>
              <a:ext uri="{FF2B5EF4-FFF2-40B4-BE49-F238E27FC236}">
                <a16:creationId xmlns:a16="http://schemas.microsoft.com/office/drawing/2014/main" id="{60A73582-41F0-42F5-AAE6-72590553BBF0}"/>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27" name="Rectangle 26">
            <a:extLst>
              <a:ext uri="{FF2B5EF4-FFF2-40B4-BE49-F238E27FC236}">
                <a16:creationId xmlns:a16="http://schemas.microsoft.com/office/drawing/2014/main" id="{F47FB947-E855-4C00-953A-D3F5A61EFF31}"/>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07 / 11</a:t>
            </a:r>
          </a:p>
        </p:txBody>
      </p:sp>
    </p:spTree>
    <p:extLst>
      <p:ext uri="{BB962C8B-B14F-4D97-AF65-F5344CB8AC3E}">
        <p14:creationId xmlns:p14="http://schemas.microsoft.com/office/powerpoint/2010/main" val="63015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6</a:t>
            </a:r>
          </a:p>
        </p:txBody>
      </p:sp>
      <p:sp>
        <p:nvSpPr>
          <p:cNvPr id="3" name="Rectangle 2">
            <a:extLst>
              <a:ext uri="{FF2B5EF4-FFF2-40B4-BE49-F238E27FC236}">
                <a16:creationId xmlns:a16="http://schemas.microsoft.com/office/drawing/2014/main" id="{272CAA50-9266-46C8-9E62-08487D9A6C1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Structure and Models</a:t>
            </a:r>
          </a:p>
        </p:txBody>
      </p:sp>
      <p:sp>
        <p:nvSpPr>
          <p:cNvPr id="4" name="Rectangle: Rounded Corners 3">
            <a:extLst>
              <a:ext uri="{FF2B5EF4-FFF2-40B4-BE49-F238E27FC236}">
                <a16:creationId xmlns:a16="http://schemas.microsoft.com/office/drawing/2014/main" id="{25D078D6-6948-468A-823F-75DC3A0EDBF5}"/>
              </a:ext>
            </a:extLst>
          </p:cNvPr>
          <p:cNvSpPr>
            <a:spLocks noGrp="1"/>
          </p:cNvSpPr>
          <p:nvPr/>
        </p:nvSpPr>
        <p:spPr>
          <a:xfrm>
            <a:off x="666750" y="1352550"/>
            <a:ext cx="4953000" cy="314325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Picture 30"/>
          <p:cNvPicPr>
            <a:picLocks noChangeAspect="1"/>
          </p:cNvPicPr>
          <p:nvPr/>
        </p:nvPicPr>
        <p:blipFill>
          <a:blip r:embed="rId3"/>
          <a:stretch/>
        </p:blipFill>
        <p:spPr>
          <a:xfrm>
            <a:off x="1071900" y="1524000"/>
            <a:ext cx="4142701" cy="2800350"/>
          </a:xfrm>
          <a:prstGeom prst="roundRect">
            <a:avLst>
              <a:gd name="adj" fmla="val 2721"/>
            </a:avLst>
          </a:prstGeom>
        </p:spPr>
      </p:pic>
      <p:sp>
        <p:nvSpPr>
          <p:cNvPr id="6" name="Rectangle: Rounded Corners 5">
            <a:extLst>
              <a:ext uri="{FF2B5EF4-FFF2-40B4-BE49-F238E27FC236}">
                <a16:creationId xmlns:a16="http://schemas.microsoft.com/office/drawing/2014/main" id="{AAE589E3-A2DB-4AD0-8F7A-0F2A7C3D44CA}"/>
              </a:ext>
            </a:extLst>
          </p:cNvPr>
          <p:cNvSpPr>
            <a:spLocks noGrp="1"/>
          </p:cNvSpPr>
          <p:nvPr/>
        </p:nvSpPr>
        <p:spPr>
          <a:xfrm>
            <a:off x="6210300" y="1352550"/>
            <a:ext cx="5334000" cy="3143250"/>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3" name="Picture 32"/>
          <p:cNvPicPr>
            <a:picLocks noChangeAspect="1"/>
          </p:cNvPicPr>
          <p:nvPr/>
        </p:nvPicPr>
        <p:blipFill>
          <a:blip r:embed="rId4"/>
          <a:stretch/>
        </p:blipFill>
        <p:spPr>
          <a:xfrm>
            <a:off x="6655187" y="1524000"/>
            <a:ext cx="4444226" cy="2800350"/>
          </a:xfrm>
          <a:prstGeom prst="roundRect">
            <a:avLst>
              <a:gd name="adj" fmla="val 2721"/>
            </a:avLst>
          </a:prstGeom>
        </p:spPr>
      </p:pic>
      <p:sp>
        <p:nvSpPr>
          <p:cNvPr id="8" name="Rectangle 7">
            <a:extLst>
              <a:ext uri="{FF2B5EF4-FFF2-40B4-BE49-F238E27FC236}">
                <a16:creationId xmlns:a16="http://schemas.microsoft.com/office/drawing/2014/main" id="{0606F605-A0F3-460B-9527-3523B9E4CC8E}"/>
              </a:ext>
            </a:extLst>
          </p:cNvPr>
          <p:cNvSpPr>
            <a:spLocks noGrp="1"/>
          </p:cNvSpPr>
          <p:nvPr/>
        </p:nvSpPr>
        <p:spPr>
          <a:xfrm>
            <a:off x="876300" y="4629150"/>
            <a:ext cx="1905000" cy="228600"/>
          </a:xfrm>
          <a:prstGeom prst="rect">
            <a:avLst/>
          </a:prstGeom>
          <a:noFill/>
          <a:ln w="0">
            <a:noFill/>
            <a:prstDash val="solid"/>
          </a:ln>
        </p:spPr>
        <p:txBody>
          <a:bodyPr/>
          <a:lstStyle/>
          <a:p>
            <a:pPr algn="l">
              <a:defRPr sz="1500" b="1">
                <a:solidFill>
                  <a:srgbClr val="0077B6"/>
                </a:solidFill>
              </a:defRPr>
            </a:pPr>
            <a:r>
              <a:rPr sz="1500" b="1">
                <a:solidFill>
                  <a:srgbClr val="0077B6"/>
                </a:solidFill>
              </a:rPr>
              <a:t>Use cases</a:t>
            </a:r>
          </a:p>
        </p:txBody>
      </p:sp>
      <p:sp>
        <p:nvSpPr>
          <p:cNvPr id="9" name="Rectangle 8">
            <a:extLst>
              <a:ext uri="{FF2B5EF4-FFF2-40B4-BE49-F238E27FC236}">
                <a16:creationId xmlns:a16="http://schemas.microsoft.com/office/drawing/2014/main" id="{50A15FA1-45DB-4946-A3B3-45CCFB6765B2}"/>
              </a:ext>
            </a:extLst>
          </p:cNvPr>
          <p:cNvSpPr>
            <a:spLocks noGrp="1"/>
          </p:cNvSpPr>
          <p:nvPr/>
        </p:nvSpPr>
        <p:spPr>
          <a:xfrm>
            <a:off x="6419850" y="4629150"/>
            <a:ext cx="2286000" cy="228600"/>
          </a:xfrm>
          <a:prstGeom prst="rect">
            <a:avLst/>
          </a:prstGeom>
          <a:noFill/>
          <a:ln w="0">
            <a:noFill/>
            <a:prstDash val="solid"/>
          </a:ln>
        </p:spPr>
        <p:txBody>
          <a:bodyPr/>
          <a:lstStyle/>
          <a:p>
            <a:pPr algn="l">
              <a:defRPr sz="1500" b="1">
                <a:solidFill>
                  <a:srgbClr val="009999"/>
                </a:solidFill>
              </a:defRPr>
            </a:pPr>
            <a:r>
              <a:rPr sz="1500" b="1">
                <a:solidFill>
                  <a:srgbClr val="009999"/>
                </a:solidFill>
              </a:rPr>
              <a:t>Database model</a:t>
            </a:r>
          </a:p>
        </p:txBody>
      </p:sp>
      <p:sp>
        <p:nvSpPr>
          <p:cNvPr id="10" name="Rectangle: Rounded Corners 9">
            <a:extLst>
              <a:ext uri="{FF2B5EF4-FFF2-40B4-BE49-F238E27FC236}">
                <a16:creationId xmlns:a16="http://schemas.microsoft.com/office/drawing/2014/main" id="{9A8E3787-6FF8-4D55-BE1F-6AF5549D955B}"/>
              </a:ext>
            </a:extLst>
          </p:cNvPr>
          <p:cNvSpPr>
            <a:spLocks noGrp="1"/>
          </p:cNvSpPr>
          <p:nvPr/>
        </p:nvSpPr>
        <p:spPr>
          <a:xfrm>
            <a:off x="8763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1028700" y="5391150"/>
            <a:ext cx="228600" cy="228600"/>
          </a:xfrm>
          <a:prstGeom prst="rect">
            <a:avLst/>
          </a:prstGeom>
        </p:spPr>
      </p:pic>
      <p:sp>
        <p:nvSpPr>
          <p:cNvPr id="12" name="Rectangle 11">
            <a:extLst>
              <a:ext uri="{FF2B5EF4-FFF2-40B4-BE49-F238E27FC236}">
                <a16:creationId xmlns:a16="http://schemas.microsoft.com/office/drawing/2014/main" id="{230C8F86-9F41-4D0D-B7A6-E3DE95B1F3CB}"/>
              </a:ext>
            </a:extLst>
          </p:cNvPr>
          <p:cNvSpPr>
            <a:spLocks noGrp="1"/>
          </p:cNvSpPr>
          <p:nvPr/>
        </p:nvSpPr>
        <p:spPr>
          <a:xfrm>
            <a:off x="13525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PHP</a:t>
            </a:r>
          </a:p>
        </p:txBody>
      </p:sp>
      <p:sp>
        <p:nvSpPr>
          <p:cNvPr id="13" name="Rectangle: Rounded Corners 12">
            <a:extLst>
              <a:ext uri="{FF2B5EF4-FFF2-40B4-BE49-F238E27FC236}">
                <a16:creationId xmlns:a16="http://schemas.microsoft.com/office/drawing/2014/main" id="{ABDE01D7-F9D1-416A-97B2-02D0EC388924}"/>
              </a:ext>
            </a:extLst>
          </p:cNvPr>
          <p:cNvSpPr>
            <a:spLocks noGrp="1"/>
          </p:cNvSpPr>
          <p:nvPr/>
        </p:nvSpPr>
        <p:spPr>
          <a:xfrm>
            <a:off x="299085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3143250" y="5391150"/>
            <a:ext cx="228600" cy="228600"/>
          </a:xfrm>
          <a:prstGeom prst="rect">
            <a:avLst/>
          </a:prstGeom>
        </p:spPr>
      </p:pic>
      <p:sp>
        <p:nvSpPr>
          <p:cNvPr id="15" name="Rectangle 14">
            <a:extLst>
              <a:ext uri="{FF2B5EF4-FFF2-40B4-BE49-F238E27FC236}">
                <a16:creationId xmlns:a16="http://schemas.microsoft.com/office/drawing/2014/main" id="{D6C33BAB-AE75-4A66-900A-2EDE4BC986A6}"/>
              </a:ext>
            </a:extLst>
          </p:cNvPr>
          <p:cNvSpPr>
            <a:spLocks noGrp="1"/>
          </p:cNvSpPr>
          <p:nvPr/>
        </p:nvSpPr>
        <p:spPr>
          <a:xfrm>
            <a:off x="346710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Laravel MVC</a:t>
            </a:r>
          </a:p>
        </p:txBody>
      </p:sp>
      <p:sp>
        <p:nvSpPr>
          <p:cNvPr id="16" name="Rectangle: Rounded Corners 15">
            <a:extLst>
              <a:ext uri="{FF2B5EF4-FFF2-40B4-BE49-F238E27FC236}">
                <a16:creationId xmlns:a16="http://schemas.microsoft.com/office/drawing/2014/main" id="{7E1E8E03-326F-4629-8A32-FDF9577C7BCD}"/>
              </a:ext>
            </a:extLst>
          </p:cNvPr>
          <p:cNvSpPr>
            <a:spLocks noGrp="1"/>
          </p:cNvSpPr>
          <p:nvPr/>
        </p:nvSpPr>
        <p:spPr>
          <a:xfrm>
            <a:off x="51054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5257800" y="5391150"/>
            <a:ext cx="228600" cy="228600"/>
          </a:xfrm>
          <a:prstGeom prst="rect">
            <a:avLst/>
          </a:prstGeom>
        </p:spPr>
      </p:pic>
      <p:sp>
        <p:nvSpPr>
          <p:cNvPr id="18" name="Rectangle 17">
            <a:extLst>
              <a:ext uri="{FF2B5EF4-FFF2-40B4-BE49-F238E27FC236}">
                <a16:creationId xmlns:a16="http://schemas.microsoft.com/office/drawing/2014/main" id="{2E310419-5D60-4E20-A1F8-71F7DEAB68DF}"/>
              </a:ext>
            </a:extLst>
          </p:cNvPr>
          <p:cNvSpPr>
            <a:spLocks noGrp="1"/>
          </p:cNvSpPr>
          <p:nvPr/>
        </p:nvSpPr>
        <p:spPr>
          <a:xfrm>
            <a:off x="55816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PostgreSQL</a:t>
            </a:r>
          </a:p>
        </p:txBody>
      </p:sp>
      <p:sp>
        <p:nvSpPr>
          <p:cNvPr id="19" name="Rectangle: Rounded Corners 18">
            <a:extLst>
              <a:ext uri="{FF2B5EF4-FFF2-40B4-BE49-F238E27FC236}">
                <a16:creationId xmlns:a16="http://schemas.microsoft.com/office/drawing/2014/main" id="{8556DD89-684A-404B-A11E-7E87FC4FFE1A}"/>
              </a:ext>
            </a:extLst>
          </p:cNvPr>
          <p:cNvSpPr>
            <a:spLocks noGrp="1"/>
          </p:cNvSpPr>
          <p:nvPr/>
        </p:nvSpPr>
        <p:spPr>
          <a:xfrm>
            <a:off x="721995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7372350" y="5391150"/>
            <a:ext cx="228600" cy="228600"/>
          </a:xfrm>
          <a:prstGeom prst="rect">
            <a:avLst/>
          </a:prstGeom>
        </p:spPr>
      </p:pic>
      <p:sp>
        <p:nvSpPr>
          <p:cNvPr id="21" name="Rectangle 20">
            <a:extLst>
              <a:ext uri="{FF2B5EF4-FFF2-40B4-BE49-F238E27FC236}">
                <a16:creationId xmlns:a16="http://schemas.microsoft.com/office/drawing/2014/main" id="{E042A703-CE3B-4368-B720-BD392E423794}"/>
              </a:ext>
            </a:extLst>
          </p:cNvPr>
          <p:cNvSpPr>
            <a:spLocks noGrp="1"/>
          </p:cNvSpPr>
          <p:nvPr/>
        </p:nvSpPr>
        <p:spPr>
          <a:xfrm>
            <a:off x="769620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JavaScript</a:t>
            </a:r>
          </a:p>
        </p:txBody>
      </p:sp>
      <p:sp>
        <p:nvSpPr>
          <p:cNvPr id="22" name="Rectangle: Rounded Corners 21">
            <a:extLst>
              <a:ext uri="{FF2B5EF4-FFF2-40B4-BE49-F238E27FC236}">
                <a16:creationId xmlns:a16="http://schemas.microsoft.com/office/drawing/2014/main" id="{641DCC36-6CF1-45E2-AD87-E054700BBEAF}"/>
              </a:ext>
            </a:extLst>
          </p:cNvPr>
          <p:cNvSpPr>
            <a:spLocks noGrp="1"/>
          </p:cNvSpPr>
          <p:nvPr/>
        </p:nvSpPr>
        <p:spPr>
          <a:xfrm>
            <a:off x="9334500" y="5276850"/>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9486900" y="5391150"/>
            <a:ext cx="228600" cy="228600"/>
          </a:xfrm>
          <a:prstGeom prst="rect">
            <a:avLst/>
          </a:prstGeom>
        </p:spPr>
      </p:pic>
      <p:sp>
        <p:nvSpPr>
          <p:cNvPr id="24" name="Rectangle 23">
            <a:extLst>
              <a:ext uri="{FF2B5EF4-FFF2-40B4-BE49-F238E27FC236}">
                <a16:creationId xmlns:a16="http://schemas.microsoft.com/office/drawing/2014/main" id="{8221900A-9EFD-4DD2-8893-E2552481A1AF}"/>
              </a:ext>
            </a:extLst>
          </p:cNvPr>
          <p:cNvSpPr>
            <a:spLocks noGrp="1"/>
          </p:cNvSpPr>
          <p:nvPr/>
        </p:nvSpPr>
        <p:spPr>
          <a:xfrm>
            <a:off x="9810750" y="5354574"/>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OCR pipeline</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08 / 11</a:t>
            </a:r>
          </a:p>
        </p:txBody>
      </p:sp>
    </p:spTree>
    <p:extLst>
      <p:ext uri="{BB962C8B-B14F-4D97-AF65-F5344CB8AC3E}">
        <p14:creationId xmlns:p14="http://schemas.microsoft.com/office/powerpoint/2010/main" val="72955928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8AD838-B984-4CF4-9FB4-B323BB1EAA1F}"/>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A9A52347-4934-4289-A001-CB22697585C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MAIN SLIDE 7</a:t>
            </a:r>
          </a:p>
        </p:txBody>
      </p:sp>
      <p:sp>
        <p:nvSpPr>
          <p:cNvPr id="3" name="Rectangle 2">
            <a:extLst>
              <a:ext uri="{FF2B5EF4-FFF2-40B4-BE49-F238E27FC236}">
                <a16:creationId xmlns:a16="http://schemas.microsoft.com/office/drawing/2014/main" id="{D06112A8-4008-4E94-82D7-80E07B2A72B7}"/>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MVC and Hexagonal Decisions</a:t>
            </a:r>
          </a:p>
        </p:txBody>
      </p:sp>
      <p:sp>
        <p:nvSpPr>
          <p:cNvPr id="4" name="Rectangle: Rounded Corners 3">
            <a:extLst>
              <a:ext uri="{FF2B5EF4-FFF2-40B4-BE49-F238E27FC236}">
                <a16:creationId xmlns:a16="http://schemas.microsoft.com/office/drawing/2014/main" id="{4663B33E-4B06-497E-8861-CE7EBF57DB08}"/>
              </a:ext>
            </a:extLst>
          </p:cNvPr>
          <p:cNvSpPr>
            <a:spLocks noGrp="1"/>
          </p:cNvSpPr>
          <p:nvPr/>
        </p:nvSpPr>
        <p:spPr>
          <a:xfrm>
            <a:off x="704850" y="140970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7FB43CD-1FB0-42A0-9E12-08C1339AA554}"/>
              </a:ext>
            </a:extLst>
          </p:cNvPr>
          <p:cNvSpPr>
            <a:spLocks noGrp="1"/>
          </p:cNvSpPr>
          <p:nvPr/>
        </p:nvSpPr>
        <p:spPr>
          <a:xfrm>
            <a:off x="914400" y="163830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1038225" y="1762125"/>
            <a:ext cx="247650" cy="247650"/>
          </a:xfrm>
          <a:prstGeom prst="rect">
            <a:avLst/>
          </a:prstGeom>
        </p:spPr>
      </p:pic>
      <p:sp>
        <p:nvSpPr>
          <p:cNvPr id="7" name="Rectangle 6">
            <a:extLst>
              <a:ext uri="{FF2B5EF4-FFF2-40B4-BE49-F238E27FC236}">
                <a16:creationId xmlns:a16="http://schemas.microsoft.com/office/drawing/2014/main" id="{30491365-01C2-4B6F-945E-80947351FB99}"/>
              </a:ext>
            </a:extLst>
          </p:cNvPr>
          <p:cNvSpPr>
            <a:spLocks noGrp="1"/>
          </p:cNvSpPr>
          <p:nvPr/>
        </p:nvSpPr>
        <p:spPr>
          <a:xfrm>
            <a:off x="1600200" y="16017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MVC for web application</a:t>
            </a:r>
          </a:p>
        </p:txBody>
      </p:sp>
      <p:sp>
        <p:nvSpPr>
          <p:cNvPr id="8" name="Rectangle 7">
            <a:extLst>
              <a:ext uri="{FF2B5EF4-FFF2-40B4-BE49-F238E27FC236}">
                <a16:creationId xmlns:a16="http://schemas.microsoft.com/office/drawing/2014/main" id="{BC43BFA6-B547-45B2-8847-C480355766B7}"/>
              </a:ext>
            </a:extLst>
          </p:cNvPr>
          <p:cNvSpPr>
            <a:spLocks noGrp="1"/>
          </p:cNvSpPr>
          <p:nvPr/>
        </p:nvSpPr>
        <p:spPr>
          <a:xfrm>
            <a:off x="1600200" y="189852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Laravel separates interface and logic</a:t>
            </a:r>
          </a:p>
        </p:txBody>
      </p:sp>
      <p:sp>
        <p:nvSpPr>
          <p:cNvPr id="9" name="Rectangle: Rounded Corners 8">
            <a:extLst>
              <a:ext uri="{FF2B5EF4-FFF2-40B4-BE49-F238E27FC236}">
                <a16:creationId xmlns:a16="http://schemas.microsoft.com/office/drawing/2014/main" id="{6D7741CB-49E8-41F7-A18F-0F54058C5E82}"/>
              </a:ext>
            </a:extLst>
          </p:cNvPr>
          <p:cNvSpPr>
            <a:spLocks noGrp="1"/>
          </p:cNvSpPr>
          <p:nvPr/>
        </p:nvSpPr>
        <p:spPr>
          <a:xfrm>
            <a:off x="704850" y="245745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005CFE31-290E-4E35-8686-7CDD92DA0D93}"/>
              </a:ext>
            </a:extLst>
          </p:cNvPr>
          <p:cNvSpPr>
            <a:spLocks noGrp="1"/>
          </p:cNvSpPr>
          <p:nvPr/>
        </p:nvSpPr>
        <p:spPr>
          <a:xfrm>
            <a:off x="914400" y="26860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1038225" y="2809875"/>
            <a:ext cx="247650" cy="247650"/>
          </a:xfrm>
          <a:prstGeom prst="rect">
            <a:avLst/>
          </a:prstGeom>
        </p:spPr>
      </p:pic>
      <p:sp>
        <p:nvSpPr>
          <p:cNvPr id="12" name="Rectangle 11">
            <a:extLst>
              <a:ext uri="{FF2B5EF4-FFF2-40B4-BE49-F238E27FC236}">
                <a16:creationId xmlns:a16="http://schemas.microsoft.com/office/drawing/2014/main" id="{13C1C05F-1140-494E-9957-0F90C3E0B7A4}"/>
              </a:ext>
            </a:extLst>
          </p:cNvPr>
          <p:cNvSpPr>
            <a:spLocks noGrp="1"/>
          </p:cNvSpPr>
          <p:nvPr/>
        </p:nvSpPr>
        <p:spPr>
          <a:xfrm>
            <a:off x="1600200" y="264947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Hexagonal service boundaries</a:t>
            </a:r>
          </a:p>
        </p:txBody>
      </p:sp>
      <p:sp>
        <p:nvSpPr>
          <p:cNvPr id="13" name="Rectangle 12">
            <a:extLst>
              <a:ext uri="{FF2B5EF4-FFF2-40B4-BE49-F238E27FC236}">
                <a16:creationId xmlns:a16="http://schemas.microsoft.com/office/drawing/2014/main" id="{BDAAB468-F2D7-4E23-A196-B510088DAEB6}"/>
              </a:ext>
            </a:extLst>
          </p:cNvPr>
          <p:cNvSpPr>
            <a:spLocks noGrp="1"/>
          </p:cNvSpPr>
          <p:nvPr/>
        </p:nvSpPr>
        <p:spPr>
          <a:xfrm>
            <a:off x="1600200" y="294627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External services remain replaceable</a:t>
            </a:r>
          </a:p>
        </p:txBody>
      </p:sp>
      <p:sp>
        <p:nvSpPr>
          <p:cNvPr id="14" name="Rectangle: Rounded Corners 13">
            <a:extLst>
              <a:ext uri="{FF2B5EF4-FFF2-40B4-BE49-F238E27FC236}">
                <a16:creationId xmlns:a16="http://schemas.microsoft.com/office/drawing/2014/main" id="{FB2B093D-40F8-45E9-A1EE-66CC4AC40845}"/>
              </a:ext>
            </a:extLst>
          </p:cNvPr>
          <p:cNvSpPr>
            <a:spLocks noGrp="1"/>
          </p:cNvSpPr>
          <p:nvPr/>
        </p:nvSpPr>
        <p:spPr>
          <a:xfrm>
            <a:off x="704850" y="350520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F0B29D11-853A-4E21-A38A-832C2AC9C0D5}"/>
              </a:ext>
            </a:extLst>
          </p:cNvPr>
          <p:cNvSpPr>
            <a:spLocks noGrp="1"/>
          </p:cNvSpPr>
          <p:nvPr/>
        </p:nvSpPr>
        <p:spPr>
          <a:xfrm>
            <a:off x="914400" y="373380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1038225" y="3857625"/>
            <a:ext cx="247650" cy="247650"/>
          </a:xfrm>
          <a:prstGeom prst="rect">
            <a:avLst/>
          </a:prstGeom>
        </p:spPr>
      </p:pic>
      <p:sp>
        <p:nvSpPr>
          <p:cNvPr id="17" name="Rectangle 16">
            <a:extLst>
              <a:ext uri="{FF2B5EF4-FFF2-40B4-BE49-F238E27FC236}">
                <a16:creationId xmlns:a16="http://schemas.microsoft.com/office/drawing/2014/main" id="{5424D639-1CD0-440E-9E6B-2C7207FCDA7D}"/>
              </a:ext>
            </a:extLst>
          </p:cNvPr>
          <p:cNvSpPr>
            <a:spLocks noGrp="1"/>
          </p:cNvSpPr>
          <p:nvPr/>
        </p:nvSpPr>
        <p:spPr>
          <a:xfrm>
            <a:off x="1600200" y="36972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Queues isolate long tasks</a:t>
            </a:r>
          </a:p>
        </p:txBody>
      </p:sp>
      <p:sp>
        <p:nvSpPr>
          <p:cNvPr id="18" name="Rectangle 17">
            <a:extLst>
              <a:ext uri="{FF2B5EF4-FFF2-40B4-BE49-F238E27FC236}">
                <a16:creationId xmlns:a16="http://schemas.microsoft.com/office/drawing/2014/main" id="{45E8AAEA-DF04-4307-B86B-8E6E59EB9CCF}"/>
              </a:ext>
            </a:extLst>
          </p:cNvPr>
          <p:cNvSpPr>
            <a:spLocks noGrp="1"/>
          </p:cNvSpPr>
          <p:nvPr/>
        </p:nvSpPr>
        <p:spPr>
          <a:xfrm>
            <a:off x="1600200" y="399402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Processing continues in background</a:t>
            </a:r>
          </a:p>
        </p:txBody>
      </p:sp>
      <p:sp>
        <p:nvSpPr>
          <p:cNvPr id="19" name="Rectangle: Rounded Corners 18">
            <a:extLst>
              <a:ext uri="{FF2B5EF4-FFF2-40B4-BE49-F238E27FC236}">
                <a16:creationId xmlns:a16="http://schemas.microsoft.com/office/drawing/2014/main" id="{BF4F631C-3195-489C-AF09-DC162C3D99BA}"/>
              </a:ext>
            </a:extLst>
          </p:cNvPr>
          <p:cNvSpPr>
            <a:spLocks noGrp="1"/>
          </p:cNvSpPr>
          <p:nvPr/>
        </p:nvSpPr>
        <p:spPr>
          <a:xfrm>
            <a:off x="704850" y="4552950"/>
            <a:ext cx="4572000" cy="83820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Oval 19">
            <a:extLst>
              <a:ext uri="{FF2B5EF4-FFF2-40B4-BE49-F238E27FC236}">
                <a16:creationId xmlns:a16="http://schemas.microsoft.com/office/drawing/2014/main" id="{D6CAD516-6447-4B73-99FC-51C2742BF98E}"/>
              </a:ext>
            </a:extLst>
          </p:cNvPr>
          <p:cNvSpPr>
            <a:spLocks noGrp="1"/>
          </p:cNvSpPr>
          <p:nvPr/>
        </p:nvSpPr>
        <p:spPr>
          <a:xfrm>
            <a:off x="914400" y="47815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1038225" y="4905375"/>
            <a:ext cx="247650" cy="247650"/>
          </a:xfrm>
          <a:prstGeom prst="rect">
            <a:avLst/>
          </a:prstGeom>
        </p:spPr>
      </p:pic>
      <p:sp>
        <p:nvSpPr>
          <p:cNvPr id="22" name="Rectangle 21">
            <a:extLst>
              <a:ext uri="{FF2B5EF4-FFF2-40B4-BE49-F238E27FC236}">
                <a16:creationId xmlns:a16="http://schemas.microsoft.com/office/drawing/2014/main" id="{907B0087-C441-4BB3-AE4C-4A7DDA3CCEC5}"/>
              </a:ext>
            </a:extLst>
          </p:cNvPr>
          <p:cNvSpPr>
            <a:spLocks noGrp="1"/>
          </p:cNvSpPr>
          <p:nvPr/>
        </p:nvSpPr>
        <p:spPr>
          <a:xfrm>
            <a:off x="1600200" y="474497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RBAC protects enterprise data</a:t>
            </a:r>
          </a:p>
        </p:txBody>
      </p:sp>
      <p:sp>
        <p:nvSpPr>
          <p:cNvPr id="23" name="Rectangle 22">
            <a:extLst>
              <a:ext uri="{FF2B5EF4-FFF2-40B4-BE49-F238E27FC236}">
                <a16:creationId xmlns:a16="http://schemas.microsoft.com/office/drawing/2014/main" id="{1F1E2621-C119-4DBE-879E-2EE4715C6615}"/>
              </a:ext>
            </a:extLst>
          </p:cNvPr>
          <p:cNvSpPr>
            <a:spLocks noGrp="1"/>
          </p:cNvSpPr>
          <p:nvPr/>
        </p:nvSpPr>
        <p:spPr>
          <a:xfrm>
            <a:off x="1600200" y="5041773"/>
            <a:ext cx="3467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Access follows user responsibilities</a:t>
            </a:r>
          </a:p>
        </p:txBody>
      </p:sp>
      <p:sp>
        <p:nvSpPr>
          <p:cNvPr id="24" name="Rectangle: Rounded Corners 23">
            <a:extLst>
              <a:ext uri="{FF2B5EF4-FFF2-40B4-BE49-F238E27FC236}">
                <a16:creationId xmlns:a16="http://schemas.microsoft.com/office/drawing/2014/main" id="{212AD741-8871-40D6-BE29-56040DF51D21}"/>
              </a:ext>
            </a:extLst>
          </p:cNvPr>
          <p:cNvSpPr>
            <a:spLocks noGrp="1"/>
          </p:cNvSpPr>
          <p:nvPr/>
        </p:nvSpPr>
        <p:spPr>
          <a:xfrm>
            <a:off x="5886450" y="1466850"/>
            <a:ext cx="5372100" cy="3257550"/>
          </a:xfrm>
          <a:prstGeom prst="roundRect">
            <a:avLst>
              <a:gd name="adj" fmla="val 3509"/>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4" name="Picture 53"/>
          <p:cNvPicPr>
            <a:picLocks noChangeAspect="1"/>
          </p:cNvPicPr>
          <p:nvPr/>
        </p:nvPicPr>
        <p:blipFill>
          <a:blip r:embed="rId7"/>
          <a:stretch/>
        </p:blipFill>
        <p:spPr>
          <a:xfrm>
            <a:off x="6216824" y="1638300"/>
            <a:ext cx="4711352" cy="2914650"/>
          </a:xfrm>
          <a:prstGeom prst="roundRect">
            <a:avLst>
              <a:gd name="adj" fmla="val 2614"/>
            </a:avLst>
          </a:prstGeom>
        </p:spPr>
      </p:pic>
      <p:sp>
        <p:nvSpPr>
          <p:cNvPr id="26" name="Rectangle 25">
            <a:extLst>
              <a:ext uri="{FF2B5EF4-FFF2-40B4-BE49-F238E27FC236}">
                <a16:creationId xmlns:a16="http://schemas.microsoft.com/office/drawing/2014/main" id="{AB40A742-191F-40E6-BD9E-FE2563E68BDF}"/>
              </a:ext>
            </a:extLst>
          </p:cNvPr>
          <p:cNvSpPr>
            <a:spLocks noGrp="1"/>
          </p:cNvSpPr>
          <p:nvPr/>
        </p:nvSpPr>
        <p:spPr>
          <a:xfrm>
            <a:off x="6076950" y="4972050"/>
            <a:ext cx="4953000" cy="285750"/>
          </a:xfrm>
          <a:prstGeom prst="rect">
            <a:avLst/>
          </a:prstGeom>
          <a:noFill/>
          <a:ln w="0">
            <a:noFill/>
            <a:prstDash val="solid"/>
          </a:ln>
        </p:spPr>
        <p:txBody>
          <a:bodyPr/>
          <a:lstStyle/>
          <a:p>
            <a:pPr algn="ctr">
              <a:defRPr sz="1575" b="1">
                <a:solidFill>
                  <a:srgbClr val="083344"/>
                </a:solidFill>
              </a:defRPr>
            </a:pPr>
            <a:r>
              <a:rPr sz="1575" b="1">
                <a:solidFill>
                  <a:srgbClr val="083344"/>
                </a:solidFill>
              </a:rPr>
              <a:t>Component view supports modular reasoning.</a:t>
            </a:r>
          </a:p>
        </p:txBody>
      </p:sp>
      <p:sp>
        <p:nvSpPr>
          <p:cNvPr id="27" name="Rectangle 26">
            <a:extLst>
              <a:ext uri="{FF2B5EF4-FFF2-40B4-BE49-F238E27FC236}">
                <a16:creationId xmlns:a16="http://schemas.microsoft.com/office/drawing/2014/main" id="{83365F90-DB3B-45E7-A273-E8F340872D63}"/>
              </a:ext>
            </a:extLst>
          </p:cNvPr>
          <p:cNvSpPr>
            <a:spLocks noGrp="1"/>
          </p:cNvSpPr>
          <p:nvPr/>
        </p:nvSpPr>
        <p:spPr>
          <a:xfrm>
            <a:off x="6286500" y="5314950"/>
            <a:ext cx="4533900" cy="266700"/>
          </a:xfrm>
          <a:prstGeom prst="rect">
            <a:avLst/>
          </a:prstGeom>
          <a:noFill/>
          <a:ln w="0">
            <a:noFill/>
            <a:prstDash val="solid"/>
          </a:ln>
        </p:spPr>
        <p:txBody>
          <a:bodyPr/>
          <a:lstStyle/>
          <a:p>
            <a:pPr algn="ctr">
              <a:defRPr sz="1350" b="0">
                <a:solidFill>
                  <a:srgbClr val="5B6B78"/>
                </a:solidFill>
              </a:defRPr>
            </a:pPr>
            <a:r>
              <a:rPr sz="1350" b="0">
                <a:solidFill>
                  <a:srgbClr val="5B6B78"/>
                </a:solidFill>
              </a:rPr>
              <a:t>Class model kept as supporting design evidence.</a:t>
            </a:r>
          </a:p>
        </p:txBody>
      </p:sp>
      <p:sp>
        <p:nvSpPr>
          <p:cNvPr id="28" name="Rectangle 27">
            <a:extLst>
              <a:ext uri="{FF2B5EF4-FFF2-40B4-BE49-F238E27FC236}">
                <a16:creationId xmlns:a16="http://schemas.microsoft.com/office/drawing/2014/main" id="{E13CB8F2-8ED1-40D6-8E15-ECDE9BCD53CC}"/>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29" name="Rectangle 28">
            <a:extLst>
              <a:ext uri="{FF2B5EF4-FFF2-40B4-BE49-F238E27FC236}">
                <a16:creationId xmlns:a16="http://schemas.microsoft.com/office/drawing/2014/main" id="{CE6B560A-FCBF-405A-87FB-82568322AB06}"/>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09 / 11</a:t>
            </a:r>
          </a:p>
        </p:txBody>
      </p:sp>
    </p:spTree>
    <p:extLst>
      <p:ext uri="{BB962C8B-B14F-4D97-AF65-F5344CB8AC3E}">
        <p14:creationId xmlns:p14="http://schemas.microsoft.com/office/powerpoint/2010/main" val="138112689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447800" y="16383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6" name="Graphic 25"/>
          <p:cNvPicPr>
            <a:picLocks noChangeAspect="1"/>
          </p:cNvPicPr>
          <p:nvPr/>
        </p:nvPicPr>
        <p:blipFill>
          <a:blip>
            <a:extLst>
              <a:ext uri="{96DAC541-7B7A-43D3-8B79-37D633B846F1}">
                <asvg:svgBlip xmlns:asvg="http://schemas.microsoft.com/office/drawing/2016/SVG/main" r:embed="rId3"/>
              </a:ext>
            </a:extLst>
          </a:blip>
          <a:stretch/>
        </p:blipFill>
        <p:spPr>
          <a:xfrm>
            <a:off x="1600200" y="1789176"/>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1924050" y="17526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Secure document management</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5924550" y="16383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9" name="Graphic 28"/>
          <p:cNvPicPr>
            <a:picLocks noChangeAspect="1"/>
          </p:cNvPicPr>
          <p:nvPr/>
        </p:nvPicPr>
        <p:blipFill>
          <a:blip>
            <a:extLst>
              <a:ext uri="{96DAC541-7B7A-43D3-8B79-37D633B846F1}">
                <asvg:svgBlip xmlns:asvg="http://schemas.microsoft.com/office/drawing/2016/SVG/main" r:embed="rId4"/>
              </a:ext>
            </a:extLst>
          </a:blip>
          <a:stretch/>
        </p:blipFill>
        <p:spPr>
          <a:xfrm>
            <a:off x="6076950" y="1789176"/>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400800" y="17526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Automated processing pipeline</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447800" y="2552700"/>
            <a:ext cx="3810000" cy="552450"/>
          </a:xfrm>
          <a:prstGeom prst="roundRect">
            <a:avLst>
              <a:gd name="adj" fmla="val 50000"/>
            </a:avLst>
          </a:prstGeom>
          <a:solidFill>
            <a:srgbClr val="FFFFFF"/>
          </a:solidFill>
          <a:ln w="9525">
            <a:solidFill>
              <a:srgbClr val="CBE4EC"/>
            </a:solidFill>
            <a:prstDash val="solid"/>
          </a:ln>
        </p:spPr>
        <p:txBody>
          <a:bodyPr/>
          <a:lstStyle/>
          <a:p>
            <a:endParaRPr lang="en-US" dirty="0"/>
          </a:p>
        </p:txBody>
      </p:sp>
      <p:pic>
        <p:nvPicPr>
          <p:cNvPr id="32" name="Graphic 31"/>
          <p:cNvPicPr>
            <a:picLocks noChangeAspect="1"/>
          </p:cNvPicPr>
          <p:nvPr/>
        </p:nvPicPr>
        <p:blipFill>
          <a:blip>
            <a:extLst>
              <a:ext uri="{96DAC541-7B7A-43D3-8B79-37D633B846F1}">
                <asvg:svgBlip xmlns:asvg="http://schemas.microsoft.com/office/drawing/2016/SVG/main" r:embed="rId5"/>
              </a:ext>
            </a:extLst>
          </a:blip>
          <a:stretch/>
        </p:blipFill>
        <p:spPr>
          <a:xfrm>
            <a:off x="1600200" y="2703576"/>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1924050" y="26670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Semantic document retrieval</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5924550" y="25527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6"/>
              </a:ext>
            </a:extLst>
          </a:blip>
          <a:stretch/>
        </p:blipFill>
        <p:spPr>
          <a:xfrm>
            <a:off x="6076950" y="2703576"/>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400800" y="26670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Grounded response generation</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1447800" y="3467100"/>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7"/>
              </a:ext>
            </a:extLst>
          </a:blip>
          <a:stretch/>
        </p:blipFill>
        <p:spPr>
          <a:xfrm>
            <a:off x="1600200" y="3617976"/>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1924050" y="3581400"/>
            <a:ext cx="3219450" cy="247650"/>
          </a:xfrm>
          <a:prstGeom prst="rect">
            <a:avLst/>
          </a:prstGeom>
          <a:noFill/>
          <a:ln w="0">
            <a:noFill/>
            <a:prstDash val="solid"/>
          </a:ln>
        </p:spPr>
        <p:txBody>
          <a:bodyPr/>
          <a:lstStyle/>
          <a:p>
            <a:pPr algn="l">
              <a:defRPr sz="1275" b="1">
                <a:solidFill>
                  <a:srgbClr val="083344"/>
                </a:solidFill>
              </a:defRPr>
            </a:pPr>
            <a:r>
              <a:rPr sz="1275" b="1">
                <a:solidFill>
                  <a:srgbClr val="083344"/>
                </a:solidFill>
              </a:rPr>
              <a:t>Extensible enterprise architecture</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defRPr sz="2325" b="1">
                <a:solidFill>
                  <a:srgbClr val="083344"/>
                </a:solidFill>
              </a:defRPr>
            </a:pPr>
            <a:r>
              <a:rPr sz="2325" b="1">
                <a:solidFill>
                  <a:srgbClr val="083344"/>
                </a:solidFill>
              </a:rPr>
              <a:t>The project translated enterprise knowledge needs</a:t>
            </a:r>
          </a:p>
          <a:p>
            <a:pPr algn="ctr">
              <a:defRPr sz="2325" b="1">
                <a:solidFill>
                  <a:srgbClr val="083344"/>
                </a:solidFill>
              </a:defRPr>
            </a:pPr>
            <a:r>
              <a:rPr sz="2325" b="1">
                <a:solidFill>
                  <a:srgbClr val="083344"/>
                </a:solidFill>
              </a:rPr>
              <a:t>into a maintainable software architecture.</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10 / 11</a:t>
            </a:r>
          </a:p>
        </p:txBody>
      </p:sp>
    </p:spTree>
    <p:extLst>
      <p:ext uri="{BB962C8B-B14F-4D97-AF65-F5344CB8AC3E}">
        <p14:creationId xmlns:p14="http://schemas.microsoft.com/office/powerpoint/2010/main" val="5439912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pic>
        <p:nvPicPr>
          <p:cNvPr id="9"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124200"/>
            <a:ext cx="7048500" cy="685800"/>
          </a:xfrm>
          <a:prstGeom prst="rect">
            <a:avLst/>
          </a:prstGeom>
          <a:noFill/>
          <a:ln w="0">
            <a:noFill/>
            <a:prstDash val="solid"/>
          </a:ln>
        </p:spPr>
        <p:txBody>
          <a:bodyPr/>
          <a:lstStyle/>
          <a:p>
            <a:pPr algn="ctr">
              <a:defRPr sz="4350" b="1">
                <a:solidFill>
                  <a:srgbClr val="083344"/>
                </a:solidFill>
              </a:defRPr>
            </a:pPr>
            <a:r>
              <a:rPr sz="4350" b="1">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3943350"/>
            <a:ext cx="5905500" cy="342900"/>
          </a:xfrm>
          <a:prstGeom prst="rect">
            <a:avLst/>
          </a:prstGeom>
          <a:noFill/>
          <a:ln w="0">
            <a:noFill/>
            <a:prstDash val="solid"/>
          </a:ln>
        </p:spPr>
        <p:txBody>
          <a:bodyPr/>
          <a:lstStyle/>
          <a:p>
            <a:pPr algn="ctr">
              <a:defRPr sz="1950" b="0">
                <a:solidFill>
                  <a:srgbClr val="5B6B78"/>
                </a:solidFill>
              </a:defRPr>
            </a:pPr>
            <a:r>
              <a:rPr sz="1950" b="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defRPr sz="1500" b="1">
                <a:solidFill>
                  <a:srgbClr val="009999"/>
                </a:solidFill>
              </a:defRPr>
            </a:pPr>
            <a:r>
              <a:rPr sz="1500" b="1">
                <a:solidFill>
                  <a:srgbClr val="009999"/>
                </a:solidFill>
              </a:rPr>
              <a:t>Enterprise RAG system | Master's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lgn="l">
              <a:defRPr sz="900" b="0">
                <a:solidFill>
                  <a:srgbClr val="5B6B78"/>
                </a:solidFill>
              </a:defRPr>
            </a:pPr>
            <a:r>
              <a:rPr sz="900" b="0">
                <a:solidFill>
                  <a:srgbClr val="5B6B78"/>
                </a:solidFill>
              </a:rPr>
              <a:t>AI-powered enterprise document retrieval system</a:t>
            </a: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transition>
    <p:fade/>
  </p:transition>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1303</Words>
  <Application>Microsoft Office PowerPoint</Application>
  <DocSecurity>0</DocSecurity>
  <PresentationFormat>Widescreen</PresentationFormat>
  <Paragraphs>147</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Calibri</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11</cp:revision>
  <dcterms:created xsi:type="dcterms:W3CDTF">2026-07-06T13:23:52Z</dcterms:created>
  <dcterms:modified xsi:type="dcterms:W3CDTF">2026-07-06T16:55:49Z</dcterms:modified>
</cp:coreProperties>
</file>